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embeddedFontLst>
    <p:embeddedFont>
      <p:font typeface="Orbitron Bold"/>
      <p:regular r:id="rId201314"/>
    </p:embeddedFont>
    <p:embeddedFont>
      <p:font typeface="Orbitron"/>
      <p:regular r:id="rId201315"/>
    </p:embeddedFont>
    <p:embeddedFont>
      <p:font typeface="Roboto Condensed Bold"/>
      <p:regular r:id="rId201316"/>
    </p:embeddedFont>
    <p:embeddedFont>
      <p:font typeface="Roboto Condense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game club's swap shelf website lists every donated game with its price and condition. You want that data in a spreadsheet. There is no download button. You could copy it by hand for an hour, or write a program that reads the pages for you. That is called scraping. It is powerful, and it is the one skill in this unit where doing it badly affects someone else's website.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not suggestions. robots dot txt is the site telling programs where they may go. The terms of use are what the owner allows. Waiting between requests keeps your program from hammering a small site that a club pays for. A login page means the data is private. Personal information is off limits no matter how simple it is to reach. And if the site offers an API or a data feed, use it instead, because it is what they built for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robots dot txt from the swap shelf site you will run on your own computer. User agent star means every program. Crawl delay two means wait two seconds between requests. Disallow means do not go into the members area or the drafts. Nothing stops you. The members page will load if you ask for it. robots dot txt is a request, and respecting it is your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standard library reads robots dot txt for you. can fetch answers whether a URL is allowed. Look at the first line of output. Before read runs, can fetch says False for everything, because it has not seen the rules yet. Forget to call read and your scraper decides nothing is allowed and collects nothing, with no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sleep two before every request is the rate limit. The User Agent header tells the site what program is asking, which the terms require. timeout ten means a site that never answers cannot freeze your program. Then read tables, a helper that uses Python's own HTML parser, turns the page's table into rows of cells.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tempting to treat HTML as plain text and split on the cell tag. Page one has ten prices. This found zero, and it did not crash. The price cells are written as td class equals price, so the text you split on never appears in front of a price. HTML has attributes, line breaks, and codes like amp in places plain splitting does not expect. That is why you use a parser.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the fixture site does when requests arrive less than a second apart, and plenty of real sites behave the same way. Status four twenty nine, too many requests. Your program crashed, and that is the lucky outcome, because you found out immediately. The fix is not a retry loop that asks faster. The fix is the sleep you left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log from the site's terminal during a polite run, with the User Agent trimmed off the end of each line so it fits. robots dot txt first. Every request two seconds apart. And page four answers 404, not found, which is how the scraper knows it has run out of pages. When you run your lab, keep this terminal where you can see it. It shows you exactly how your program treats someone else's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judgment part. robots dot txt and the terms of use are two different documents, and you have to pass both. A site can leave a page open in robots dot txt and forbid copying it in its terms. And a student who reads the rules and decides a site should not be scraped, then writes down why, has done the skill correctly. Side quest thirteen is built around exactly that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is the Swap Shelf Scraper lab. You start the club's website on your own computer, read its robots dot txt and terms, collect all three pages with a two second wait, and write the listings to a CSV. Step seven has you remove the wait on purpose and record the 429. Nobody in this class scrapes a real website for this lab. Build two is the ingest stage of your data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1.png"/><Relationship Id="rId4" Type="http://schemas.openxmlformats.org/officeDocument/2006/relationships/image" Target="../media/image-3-2.svg"/><Relationship Id="rId5" Type="http://schemas.openxmlformats.org/officeDocument/2006/relationships/image" Target="../media/image-3-1.png"/><Relationship Id="rId6" Type="http://schemas.openxmlformats.org/officeDocument/2006/relationships/image" Target="../media/image-3-2.svg"/><Relationship Id="rId7" Type="http://schemas.openxmlformats.org/officeDocument/2006/relationships/image" Target="../media/image-3-7.png"/><Relationship Id="rId8" Type="http://schemas.openxmlformats.org/officeDocument/2006/relationships/image" Target="../media/image-3-8.svg"/><Relationship Id="rId9" Type="http://schemas.openxmlformats.org/officeDocument/2006/relationships/image" Target="../media/image-3-7.png"/><Relationship Id="rId10" Type="http://schemas.openxmlformats.org/officeDocument/2006/relationships/image" Target="../media/image-3-8.svg"/><Relationship Id="rId11" Type="http://schemas.openxmlformats.org/officeDocument/2006/relationships/slideLayout" Target="../slideLayouts/slideLayout2.xml"/><Relationship Id="rId1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277693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Getting Data Off a Website, Responsibly</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data is right there on the page</a:t>
            </a:r>
            <a:endParaRPr lang="en-US" sz="3700" dirty="0"/>
          </a:p>
        </p:txBody>
      </p:sp>
      <p:sp>
        <p:nvSpPr>
          <p:cNvPr id="4" name="Text 1"/>
          <p:cNvSpPr/>
          <p:nvPr/>
        </p:nvSpPr>
        <p:spPr>
          <a:xfrm>
            <a:off x="5233360"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game club lists 28 games on its site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No download button, no data feed</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Copying by hand takes an hour and has typos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program could do it in ten seconds</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1326455"/>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Six rules before a single request</a:t>
            </a:r>
            <a:endParaRPr lang="en-US" sz="37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295128"/>
            <a:ext cx="3496877" cy="1314648"/>
          </a:xfrm>
          <a:prstGeom prst="rect">
            <a:avLst/>
          </a:prstGeom>
        </p:spPr>
      </p:pic>
      <p:sp>
        <p:nvSpPr>
          <p:cNvPr id="4" name="Text 1"/>
          <p:cNvSpPr/>
          <p:nvPr/>
        </p:nvSpPr>
        <p:spPr>
          <a:xfrm>
            <a:off x="977479" y="2509540"/>
            <a:ext cx="2966467"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Read robots.txt first, and obey it</a:t>
            </a:r>
            <a:endParaRPr lang="en-US" sz="1850" dirty="0"/>
          </a:p>
        </p:txBody>
      </p:sp>
      <p:pic>
        <p:nvPicPr>
          <p:cNvPr id="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47359" y="2295128"/>
            <a:ext cx="3496877" cy="1314648"/>
          </a:xfrm>
          <a:prstGeom prst="rect">
            <a:avLst/>
          </a:prstGeom>
        </p:spPr>
      </p:pic>
      <p:sp>
        <p:nvSpPr>
          <p:cNvPr id="6" name="Text 2"/>
          <p:cNvSpPr/>
          <p:nvPr/>
        </p:nvSpPr>
        <p:spPr>
          <a:xfrm>
            <a:off x="4663363" y="2509540"/>
            <a:ext cx="2966467"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Read the terms of use, and quote them</a:t>
            </a:r>
            <a:endParaRPr lang="en-US" sz="1850" dirty="0"/>
          </a:p>
        </p:txBody>
      </p:sp>
      <p:pic>
        <p:nvPicPr>
          <p:cNvPr id="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33244" y="2295128"/>
            <a:ext cx="3496877" cy="1314648"/>
          </a:xfrm>
          <a:prstGeom prst="rect">
            <a:avLst/>
          </a:prstGeom>
        </p:spPr>
      </p:pic>
      <p:sp>
        <p:nvSpPr>
          <p:cNvPr id="8" name="Text 3"/>
          <p:cNvSpPr/>
          <p:nvPr/>
        </p:nvSpPr>
        <p:spPr>
          <a:xfrm>
            <a:off x="8349247" y="2509540"/>
            <a:ext cx="2966467" cy="885825"/>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Wait between requests, at least what they ask</a:t>
            </a:r>
            <a:endParaRPr lang="en-US" sz="1850" dirty="0"/>
          </a:p>
        </p:txBody>
      </p:sp>
      <p:pic>
        <p:nvPicPr>
          <p:cNvPr id="9"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61475" y="3798788"/>
            <a:ext cx="3496877" cy="1609923"/>
          </a:xfrm>
          <a:prstGeom prst="rect">
            <a:avLst/>
          </a:prstGeom>
        </p:spPr>
      </p:pic>
      <p:sp>
        <p:nvSpPr>
          <p:cNvPr id="10" name="Text 4"/>
          <p:cNvSpPr/>
          <p:nvPr/>
        </p:nvSpPr>
        <p:spPr>
          <a:xfrm>
            <a:off x="977479" y="4013200"/>
            <a:ext cx="2966467" cy="885825"/>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Never scrape anything behind a login</a:t>
            </a:r>
            <a:endParaRPr lang="en-US" sz="1850" dirty="0"/>
          </a:p>
        </p:txBody>
      </p:sp>
      <p:pic>
        <p:nvPicPr>
          <p:cNvPr id="11"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347359" y="3798788"/>
            <a:ext cx="3496877" cy="1609923"/>
          </a:xfrm>
          <a:prstGeom prst="rect">
            <a:avLst/>
          </a:prstGeom>
        </p:spPr>
      </p:pic>
      <p:sp>
        <p:nvSpPr>
          <p:cNvPr id="12" name="Text 5"/>
          <p:cNvSpPr/>
          <p:nvPr/>
        </p:nvSpPr>
        <p:spPr>
          <a:xfrm>
            <a:off x="4663363" y="4013200"/>
            <a:ext cx="2966467" cy="118110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Never collect personal information, and use an API if offered</a:t>
            </a:r>
            <a:endParaRPr lang="en-US" sz="1850" dirty="0"/>
          </a:p>
        </p:txBody>
      </p:sp>
      <p:sp>
        <p:nvSpPr>
          <p:cNvPr id="13" name="Text 6"/>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1741388"/>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robots.txt is a public note to programs</a:t>
            </a:r>
            <a:endParaRPr lang="en-US" sz="3700" dirty="0"/>
          </a:p>
        </p:txBody>
      </p:sp>
      <p:sp>
        <p:nvSpPr>
          <p:cNvPr id="3" name="Text 1"/>
          <p:cNvSpPr/>
          <p:nvPr/>
        </p:nvSpPr>
        <p:spPr>
          <a:xfrm>
            <a:off x="661475" y="2785566"/>
            <a:ext cx="5203794" cy="91360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The </a:t>
            </a:r>
            <a:pPr algn="l" indent="0" marL="0">
              <a:lnSpc>
                <a:spcPct val="133000"/>
              </a:lnSpc>
              <a:buNone/>
            </a:pPr>
            <a:r>
              <a:rPr lang="en-US" sz="1450" dirty="0">
                <a:solidFill>
                  <a:srgbClr val="1C1C1C"/>
                </a:solidFill>
                <a:highlight>
                  <a:srgbClr val="F2F2F2"/>
                </a:highlight>
                <a:latin typeface="Consolas" pitchFamily="34" charset="0"/>
                <a:ea typeface="Consolas" pitchFamily="34" charset="-122"/>
                <a:cs typeface="Consolas" pitchFamily="34" charset="-120"/>
              </a:rPr>
              <a:t>robots.txt</a:t>
            </a:r>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 file sits at the root of a site and tells automated programs which paths are allowed, which are off-limits, and how fast to go.</a:t>
            </a:r>
            <a:endParaRPr lang="en-US" sz="1450" dirty="0"/>
          </a:p>
        </p:txBody>
      </p:sp>
      <p:sp>
        <p:nvSpPr>
          <p:cNvPr id="4" name="Text 2"/>
          <p:cNvSpPr/>
          <p:nvPr/>
        </p:nvSpPr>
        <p:spPr>
          <a:xfrm>
            <a:off x="661475" y="3869234"/>
            <a:ext cx="5203794" cy="1058466"/>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highlight>
                  <a:srgbClr val="F2F2F2"/>
                </a:highlight>
                <a:latin typeface="Consolas" pitchFamily="34" charset="0"/>
                <a:ea typeface="Consolas" pitchFamily="34" charset="-122"/>
                <a:cs typeface="Consolas" pitchFamily="34" charset="-120"/>
              </a:rPr>
              <a:t>User-agent: *</a:t>
            </a:r>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 applies to all programs</a:t>
            </a:r>
            <a:endParaRPr lang="en-US" sz="1450" dirty="0"/>
          </a:p>
          <a:p>
            <a:pPr algn="l" marL="294640" indent="-294640">
              <a:lnSpc>
                <a:spcPct val="133000"/>
              </a:lnSpc>
              <a:buSzPct val="100000"/>
              <a:buChar char="•"/>
            </a:pPr>
            <a:r>
              <a:rPr lang="en-US" sz="1450" dirty="0">
                <a:solidFill>
                  <a:srgbClr val="1C1C1C"/>
                </a:solidFill>
                <a:highlight>
                  <a:srgbClr val="F2F2F2"/>
                </a:highlight>
                <a:latin typeface="Consolas" pitchFamily="34" charset="0"/>
                <a:ea typeface="Consolas" pitchFamily="34" charset="-122"/>
                <a:cs typeface="Consolas" pitchFamily="34" charset="-120"/>
              </a:rPr>
              <a:t>Crawl-delay</a:t>
            </a:r>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 sets the minimum wait in seconds</a:t>
            </a:r>
            <a:endParaRPr lang="en-US" sz="1450" dirty="0"/>
          </a:p>
          <a:p>
            <a:pPr algn="l" marL="294640" indent="-294640">
              <a:lnSpc>
                <a:spcPct val="133000"/>
              </a:lnSpc>
              <a:buSzPct val="100000"/>
              <a:buChar char="•"/>
            </a:pPr>
            <a:r>
              <a:rPr lang="en-US" sz="1450" dirty="0">
                <a:solidFill>
                  <a:srgbClr val="1C1C1C"/>
                </a:solidFill>
                <a:highlight>
                  <a:srgbClr val="F2F2F2"/>
                </a:highlight>
                <a:latin typeface="Consolas" pitchFamily="34" charset="0"/>
                <a:ea typeface="Consolas" pitchFamily="34" charset="-122"/>
                <a:cs typeface="Consolas" pitchFamily="34" charset="-120"/>
              </a:rPr>
              <a:t>Disallow</a:t>
            </a:r>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 marks paths that are off-limits</a:t>
            </a:r>
            <a:endParaRPr lang="en-US" sz="1450" dirty="0"/>
          </a:p>
        </p:txBody>
      </p:sp>
      <p:sp>
        <p:nvSpPr>
          <p:cNvPr id="5" name="Shape 3"/>
          <p:cNvSpPr/>
          <p:nvPr/>
        </p:nvSpPr>
        <p:spPr>
          <a:xfrm>
            <a:off x="6332776" y="2828131"/>
            <a:ext cx="5203794" cy="1587698"/>
          </a:xfrm>
          <a:prstGeom prst="roundRect">
            <a:avLst>
              <a:gd name="adj" fmla="val 5000"/>
            </a:avLst>
          </a:prstGeom>
          <a:solidFill>
            <a:srgbClr val="F2F2F2"/>
          </a:solidFill>
          <a:ln/>
        </p:spPr>
      </p:sp>
      <p:sp>
        <p:nvSpPr>
          <p:cNvPr id="6" name="Text 4"/>
          <p:cNvSpPr/>
          <p:nvPr/>
        </p:nvSpPr>
        <p:spPr>
          <a:xfrm>
            <a:off x="6559584" y="3017143"/>
            <a:ext cx="4750177" cy="1209675"/>
          </a:xfrm>
          <a:prstGeom prst="rect">
            <a:avLst/>
          </a:prstGeom>
          <a:noFill/>
          <a:ln/>
        </p:spPr>
        <p:txBody>
          <a:bodyPr wrap="square" lIns="0" tIns="0" rIns="0" bIns="0" rtlCol="0" anchor="t">
            <a:normAutofit/>
          </a:bodyPr>
          <a:lstStyle/>
          <a:p>
            <a:pPr algn="l" indent="0" marL="0">
              <a:lnSpc>
                <a:spcPct val="133000"/>
              </a:lnSpc>
              <a:buNone/>
            </a:pPr>
            <a:r>
              <a:rPr lang="en-US" sz="1450" b="1" dirty="0">
                <a:solidFill>
                  <a:srgbClr val="005CC5"/>
                </a:solidFill>
                <a:latin typeface="Consolas" pitchFamily="34" charset="0"/>
                <a:ea typeface="Consolas" pitchFamily="34" charset="-122"/>
                <a:cs typeface="Consolas" pitchFamily="34" charset="-120"/>
              </a:rPr>
              <a:t>User-agent: *</a:t>
            </a:r>
            <a:endParaRPr lang="en-US" sz="1450" dirty="0"/>
          </a:p>
          <a:p>
            <a:pPr algn="l" indent="0" marL="0">
              <a:lnSpc>
                <a:spcPct val="133000"/>
              </a:lnSpc>
              <a:buNone/>
            </a:pPr>
            <a:r>
              <a:rPr lang="en-US" sz="1450" b="1" dirty="0">
                <a:solidFill>
                  <a:srgbClr val="005CC5"/>
                </a:solidFill>
                <a:latin typeface="Consolas" pitchFamily="34" charset="0"/>
                <a:ea typeface="Consolas" pitchFamily="34" charset="-122"/>
                <a:cs typeface="Consolas" pitchFamily="34" charset="-120"/>
              </a:rPr>
              <a:t>Crawl-delay: 2</a:t>
            </a:r>
            <a:endParaRPr lang="en-US" sz="1450" dirty="0"/>
          </a:p>
          <a:p>
            <a:pPr algn="l" indent="0" marL="0">
              <a:lnSpc>
                <a:spcPct val="133000"/>
              </a:lnSpc>
              <a:buNone/>
            </a:pPr>
            <a:r>
              <a:rPr lang="en-US" sz="1450" b="1" dirty="0">
                <a:solidFill>
                  <a:srgbClr val="005CC5"/>
                </a:solidFill>
                <a:latin typeface="Consolas" pitchFamily="34" charset="0"/>
                <a:ea typeface="Consolas" pitchFamily="34" charset="-122"/>
                <a:cs typeface="Consolas" pitchFamily="34" charset="-120"/>
              </a:rPr>
              <a:t>Disallow: /members/</a:t>
            </a:r>
            <a:endParaRPr lang="en-US" sz="1450" dirty="0"/>
          </a:p>
          <a:p>
            <a:pPr algn="l" indent="0" marL="0">
              <a:lnSpc>
                <a:spcPct val="133000"/>
              </a:lnSpc>
              <a:buNone/>
            </a:pPr>
            <a:r>
              <a:rPr lang="en-US" sz="1450" b="1" dirty="0">
                <a:solidFill>
                  <a:srgbClr val="005CC5"/>
                </a:solidFill>
                <a:latin typeface="Consolas" pitchFamily="34" charset="0"/>
                <a:ea typeface="Consolas" pitchFamily="34" charset="-122"/>
                <a:cs typeface="Consolas" pitchFamily="34" charset="-120"/>
              </a:rPr>
              <a:t>Disallow: /drafts/</a:t>
            </a:r>
            <a:endParaRPr lang="en-US" sz="1450" dirty="0"/>
          </a:p>
        </p:txBody>
      </p:sp>
      <p:sp>
        <p:nvSpPr>
          <p:cNvPr id="7"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886817"/>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Ask Python to read the rules for you</a:t>
            </a:r>
            <a:endParaRPr lang="en-US" sz="3700" dirty="0"/>
          </a:p>
        </p:txBody>
      </p:sp>
      <p:sp>
        <p:nvSpPr>
          <p:cNvPr id="3" name="Shape 1"/>
          <p:cNvSpPr/>
          <p:nvPr/>
        </p:nvSpPr>
        <p:spPr>
          <a:xfrm>
            <a:off x="661475" y="1855490"/>
            <a:ext cx="10868745" cy="2192536"/>
          </a:xfrm>
          <a:prstGeom prst="roundRect">
            <a:avLst>
              <a:gd name="adj" fmla="val 3621"/>
            </a:avLst>
          </a:prstGeom>
          <a:solidFill>
            <a:srgbClr val="F2F2F2"/>
          </a:solidFill>
          <a:ln/>
        </p:spPr>
      </p:sp>
      <p:sp>
        <p:nvSpPr>
          <p:cNvPr id="4" name="Text 2"/>
          <p:cNvSpPr/>
          <p:nvPr/>
        </p:nvSpPr>
        <p:spPr>
          <a:xfrm>
            <a:off x="888283" y="2044502"/>
            <a:ext cx="10415129" cy="1814513"/>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robots = urllib.robotparser.RobotFileParser(BASE_URL + "/robots.txt")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print("Before read():", robots.can_fetch(USER_AGENT, BASE_URL + "/shelf/page-1.html"))</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robots.read()</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print("Shelf allowed:  ", robots.can_fetch(USER_AGENT, BASE_URL + "/shelf/page-1.html"))</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print("Members allowed:", robots.can_fetch(USER_AGENT, BASE_URL + "/members/index.html"))</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print("Crawl-delay:    ", robots.crawl_delay(USER_AGENT))</a:t>
            </a:r>
            <a:endParaRPr lang="en-US" sz="1450" dirty="0"/>
          </a:p>
        </p:txBody>
      </p:sp>
      <p:sp>
        <p:nvSpPr>
          <p:cNvPr id="5" name="Shape 3"/>
          <p:cNvSpPr/>
          <p:nvPr/>
        </p:nvSpPr>
        <p:spPr>
          <a:xfrm>
            <a:off x="661475" y="4260652"/>
            <a:ext cx="10868745" cy="1587698"/>
          </a:xfrm>
          <a:prstGeom prst="roundRect">
            <a:avLst>
              <a:gd name="adj" fmla="val 5000"/>
            </a:avLst>
          </a:prstGeom>
          <a:solidFill>
            <a:srgbClr val="F2F2F2"/>
          </a:solidFill>
          <a:ln/>
        </p:spPr>
      </p:sp>
      <p:sp>
        <p:nvSpPr>
          <p:cNvPr id="6" name="Text 4"/>
          <p:cNvSpPr/>
          <p:nvPr/>
        </p:nvSpPr>
        <p:spPr>
          <a:xfrm>
            <a:off x="888283" y="4449663"/>
            <a:ext cx="10415129" cy="120967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Before read(): False</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Shelf allowed:   True</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Members allowed: False</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Crawl-delay:     2</a:t>
            </a:r>
            <a:endParaRPr lang="en-US" sz="1450" dirty="0"/>
          </a:p>
        </p:txBody>
      </p:sp>
      <p:sp>
        <p:nvSpPr>
          <p:cNvPr id="7"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1333302"/>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Ask slowly, and say who you are</a:t>
            </a:r>
            <a:endParaRPr lang="en-US" sz="3700" dirty="0"/>
          </a:p>
        </p:txBody>
      </p:sp>
      <p:sp>
        <p:nvSpPr>
          <p:cNvPr id="3" name="Shape 1"/>
          <p:cNvSpPr/>
          <p:nvPr/>
        </p:nvSpPr>
        <p:spPr>
          <a:xfrm>
            <a:off x="661475" y="2301974"/>
            <a:ext cx="10868745" cy="3099792"/>
          </a:xfrm>
          <a:prstGeom prst="roundRect">
            <a:avLst>
              <a:gd name="adj" fmla="val 2561"/>
            </a:avLst>
          </a:prstGeom>
          <a:solidFill>
            <a:srgbClr val="F2F2F2"/>
          </a:solidFill>
          <a:ln/>
        </p:spPr>
      </p:sp>
      <p:sp>
        <p:nvSpPr>
          <p:cNvPr id="4" name="Text 2"/>
          <p:cNvSpPr/>
          <p:nvPr/>
        </p:nvSpPr>
        <p:spPr>
          <a:xfrm>
            <a:off x="888283" y="2490986"/>
            <a:ext cx="10415129" cy="2721769"/>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time.sleep(2)</a:t>
            </a:r>
            <a:endParaRPr lang="en-US" sz="1450" dirty="0"/>
          </a:p>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request = urllib.request.Request(BASE_URL + "/shelf/page-1.html",</a:t>
            </a:r>
            <a:endParaRPr lang="en-US" sz="1450" dirty="0"/>
          </a:p>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                                 headers={"User-Agent": USER_AGENT})</a:t>
            </a:r>
            <a:endParaRPr lang="en-US" sz="1450" dirty="0"/>
          </a:p>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with urllib.request.urlopen(request, timeout=10) as response:</a:t>
            </a:r>
            <a:endParaRPr lang="en-US" sz="1450" dirty="0"/>
          </a:p>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    page_text = response.read().decode("utf-8")</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rows = read_tables(page_text)[0]</a:t>
            </a:r>
            <a:endParaRPr lang="en-US" sz="1450" dirty="0"/>
          </a:p>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print(rows[1])</a:t>
            </a:r>
            <a:endParaRPr lang="en-US" sz="1450" dirty="0"/>
          </a:p>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 ['OH-101', 'Moss Knight Chronicles', 'Switch', 'Like New', '$18.00', 'Available']</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1175048"/>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Watch this: skip the parser, split on td</a:t>
            </a:r>
            <a:endParaRPr lang="en-US" sz="3700" dirty="0"/>
          </a:p>
        </p:txBody>
      </p:sp>
      <p:sp>
        <p:nvSpPr>
          <p:cNvPr id="3" name="Shape 1"/>
          <p:cNvSpPr/>
          <p:nvPr/>
        </p:nvSpPr>
        <p:spPr>
          <a:xfrm>
            <a:off x="661475" y="2261791"/>
            <a:ext cx="5203794" cy="2192536"/>
          </a:xfrm>
          <a:prstGeom prst="roundRect">
            <a:avLst>
              <a:gd name="adj" fmla="val 3621"/>
            </a:avLst>
          </a:prstGeom>
          <a:solidFill>
            <a:srgbClr val="F2F2F2"/>
          </a:solidFill>
          <a:ln/>
        </p:spPr>
      </p:sp>
      <p:sp>
        <p:nvSpPr>
          <p:cNvPr id="4" name="Text 2"/>
          <p:cNvSpPr/>
          <p:nvPr/>
        </p:nvSpPr>
        <p:spPr>
          <a:xfrm>
            <a:off x="888283" y="2450802"/>
            <a:ext cx="4750177" cy="1814513"/>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prices = []</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for chunk in page_text.split("&lt;td&gt;")[1:]:</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cell = chunk.split("&lt;/td&gt;")[0]</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if cell.startswith("$"):</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prices.append(cell)</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print(f"Prices found: {len(prices)}")</a:t>
            </a:r>
            <a:endParaRPr lang="en-US" sz="1450" dirty="0"/>
          </a:p>
        </p:txBody>
      </p:sp>
      <p:sp>
        <p:nvSpPr>
          <p:cNvPr id="5" name="Shape 3"/>
          <p:cNvSpPr/>
          <p:nvPr/>
        </p:nvSpPr>
        <p:spPr>
          <a:xfrm>
            <a:off x="661475" y="4666952"/>
            <a:ext cx="5203794" cy="680442"/>
          </a:xfrm>
          <a:prstGeom prst="roundRect">
            <a:avLst>
              <a:gd name="adj" fmla="val 11667"/>
            </a:avLst>
          </a:prstGeom>
          <a:solidFill>
            <a:srgbClr val="F2F2F2"/>
          </a:solidFill>
          <a:ln/>
        </p:spPr>
      </p:sp>
      <p:sp>
        <p:nvSpPr>
          <p:cNvPr id="6" name="Text 4"/>
          <p:cNvSpPr/>
          <p:nvPr/>
        </p:nvSpPr>
        <p:spPr>
          <a:xfrm>
            <a:off x="888283" y="4855964"/>
            <a:ext cx="5359762" cy="302419"/>
          </a:xfrm>
          <a:prstGeom prst="rect">
            <a:avLst/>
          </a:prstGeom>
          <a:noFill/>
          <a:ln/>
        </p:spPr>
        <p:txBody>
          <a:bodyPr wrap="none" lIns="0" tIns="0" rIns="0" bIns="0" rtlCol="0" anchor="t"/>
          <a:lstStyle/>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Prices found: 0</a:t>
            </a:r>
            <a:endParaRPr lang="en-US" sz="1450" dirty="0"/>
          </a:p>
        </p:txBody>
      </p:sp>
      <p:sp>
        <p:nvSpPr>
          <p:cNvPr id="7" name="Text 5"/>
          <p:cNvSpPr/>
          <p:nvPr/>
        </p:nvSpPr>
        <p:spPr>
          <a:xfrm>
            <a:off x="6332776" y="2238177"/>
            <a:ext cx="5203794" cy="295275"/>
          </a:xfrm>
          <a:prstGeom prst="rect">
            <a:avLst/>
          </a:prstGeom>
          <a:noFill/>
          <a:ln/>
        </p:spPr>
        <p:txBody>
          <a:bodyPr wrap="none" lIns="0" tIns="0" rIns="0" bIns="0" rtlCol="0" anchor="t"/>
          <a:lstStyle/>
          <a:p>
            <a:pPr algn="l" indent="0" marL="0">
              <a:lnSpc>
                <a:spcPct val="104000"/>
              </a:lnSpc>
              <a:buNone/>
            </a:pPr>
            <a:r>
              <a:rPr lang="en-US" sz="1850" b="1" dirty="0">
                <a:solidFill>
                  <a:srgbClr val="111111"/>
                </a:solidFill>
                <a:latin typeface="Orbitron Bold" pitchFamily="34" charset="0"/>
                <a:ea typeface="Orbitron Bold" pitchFamily="34" charset="-122"/>
                <a:cs typeface="Orbitron Bold" pitchFamily="34" charset="-120"/>
              </a:rPr>
              <a:t>Why zero?</a:t>
            </a:r>
            <a:endParaRPr lang="en-US" sz="1850" dirty="0"/>
          </a:p>
        </p:txBody>
      </p:sp>
      <p:sp>
        <p:nvSpPr>
          <p:cNvPr id="8" name="Text 6"/>
          <p:cNvSpPr/>
          <p:nvPr/>
        </p:nvSpPr>
        <p:spPr>
          <a:xfrm>
            <a:off x="6332776" y="2722463"/>
            <a:ext cx="5203794" cy="1518444"/>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The raw HTML uses lowercase </a:t>
            </a:r>
            <a:pPr algn="l" indent="0" marL="0">
              <a:lnSpc>
                <a:spcPct val="133000"/>
              </a:lnSpc>
              <a:buNone/>
            </a:pPr>
            <a:r>
              <a:rPr lang="en-US" sz="1450" dirty="0">
                <a:solidFill>
                  <a:srgbClr val="1C1C1C"/>
                </a:solidFill>
                <a:highlight>
                  <a:srgbClr val="F2F2F2"/>
                </a:highlight>
                <a:latin typeface="Consolas" pitchFamily="34" charset="0"/>
                <a:ea typeface="Consolas" pitchFamily="34" charset="-122"/>
                <a:cs typeface="Consolas" pitchFamily="34" charset="-120"/>
              </a:rPr>
              <a:t>&lt;td&gt;</a:t>
            </a:r>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 tags, but the actual page may render differently depending on whitespace, attributes, or encoding. Splitting on raw tag strings is fragile and misses real data. A proper HTML parser handles these cases correctly.</a:t>
            </a:r>
            <a:endParaRPr lang="en-US" sz="1450" dirty="0"/>
          </a:p>
        </p:txBody>
      </p:sp>
      <p:sp>
        <p:nvSpPr>
          <p:cNvPr id="9" name="Text 7"/>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484709"/>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Skip the wait and the site says no</a:t>
            </a:r>
            <a:endParaRPr lang="en-US" sz="3700" dirty="0"/>
          </a:p>
        </p:txBody>
      </p:sp>
      <p:sp>
        <p:nvSpPr>
          <p:cNvPr id="4" name="Shape 1"/>
          <p:cNvSpPr/>
          <p:nvPr/>
        </p:nvSpPr>
        <p:spPr>
          <a:xfrm>
            <a:off x="661475" y="2949476"/>
            <a:ext cx="6296860" cy="680442"/>
          </a:xfrm>
          <a:prstGeom prst="roundRect">
            <a:avLst>
              <a:gd name="adj" fmla="val 11667"/>
            </a:avLst>
          </a:prstGeom>
          <a:solidFill>
            <a:srgbClr val="F2F2F2"/>
          </a:solidFill>
          <a:ln/>
        </p:spPr>
      </p:sp>
      <p:sp>
        <p:nvSpPr>
          <p:cNvPr id="5" name="Text 2"/>
          <p:cNvSpPr/>
          <p:nvPr/>
        </p:nvSpPr>
        <p:spPr>
          <a:xfrm>
            <a:off x="888283" y="3138488"/>
            <a:ext cx="6452828" cy="302419"/>
          </a:xfrm>
          <a:prstGeom prst="rect">
            <a:avLst/>
          </a:prstGeom>
          <a:noFill/>
          <a:ln/>
        </p:spPr>
        <p:txBody>
          <a:bodyPr wrap="none" lIns="0" tIns="0" rIns="0" bIns="0" rtlCol="0" anchor="t"/>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urllib.error.HTTPError: HTTP Error 429: Too Many Requests</a:t>
            </a:r>
            <a:endParaRPr lang="en-US" sz="1450" dirty="0"/>
          </a:p>
        </p:txBody>
      </p:sp>
      <p:sp>
        <p:nvSpPr>
          <p:cNvPr id="6" name="Text 3"/>
          <p:cNvSpPr/>
          <p:nvPr/>
        </p:nvSpPr>
        <p:spPr>
          <a:xfrm>
            <a:off x="661475" y="3842544"/>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Three pages requested back to back</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first worked, the second was refused</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429 means you are asking too fast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Many real sites also block you after this</a:t>
            </a:r>
            <a:endParaRPr lang="en-US" sz="1450" dirty="0"/>
          </a:p>
        </p:txBody>
      </p:sp>
      <p:sp>
        <p:nvSpPr>
          <p:cNvPr id="7" name="Text 4"/>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1938139"/>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Watch the server count your manners</a:t>
            </a:r>
            <a:endParaRPr lang="en-US" sz="3700" dirty="0"/>
          </a:p>
        </p:txBody>
      </p:sp>
      <p:sp>
        <p:nvSpPr>
          <p:cNvPr id="3" name="Shape 1"/>
          <p:cNvSpPr/>
          <p:nvPr/>
        </p:nvSpPr>
        <p:spPr>
          <a:xfrm>
            <a:off x="661475" y="2906812"/>
            <a:ext cx="10868745" cy="1890117"/>
          </a:xfrm>
          <a:prstGeom prst="roundRect">
            <a:avLst>
              <a:gd name="adj" fmla="val 4200"/>
            </a:avLst>
          </a:prstGeom>
          <a:solidFill>
            <a:srgbClr val="F2F2F2"/>
          </a:solidFill>
          <a:ln/>
        </p:spPr>
      </p:sp>
      <p:sp>
        <p:nvSpPr>
          <p:cNvPr id="4" name="Text 2"/>
          <p:cNvSpPr/>
          <p:nvPr/>
        </p:nvSpPr>
        <p:spPr>
          <a:xfrm>
            <a:off x="888283" y="3095823"/>
            <a:ext cx="10415129" cy="1512094"/>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[14:24:07] GET /robots.txt -&gt; 200  (first request)</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[14:24:09] GET /shelf/page-1.html -&gt; 200  (2.1 s after the previous request)</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[14:24:11] GET /shelf/page-2.html -&gt; 200  (2.0 s after the previous request)</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[14:24:13] GET /shelf/page-3.html -&gt; 200  (2.0 s after the previous request)</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[14:24:15] GET /shelf/page-4.html -&gt; 404  (2.0 s after the previous request)</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635919"/>
            <a:ext cx="6296860"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Allowed by robots.txt is not the same as allowed</a:t>
            </a:r>
            <a:endParaRPr lang="en-US" sz="3700" dirty="0"/>
          </a:p>
        </p:txBody>
      </p:sp>
      <p:sp>
        <p:nvSpPr>
          <p:cNvPr id="4" name="Text 1"/>
          <p:cNvSpPr/>
          <p:nvPr/>
        </p:nvSpPr>
        <p:spPr>
          <a:xfrm>
            <a:off x="661475" y="3691334"/>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robots.txt covers where programs may go</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Terms of use can forbid more than robots.txt does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page can be reachable and still private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Deciding not to scrape is a valid result</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61475" y="1615380"/>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sp>
        <p:nvSpPr>
          <p:cNvPr id="3" name="Text 1"/>
          <p:cNvSpPr/>
          <p:nvPr/>
        </p:nvSpPr>
        <p:spPr>
          <a:xfrm>
            <a:off x="661475" y="2584053"/>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01</a:t>
            </a:r>
            <a:endParaRPr lang="en-US" sz="1450" dirty="0"/>
          </a:p>
        </p:txBody>
      </p:sp>
      <p:sp>
        <p:nvSpPr>
          <p:cNvPr id="4" name="Shape 2"/>
          <p:cNvSpPr/>
          <p:nvPr/>
        </p:nvSpPr>
        <p:spPr>
          <a:xfrm>
            <a:off x="661475" y="2879923"/>
            <a:ext cx="5339820" cy="25400"/>
          </a:xfrm>
          <a:prstGeom prst="rect">
            <a:avLst/>
          </a:prstGeom>
          <a:solidFill>
            <a:srgbClr val="57A1EB"/>
          </a:solidFill>
          <a:ln/>
        </p:spPr>
      </p:sp>
      <p:sp>
        <p:nvSpPr>
          <p:cNvPr id="5" name="Text 3"/>
          <p:cNvSpPr/>
          <p:nvPr/>
        </p:nvSpPr>
        <p:spPr>
          <a:xfrm>
            <a:off x="661475" y="3025180"/>
            <a:ext cx="5339820"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Lab U5-05: scrape the Swap Shelf, politely</a:t>
            </a:r>
            <a:endParaRPr lang="en-US" sz="1850" dirty="0"/>
          </a:p>
        </p:txBody>
      </p:sp>
      <p:sp>
        <p:nvSpPr>
          <p:cNvPr id="6" name="Text 4"/>
          <p:cNvSpPr/>
          <p:nvPr/>
        </p:nvSpPr>
        <p:spPr>
          <a:xfrm>
            <a:off x="6190301" y="2584053"/>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02</a:t>
            </a:r>
            <a:endParaRPr lang="en-US" sz="1450" dirty="0"/>
          </a:p>
        </p:txBody>
      </p:sp>
      <p:sp>
        <p:nvSpPr>
          <p:cNvPr id="7" name="Shape 5"/>
          <p:cNvSpPr/>
          <p:nvPr/>
        </p:nvSpPr>
        <p:spPr>
          <a:xfrm>
            <a:off x="6190301" y="2879923"/>
            <a:ext cx="5339919" cy="25400"/>
          </a:xfrm>
          <a:prstGeom prst="rect">
            <a:avLst/>
          </a:prstGeom>
          <a:solidFill>
            <a:srgbClr val="57A1EB"/>
          </a:solidFill>
          <a:ln/>
        </p:spPr>
      </p:sp>
      <p:sp>
        <p:nvSpPr>
          <p:cNvPr id="8" name="Text 6"/>
          <p:cNvSpPr/>
          <p:nvPr/>
        </p:nvSpPr>
        <p:spPr>
          <a:xfrm>
            <a:off x="6190301" y="3025180"/>
            <a:ext cx="533991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Run the site yourself in its own terminal</a:t>
            </a:r>
            <a:endParaRPr lang="en-US" sz="1850" dirty="0"/>
          </a:p>
        </p:txBody>
      </p:sp>
      <p:sp>
        <p:nvSpPr>
          <p:cNvPr id="9" name="Text 7"/>
          <p:cNvSpPr/>
          <p:nvPr/>
        </p:nvSpPr>
        <p:spPr>
          <a:xfrm>
            <a:off x="661475" y="3946426"/>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03</a:t>
            </a:r>
            <a:endParaRPr lang="en-US" sz="1450" dirty="0"/>
          </a:p>
        </p:txBody>
      </p:sp>
      <p:sp>
        <p:nvSpPr>
          <p:cNvPr id="10" name="Shape 8"/>
          <p:cNvSpPr/>
          <p:nvPr/>
        </p:nvSpPr>
        <p:spPr>
          <a:xfrm>
            <a:off x="661475" y="4242296"/>
            <a:ext cx="5339820" cy="25400"/>
          </a:xfrm>
          <a:prstGeom prst="rect">
            <a:avLst/>
          </a:prstGeom>
          <a:solidFill>
            <a:srgbClr val="57A1EB"/>
          </a:solidFill>
          <a:ln/>
        </p:spPr>
      </p:sp>
      <p:sp>
        <p:nvSpPr>
          <p:cNvPr id="11" name="Text 9"/>
          <p:cNvSpPr/>
          <p:nvPr/>
        </p:nvSpPr>
        <p:spPr>
          <a:xfrm>
            <a:off x="661475" y="4387552"/>
            <a:ext cx="5339820"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robots.txt, a two-second wait, a User-Agent</a:t>
            </a:r>
            <a:endParaRPr lang="en-US" sz="1850" dirty="0"/>
          </a:p>
        </p:txBody>
      </p:sp>
      <p:sp>
        <p:nvSpPr>
          <p:cNvPr id="12" name="Text 10"/>
          <p:cNvSpPr/>
          <p:nvPr/>
        </p:nvSpPr>
        <p:spPr>
          <a:xfrm>
            <a:off x="6190301" y="3946426"/>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04</a:t>
            </a:r>
            <a:endParaRPr lang="en-US" sz="1450" dirty="0"/>
          </a:p>
        </p:txBody>
      </p:sp>
      <p:sp>
        <p:nvSpPr>
          <p:cNvPr id="13" name="Shape 11"/>
          <p:cNvSpPr/>
          <p:nvPr/>
        </p:nvSpPr>
        <p:spPr>
          <a:xfrm>
            <a:off x="6190301" y="4242296"/>
            <a:ext cx="5339919" cy="25400"/>
          </a:xfrm>
          <a:prstGeom prst="rect">
            <a:avLst/>
          </a:prstGeom>
          <a:solidFill>
            <a:srgbClr val="57A1EB"/>
          </a:solidFill>
          <a:ln/>
        </p:spPr>
      </p:sp>
      <p:sp>
        <p:nvSpPr>
          <p:cNvPr id="14" name="Text 12"/>
          <p:cNvSpPr/>
          <p:nvPr/>
        </p:nvSpPr>
        <p:spPr>
          <a:xfrm>
            <a:off x="6190301" y="4387552"/>
            <a:ext cx="5339919"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Build 2: pipeline ingest, from CSV or the site</a:t>
            </a:r>
            <a:endParaRPr lang="en-US" sz="1850" dirty="0"/>
          </a:p>
        </p:txBody>
      </p:sp>
      <p:sp>
        <p:nvSpPr>
          <p:cNvPr id="15" name="Text 1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2026-09-14T18:56:54Z</dcterms:created>
  <dcterms:modified xsi:type="dcterms:W3CDTF">2026-09-14T18:56:54Z</dcterms:modified>
</cp:coreProperties>
</file>