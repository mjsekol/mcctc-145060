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JV coach has a season of stats. Games played, total points, rebounds. What the coach actually wants is points per game, and the totals for guards against forwards. Nobody typed those numbers anywhere. Your program has to calculate them. A number you compute from other columns is called a calculated field, and every real report is full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last two days together. One player is a dictionary, because you look up their points by the name points. The team is a list of those dictionaries, because the roster has an order. That shape is a table. Row by position, column by name. It is exactly what a spreadsheet, a CSV file, and a website table turn into when a program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loop does two jobs. It adds a new key, ppg, to each player, which is the calculated field. And it adds each player's points to a running total, which is the accumulator you have written since Unit 3. The f string formats the result to one decimal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one by hand before you trust any of them. Jaylen, one hundred thirty eight points over twelve games, is eleven and a half. The total, four hundred eight, is the four point totals added up. A report you have not checked by hand at least once is a guess with nice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is the counting pattern with a list instead of a number. If the position has no list yet, start an empty one. Then append the player to it. The result is a dictionary where each key holds a list. The version 3 text adventure stores the items left in each room exactly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a separate report list with only the name and points per game. I will make a row dictionary, fill it in for each player, and append it. Read it once. It looks reasonable. Predict what the three lines will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all Dev. There was only ever one dictionary. Appending it did not copy it. The list got three references to the same dictionary, and every pass through the loop wrote over it, so at the end all three show the last player. No error. This is the name tag idea from Unit 1 coming back: two names can point at one thing. Move row equals empty braces inside the loop so each pass makes a brand new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failure to name before you hit it. An injured player with zero games makes points divided by games crash with ZeroDivisionError, and one player takes down the whole report. Put the check inside the function that divides, and decide on purpose what that player's line should show. Zero is one choice. Not played is another. Either is fine if you chose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Team Report lab. Ten players, three calculated fields each, team totals, a top scorer, and a by-position summary, printed in lined-up columns. Step five makes you write the shared dictionary bug on purpose and record what the report showed. Build two moves your text adventure's game state into one dictionary, with a dictionary of lists for the items left in each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Tables in Code: Lists of Dictionaries and Calculated Fields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27063"/>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coach wants points per game, not points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688332"/>
            <a:ext cx="283461" cy="283468"/>
          </a:xfrm>
          <a:prstGeom prst="rect">
            <a:avLst/>
          </a:prstGeom>
        </p:spPr>
      </p:pic>
      <p:sp>
        <p:nvSpPr>
          <p:cNvPr id="5" name="Text 1"/>
          <p:cNvSpPr/>
          <p:nvPr/>
        </p:nvSpPr>
        <p:spPr>
          <a:xfrm>
            <a:off x="5847608" y="268247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stat sheet has games and total points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639245"/>
            <a:ext cx="283461" cy="283468"/>
          </a:xfrm>
          <a:prstGeom prst="rect">
            <a:avLst/>
          </a:prstGeom>
        </p:spPr>
      </p:pic>
      <p:sp>
        <p:nvSpPr>
          <p:cNvPr id="7" name="Text 2"/>
          <p:cNvSpPr/>
          <p:nvPr/>
        </p:nvSpPr>
        <p:spPr>
          <a:xfrm>
            <a:off x="5847608" y="363339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typed points per game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590157"/>
            <a:ext cx="283461" cy="283468"/>
          </a:xfrm>
          <a:prstGeom prst="rect">
            <a:avLst/>
          </a:prstGeom>
        </p:spPr>
      </p:pic>
      <p:sp>
        <p:nvSpPr>
          <p:cNvPr id="9" name="Text 3"/>
          <p:cNvSpPr/>
          <p:nvPr/>
        </p:nvSpPr>
        <p:spPr>
          <a:xfrm>
            <a:off x="5847608" y="458430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coach wants it for every player</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541070"/>
            <a:ext cx="283461" cy="283468"/>
          </a:xfrm>
          <a:prstGeom prst="rect">
            <a:avLst/>
          </a:prstGeom>
        </p:spPr>
      </p:pic>
      <p:sp>
        <p:nvSpPr>
          <p:cNvPr id="11" name="Text 4"/>
          <p:cNvSpPr/>
          <p:nvPr/>
        </p:nvSpPr>
        <p:spPr>
          <a:xfrm>
            <a:off x="5847608" y="55352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totals for each position</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A list of dictionaries is a table</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7487" y="3136007"/>
            <a:ext cx="2635879" cy="361950"/>
          </a:xfrm>
          <a:prstGeom prst="rect">
            <a:avLst/>
          </a:prstGeom>
        </p:spPr>
      </p:pic>
      <p:sp>
        <p:nvSpPr>
          <p:cNvPr id="5" name="Text 1"/>
          <p:cNvSpPr/>
          <p:nvPr/>
        </p:nvSpPr>
        <p:spPr>
          <a:xfrm>
            <a:off x="6375439" y="3243163"/>
            <a:ext cx="2370773"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Each dictionary is one row</a:t>
            </a:r>
            <a:endParaRPr lang="en-US" sz="9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0592" y="3136007"/>
            <a:ext cx="2635978" cy="361950"/>
          </a:xfrm>
          <a:prstGeom prst="rect">
            <a:avLst/>
          </a:prstGeom>
        </p:spPr>
      </p:pic>
      <p:sp>
        <p:nvSpPr>
          <p:cNvPr id="7" name="Text 2"/>
          <p:cNvSpPr/>
          <p:nvPr/>
        </p:nvSpPr>
        <p:spPr>
          <a:xfrm>
            <a:off x="9058544" y="3243163"/>
            <a:ext cx="2370872"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Each key is a column name</a:t>
            </a:r>
            <a:endParaRPr lang="en-US" sz="9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487" y="3545185"/>
            <a:ext cx="2635879" cy="515938"/>
          </a:xfrm>
          <a:prstGeom prst="rect">
            <a:avLst/>
          </a:prstGeom>
        </p:spPr>
      </p:pic>
      <p:sp>
        <p:nvSpPr>
          <p:cNvPr id="9" name="Text 3"/>
          <p:cNvSpPr/>
          <p:nvPr/>
        </p:nvSpPr>
        <p:spPr>
          <a:xfrm>
            <a:off x="6375439" y="3652341"/>
            <a:ext cx="2370773"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The list holds the rows in order</a:t>
            </a:r>
            <a:endParaRPr lang="en-US" sz="9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00592" y="3545185"/>
            <a:ext cx="2635978" cy="515938"/>
          </a:xfrm>
          <a:prstGeom prst="rect">
            <a:avLst/>
          </a:prstGeom>
        </p:spPr>
      </p:pic>
      <p:sp>
        <p:nvSpPr>
          <p:cNvPr id="11" name="Text 4"/>
          <p:cNvSpPr/>
          <p:nvPr/>
        </p:nvSpPr>
        <p:spPr>
          <a:xfrm>
            <a:off x="9058544" y="3652341"/>
            <a:ext cx="2370872" cy="30162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1C1C1C"/>
                </a:solidFill>
                <a:highlight>
                  <a:srgbClr val="F2F2F2"/>
                </a:highlight>
                <a:latin typeface="Consolas" pitchFamily="34" charset="0"/>
                <a:ea typeface="Consolas" pitchFamily="34" charset="-122"/>
                <a:cs typeface="Consolas" pitchFamily="34" charset="-120"/>
              </a:rPr>
              <a:t>players[1]["name"]</a:t>
            </a:r>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 reads row 1, column name</a:t>
            </a:r>
            <a:endParaRPr lang="en-US" sz="900" dirty="0"/>
          </a:p>
        </p:txBody>
      </p:sp>
      <p:sp>
        <p:nvSpPr>
          <p:cNvPr id="12" name="Text 5"/>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Calculated fields in a loop</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players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"Jaylen", "position": "Guard", "games": 12, "points": 138},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"Sofia", "position": "Forward", "games": 12, "points": 101},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"Dev", "position": "Center", "games": 11, "points": 92},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{"name": "Hannah", "position": "Guard", "games": 12, "points": 77},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total_points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player in players: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player["ppg"] = player["points"] / player["games"]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total_points += player["points"]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print(f"{player['name']:&lt;8} {player['ppg']:.1f} points per game")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print("Team points:", total_points)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449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it prints</a:t>
            </a:r>
            <a:endParaRPr lang="en-US" sz="3700" dirty="0"/>
          </a:p>
        </p:txBody>
      </p:sp>
      <p:sp>
        <p:nvSpPr>
          <p:cNvPr id="3" name="Shape 1"/>
          <p:cNvSpPr/>
          <p:nvPr/>
        </p:nvSpPr>
        <p:spPr>
          <a:xfrm>
            <a:off x="661475" y="1931690"/>
            <a:ext cx="5203794" cy="1890117"/>
          </a:xfrm>
          <a:prstGeom prst="roundRect">
            <a:avLst>
              <a:gd name="adj" fmla="val 4200"/>
            </a:avLst>
          </a:prstGeom>
          <a:solidFill>
            <a:srgbClr val="F2F2F2"/>
          </a:solidFill>
          <a:ln/>
        </p:spPr>
      </p:sp>
      <p:sp>
        <p:nvSpPr>
          <p:cNvPr id="4" name="Text 2"/>
          <p:cNvSpPr/>
          <p:nvPr/>
        </p:nvSpPr>
        <p:spPr>
          <a:xfrm>
            <a:off x="888283" y="2120702"/>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Jaylen   11.5 points per game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Sofia    8.4 points per game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Dev      8.4 points per game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Hannah   6.4 points per game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Team points: 408</a:t>
            </a:r>
            <a:endParaRPr lang="en-US" sz="1450" dirty="0"/>
          </a:p>
        </p:txBody>
      </p:sp>
      <p:pic>
        <p:nvPicPr>
          <p:cNvPr id="5" name="Image 0" descr="preencoded.png">    </p:cNvPr>
          <p:cNvPicPr>
            <a:picLocks noChangeAspect="1"/>
          </p:cNvPicPr>
          <p:nvPr/>
        </p:nvPicPr>
        <p:blipFill>
          <a:blip r:embed="rId1"/>
          <a:stretch>
            <a:fillRect/>
          </a:stretch>
        </p:blipFill>
        <p:spPr>
          <a:xfrm>
            <a:off x="6332776" y="1931690"/>
            <a:ext cx="5203794" cy="3745805"/>
          </a:xfrm>
          <a:prstGeom prst="rect">
            <a:avLst/>
          </a:prstGeom>
        </p:spPr>
      </p:pic>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Group rows into a dictionary of lists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by_position = {}</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player in players: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if player["position"] not in by_position: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by_position[player["position"]] = []</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by_position[player["position"]].append(player["name"])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print(by_position)</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{'Guard': ['Jaylen', 'Hannah'], 'Forward': ['Sofia'], 'Center': ['Dev']}</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3802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a report with one row per player</a:t>
            </a:r>
            <a:endParaRPr lang="en-US" sz="3700" dirty="0"/>
          </a:p>
        </p:txBody>
      </p:sp>
      <p:sp>
        <p:nvSpPr>
          <p:cNvPr id="3" name="Shape 1"/>
          <p:cNvSpPr/>
          <p:nvPr/>
        </p:nvSpPr>
        <p:spPr>
          <a:xfrm>
            <a:off x="661475" y="2597348"/>
            <a:ext cx="10868745" cy="3099792"/>
          </a:xfrm>
          <a:prstGeom prst="roundRect">
            <a:avLst>
              <a:gd name="adj" fmla="val 2561"/>
            </a:avLst>
          </a:prstGeom>
          <a:solidFill>
            <a:srgbClr val="F2F2F2"/>
          </a:solidFill>
          <a:ln/>
        </p:spPr>
      </p:sp>
      <p:sp>
        <p:nvSpPr>
          <p:cNvPr id="4" name="Text 2"/>
          <p:cNvSpPr/>
          <p:nvPr/>
        </p:nvSpPr>
        <p:spPr>
          <a:xfrm>
            <a:off x="888283" y="2786360"/>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report = []</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row = {}</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player in players:</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row["name"] = player["name"]</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row["ppg"] = round(player["points"] / player["games"], 1)</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report.append(row)</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for line in report: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print(line)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60797"/>
            <a:ext cx="6296860"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Every row is Dev</a:t>
            </a:r>
            <a:endParaRPr lang="en-US" sz="3600" dirty="0"/>
          </a:p>
        </p:txBody>
      </p:sp>
      <p:sp>
        <p:nvSpPr>
          <p:cNvPr id="4" name="Shape 1"/>
          <p:cNvSpPr/>
          <p:nvPr/>
        </p:nvSpPr>
        <p:spPr>
          <a:xfrm>
            <a:off x="5233360" y="1698526"/>
            <a:ext cx="2925094" cy="1245096"/>
          </a:xfrm>
          <a:prstGeom prst="roundRect">
            <a:avLst>
              <a:gd name="adj" fmla="val 6177"/>
            </a:avLst>
          </a:prstGeom>
          <a:solidFill>
            <a:srgbClr val="F2F2F2"/>
          </a:solidFill>
          <a:ln/>
        </p:spPr>
      </p:sp>
      <p:sp>
        <p:nvSpPr>
          <p:cNvPr id="5" name="Text 2"/>
          <p:cNvSpPr/>
          <p:nvPr/>
        </p:nvSpPr>
        <p:spPr>
          <a:xfrm>
            <a:off x="5453025" y="1881584"/>
            <a:ext cx="2485764" cy="878979"/>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{'name': 'Dev', 'ppg': 8.4}</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{'name': 'Dev', 'ppg': 8.4}</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{'name': 'Dev', 'ppg': 8.4}</a:t>
            </a:r>
            <a:endParaRPr lang="en-US" sz="1400" dirty="0"/>
          </a:p>
        </p:txBody>
      </p:sp>
      <p:sp>
        <p:nvSpPr>
          <p:cNvPr id="6" name="Shape 3"/>
          <p:cNvSpPr/>
          <p:nvPr/>
        </p:nvSpPr>
        <p:spPr>
          <a:xfrm>
            <a:off x="8611476" y="1698526"/>
            <a:ext cx="411946" cy="411956"/>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8680134" y="1732855"/>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8" name="Text 5"/>
          <p:cNvSpPr/>
          <p:nvPr/>
        </p:nvSpPr>
        <p:spPr>
          <a:xfrm>
            <a:off x="9200721" y="1761430"/>
            <a:ext cx="2335849" cy="858143"/>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One dictionary was made, above the loop</a:t>
            </a:r>
            <a:endParaRPr lang="en-US" sz="1800" dirty="0"/>
          </a:p>
        </p:txBody>
      </p:sp>
      <p:sp>
        <p:nvSpPr>
          <p:cNvPr id="9" name="Shape 6"/>
          <p:cNvSpPr/>
          <p:nvPr/>
        </p:nvSpPr>
        <p:spPr>
          <a:xfrm>
            <a:off x="8611476" y="2974280"/>
            <a:ext cx="411946" cy="411956"/>
          </a:xfrm>
          <a:prstGeom prst="roundRect">
            <a:avLst>
              <a:gd name="adj" fmla="val 18669"/>
            </a:avLst>
          </a:prstGeom>
          <a:solidFill>
            <a:srgbClr val="D1E5FA"/>
          </a:solidFill>
          <a:ln w="19050">
            <a:solidFill>
              <a:srgbClr val="B7CBE0"/>
            </a:solidFill>
            <a:prstDash val="solid"/>
          </a:ln>
        </p:spPr>
      </p:sp>
      <p:sp>
        <p:nvSpPr>
          <p:cNvPr id="10" name="Text 7"/>
          <p:cNvSpPr/>
          <p:nvPr/>
        </p:nvSpPr>
        <p:spPr>
          <a:xfrm>
            <a:off x="8680134" y="3008610"/>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11" name="Text 8"/>
          <p:cNvSpPr/>
          <p:nvPr/>
        </p:nvSpPr>
        <p:spPr>
          <a:xfrm>
            <a:off x="9200721" y="3037185"/>
            <a:ext cx="2335849" cy="858143"/>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list holds that same dictionary three times</a:t>
            </a:r>
            <a:endParaRPr lang="en-US" sz="1800" dirty="0"/>
          </a:p>
        </p:txBody>
      </p:sp>
      <p:sp>
        <p:nvSpPr>
          <p:cNvPr id="12" name="Shape 9"/>
          <p:cNvSpPr/>
          <p:nvPr/>
        </p:nvSpPr>
        <p:spPr>
          <a:xfrm>
            <a:off x="8611476" y="4250035"/>
            <a:ext cx="411946" cy="411956"/>
          </a:xfrm>
          <a:prstGeom prst="roundRect">
            <a:avLst>
              <a:gd name="adj" fmla="val 18669"/>
            </a:avLst>
          </a:prstGeom>
          <a:solidFill>
            <a:srgbClr val="D1E5FA"/>
          </a:solidFill>
          <a:ln w="19050">
            <a:solidFill>
              <a:srgbClr val="B7CBE0"/>
            </a:solidFill>
            <a:prstDash val="solid"/>
          </a:ln>
        </p:spPr>
      </p:sp>
      <p:sp>
        <p:nvSpPr>
          <p:cNvPr id="13" name="Text 10"/>
          <p:cNvSpPr/>
          <p:nvPr/>
        </p:nvSpPr>
        <p:spPr>
          <a:xfrm>
            <a:off x="8680134" y="4284365"/>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4" name="Text 11"/>
          <p:cNvSpPr/>
          <p:nvPr/>
        </p:nvSpPr>
        <p:spPr>
          <a:xfrm>
            <a:off x="9200721" y="4312940"/>
            <a:ext cx="2335849"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Each pass overwrote it</a:t>
            </a:r>
            <a:endParaRPr lang="en-US" sz="1800" dirty="0"/>
          </a:p>
        </p:txBody>
      </p:sp>
      <p:sp>
        <p:nvSpPr>
          <p:cNvPr id="15" name="Shape 12"/>
          <p:cNvSpPr/>
          <p:nvPr/>
        </p:nvSpPr>
        <p:spPr>
          <a:xfrm>
            <a:off x="8611476" y="5239742"/>
            <a:ext cx="411946" cy="411956"/>
          </a:xfrm>
          <a:prstGeom prst="roundRect">
            <a:avLst>
              <a:gd name="adj" fmla="val 18669"/>
            </a:avLst>
          </a:prstGeom>
          <a:solidFill>
            <a:srgbClr val="D1E5FA"/>
          </a:solidFill>
          <a:ln w="19050">
            <a:solidFill>
              <a:srgbClr val="B7CBE0"/>
            </a:solidFill>
            <a:prstDash val="solid"/>
          </a:ln>
        </p:spPr>
      </p:sp>
      <p:sp>
        <p:nvSpPr>
          <p:cNvPr id="16" name="Text 13"/>
          <p:cNvSpPr/>
          <p:nvPr/>
        </p:nvSpPr>
        <p:spPr>
          <a:xfrm>
            <a:off x="8680134" y="5274072"/>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4</a:t>
            </a:r>
            <a:endParaRPr lang="en-US" sz="2150" dirty="0"/>
          </a:p>
        </p:txBody>
      </p:sp>
      <p:sp>
        <p:nvSpPr>
          <p:cNvPr id="17" name="Text 14"/>
          <p:cNvSpPr/>
          <p:nvPr/>
        </p:nvSpPr>
        <p:spPr>
          <a:xfrm>
            <a:off x="9200721" y="5302647"/>
            <a:ext cx="2335849"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Fix: </a:t>
            </a:r>
            <a:pPr algn="l" indent="0" marL="0">
              <a:lnSpc>
                <a:spcPct val="104000"/>
              </a:lnSpc>
              <a:buNone/>
            </a:pPr>
            <a:r>
              <a:rPr lang="en-US" sz="1800" b="1" dirty="0">
                <a:solidFill>
                  <a:srgbClr val="1C1C1C"/>
                </a:solidFill>
                <a:highlight>
                  <a:srgbClr val="F2F2F2"/>
                </a:highlight>
                <a:latin typeface="Consolas" pitchFamily="34" charset="0"/>
                <a:ea typeface="Consolas" pitchFamily="34" charset="-122"/>
                <a:cs typeface="Consolas" pitchFamily="34" charset="-120"/>
              </a:rPr>
              <a:t>row = {}</a:t>
            </a:r>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 goes inside the loop</a:t>
            </a:r>
            <a:endParaRPr lang="en-US" sz="1800" dirty="0"/>
          </a:p>
        </p:txBody>
      </p:sp>
      <p:sp>
        <p:nvSpPr>
          <p:cNvPr id="18" name="Text 1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820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Guard the calculation, not the report</a:t>
            </a:r>
            <a:endParaRPr lang="en-US" sz="3700" dirty="0"/>
          </a:p>
        </p:txBody>
      </p:sp>
      <p:sp>
        <p:nvSpPr>
          <p:cNvPr id="3" name="Shape 1"/>
          <p:cNvSpPr/>
          <p:nvPr/>
        </p:nvSpPr>
        <p:spPr>
          <a:xfrm>
            <a:off x="661475" y="2750741"/>
            <a:ext cx="5339820" cy="1006673"/>
          </a:xfrm>
          <a:prstGeom prst="roundRect">
            <a:avLst>
              <a:gd name="adj" fmla="val 7886"/>
            </a:avLst>
          </a:prstGeom>
          <a:solidFill>
            <a:srgbClr val="D1E5FA"/>
          </a:solidFill>
          <a:ln w="19050">
            <a:solidFill>
              <a:srgbClr val="B7CBE0"/>
            </a:solidFill>
            <a:prstDash val="solid"/>
          </a:ln>
        </p:spPr>
      </p:sp>
      <p:sp>
        <p:nvSpPr>
          <p:cNvPr id="4" name="Text 2"/>
          <p:cNvSpPr/>
          <p:nvPr/>
        </p:nvSpPr>
        <p:spPr>
          <a:xfrm>
            <a:off x="869531" y="2958802"/>
            <a:ext cx="49237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player with 0 games crashes the division</a:t>
            </a:r>
            <a:endParaRPr lang="en-US" sz="1850" dirty="0"/>
          </a:p>
        </p:txBody>
      </p:sp>
      <p:sp>
        <p:nvSpPr>
          <p:cNvPr id="5" name="Shape 3"/>
          <p:cNvSpPr/>
          <p:nvPr/>
        </p:nvSpPr>
        <p:spPr>
          <a:xfrm>
            <a:off x="6190301" y="2750741"/>
            <a:ext cx="5339919" cy="1006673"/>
          </a:xfrm>
          <a:prstGeom prst="roundRect">
            <a:avLst>
              <a:gd name="adj" fmla="val 7886"/>
            </a:avLst>
          </a:prstGeom>
          <a:solidFill>
            <a:srgbClr val="D1E5FA"/>
          </a:solidFill>
          <a:ln w="19050">
            <a:solidFill>
              <a:srgbClr val="B7CBE0"/>
            </a:solidFill>
            <a:prstDash val="solid"/>
          </a:ln>
        </p:spPr>
      </p:sp>
      <p:sp>
        <p:nvSpPr>
          <p:cNvPr id="6" name="Text 4"/>
          <p:cNvSpPr/>
          <p:nvPr/>
        </p:nvSpPr>
        <p:spPr>
          <a:xfrm>
            <a:off x="6398358" y="2958802"/>
            <a:ext cx="49238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ZeroDivisionError</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stops the whole report</a:t>
            </a:r>
            <a:endParaRPr lang="en-US" sz="1850" dirty="0"/>
          </a:p>
        </p:txBody>
      </p:sp>
      <p:sp>
        <p:nvSpPr>
          <p:cNvPr id="7" name="Shape 5"/>
          <p:cNvSpPr/>
          <p:nvPr/>
        </p:nvSpPr>
        <p:spPr>
          <a:xfrm>
            <a:off x="661475" y="3946426"/>
            <a:ext cx="5339820" cy="1006673"/>
          </a:xfrm>
          <a:prstGeom prst="roundRect">
            <a:avLst>
              <a:gd name="adj" fmla="val 7886"/>
            </a:avLst>
          </a:prstGeom>
          <a:solidFill>
            <a:srgbClr val="D1E5FA"/>
          </a:solidFill>
          <a:ln w="19050">
            <a:solidFill>
              <a:srgbClr val="B7CBE0"/>
            </a:solidFill>
            <a:prstDash val="solid"/>
          </a:ln>
        </p:spPr>
      </p:sp>
      <p:sp>
        <p:nvSpPr>
          <p:cNvPr id="8" name="Text 6"/>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games before dividing</a:t>
            </a:r>
            <a:endParaRPr lang="en-US" sz="1850" dirty="0"/>
          </a:p>
        </p:txBody>
      </p:sp>
      <p:sp>
        <p:nvSpPr>
          <p:cNvPr id="9" name="Shape 7"/>
          <p:cNvSpPr/>
          <p:nvPr/>
        </p:nvSpPr>
        <p:spPr>
          <a:xfrm>
            <a:off x="6190301" y="3946426"/>
            <a:ext cx="5339919" cy="1006673"/>
          </a:xfrm>
          <a:prstGeom prst="roundRect">
            <a:avLst>
              <a:gd name="adj" fmla="val 7886"/>
            </a:avLst>
          </a:prstGeom>
          <a:solidFill>
            <a:srgbClr val="D1E5FA"/>
          </a:solidFill>
          <a:ln w="19050">
            <a:solidFill>
              <a:srgbClr val="B7CBE0"/>
            </a:solidFill>
            <a:prstDash val="solid"/>
          </a:ln>
        </p:spPr>
      </p:sp>
      <p:sp>
        <p:nvSpPr>
          <p:cNvPr id="10" name="Text 8"/>
          <p:cNvSpPr/>
          <p:nvPr/>
        </p:nvSpPr>
        <p:spPr>
          <a:xfrm>
            <a:off x="6398358" y="4154488"/>
            <a:ext cx="49238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Decide what the report should say instead</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44426"/>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What you are about to build</a:t>
            </a:r>
            <a:endParaRPr lang="en-US" sz="3650" dirty="0"/>
          </a:p>
        </p:txBody>
      </p:sp>
      <p:sp>
        <p:nvSpPr>
          <p:cNvPr id="4" name="Text 1"/>
          <p:cNvSpPr/>
          <p:nvPr/>
        </p:nvSpPr>
        <p:spPr>
          <a:xfrm>
            <a:off x="5233360" y="2082006"/>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372816"/>
            <a:ext cx="6296860" cy="25400"/>
          </a:xfrm>
          <a:prstGeom prst="rect">
            <a:avLst/>
          </a:prstGeom>
          <a:solidFill>
            <a:srgbClr val="57A1EB"/>
          </a:solidFill>
          <a:ln/>
        </p:spPr>
      </p:sp>
      <p:sp>
        <p:nvSpPr>
          <p:cNvPr id="6" name="Text 3"/>
          <p:cNvSpPr/>
          <p:nvPr/>
        </p:nvSpPr>
        <p:spPr>
          <a:xfrm>
            <a:off x="5233360" y="2516584"/>
            <a:ext cx="629686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Lab U5-02: the JV season report</a:t>
            </a:r>
            <a:endParaRPr lang="en-US" sz="1800" dirty="0"/>
          </a:p>
        </p:txBody>
      </p:sp>
      <p:sp>
        <p:nvSpPr>
          <p:cNvPr id="7" name="Text 4"/>
          <p:cNvSpPr/>
          <p:nvPr/>
        </p:nvSpPr>
        <p:spPr>
          <a:xfrm>
            <a:off x="5233360" y="3129955"/>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420765"/>
            <a:ext cx="6296860" cy="25400"/>
          </a:xfrm>
          <a:prstGeom prst="rect">
            <a:avLst/>
          </a:prstGeom>
          <a:solidFill>
            <a:srgbClr val="57A1EB"/>
          </a:solidFill>
          <a:ln/>
        </p:spPr>
      </p:sp>
      <p:sp>
        <p:nvSpPr>
          <p:cNvPr id="9" name="Text 6"/>
          <p:cNvSpPr/>
          <p:nvPr/>
        </p:nvSpPr>
        <p:spPr>
          <a:xfrm>
            <a:off x="5233360" y="3564533"/>
            <a:ext cx="629686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Points and rebounds per game, shooting percent</a:t>
            </a:r>
            <a:endParaRPr lang="en-US" sz="1800" dirty="0"/>
          </a:p>
        </p:txBody>
      </p:sp>
      <p:sp>
        <p:nvSpPr>
          <p:cNvPr id="10" name="Text 7"/>
          <p:cNvSpPr/>
          <p:nvPr/>
        </p:nvSpPr>
        <p:spPr>
          <a:xfrm>
            <a:off x="5233360" y="4177903"/>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468713"/>
            <a:ext cx="6296860" cy="25400"/>
          </a:xfrm>
          <a:prstGeom prst="rect">
            <a:avLst/>
          </a:prstGeom>
          <a:solidFill>
            <a:srgbClr val="57A1EB"/>
          </a:solidFill>
          <a:ln/>
        </p:spPr>
      </p:sp>
      <p:sp>
        <p:nvSpPr>
          <p:cNvPr id="12" name="Text 9"/>
          <p:cNvSpPr/>
          <p:nvPr/>
        </p:nvSpPr>
        <p:spPr>
          <a:xfrm>
            <a:off x="5233360" y="4612481"/>
            <a:ext cx="629686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Totals by position, top scorer</a:t>
            </a:r>
            <a:endParaRPr lang="en-US" sz="1800" dirty="0"/>
          </a:p>
        </p:txBody>
      </p:sp>
      <p:sp>
        <p:nvSpPr>
          <p:cNvPr id="13" name="Text 10"/>
          <p:cNvSpPr/>
          <p:nvPr/>
        </p:nvSpPr>
        <p:spPr>
          <a:xfrm>
            <a:off x="5233360" y="5225852"/>
            <a:ext cx="372061" cy="232569"/>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516662"/>
            <a:ext cx="6296860" cy="25400"/>
          </a:xfrm>
          <a:prstGeom prst="rect">
            <a:avLst/>
          </a:prstGeom>
          <a:solidFill>
            <a:srgbClr val="57A1EB"/>
          </a:solidFill>
          <a:ln/>
        </p:spPr>
      </p:sp>
      <p:sp>
        <p:nvSpPr>
          <p:cNvPr id="15" name="Text 12"/>
          <p:cNvSpPr/>
          <p:nvPr/>
        </p:nvSpPr>
        <p:spPr>
          <a:xfrm>
            <a:off x="5233360" y="5660430"/>
            <a:ext cx="629686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Build 2: v3 state as one dictionary</a:t>
            </a:r>
            <a:endParaRPr lang="en-US" sz="18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2026-09-14T18:53:32Z</dcterms:created>
  <dcterms:modified xsi:type="dcterms:W3CDTF">2026-09-14T18:53:32Z</dcterms:modified>
</cp:coreProperties>
</file>