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your version 2 text adventure and count how many places the word fuse appears. Every item you carry has its own variable, its own branch in three functions, and its own lines in the inventory sentence. Add a third item and you edit five places. Miss one and the game does not crash. It quietly gives a wrong answer. That was clumsy on purpose. Today you learn the tool that fixes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list is one name that holds many values in a row. The order you add things is the order they stay in, and a list does not mind if the same thing appears twice. That makes it the right shape for a playlist, a queue, an inventory, or the order people arrived. Watch how short the code 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Positions start at zero, the same as the strings you sliced in Unit 1. Negative one is the last item. len tells you how many there are. Notice that the last position is one less than the length. That fact is about to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 adds to the end. The word in asks whether something is there and gives you True or False. remove takes out the first match. And a for loop visits every item in order, which is the loop you already know, pointed at a list instead of a range. Compare this to your version 2 describe_inventory function. Five lines of branches became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of these crash, and both tell you exactly what went wrong. The first reached past the end. A list of two items has positions zero and one, and there is no position two. The second tried to remove something that is not there. Crashes like these are the friendly kind. The next slide is not friendly.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friend has heard enough Static Lemonade. I will loop over the queue and remove every song by that band. Before I run it, predict how many songs are left. Write the number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songs, and one of them is Static Lemonade. When remove took out the first song, everything slid one position to the left, and Snow Day moved into the spot the loop had already finished. The loop moved on and never looked at it. Nothing crashed. This is the bug that does not crash, again. The fix is to build a new list of the songs you keep, and never change a list while a for loop is walking through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an empty list. Walk the old list without touching it, and append every song you want to keep. When the loop is done, point the name at the new list. The old list was never changed while you were reading it, so nothing can be skipped. Remember this shape. You will write it again on Thursday.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list is right when order matters, when the same thing can appear twice, and when you usually go through everything. It is the wrong tool when the question is find the one with this name, because a list has to check every item one at a time to answer that. Tomorrow you get the tool for that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part one of the Playlist Doctor lab. You read a shared road trip playlist into a list, count it, find duplicates, and remove songs without falling into the trap you watched a minute ago. Step six asks you to trigger the skip bug on purpose and write down what survived. Build two starts text adventure version 3. You are not changing code yet. You are listing every place your version 2 tracks an item, so you know exactly what a list replaces.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Many Things, One Name: Lists</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Adding one item meant editing five places</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Your v2 inventory is one True or False per item</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third item needs a new variable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Plus new branches in has_item, take_item, use_item</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Forget one and nothing crashes</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917005"/>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list holds many values in order</a:t>
            </a:r>
            <a:endParaRPr lang="en-US" sz="3700" dirty="0"/>
          </a:p>
        </p:txBody>
      </p:sp>
      <p:sp>
        <p:nvSpPr>
          <p:cNvPr id="3" name="Shape 1"/>
          <p:cNvSpPr/>
          <p:nvPr/>
        </p:nvSpPr>
        <p:spPr>
          <a:xfrm>
            <a:off x="661475" y="2885678"/>
            <a:ext cx="5339820" cy="1019373"/>
          </a:xfrm>
          <a:prstGeom prst="roundRect">
            <a:avLst>
              <a:gd name="adj" fmla="val 7788"/>
            </a:avLst>
          </a:prstGeom>
          <a:solidFill>
            <a:srgbClr val="FFFFFF"/>
          </a:solidFill>
          <a:ln w="25399">
            <a:solidFill>
              <a:srgbClr val="B7CBE0"/>
            </a:solidFill>
            <a:prstDash val="solid"/>
          </a:ln>
        </p:spPr>
      </p:sp>
      <p:sp>
        <p:nvSpPr>
          <p:cNvPr id="4" name="Text 2"/>
          <p:cNvSpPr/>
          <p:nvPr/>
        </p:nvSpPr>
        <p:spPr>
          <a:xfrm>
            <a:off x="875881" y="3100090"/>
            <a:ext cx="491100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Square brackets, values separated by commas</a:t>
            </a:r>
            <a:endParaRPr lang="en-US" sz="1850" dirty="0"/>
          </a:p>
        </p:txBody>
      </p:sp>
      <p:sp>
        <p:nvSpPr>
          <p:cNvPr id="5" name="Shape 3"/>
          <p:cNvSpPr/>
          <p:nvPr/>
        </p:nvSpPr>
        <p:spPr>
          <a:xfrm>
            <a:off x="6190301" y="2885678"/>
            <a:ext cx="5339919" cy="1019373"/>
          </a:xfrm>
          <a:prstGeom prst="roundRect">
            <a:avLst>
              <a:gd name="adj" fmla="val 7788"/>
            </a:avLst>
          </a:prstGeom>
          <a:solidFill>
            <a:srgbClr val="FFFFFF"/>
          </a:solidFill>
          <a:ln w="25399">
            <a:solidFill>
              <a:srgbClr val="B7CBE0"/>
            </a:solidFill>
            <a:prstDash val="solid"/>
          </a:ln>
        </p:spPr>
      </p:sp>
      <p:sp>
        <p:nvSpPr>
          <p:cNvPr id="6" name="Text 4"/>
          <p:cNvSpPr/>
          <p:nvPr/>
        </p:nvSpPr>
        <p:spPr>
          <a:xfrm>
            <a:off x="6404708" y="3100090"/>
            <a:ext cx="49111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order you put them in is kept</a:t>
            </a:r>
            <a:endParaRPr lang="en-US" sz="1850" dirty="0"/>
          </a:p>
        </p:txBody>
      </p:sp>
      <p:sp>
        <p:nvSpPr>
          <p:cNvPr id="7" name="Shape 5"/>
          <p:cNvSpPr/>
          <p:nvPr/>
        </p:nvSpPr>
        <p:spPr>
          <a:xfrm>
            <a:off x="661475" y="4094063"/>
            <a:ext cx="5339820" cy="724098"/>
          </a:xfrm>
          <a:prstGeom prst="roundRect">
            <a:avLst>
              <a:gd name="adj" fmla="val 10964"/>
            </a:avLst>
          </a:prstGeom>
          <a:solidFill>
            <a:srgbClr val="FFFFFF"/>
          </a:solidFill>
          <a:ln w="25399">
            <a:solidFill>
              <a:srgbClr val="B7CBE0"/>
            </a:solidFill>
            <a:prstDash val="solid"/>
          </a:ln>
        </p:spPr>
      </p:sp>
      <p:sp>
        <p:nvSpPr>
          <p:cNvPr id="8" name="Text 6"/>
          <p:cNvSpPr/>
          <p:nvPr/>
        </p:nvSpPr>
        <p:spPr>
          <a:xfrm>
            <a:off x="875881" y="4308475"/>
            <a:ext cx="49110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same value can appear twice</a:t>
            </a:r>
            <a:endParaRPr lang="en-US" sz="1850" dirty="0"/>
          </a:p>
        </p:txBody>
      </p:sp>
      <p:sp>
        <p:nvSpPr>
          <p:cNvPr id="9" name="Shape 7"/>
          <p:cNvSpPr/>
          <p:nvPr/>
        </p:nvSpPr>
        <p:spPr>
          <a:xfrm>
            <a:off x="6190301" y="4094063"/>
            <a:ext cx="5339919" cy="724098"/>
          </a:xfrm>
          <a:prstGeom prst="roundRect">
            <a:avLst>
              <a:gd name="adj" fmla="val 10964"/>
            </a:avLst>
          </a:prstGeom>
          <a:solidFill>
            <a:srgbClr val="FFFFFF"/>
          </a:solidFill>
          <a:ln w="25399">
            <a:solidFill>
              <a:srgbClr val="B7CBE0"/>
            </a:solidFill>
            <a:prstDash val="solid"/>
          </a:ln>
        </p:spPr>
      </p:sp>
      <p:sp>
        <p:nvSpPr>
          <p:cNvPr id="10" name="Text 8"/>
          <p:cNvSpPr/>
          <p:nvPr/>
        </p:nvSpPr>
        <p:spPr>
          <a:xfrm>
            <a:off x="6404708" y="4308475"/>
            <a:ext cx="49111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One name for the whole collection</a:t>
            </a:r>
            <a:endParaRPr lang="en-US" sz="1850" dirty="0"/>
          </a:p>
        </p:txBody>
      </p:sp>
      <p:sp>
        <p:nvSpPr>
          <p:cNvPr id="11"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938139"/>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Build it, count it, reach into it</a:t>
            </a:r>
            <a:endParaRPr lang="en-US" sz="3700" dirty="0"/>
          </a:p>
        </p:txBody>
      </p:sp>
      <p:sp>
        <p:nvSpPr>
          <p:cNvPr id="3" name="Shape 1"/>
          <p:cNvSpPr/>
          <p:nvPr/>
        </p:nvSpPr>
        <p:spPr>
          <a:xfrm>
            <a:off x="661475" y="2906812"/>
            <a:ext cx="10868745" cy="1890117"/>
          </a:xfrm>
          <a:prstGeom prst="roundRect">
            <a:avLst>
              <a:gd name="adj" fmla="val 4200"/>
            </a:avLst>
          </a:prstGeom>
          <a:solidFill>
            <a:srgbClr val="F2F2F2"/>
          </a:solidFill>
          <a:ln/>
        </p:spPr>
      </p:sp>
      <p:sp>
        <p:nvSpPr>
          <p:cNvPr id="4" name="Text 2"/>
          <p:cNvSpPr/>
          <p:nvPr/>
        </p:nvSpPr>
        <p:spPr>
          <a:xfrm>
            <a:off x="888283" y="3095823"/>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inventory = ["flashlight", "fuse"]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print(inventory)        # ['flashlight', 'fuse']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print(len(inventory))   # 2</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print(inventory[0])     # flashlight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print(inventory[-1])    # fuse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63572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Change it while the program runs</a:t>
            </a:r>
            <a:endParaRPr lang="en-US" sz="3700" dirty="0"/>
          </a:p>
        </p:txBody>
      </p:sp>
      <p:sp>
        <p:nvSpPr>
          <p:cNvPr id="3" name="Shape 1"/>
          <p:cNvSpPr/>
          <p:nvPr/>
        </p:nvSpPr>
        <p:spPr>
          <a:xfrm>
            <a:off x="661475" y="2604393"/>
            <a:ext cx="10868745" cy="2494955"/>
          </a:xfrm>
          <a:prstGeom prst="roundRect">
            <a:avLst>
              <a:gd name="adj" fmla="val 3182"/>
            </a:avLst>
          </a:prstGeom>
          <a:solidFill>
            <a:srgbClr val="F2F2F2"/>
          </a:solidFill>
          <a:ln/>
        </p:spPr>
      </p:sp>
      <p:sp>
        <p:nvSpPr>
          <p:cNvPr id="4" name="Text 2"/>
          <p:cNvSpPr/>
          <p:nvPr/>
        </p:nvSpPr>
        <p:spPr>
          <a:xfrm>
            <a:off x="888283" y="2793405"/>
            <a:ext cx="10415129" cy="2116931"/>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inventory.append("key card")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print("fuse" in inventory)   # True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inventory.remove("fuse")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print(inventory)             # ['flashlight', 'key card']</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for item in inventory:</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print("You are carrying:", item)</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690092"/>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Two loud errors you will meet this week</a:t>
            </a:r>
            <a:endParaRPr lang="en-US" sz="3700" dirty="0"/>
          </a:p>
        </p:txBody>
      </p:sp>
      <p:sp>
        <p:nvSpPr>
          <p:cNvPr id="4" name="Shape 1"/>
          <p:cNvSpPr/>
          <p:nvPr/>
        </p:nvSpPr>
        <p:spPr>
          <a:xfrm>
            <a:off x="661475" y="3154859"/>
            <a:ext cx="6296860" cy="1890117"/>
          </a:xfrm>
          <a:prstGeom prst="roundRect">
            <a:avLst>
              <a:gd name="adj" fmla="val 4200"/>
            </a:avLst>
          </a:prstGeom>
          <a:solidFill>
            <a:srgbClr val="F2F2F2"/>
          </a:solidFill>
          <a:ln/>
        </p:spPr>
      </p:sp>
      <p:sp>
        <p:nvSpPr>
          <p:cNvPr id="5" name="Text 2"/>
          <p:cNvSpPr/>
          <p:nvPr/>
        </p:nvSpPr>
        <p:spPr>
          <a:xfrm>
            <a:off x="888283" y="3343870"/>
            <a:ext cx="5843243"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print(inventory[2])</a:t>
            </a:r>
            <a:endParaRPr lang="en-US" sz="1450" dirty="0"/>
          </a:p>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IndexError: list index out of range</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inventory.remove("fuse")</a:t>
            </a:r>
            <a:endParaRPr lang="en-US" sz="1450" dirty="0"/>
          </a:p>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ValueError: list.remove(x): x not in list</a:t>
            </a:r>
            <a:endParaRPr lang="en-US" sz="1450" dirty="0"/>
          </a:p>
        </p:txBody>
      </p:sp>
      <p:sp>
        <p:nvSpPr>
          <p:cNvPr id="6"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48451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Watch this: no more Static Lemonade</a:t>
            </a:r>
            <a:endParaRPr lang="en-US" sz="3700" dirty="0"/>
          </a:p>
        </p:txBody>
      </p:sp>
      <p:sp>
        <p:nvSpPr>
          <p:cNvPr id="3" name="Shape 1"/>
          <p:cNvSpPr/>
          <p:nvPr/>
        </p:nvSpPr>
        <p:spPr>
          <a:xfrm>
            <a:off x="661475" y="2453184"/>
            <a:ext cx="10868745" cy="2797373"/>
          </a:xfrm>
          <a:prstGeom prst="roundRect">
            <a:avLst>
              <a:gd name="adj" fmla="val 2838"/>
            </a:avLst>
          </a:prstGeom>
          <a:solidFill>
            <a:srgbClr val="F2F2F2"/>
          </a:solidFill>
          <a:ln/>
        </p:spPr>
      </p:sp>
      <p:sp>
        <p:nvSpPr>
          <p:cNvPr id="4" name="Text 2"/>
          <p:cNvSpPr/>
          <p:nvPr/>
        </p:nvSpPr>
        <p:spPr>
          <a:xfrm>
            <a:off x="888283" y="2642195"/>
            <a:ext cx="10415129"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queue = ["Static Lemonade - Porch Light", "Static Lemonade - Snow Day",</a:t>
            </a:r>
            <a:endParaRPr lang="en-US" sz="1450" dirty="0"/>
          </a:p>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         "Mira Vance - Group Chat", "Juno Okafor - Low Battery"]</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for song in queue:</a:t>
            </a:r>
            <a:endParaRPr lang="en-US" sz="1450" dirty="0"/>
          </a:p>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    if song.startswith("Static Lemonade"):</a:t>
            </a:r>
            <a:endParaRPr lang="en-US" sz="1450" dirty="0"/>
          </a:p>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        queue.remove(song)</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print(queue)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59226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One of them survived</a:t>
            </a:r>
            <a:endParaRPr lang="en-US" sz="3700" dirty="0"/>
          </a:p>
        </p:txBody>
      </p:sp>
      <p:sp>
        <p:nvSpPr>
          <p:cNvPr id="3" name="Shape 1"/>
          <p:cNvSpPr/>
          <p:nvPr/>
        </p:nvSpPr>
        <p:spPr>
          <a:xfrm>
            <a:off x="661475" y="2560935"/>
            <a:ext cx="10868745" cy="680442"/>
          </a:xfrm>
          <a:prstGeom prst="roundRect">
            <a:avLst>
              <a:gd name="adj" fmla="val 11667"/>
            </a:avLst>
          </a:prstGeom>
          <a:solidFill>
            <a:srgbClr val="F2F2F2"/>
          </a:solidFill>
          <a:ln/>
        </p:spPr>
      </p:sp>
      <p:sp>
        <p:nvSpPr>
          <p:cNvPr id="4" name="Text 2"/>
          <p:cNvSpPr/>
          <p:nvPr/>
        </p:nvSpPr>
        <p:spPr>
          <a:xfrm>
            <a:off x="888283" y="2749947"/>
            <a:ext cx="11024713" cy="302419"/>
          </a:xfrm>
          <a:prstGeom prst="rect">
            <a:avLst/>
          </a:prstGeom>
          <a:noFill/>
          <a:ln/>
        </p:spPr>
        <p:txBody>
          <a:bodyPr wrap="none" lIns="0" tIns="0" rIns="0" bIns="0" rtlCol="0" anchor="t"/>
          <a:lstStyle/>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['Static Lemonade - Snow Day', 'Mira Vance - Group Chat', 'Juno Okafor - Low Battery']</a:t>
            </a:r>
            <a:endParaRPr lang="en-US" sz="1450" dirty="0"/>
          </a:p>
        </p:txBody>
      </p:sp>
      <p:sp>
        <p:nvSpPr>
          <p:cNvPr id="5" name="Shape 3"/>
          <p:cNvSpPr/>
          <p:nvPr/>
        </p:nvSpPr>
        <p:spPr>
          <a:xfrm>
            <a:off x="661475" y="3454003"/>
            <a:ext cx="425241" cy="425252"/>
          </a:xfrm>
          <a:prstGeom prst="roundRect">
            <a:avLst>
              <a:gd name="adj" fmla="val 18669"/>
            </a:avLst>
          </a:prstGeom>
          <a:solidFill>
            <a:srgbClr val="D1E5FA"/>
          </a:solidFill>
          <a:ln w="19050">
            <a:solidFill>
              <a:srgbClr val="B7CBE0"/>
            </a:solidFill>
            <a:prstDash val="solid"/>
          </a:ln>
        </p:spPr>
      </p:sp>
      <p:sp>
        <p:nvSpPr>
          <p:cNvPr id="6" name="Text 4"/>
          <p:cNvSpPr/>
          <p:nvPr/>
        </p:nvSpPr>
        <p:spPr>
          <a:xfrm>
            <a:off x="1275723" y="3518892"/>
            <a:ext cx="4701958"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 error, no warning</a:t>
            </a:r>
            <a:endParaRPr lang="en-US" sz="1850" dirty="0"/>
          </a:p>
        </p:txBody>
      </p:sp>
      <p:sp>
        <p:nvSpPr>
          <p:cNvPr id="7" name="Shape 5"/>
          <p:cNvSpPr/>
          <p:nvPr/>
        </p:nvSpPr>
        <p:spPr>
          <a:xfrm>
            <a:off x="6213915" y="3454003"/>
            <a:ext cx="425241" cy="425252"/>
          </a:xfrm>
          <a:prstGeom prst="roundRect">
            <a:avLst>
              <a:gd name="adj" fmla="val 18669"/>
            </a:avLst>
          </a:prstGeom>
          <a:solidFill>
            <a:srgbClr val="D1E5FA"/>
          </a:solidFill>
          <a:ln w="19050">
            <a:solidFill>
              <a:srgbClr val="B7CBE0"/>
            </a:solidFill>
            <a:prstDash val="solid"/>
          </a:ln>
        </p:spPr>
      </p:sp>
      <p:sp>
        <p:nvSpPr>
          <p:cNvPr id="8" name="Text 6"/>
          <p:cNvSpPr/>
          <p:nvPr/>
        </p:nvSpPr>
        <p:spPr>
          <a:xfrm>
            <a:off x="6828163" y="3518892"/>
            <a:ext cx="470205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Removing shifted every later song one place left</a:t>
            </a:r>
            <a:endParaRPr lang="en-US" sz="1850" dirty="0"/>
          </a:p>
        </p:txBody>
      </p:sp>
      <p:sp>
        <p:nvSpPr>
          <p:cNvPr id="9" name="Shape 7"/>
          <p:cNvSpPr/>
          <p:nvPr/>
        </p:nvSpPr>
        <p:spPr>
          <a:xfrm>
            <a:off x="661475" y="4487466"/>
            <a:ext cx="425241" cy="425252"/>
          </a:xfrm>
          <a:prstGeom prst="roundRect">
            <a:avLst>
              <a:gd name="adj" fmla="val 18669"/>
            </a:avLst>
          </a:prstGeom>
          <a:solidFill>
            <a:srgbClr val="D1E5FA"/>
          </a:solidFill>
          <a:ln w="19050">
            <a:solidFill>
              <a:srgbClr val="B7CBE0"/>
            </a:solidFill>
            <a:prstDash val="solid"/>
          </a:ln>
        </p:spPr>
      </p:sp>
      <p:sp>
        <p:nvSpPr>
          <p:cNvPr id="10" name="Text 8"/>
          <p:cNvSpPr/>
          <p:nvPr/>
        </p:nvSpPr>
        <p:spPr>
          <a:xfrm>
            <a:off x="1275723" y="4552355"/>
            <a:ext cx="4701958"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loop stepped forward and skipped Snow Day</a:t>
            </a:r>
            <a:endParaRPr lang="en-US" sz="1850" dirty="0"/>
          </a:p>
        </p:txBody>
      </p:sp>
      <p:sp>
        <p:nvSpPr>
          <p:cNvPr id="11" name="Shape 9"/>
          <p:cNvSpPr/>
          <p:nvPr/>
        </p:nvSpPr>
        <p:spPr>
          <a:xfrm>
            <a:off x="6213915" y="4487466"/>
            <a:ext cx="425241" cy="425252"/>
          </a:xfrm>
          <a:prstGeom prst="roundRect">
            <a:avLst>
              <a:gd name="adj" fmla="val 18669"/>
            </a:avLst>
          </a:prstGeom>
          <a:solidFill>
            <a:srgbClr val="D1E5FA"/>
          </a:solidFill>
          <a:ln w="19050">
            <a:solidFill>
              <a:srgbClr val="B7CBE0"/>
            </a:solidFill>
            <a:prstDash val="solid"/>
          </a:ln>
        </p:spPr>
      </p:sp>
      <p:sp>
        <p:nvSpPr>
          <p:cNvPr id="12" name="Text 10"/>
          <p:cNvSpPr/>
          <p:nvPr/>
        </p:nvSpPr>
        <p:spPr>
          <a:xfrm>
            <a:off x="6828163" y="4552355"/>
            <a:ext cx="470205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Fix: build a new list of songs to keep</a:t>
            </a:r>
            <a:endParaRPr lang="en-US" sz="1850" dirty="0"/>
          </a:p>
        </p:txBody>
      </p:sp>
      <p:sp>
        <p:nvSpPr>
          <p:cNvPr id="13" name="Text 11"/>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63572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fix builds a new list</a:t>
            </a:r>
            <a:endParaRPr lang="en-US" sz="3700" dirty="0"/>
          </a:p>
        </p:txBody>
      </p:sp>
      <p:sp>
        <p:nvSpPr>
          <p:cNvPr id="3" name="Shape 1"/>
          <p:cNvSpPr/>
          <p:nvPr/>
        </p:nvSpPr>
        <p:spPr>
          <a:xfrm>
            <a:off x="661475" y="2604393"/>
            <a:ext cx="10868745" cy="2494955"/>
          </a:xfrm>
          <a:prstGeom prst="roundRect">
            <a:avLst>
              <a:gd name="adj" fmla="val 3182"/>
            </a:avLst>
          </a:prstGeom>
          <a:solidFill>
            <a:srgbClr val="F2F2F2"/>
          </a:solidFill>
          <a:ln/>
        </p:spPr>
      </p:sp>
      <p:sp>
        <p:nvSpPr>
          <p:cNvPr id="4" name="Text 2"/>
          <p:cNvSpPr/>
          <p:nvPr/>
        </p:nvSpPr>
        <p:spPr>
          <a:xfrm>
            <a:off x="888283" y="2793405"/>
            <a:ext cx="10415129" cy="2116931"/>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kept =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for song in queue: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if not song.startswith("Static Lemonade"):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kept.append(song)</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queue = kept</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print(queue)   # ['Mira Vance - Group Chat', 'Juno Okafor - Low Battery']</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76190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When a list is the right choice</a:t>
            </a:r>
            <a:endParaRPr lang="en-US" sz="3700" dirty="0"/>
          </a:p>
        </p:txBody>
      </p:sp>
      <p:pic>
        <p:nvPicPr>
          <p:cNvPr id="3" name="Image 0" descr="preencoded.png">    </p:cNvPr>
          <p:cNvPicPr>
            <a:picLocks noChangeAspect="1"/>
          </p:cNvPicPr>
          <p:nvPr/>
        </p:nvPicPr>
        <p:blipFill>
          <a:blip r:embed="rId1"/>
          <a:stretch>
            <a:fillRect/>
          </a:stretch>
        </p:blipFill>
        <p:spPr>
          <a:xfrm>
            <a:off x="661475" y="1848644"/>
            <a:ext cx="6903269" cy="3911898"/>
          </a:xfrm>
          <a:prstGeom prst="rect">
            <a:avLst/>
          </a:prstGeom>
        </p:spPr>
      </p:pic>
      <p:sp>
        <p:nvSpPr>
          <p:cNvPr id="4" name="Text 1"/>
          <p:cNvSpPr/>
          <p:nvPr/>
        </p:nvSpPr>
        <p:spPr>
          <a:xfrm>
            <a:off x="8032251" y="2850158"/>
            <a:ext cx="3504219" cy="2012752"/>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Order matters: a queue, a playlist, arrival order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Duplicates are allowed or even meaningful</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mostly walk through every item</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Not when you look things up by name</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Lab U5-01 Part 1: the road trip playlist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Read the file into a list, count it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Remove duplicates without the skip bug</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Build 2: find every inventory flag in your v2</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2026-09-14T18:51:23Z</dcterms:created>
  <dcterms:modified xsi:type="dcterms:W3CDTF">2026-09-14T18:51:23Z</dcterms:modified>
</cp:coreProperties>
</file>