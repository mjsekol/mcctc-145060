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 sign-in system for a whole district. One hundred thousand valid IDs. A thousand scans before the bell, and every scan asks one question: is this ID on the list. Today you learn a structure built for exactly that question, and you will see what the wrong structure costs, measured on a real computer, not described.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set is a bag of unique values. Add something twice and it is still there once. There is no order, so there is no position zero. What you give up in order you get back in speed on one question, membership. That is the whole deal.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puts a value in, and adding lobby a second time changes nothing, so the length is two. set of a list throws away the duplicates, which is the fastest way to count how many different people signed up. One warning. If you print a set, the order you see can change from one run to the next. Never write code that depends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ampersand keeps what is in both. Minus keeps what is in the first and not the second. The bar combines both with no repeats. Rooms you both explored, songs on both playlists, classes you share with a friend. Each of those is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Empty curly braces make an empty dictionary, not an empty set. Python decided that long ago because dictionaries came first. So add fails, and the message tells you the truth. You have a dict. An empty set is written set with empty parentheses. Everyone hits this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one hundred thousand IDs, stored once as a list and once as a set. Same one thousand lookups, half of them for IDs that are not there. perf counter is a stopwatch built into Python. I am going to run this now. Predict how many times faster the set will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numbers from five runs on the machine these notes were written on. The list took about forty six hundredths of a second. The set took about sixteen hundred thousandths. Your numbers will differ, and they should. What will not differ is the gap. A list checks items one by one, so a missing ID means checking all one hundred thousand. A set jumps almost straight to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copy. Ask what question your program asks most often. If order or repeats matter, a list. If you find things by a name, a dictionary. If you only ask whether something is there, or you need each thing once, a set. And name the cost of the wrong choice out loud: a list for membership gets slow as it grows, a set loses the order, and a list of pairs makes you search for every lookup.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is not always picking the fast one. The version 3 text adventure keeps its commands in a list, even though the game asks whether a command is valid on every turn. With fourteen commands the difference is too small to measure, and a list keeps the order help prints them in. A good choice names what it gives up. Fourteen items is not one hundred thousand.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finishes the Playlist Doctor. You find songs on both your playlist and a friend's with one set operation, then run the timing yourself and write your machine's numbers in your README next to ours. Build two goes back to the text adventure. Your boolean inventory flags become one list, and you add a set of rooms visited, with a comment above each saying why you chose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Is It In There: Sets, and Choosing the Right Structure</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hundred thousand IDs, one question</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district sign-in list has 100,000 IDs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thousand kids scan in before first bell</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For each scan: is this ID on the list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Pick the wrong structure and the line stops moving</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206464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set holds unique values, no order</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3033316"/>
            <a:ext cx="5339820" cy="724098"/>
          </a:xfrm>
          <a:prstGeom prst="rect">
            <a:avLst/>
          </a:prstGeom>
        </p:spPr>
      </p:pic>
      <p:sp>
        <p:nvSpPr>
          <p:cNvPr id="4" name="Text 1"/>
          <p:cNvSpPr/>
          <p:nvPr/>
        </p:nvSpPr>
        <p:spPr>
          <a:xfrm>
            <a:off x="977479" y="3247727"/>
            <a:ext cx="48094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Curly braces with values, no colons</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3033316"/>
            <a:ext cx="5339919" cy="724098"/>
          </a:xfrm>
          <a:prstGeom prst="rect">
            <a:avLst/>
          </a:prstGeom>
        </p:spPr>
      </p:pic>
      <p:sp>
        <p:nvSpPr>
          <p:cNvPr id="6" name="Text 2"/>
          <p:cNvSpPr/>
          <p:nvPr/>
        </p:nvSpPr>
        <p:spPr>
          <a:xfrm>
            <a:off x="6506305" y="3247727"/>
            <a:ext cx="48095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Adding a duplicate does nothing</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46426"/>
            <a:ext cx="5339820" cy="724098"/>
          </a:xfrm>
          <a:prstGeom prst="rect">
            <a:avLst/>
          </a:prstGeom>
        </p:spPr>
      </p:pic>
      <p:sp>
        <p:nvSpPr>
          <p:cNvPr id="8" name="Text 3"/>
          <p:cNvSpPr/>
          <p:nvPr/>
        </p:nvSpPr>
        <p:spPr>
          <a:xfrm>
            <a:off x="977479" y="4160838"/>
            <a:ext cx="48094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There is no first item, so no positions</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3946426"/>
            <a:ext cx="5339919" cy="724098"/>
          </a:xfrm>
          <a:prstGeom prst="rect">
            <a:avLst/>
          </a:prstGeom>
        </p:spPr>
      </p:pic>
      <p:sp>
        <p:nvSpPr>
          <p:cNvPr id="10" name="Text 4"/>
          <p:cNvSpPr/>
          <p:nvPr/>
        </p:nvSpPr>
        <p:spPr>
          <a:xfrm>
            <a:off x="6506305" y="4160838"/>
            <a:ext cx="48095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Built to answer: is it in there</a:t>
            </a:r>
            <a:endParaRPr lang="en-US" sz="1850" dirty="0"/>
          </a:p>
        </p:txBody>
      </p:sp>
      <p:sp>
        <p:nvSpPr>
          <p:cNvPr id="11"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Build it and ask it</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visited = {"lobby"}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visited.add("hallway")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visited.add("lobby")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print(len(visited))          # 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print("roof" in visited)     # False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sign_ups = ["Maya", "Theo", "Maya", "Jordan", "Theo"]</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print(len(set(sign_ups)))    # 3</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Compare two groups in one line</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mine = {"lobby", "hallway", "archive"}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yours = {"hallway", "studio", "roof"}</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print(mine &amp; yours)        # {'hallway'}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print(mine - yours)        # lobby and archive, in some order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print(len(mine | yours))   # 5</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45782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empty braces trap</a:t>
            </a:r>
            <a:endParaRPr lang="en-US" sz="3700" dirty="0"/>
          </a:p>
        </p:txBody>
      </p:sp>
      <p:sp>
        <p:nvSpPr>
          <p:cNvPr id="3" name="Shape 1"/>
          <p:cNvSpPr/>
          <p:nvPr/>
        </p:nvSpPr>
        <p:spPr>
          <a:xfrm>
            <a:off x="661475" y="2426494"/>
            <a:ext cx="10868745" cy="982861"/>
          </a:xfrm>
          <a:prstGeom prst="roundRect">
            <a:avLst>
              <a:gd name="adj" fmla="val 8077"/>
            </a:avLst>
          </a:prstGeom>
          <a:solidFill>
            <a:srgbClr val="F2F2F2"/>
          </a:solidFill>
          <a:ln/>
        </p:spPr>
      </p:sp>
      <p:sp>
        <p:nvSpPr>
          <p:cNvPr id="4" name="Text 2"/>
          <p:cNvSpPr/>
          <p:nvPr/>
        </p:nvSpPr>
        <p:spPr>
          <a:xfrm>
            <a:off x="888283" y="2615505"/>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visited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visited.add("lobby")</a:t>
            </a:r>
            <a:endParaRPr lang="en-US" sz="1450" dirty="0"/>
          </a:p>
        </p:txBody>
      </p:sp>
      <p:sp>
        <p:nvSpPr>
          <p:cNvPr id="5" name="Shape 3"/>
          <p:cNvSpPr/>
          <p:nvPr/>
        </p:nvSpPr>
        <p:spPr>
          <a:xfrm>
            <a:off x="661475" y="3621980"/>
            <a:ext cx="10868745" cy="680442"/>
          </a:xfrm>
          <a:prstGeom prst="roundRect">
            <a:avLst>
              <a:gd name="adj" fmla="val 11667"/>
            </a:avLst>
          </a:prstGeom>
          <a:solidFill>
            <a:srgbClr val="F2F2F2"/>
          </a:solidFill>
          <a:ln/>
        </p:spPr>
      </p:sp>
      <p:sp>
        <p:nvSpPr>
          <p:cNvPr id="6" name="Text 4"/>
          <p:cNvSpPr/>
          <p:nvPr/>
        </p:nvSpPr>
        <p:spPr>
          <a:xfrm>
            <a:off x="888283" y="3810992"/>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AttributeError: 'dict' object has no attribute 'add'</a:t>
            </a:r>
            <a:endParaRPr lang="en-US" sz="1450" dirty="0"/>
          </a:p>
        </p:txBody>
      </p:sp>
      <p:sp>
        <p:nvSpPr>
          <p:cNvPr id="7" name="Shape 5"/>
          <p:cNvSpPr/>
          <p:nvPr/>
        </p:nvSpPr>
        <p:spPr>
          <a:xfrm>
            <a:off x="661475" y="4515048"/>
            <a:ext cx="10868745" cy="762298"/>
          </a:xfrm>
          <a:prstGeom prst="roundRect">
            <a:avLst>
              <a:gd name="adj" fmla="val 10414"/>
            </a:avLst>
          </a:prstGeom>
          <a:solidFill>
            <a:srgbClr val="FFB3B4"/>
          </a:solidFill>
          <a:ln/>
        </p:spPr>
      </p:sp>
      <p:pic>
        <p:nvPicPr>
          <p:cNvPr id="8" name="Image 0" descr="preencoded.png">    </p:cNvPr>
          <p:cNvPicPr>
            <a:picLocks noChangeAspect="1"/>
          </p:cNvPicPr>
          <p:nvPr/>
        </p:nvPicPr>
        <p:blipFill>
          <a:blip r:embed="rId1"/>
          <a:stretch>
            <a:fillRect/>
          </a:stretch>
        </p:blipFill>
        <p:spPr>
          <a:xfrm>
            <a:off x="850482" y="4782741"/>
            <a:ext cx="236234" cy="189012"/>
          </a:xfrm>
          <a:prstGeom prst="rect">
            <a:avLst/>
          </a:prstGeom>
        </p:spPr>
      </p:pic>
      <p:sp>
        <p:nvSpPr>
          <p:cNvPr id="9" name="Text 6"/>
          <p:cNvSpPr/>
          <p:nvPr/>
        </p:nvSpPr>
        <p:spPr>
          <a:xfrm>
            <a:off x="1275723" y="4751288"/>
            <a:ext cx="10675075" cy="30876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Using </a:t>
            </a:r>
            <a:pPr algn="l" indent="0" marL="0">
              <a:lnSpc>
                <a:spcPct val="133000"/>
              </a:lnSpc>
              <a:buNone/>
            </a:pPr>
            <a:r>
              <a:rPr lang="en-US" sz="1450" dirty="0">
                <a:solidFill>
                  <a:srgbClr val="000000"/>
                </a:solidFill>
                <a:highlight>
                  <a:srgbClr val="F2F2F2"/>
                </a:highlight>
                <a:latin typeface="Consolas" pitchFamily="34" charset="0"/>
                <a:ea typeface="Consolas" pitchFamily="34" charset="-122"/>
                <a:cs typeface="Consolas" pitchFamily="34" charset="-120"/>
              </a:rPr>
              <a:t>{}</a:t>
            </a:r>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 creates a dictionary, not a set. Use </a:t>
            </a:r>
            <a:pPr algn="l" indent="0" marL="0">
              <a:lnSpc>
                <a:spcPct val="133000"/>
              </a:lnSpc>
              <a:buNone/>
            </a:pPr>
            <a:r>
              <a:rPr lang="en-US" sz="1450" dirty="0">
                <a:solidFill>
                  <a:srgbClr val="000000"/>
                </a:solidFill>
                <a:highlight>
                  <a:srgbClr val="F2F2F2"/>
                </a:highlight>
                <a:latin typeface="Consolas" pitchFamily="34" charset="0"/>
                <a:ea typeface="Consolas" pitchFamily="34" charset="-122"/>
                <a:cs typeface="Consolas" pitchFamily="34" charset="-120"/>
              </a:rPr>
              <a:t>set()</a:t>
            </a:r>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 to create an empty set.</a:t>
            </a:r>
            <a:endParaRPr lang="en-US" sz="1450" dirty="0"/>
          </a:p>
        </p:txBody>
      </p:sp>
      <p:sp>
        <p:nvSpPr>
          <p:cNvPr id="10"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33330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same question, measured</a:t>
            </a:r>
            <a:endParaRPr lang="en-US" sz="3700" dirty="0"/>
          </a:p>
        </p:txBody>
      </p:sp>
      <p:sp>
        <p:nvSpPr>
          <p:cNvPr id="3" name="Shape 1"/>
          <p:cNvSpPr/>
          <p:nvPr/>
        </p:nvSpPr>
        <p:spPr>
          <a:xfrm>
            <a:off x="661475" y="2301974"/>
            <a:ext cx="10868745" cy="3099792"/>
          </a:xfrm>
          <a:prstGeom prst="roundRect">
            <a:avLst>
              <a:gd name="adj" fmla="val 2561"/>
            </a:avLst>
          </a:prstGeom>
          <a:solidFill>
            <a:srgbClr val="F2F2F2"/>
          </a:solidFill>
          <a:ln/>
        </p:spPr>
      </p:sp>
      <p:sp>
        <p:nvSpPr>
          <p:cNvPr id="4" name="Text 2"/>
          <p:cNvSpPr/>
          <p:nvPr/>
        </p:nvSpPr>
        <p:spPr>
          <a:xfrm>
            <a:off x="888283" y="2490986"/>
            <a:ext cx="10415129" cy="2721769"/>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start = time.perf_counter()</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for code in lookups:</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    found = code in id_list</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list_seconds = time.perf_counter() - start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start = time.perf_counter()</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for code in lookups:</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    found = code in id_set</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set_seconds = time.perf_counter() - start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43917"/>
            <a:ext cx="6296860" cy="1089025"/>
          </a:xfrm>
          <a:prstGeom prst="rect">
            <a:avLst/>
          </a:prstGeom>
          <a:noFill/>
          <a:ln/>
        </p:spPr>
        <p:txBody>
          <a:bodyPr wrap="square" lIns="0" tIns="0" rIns="0" bIns="0" rtlCol="0" anchor="t">
            <a:normAutofit/>
          </a:bodyPr>
          <a:lstStyle/>
          <a:p>
            <a:pPr algn="l" indent="0" marL="0">
              <a:lnSpc>
                <a:spcPct val="104000"/>
              </a:lnSpc>
              <a:buNone/>
            </a:pPr>
            <a:r>
              <a:rPr lang="en-US" sz="3400" b="1" dirty="0">
                <a:solidFill>
                  <a:srgbClr val="111111"/>
                </a:solidFill>
                <a:latin typeface="Orbitron Bold" pitchFamily="34" charset="0"/>
                <a:ea typeface="Orbitron Bold" pitchFamily="34" charset="-122"/>
                <a:cs typeface="Orbitron Bold" pitchFamily="34" charset="-120"/>
              </a:rPr>
              <a:t>What it cost on our test machine</a:t>
            </a:r>
            <a:endParaRPr lang="en-US" sz="3400" dirty="0"/>
          </a:p>
        </p:txBody>
      </p:sp>
      <p:sp>
        <p:nvSpPr>
          <p:cNvPr id="4" name="Text 1"/>
          <p:cNvSpPr/>
          <p:nvPr/>
        </p:nvSpPr>
        <p:spPr>
          <a:xfrm>
            <a:off x="661475" y="1960959"/>
            <a:ext cx="3048023" cy="575072"/>
          </a:xfrm>
          <a:prstGeom prst="rect">
            <a:avLst/>
          </a:prstGeom>
          <a:noFill/>
          <a:ln/>
        </p:spPr>
        <p:txBody>
          <a:bodyPr wrap="none" lIns="0" tIns="0" rIns="0" bIns="0" rtlCol="0" anchor="t"/>
          <a:lstStyle/>
          <a:p>
            <a:pPr algn="ctr" indent="0" marL="0">
              <a:lnSpc>
                <a:spcPct val="83000"/>
              </a:lnSpc>
              <a:buNone/>
            </a:pPr>
            <a:r>
              <a:rPr lang="en-US" sz="4500" b="1" dirty="0">
                <a:solidFill>
                  <a:srgbClr val="1C1C1C"/>
                </a:solidFill>
                <a:latin typeface="Orbitron Bold" pitchFamily="34" charset="0"/>
                <a:ea typeface="Orbitron Bold" pitchFamily="34" charset="-122"/>
                <a:cs typeface="Orbitron Bold" pitchFamily="34" charset="-120"/>
              </a:rPr>
              <a:t>0.46s</a:t>
            </a:r>
            <a:endParaRPr lang="en-US" sz="4500" dirty="0"/>
          </a:p>
        </p:txBody>
      </p:sp>
      <p:sp>
        <p:nvSpPr>
          <p:cNvPr id="5" name="Text 2"/>
          <p:cNvSpPr/>
          <p:nvPr/>
        </p:nvSpPr>
        <p:spPr>
          <a:xfrm>
            <a:off x="661475" y="2743597"/>
            <a:ext cx="3048023" cy="272157"/>
          </a:xfrm>
          <a:prstGeom prst="rect">
            <a:avLst/>
          </a:prstGeom>
          <a:noFill/>
          <a:ln/>
        </p:spPr>
        <p:txBody>
          <a:bodyPr wrap="none" lIns="0" tIns="0" rIns="0" bIns="0" rtlCol="0" anchor="t"/>
          <a:lstStyle/>
          <a:p>
            <a:pPr algn="ctr"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List lookup time</a:t>
            </a:r>
            <a:endParaRPr lang="en-US" sz="1700" dirty="0"/>
          </a:p>
        </p:txBody>
      </p:sp>
      <p:sp>
        <p:nvSpPr>
          <p:cNvPr id="6" name="Text 3"/>
          <p:cNvSpPr/>
          <p:nvPr/>
        </p:nvSpPr>
        <p:spPr>
          <a:xfrm>
            <a:off x="661475" y="3112095"/>
            <a:ext cx="3048023" cy="267791"/>
          </a:xfrm>
          <a:prstGeom prst="rect">
            <a:avLst/>
          </a:prstGeom>
          <a:noFill/>
          <a:ln/>
        </p:spPr>
        <p:txBody>
          <a:bodyPr wrap="none" lIns="0" tIns="0" rIns="0" bIns="0" rtlCol="0" anchor="t"/>
          <a:lstStyle/>
          <a:p>
            <a:pPr algn="ctr"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About 0.46 seconds for 1,000 lookups</a:t>
            </a:r>
            <a:endParaRPr lang="en-US" sz="1350" dirty="0"/>
          </a:p>
        </p:txBody>
      </p:sp>
      <p:sp>
        <p:nvSpPr>
          <p:cNvPr id="7" name="Text 4"/>
          <p:cNvSpPr/>
          <p:nvPr/>
        </p:nvSpPr>
        <p:spPr>
          <a:xfrm>
            <a:off x="3910212" y="1960959"/>
            <a:ext cx="3048122" cy="575072"/>
          </a:xfrm>
          <a:prstGeom prst="rect">
            <a:avLst/>
          </a:prstGeom>
          <a:noFill/>
          <a:ln/>
        </p:spPr>
        <p:txBody>
          <a:bodyPr wrap="none" lIns="0" tIns="0" rIns="0" bIns="0" rtlCol="0" anchor="t"/>
          <a:lstStyle/>
          <a:p>
            <a:pPr algn="ctr" indent="0" marL="0">
              <a:lnSpc>
                <a:spcPct val="83000"/>
              </a:lnSpc>
              <a:buNone/>
            </a:pPr>
            <a:r>
              <a:rPr lang="en-US" sz="4500" b="1" dirty="0">
                <a:solidFill>
                  <a:srgbClr val="1C1C1C"/>
                </a:solidFill>
                <a:latin typeface="Orbitron Bold" pitchFamily="34" charset="0"/>
                <a:ea typeface="Orbitron Bold" pitchFamily="34" charset="-122"/>
                <a:cs typeface="Orbitron Bold" pitchFamily="34" charset="-120"/>
              </a:rPr>
              <a:t>0.00016s</a:t>
            </a:r>
            <a:endParaRPr lang="en-US" sz="4500" dirty="0"/>
          </a:p>
        </p:txBody>
      </p:sp>
      <p:sp>
        <p:nvSpPr>
          <p:cNvPr id="8" name="Text 5"/>
          <p:cNvSpPr/>
          <p:nvPr/>
        </p:nvSpPr>
        <p:spPr>
          <a:xfrm>
            <a:off x="3910212" y="2743597"/>
            <a:ext cx="3048122" cy="272157"/>
          </a:xfrm>
          <a:prstGeom prst="rect">
            <a:avLst/>
          </a:prstGeom>
          <a:noFill/>
          <a:ln/>
        </p:spPr>
        <p:txBody>
          <a:bodyPr wrap="none" lIns="0" tIns="0" rIns="0" bIns="0" rtlCol="0" anchor="t"/>
          <a:lstStyle/>
          <a:p>
            <a:pPr algn="ctr"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Set lookup time</a:t>
            </a:r>
            <a:endParaRPr lang="en-US" sz="1700" dirty="0"/>
          </a:p>
        </p:txBody>
      </p:sp>
      <p:sp>
        <p:nvSpPr>
          <p:cNvPr id="9" name="Text 6"/>
          <p:cNvSpPr/>
          <p:nvPr/>
        </p:nvSpPr>
        <p:spPr>
          <a:xfrm>
            <a:off x="3910212" y="3112095"/>
            <a:ext cx="3048122" cy="535583"/>
          </a:xfrm>
          <a:prstGeom prst="rect">
            <a:avLst/>
          </a:prstGeom>
          <a:noFill/>
          <a:ln/>
        </p:spPr>
        <p:txBody>
          <a:bodyPr wrap="square" lIns="0" tIns="0" rIns="0" bIns="0" rtlCol="0" anchor="t">
            <a:normAutofit/>
          </a:bodyPr>
          <a:lstStyle/>
          <a:p>
            <a:pPr algn="ctr"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About 0.00016 seconds for the same lookups</a:t>
            </a:r>
            <a:endParaRPr lang="en-US" sz="1350" dirty="0"/>
          </a:p>
        </p:txBody>
      </p:sp>
      <p:sp>
        <p:nvSpPr>
          <p:cNvPr id="10" name="Text 7"/>
          <p:cNvSpPr/>
          <p:nvPr/>
        </p:nvSpPr>
        <p:spPr>
          <a:xfrm>
            <a:off x="2285844" y="4056063"/>
            <a:ext cx="3048023" cy="575072"/>
          </a:xfrm>
          <a:prstGeom prst="rect">
            <a:avLst/>
          </a:prstGeom>
          <a:noFill/>
          <a:ln/>
        </p:spPr>
        <p:txBody>
          <a:bodyPr wrap="none" lIns="0" tIns="0" rIns="0" bIns="0" rtlCol="0" anchor="t"/>
          <a:lstStyle/>
          <a:p>
            <a:pPr algn="ctr" indent="0" marL="0">
              <a:lnSpc>
                <a:spcPct val="83000"/>
              </a:lnSpc>
              <a:buNone/>
            </a:pPr>
            <a:r>
              <a:rPr lang="en-US" sz="4500" b="1" dirty="0">
                <a:solidFill>
                  <a:srgbClr val="1C1C1C"/>
                </a:solidFill>
                <a:latin typeface="Orbitron Bold" pitchFamily="34" charset="0"/>
                <a:ea typeface="Orbitron Bold" pitchFamily="34" charset="-122"/>
                <a:cs typeface="Orbitron Bold" pitchFamily="34" charset="-120"/>
              </a:rPr>
              <a:t>2,800x</a:t>
            </a:r>
            <a:endParaRPr lang="en-US" sz="4500" dirty="0"/>
          </a:p>
        </p:txBody>
      </p:sp>
      <p:sp>
        <p:nvSpPr>
          <p:cNvPr id="11" name="Text 8"/>
          <p:cNvSpPr/>
          <p:nvPr/>
        </p:nvSpPr>
        <p:spPr>
          <a:xfrm>
            <a:off x="2285844" y="4838700"/>
            <a:ext cx="3048023" cy="272157"/>
          </a:xfrm>
          <a:prstGeom prst="rect">
            <a:avLst/>
          </a:prstGeom>
          <a:noFill/>
          <a:ln/>
        </p:spPr>
        <p:txBody>
          <a:bodyPr wrap="none" lIns="0" tIns="0" rIns="0" bIns="0" rtlCol="0" anchor="t"/>
          <a:lstStyle/>
          <a:p>
            <a:pPr algn="ctr"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Faster</a:t>
            </a:r>
            <a:endParaRPr lang="en-US" sz="1700" dirty="0"/>
          </a:p>
        </p:txBody>
      </p:sp>
      <p:sp>
        <p:nvSpPr>
          <p:cNvPr id="12" name="Text 9"/>
          <p:cNvSpPr/>
          <p:nvPr/>
        </p:nvSpPr>
        <p:spPr>
          <a:xfrm>
            <a:off x="2285844" y="5207198"/>
            <a:ext cx="3048023" cy="535583"/>
          </a:xfrm>
          <a:prstGeom prst="rect">
            <a:avLst/>
          </a:prstGeom>
          <a:noFill/>
          <a:ln/>
        </p:spPr>
        <p:txBody>
          <a:bodyPr wrap="square" lIns="0" tIns="0" rIns="0" bIns="0" rtlCol="0" anchor="t">
            <a:normAutofit/>
          </a:bodyPr>
          <a:lstStyle/>
          <a:p>
            <a:pPr algn="ctr"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Roughly 2,700 to 2,900 times faster across five runs</a:t>
            </a:r>
            <a:endParaRPr lang="en-US" sz="1350" dirty="0"/>
          </a:p>
        </p:txBody>
      </p:sp>
      <p:sp>
        <p:nvSpPr>
          <p:cNvPr id="13" name="Text 10"/>
          <p:cNvSpPr/>
          <p:nvPr/>
        </p:nvSpPr>
        <p:spPr>
          <a:xfrm>
            <a:off x="661475" y="5923459"/>
            <a:ext cx="6906444" cy="267791"/>
          </a:xfrm>
          <a:prstGeom prst="rect">
            <a:avLst/>
          </a:prstGeom>
          <a:noFill/>
          <a:ln/>
        </p:spPr>
        <p:txBody>
          <a:bodyPr wrap="none" lIns="0" tIns="0" rIns="0" bIns="0" rtlCol="0" anchor="t"/>
          <a:lstStyle/>
          <a:p>
            <a:pPr algn="l"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Your machine will show different numbers.</a:t>
            </a:r>
            <a:endParaRPr lang="en-US" sz="1350" dirty="0"/>
          </a:p>
        </p:txBody>
      </p:sp>
      <p:sp>
        <p:nvSpPr>
          <p:cNvPr id="14"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206206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Choose by the question you ask most</a:t>
            </a:r>
            <a:endParaRPr lang="en-US" sz="3700" dirty="0"/>
          </a:p>
        </p:txBody>
      </p:sp>
      <p:sp>
        <p:nvSpPr>
          <p:cNvPr id="3" name="Shape 1"/>
          <p:cNvSpPr/>
          <p:nvPr/>
        </p:nvSpPr>
        <p:spPr>
          <a:xfrm>
            <a:off x="661475" y="3030736"/>
            <a:ext cx="3496877" cy="1127224"/>
          </a:xfrm>
          <a:prstGeom prst="roundRect">
            <a:avLst>
              <a:gd name="adj" fmla="val 7043"/>
            </a:avLst>
          </a:prstGeom>
          <a:solidFill>
            <a:srgbClr val="D1E5FA"/>
          </a:solidFill>
          <a:ln w="19050">
            <a:solidFill>
              <a:srgbClr val="B7CBE0"/>
            </a:solidFill>
            <a:prstDash val="solid"/>
          </a:ln>
        </p:spPr>
      </p:sp>
      <p:sp>
        <p:nvSpPr>
          <p:cNvPr id="4" name="Text 2"/>
          <p:cNvSpPr/>
          <p:nvPr/>
        </p:nvSpPr>
        <p:spPr>
          <a:xfrm>
            <a:off x="869531" y="3238798"/>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List</a:t>
            </a:r>
            <a:endParaRPr lang="en-US" sz="1850" dirty="0"/>
          </a:p>
        </p:txBody>
      </p:sp>
      <p:sp>
        <p:nvSpPr>
          <p:cNvPr id="5" name="Text 3"/>
          <p:cNvSpPr/>
          <p:nvPr/>
        </p:nvSpPr>
        <p:spPr>
          <a:xfrm>
            <a:off x="869531" y="3647480"/>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Order or duplicates matter</a:t>
            </a:r>
            <a:endParaRPr lang="en-US" sz="1450" dirty="0"/>
          </a:p>
        </p:txBody>
      </p:sp>
      <p:sp>
        <p:nvSpPr>
          <p:cNvPr id="6" name="Shape 4"/>
          <p:cNvSpPr/>
          <p:nvPr/>
        </p:nvSpPr>
        <p:spPr>
          <a:xfrm>
            <a:off x="4347359" y="3030736"/>
            <a:ext cx="3496877" cy="1127224"/>
          </a:xfrm>
          <a:prstGeom prst="roundRect">
            <a:avLst>
              <a:gd name="adj" fmla="val 7043"/>
            </a:avLst>
          </a:prstGeom>
          <a:solidFill>
            <a:srgbClr val="D1E5FA"/>
          </a:solidFill>
          <a:ln w="19050">
            <a:solidFill>
              <a:srgbClr val="B7CBE0"/>
            </a:solidFill>
            <a:prstDash val="solid"/>
          </a:ln>
        </p:spPr>
      </p:sp>
      <p:sp>
        <p:nvSpPr>
          <p:cNvPr id="7" name="Text 5"/>
          <p:cNvSpPr/>
          <p:nvPr/>
        </p:nvSpPr>
        <p:spPr>
          <a:xfrm>
            <a:off x="4555416" y="3238798"/>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Dictionary</a:t>
            </a:r>
            <a:endParaRPr lang="en-US" sz="1850" dirty="0"/>
          </a:p>
        </p:txBody>
      </p:sp>
      <p:sp>
        <p:nvSpPr>
          <p:cNvPr id="8" name="Text 6"/>
          <p:cNvSpPr/>
          <p:nvPr/>
        </p:nvSpPr>
        <p:spPr>
          <a:xfrm>
            <a:off x="4555416" y="3647480"/>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Look up by a name or ID</a:t>
            </a:r>
            <a:endParaRPr lang="en-US" sz="1450" dirty="0"/>
          </a:p>
        </p:txBody>
      </p:sp>
      <p:sp>
        <p:nvSpPr>
          <p:cNvPr id="9" name="Shape 7"/>
          <p:cNvSpPr/>
          <p:nvPr/>
        </p:nvSpPr>
        <p:spPr>
          <a:xfrm>
            <a:off x="8033244" y="3030736"/>
            <a:ext cx="3496877" cy="1127224"/>
          </a:xfrm>
          <a:prstGeom prst="roundRect">
            <a:avLst>
              <a:gd name="adj" fmla="val 7043"/>
            </a:avLst>
          </a:prstGeom>
          <a:solidFill>
            <a:srgbClr val="D1E5FA"/>
          </a:solidFill>
          <a:ln w="19050">
            <a:solidFill>
              <a:srgbClr val="B7CBE0"/>
            </a:solidFill>
            <a:prstDash val="solid"/>
          </a:ln>
        </p:spPr>
      </p:sp>
      <p:sp>
        <p:nvSpPr>
          <p:cNvPr id="10" name="Text 8"/>
          <p:cNvSpPr/>
          <p:nvPr/>
        </p:nvSpPr>
        <p:spPr>
          <a:xfrm>
            <a:off x="8241300" y="3238798"/>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Set</a:t>
            </a:r>
            <a:endParaRPr lang="en-US" sz="1850" dirty="0"/>
          </a:p>
        </p:txBody>
      </p:sp>
      <p:sp>
        <p:nvSpPr>
          <p:cNvPr id="11" name="Text 9"/>
          <p:cNvSpPr/>
          <p:nvPr/>
        </p:nvSpPr>
        <p:spPr>
          <a:xfrm>
            <a:off x="8241300" y="3647480"/>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Is it in there, or keep only unique</a:t>
            </a:r>
            <a:endParaRPr lang="en-US" sz="1450" dirty="0"/>
          </a:p>
        </p:txBody>
      </p:sp>
      <p:sp>
        <p:nvSpPr>
          <p:cNvPr id="12" name="Text 10"/>
          <p:cNvSpPr/>
          <p:nvPr/>
        </p:nvSpPr>
        <p:spPr>
          <a:xfrm>
            <a:off x="661475" y="4370586"/>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Wrong choice cost: slow, lost order, or impossible lookups.</a:t>
            </a:r>
            <a:endParaRPr lang="en-US" sz="1450" dirty="0"/>
          </a:p>
        </p:txBody>
      </p:sp>
      <p:sp>
        <p:nvSpPr>
          <p:cNvPr id="13"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442145"/>
            <a:ext cx="3504219"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Sometimes the list is still right</a:t>
            </a:r>
            <a:endParaRPr lang="en-US" sz="3700" dirty="0"/>
          </a:p>
        </p:txBody>
      </p:sp>
      <p:sp>
        <p:nvSpPr>
          <p:cNvPr id="4" name="Text 1"/>
          <p:cNvSpPr/>
          <p:nvPr/>
        </p:nvSpPr>
        <p:spPr>
          <a:xfrm>
            <a:off x="8032251" y="3403104"/>
            <a:ext cx="3504219" cy="2012752"/>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v3 command list has 14 commands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help prints them in order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set would be faster by an amount you cannot measure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And help would print them scrambled</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Lab U5-01 Part 3: sets and the stopwatch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Songs on both playlists, artists counted once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Time a list against a set yourself</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2: inventory list and visited set in v3</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2026-09-14T19:19:28Z</dcterms:created>
  <dcterms:modified xsi:type="dcterms:W3CDTF">2026-09-14T19:19:28Z</dcterms:modified>
</cp:coreProperties>
</file>