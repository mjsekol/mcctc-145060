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true" autoCompressPictures="0" embedTrueTypeFonts="true">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embeddedFontLst>
    <p:embeddedFont>
      <p:font typeface="Orbitron Bold"/>
      <p:regular r:id="rId201314"/>
    </p:embeddedFont>
    <p:embeddedFont>
      <p:font typeface="Orbitron"/>
      <p:regular r:id="rId201315"/>
    </p:embeddedFont>
    <p:embeddedFont>
      <p:font typeface="Roboto Condensed Bold"/>
      <p:regular r:id="rId201316"/>
    </p:embeddedFont>
    <p:embeddedFont>
      <p:font typeface="Roboto Condensed"/>
      <p:regular r:id="rId201317"/>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201314" Target="fonts/201314.fntdata" Type="http://schemas.openxmlformats.org/officeDocument/2006/relationships/font"/><Relationship Id="rId201315" Target="fonts/201315.fntdata" Type="http://schemas.openxmlformats.org/officeDocument/2006/relationships/font"/><Relationship Id="rId201316" Target="fonts/201316.fntdata" Type="http://schemas.openxmlformats.org/officeDocument/2006/relationships/font"/><Relationship Id="rId201317" Target="fonts/201317.fntdata" Type="http://schemas.openxmlformats.org/officeDocument/2006/relationships/font"/><Relationship Id="rId201318" Target="fonts/201318.fntdata" Type="http://schemas.openxmlformats.org/officeDocument/2006/relationships/font"/><Relationship Id="rId201319" Target="fonts/201319.fntdata" Type="http://schemas.openxmlformats.org/officeDocument/2006/relationships/font"/><Relationship Id="rId201320" Target="fonts/201320.fntdata" Type="http://schemas.openxmlformats.org/officeDocument/2006/relationships/font"/><Relationship Id="rId201321" Target="fonts/201321.fntdata" Type="http://schemas.openxmlformats.org/officeDocument/2006/relationships/font"/></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club is ordering hoodies. The sign-up sheet has twenty three rows, filled in by different people, and nobody typed the same way. M, med, Medium. Eleven, eleventh, Junior. Someone pasted a second copy of the header halfway down. The printer needs one number per size by Friday. That gap between what people typed and what a program can use is what cleaning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CSV stands for comma separated values, and every spreadsheet can export it. It looks like you could split each line on commas. The rule that breaks that idea is the third bullet. When a field contains a comma, like a name written last comma first, the whole field is wrapped in double quotes. And every value, even a number, comes in as text, which is the Unit 1 lesson one more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third line of output. The row for Reyes comma Ana split into five pieces, so the name is half a name with a stray quote, and her size came out as ten, which is her grade. No error. Every field after the comma shifted one place. If this fed an order, Ana would get a hoodie in size 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DictReader reads the header for you and gives you each row as a dictionary, keyed by column name. It handles the quotes, so Reyes comma Ana is one name again with the right size. newline equals empty string is required when you open a CSV. line num is the line of the file you are on, header included, which is the number a person will look for when they go to fix a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and lower first, so capitals and stray spaces stop mattering. Then a dictionary translates every spelling people really typed into the one the printer needs. A set holds the words that mean paid. And anything you do not recognize goes to a problems list with its line number. Cleaning never guesses. A row you drop without saying so is a hoodie somebody paid for and never 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DictWriter writes your list of dictionaries back to CSV, quoting any field with a comma for you. Then one json dump converts the same clean data to JSON, where paid becomes real true and false instead of text. Moving data from one format to another without losing anything is called converting, and it is one of this unit's competencies.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is specific to Windows, which is what our lab runs. Open a CSV for writing without newline equals empty string, and the csv module's line ending gets doubled. Read the file back and every other row is empty. Open it in a spreadsheet and there is a blank line between every order. Add newline equals empty string every time you open a CSV, reading or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rule for the whole pipeline. Some rows are safe to skip quietly, like a blank line or a second copy of the header. Every other row that does not make it into your clean data gets listed with its line number and a reason a person can act on. At the end, say how many rows were clean and how many need a person. Somebody should be able to check your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one is the Hoodie Order lab. The real messy sheet, with every problem on slide one and a few more. You produce the printer's count by size and color, the treasurer's paid and unpaid totals, a clean CSV, a JSON file, and a needs a person list with line numbers. Build two is the finish line for text adventure version three. Finish your tests and README, then demo it to a partner and break your save three ways. It is due at the end of the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AFA"/>
          </a:solidFill>
          <a:ln/>
        </p:spPr>
      </p:sp>
      <p:sp>
        <p:nvSpPr>
          <p:cNvPr id="3" name="Shape 1"/>
          <p:cNvSpPr/>
          <p:nvPr/>
        </p:nvSpPr>
        <p:spPr>
          <a:xfrm>
            <a:off x="0" y="0"/>
            <a:ext cx="12191695" cy="6858000"/>
          </a:xfrm>
          <a:prstGeom prst="rect">
            <a:avLst/>
          </a:prstGeom>
          <a:solidFill>
            <a:srgbClr val="FFFFFF"/>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png"/><Relationship Id="rId3" Type="http://schemas.openxmlformats.org/officeDocument/2006/relationships/image" Target="../media/image-2-3.svg"/><Relationship Id="rId4" Type="http://schemas.openxmlformats.org/officeDocument/2006/relationships/image" Target="../media/image-2-2.png"/><Relationship Id="rId5" Type="http://schemas.openxmlformats.org/officeDocument/2006/relationships/image" Target="../media/image-2-3.svg"/><Relationship Id="rId6" Type="http://schemas.openxmlformats.org/officeDocument/2006/relationships/image" Target="../media/image-2-2.png"/><Relationship Id="rId7" Type="http://schemas.openxmlformats.org/officeDocument/2006/relationships/image" Target="../media/image-2-3.svg"/><Relationship Id="rId8" Type="http://schemas.openxmlformats.org/officeDocument/2006/relationships/image" Target="../media/image-2-2.png"/><Relationship Id="rId9" Type="http://schemas.openxmlformats.org/officeDocument/2006/relationships/image" Target="../media/image-2-3.svg"/><Relationship Id="rId10" Type="http://schemas.openxmlformats.org/officeDocument/2006/relationships/slideLayout" Target="../slideLayouts/slideLayout2.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png"/><Relationship Id="rId3" Type="http://schemas.openxmlformats.org/officeDocument/2006/relationships/image" Target="../media/image-9-3.svg"/><Relationship Id="rId4" Type="http://schemas.openxmlformats.org/officeDocument/2006/relationships/image" Target="../media/image-9-2.png"/><Relationship Id="rId5" Type="http://schemas.openxmlformats.org/officeDocument/2006/relationships/image" Target="../media/image-9-3.svg"/><Relationship Id="rId6" Type="http://schemas.openxmlformats.org/officeDocument/2006/relationships/image" Target="../media/image-9-2.png"/><Relationship Id="rId7" Type="http://schemas.openxmlformats.org/officeDocument/2006/relationships/image" Target="../media/image-9-3.svg"/><Relationship Id="rId8" Type="http://schemas.openxmlformats.org/officeDocument/2006/relationships/image" Target="../media/image-9-2.png"/><Relationship Id="rId9" Type="http://schemas.openxmlformats.org/officeDocument/2006/relationships/image" Target="../media/image-9-3.svg"/><Relationship Id="rId10" Type="http://schemas.openxmlformats.org/officeDocument/2006/relationships/slideLayout" Target="../slideLayouts/slideLayout2.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619809" y="0"/>
            <a:ext cx="4571886" cy="6858000"/>
          </a:xfrm>
          <a:prstGeom prst="rect">
            <a:avLst/>
          </a:prstGeom>
        </p:spPr>
      </p:pic>
      <p:sp>
        <p:nvSpPr>
          <p:cNvPr id="3" name="Text 0"/>
          <p:cNvSpPr/>
          <p:nvPr/>
        </p:nvSpPr>
        <p:spPr>
          <a:xfrm>
            <a:off x="661475" y="2481560"/>
            <a:ext cx="6296860" cy="177194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Messy Sheets: Reading CSV, Cleaning It, and Converting It</a:t>
            </a:r>
            <a:endParaRPr lang="en-US" sz="3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619809" y="0"/>
            <a:ext cx="4571886" cy="6858000"/>
          </a:xfrm>
          <a:prstGeom prst="rect">
            <a:avLst/>
          </a:prstGeom>
        </p:spPr>
      </p:pic>
      <p:sp>
        <p:nvSpPr>
          <p:cNvPr id="3" name="Text 0"/>
          <p:cNvSpPr/>
          <p:nvPr/>
        </p:nvSpPr>
        <p:spPr>
          <a:xfrm>
            <a:off x="661475" y="722610"/>
            <a:ext cx="6296860" cy="996752"/>
          </a:xfrm>
          <a:prstGeom prst="rect">
            <a:avLst/>
          </a:prstGeom>
          <a:noFill/>
          <a:ln/>
        </p:spPr>
        <p:txBody>
          <a:bodyPr wrap="square" lIns="0" tIns="0" rIns="0" bIns="0" rtlCol="0" anchor="t">
            <a:normAutofit/>
          </a:bodyPr>
          <a:lstStyle/>
          <a:p>
            <a:pPr algn="l" indent="0" marL="0">
              <a:lnSpc>
                <a:spcPct val="104000"/>
              </a:lnSpc>
              <a:buNone/>
            </a:pPr>
            <a:r>
              <a:rPr lang="en-US" sz="3100" b="1" dirty="0">
                <a:solidFill>
                  <a:srgbClr val="111111"/>
                </a:solidFill>
                <a:latin typeface="Orbitron Bold" pitchFamily="34" charset="0"/>
                <a:ea typeface="Orbitron Bold" pitchFamily="34" charset="-122"/>
                <a:cs typeface="Orbitron Bold" pitchFamily="34" charset="-120"/>
              </a:rPr>
              <a:t>Twenty-three rows, and nobody typed the same way</a:t>
            </a:r>
            <a:endParaRPr lang="en-US" sz="3100" dirty="0"/>
          </a:p>
        </p:txBody>
      </p:sp>
      <p:pic>
        <p:nvPicPr>
          <p:cNvPr id="4"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61475" y="1921173"/>
            <a:ext cx="6296860" cy="921941"/>
          </a:xfrm>
          <a:prstGeom prst="rect">
            <a:avLst/>
          </a:prstGeom>
        </p:spPr>
      </p:pic>
      <p:sp>
        <p:nvSpPr>
          <p:cNvPr id="5" name="Text 1"/>
          <p:cNvSpPr/>
          <p:nvPr/>
        </p:nvSpPr>
        <p:spPr>
          <a:xfrm>
            <a:off x="916163" y="2099667"/>
            <a:ext cx="5863681" cy="249138"/>
          </a:xfrm>
          <a:prstGeom prst="rect">
            <a:avLst/>
          </a:prstGeom>
          <a:noFill/>
          <a:ln/>
        </p:spPr>
        <p:txBody>
          <a:bodyPr wrap="none" lIns="0" tIns="0" rIns="0" bIns="0" rtlCol="0" anchor="t"/>
          <a:lstStyle/>
          <a:p>
            <a:pPr algn="l" indent="0" marL="0">
              <a:lnSpc>
                <a:spcPct val="104000"/>
              </a:lnSpc>
              <a:buNone/>
            </a:pPr>
            <a:r>
              <a:rPr lang="en-US" sz="1550" b="1" dirty="0">
                <a:solidFill>
                  <a:srgbClr val="1C1C1C"/>
                </a:solidFill>
                <a:latin typeface="Orbitron Bold" pitchFamily="34" charset="0"/>
                <a:ea typeface="Orbitron Bold" pitchFamily="34" charset="-122"/>
                <a:cs typeface="Orbitron Bold" pitchFamily="34" charset="-120"/>
              </a:rPr>
              <a:t>Size Variants</a:t>
            </a:r>
            <a:endParaRPr lang="en-US" sz="1550" dirty="0"/>
          </a:p>
        </p:txBody>
      </p:sp>
      <p:sp>
        <p:nvSpPr>
          <p:cNvPr id="6" name="Text 2"/>
          <p:cNvSpPr/>
          <p:nvPr/>
        </p:nvSpPr>
        <p:spPr>
          <a:xfrm>
            <a:off x="916163" y="2429470"/>
            <a:ext cx="5863681" cy="235148"/>
          </a:xfrm>
          <a:prstGeom prst="rect">
            <a:avLst/>
          </a:prstGeom>
          <a:noFill/>
          <a:ln/>
        </p:spPr>
        <p:txBody>
          <a:bodyPr wrap="none" lIns="0" tIns="0" rIns="0" bIns="0" rtlCol="0" anchor="t"/>
          <a:lstStyle/>
          <a:p>
            <a:pPr algn="l" indent="0" marL="0">
              <a:lnSpc>
                <a:spcPct val="123000"/>
              </a:lnSpc>
              <a:buNone/>
            </a:pPr>
            <a:r>
              <a:rPr lang="en-US" sz="1250" dirty="0">
                <a:solidFill>
                  <a:srgbClr val="1C1C1C"/>
                </a:solidFill>
                <a:latin typeface="Roboto Condensed" pitchFamily="34" charset="0"/>
                <a:ea typeface="Roboto Condensed" pitchFamily="34" charset="-122"/>
                <a:cs typeface="Roboto Condensed" pitchFamily="34" charset="-120"/>
              </a:rPr>
              <a:t>Sizes typed as M, med, Medium, and m</a:t>
            </a:r>
            <a:endParaRPr lang="en-US" sz="1250" dirty="0"/>
          </a:p>
        </p:txBody>
      </p:sp>
      <p:pic>
        <p:nvPicPr>
          <p:cNvPr id="7" name="Image 2" descr="preencoded.png">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61475" y="2977654"/>
            <a:ext cx="6296860" cy="921941"/>
          </a:xfrm>
          <a:prstGeom prst="rect">
            <a:avLst/>
          </a:prstGeom>
        </p:spPr>
      </p:pic>
      <p:sp>
        <p:nvSpPr>
          <p:cNvPr id="8" name="Text 3"/>
          <p:cNvSpPr/>
          <p:nvPr/>
        </p:nvSpPr>
        <p:spPr>
          <a:xfrm>
            <a:off x="916163" y="3156148"/>
            <a:ext cx="5863681" cy="249138"/>
          </a:xfrm>
          <a:prstGeom prst="rect">
            <a:avLst/>
          </a:prstGeom>
          <a:noFill/>
          <a:ln/>
        </p:spPr>
        <p:txBody>
          <a:bodyPr wrap="none" lIns="0" tIns="0" rIns="0" bIns="0" rtlCol="0" anchor="t"/>
          <a:lstStyle/>
          <a:p>
            <a:pPr algn="l" indent="0" marL="0">
              <a:lnSpc>
                <a:spcPct val="104000"/>
              </a:lnSpc>
              <a:buNone/>
            </a:pPr>
            <a:r>
              <a:rPr lang="en-US" sz="1550" b="1" dirty="0">
                <a:solidFill>
                  <a:srgbClr val="1C1C1C"/>
                </a:solidFill>
                <a:latin typeface="Orbitron Bold" pitchFamily="34" charset="0"/>
                <a:ea typeface="Orbitron Bold" pitchFamily="34" charset="-122"/>
                <a:cs typeface="Orbitron Bold" pitchFamily="34" charset="-120"/>
              </a:rPr>
              <a:t>Grade Variants</a:t>
            </a:r>
            <a:endParaRPr lang="en-US" sz="1550" dirty="0"/>
          </a:p>
        </p:txBody>
      </p:sp>
      <p:sp>
        <p:nvSpPr>
          <p:cNvPr id="9" name="Text 4"/>
          <p:cNvSpPr/>
          <p:nvPr/>
        </p:nvSpPr>
        <p:spPr>
          <a:xfrm>
            <a:off x="916163" y="3485952"/>
            <a:ext cx="5863681" cy="235148"/>
          </a:xfrm>
          <a:prstGeom prst="rect">
            <a:avLst/>
          </a:prstGeom>
          <a:noFill/>
          <a:ln/>
        </p:spPr>
        <p:txBody>
          <a:bodyPr wrap="none" lIns="0" tIns="0" rIns="0" bIns="0" rtlCol="0" anchor="t"/>
          <a:lstStyle/>
          <a:p>
            <a:pPr algn="l" indent="0" marL="0">
              <a:lnSpc>
                <a:spcPct val="123000"/>
              </a:lnSpc>
              <a:buNone/>
            </a:pPr>
            <a:r>
              <a:rPr lang="en-US" sz="1250" dirty="0">
                <a:solidFill>
                  <a:srgbClr val="1C1C1C"/>
                </a:solidFill>
                <a:latin typeface="Roboto Condensed" pitchFamily="34" charset="0"/>
                <a:ea typeface="Roboto Condensed" pitchFamily="34" charset="-122"/>
                <a:cs typeface="Roboto Condensed" pitchFamily="34" charset="-120"/>
              </a:rPr>
              <a:t>Grades typed as 11, 11th, and Junior</a:t>
            </a:r>
            <a:endParaRPr lang="en-US" sz="1250" dirty="0"/>
          </a:p>
        </p:txBody>
      </p:sp>
      <p:pic>
        <p:nvPicPr>
          <p:cNvPr id="10" name="Image 3" descr="preencoded.png">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61475" y="4034135"/>
            <a:ext cx="6296860" cy="921941"/>
          </a:xfrm>
          <a:prstGeom prst="rect">
            <a:avLst/>
          </a:prstGeom>
        </p:spPr>
      </p:pic>
      <p:sp>
        <p:nvSpPr>
          <p:cNvPr id="11" name="Text 5"/>
          <p:cNvSpPr/>
          <p:nvPr/>
        </p:nvSpPr>
        <p:spPr>
          <a:xfrm>
            <a:off x="916163" y="4212630"/>
            <a:ext cx="5863681" cy="249138"/>
          </a:xfrm>
          <a:prstGeom prst="rect">
            <a:avLst/>
          </a:prstGeom>
          <a:noFill/>
          <a:ln/>
        </p:spPr>
        <p:txBody>
          <a:bodyPr wrap="none" lIns="0" tIns="0" rIns="0" bIns="0" rtlCol="0" anchor="t"/>
          <a:lstStyle/>
          <a:p>
            <a:pPr algn="l" indent="0" marL="0">
              <a:lnSpc>
                <a:spcPct val="104000"/>
              </a:lnSpc>
              <a:buNone/>
            </a:pPr>
            <a:r>
              <a:rPr lang="en-US" sz="1550" b="1" dirty="0">
                <a:solidFill>
                  <a:srgbClr val="1C1C1C"/>
                </a:solidFill>
                <a:latin typeface="Orbitron Bold" pitchFamily="34" charset="0"/>
                <a:ea typeface="Orbitron Bold" pitchFamily="34" charset="-122"/>
                <a:cs typeface="Orbitron Bold" pitchFamily="34" charset="-120"/>
              </a:rPr>
              <a:t>Duplicate Header</a:t>
            </a:r>
            <a:endParaRPr lang="en-US" sz="1550" dirty="0"/>
          </a:p>
        </p:txBody>
      </p:sp>
      <p:sp>
        <p:nvSpPr>
          <p:cNvPr id="12" name="Text 6"/>
          <p:cNvSpPr/>
          <p:nvPr/>
        </p:nvSpPr>
        <p:spPr>
          <a:xfrm>
            <a:off x="916163" y="4542433"/>
            <a:ext cx="5863681" cy="235148"/>
          </a:xfrm>
          <a:prstGeom prst="rect">
            <a:avLst/>
          </a:prstGeom>
          <a:noFill/>
          <a:ln/>
        </p:spPr>
        <p:txBody>
          <a:bodyPr wrap="none" lIns="0" tIns="0" rIns="0" bIns="0" rtlCol="0" anchor="t"/>
          <a:lstStyle/>
          <a:p>
            <a:pPr algn="l" indent="0" marL="0">
              <a:lnSpc>
                <a:spcPct val="123000"/>
              </a:lnSpc>
              <a:buNone/>
            </a:pPr>
            <a:r>
              <a:rPr lang="en-US" sz="1250" dirty="0">
                <a:solidFill>
                  <a:srgbClr val="1C1C1C"/>
                </a:solidFill>
                <a:latin typeface="Roboto Condensed" pitchFamily="34" charset="0"/>
                <a:ea typeface="Roboto Condensed" pitchFamily="34" charset="-122"/>
                <a:cs typeface="Roboto Condensed" pitchFamily="34" charset="-120"/>
              </a:rPr>
              <a:t>Someone pasted the header in twice</a:t>
            </a:r>
            <a:endParaRPr lang="en-US" sz="1250" dirty="0"/>
          </a:p>
        </p:txBody>
      </p:sp>
      <p:pic>
        <p:nvPicPr>
          <p:cNvPr id="13" name="Image 4" descr="preencoded.png">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61475" y="5090616"/>
            <a:ext cx="6296860" cy="921941"/>
          </a:xfrm>
          <a:prstGeom prst="rect">
            <a:avLst/>
          </a:prstGeom>
        </p:spPr>
      </p:pic>
      <p:sp>
        <p:nvSpPr>
          <p:cNvPr id="14" name="Text 7"/>
          <p:cNvSpPr/>
          <p:nvPr/>
        </p:nvSpPr>
        <p:spPr>
          <a:xfrm>
            <a:off x="916163" y="5269111"/>
            <a:ext cx="5863681" cy="249138"/>
          </a:xfrm>
          <a:prstGeom prst="rect">
            <a:avLst/>
          </a:prstGeom>
          <a:noFill/>
          <a:ln/>
        </p:spPr>
        <p:txBody>
          <a:bodyPr wrap="none" lIns="0" tIns="0" rIns="0" bIns="0" rtlCol="0" anchor="t"/>
          <a:lstStyle/>
          <a:p>
            <a:pPr algn="l" indent="0" marL="0">
              <a:lnSpc>
                <a:spcPct val="104000"/>
              </a:lnSpc>
              <a:buNone/>
            </a:pPr>
            <a:r>
              <a:rPr lang="en-US" sz="1550" b="1" dirty="0">
                <a:solidFill>
                  <a:srgbClr val="1C1C1C"/>
                </a:solidFill>
                <a:latin typeface="Orbitron Bold" pitchFamily="34" charset="0"/>
                <a:ea typeface="Orbitron Bold" pitchFamily="34" charset="-122"/>
                <a:cs typeface="Orbitron Bold" pitchFamily="34" charset="-120"/>
              </a:rPr>
              <a:t>Goal</a:t>
            </a:r>
            <a:endParaRPr lang="en-US" sz="1550" dirty="0"/>
          </a:p>
        </p:txBody>
      </p:sp>
      <p:sp>
        <p:nvSpPr>
          <p:cNvPr id="15" name="Text 8"/>
          <p:cNvSpPr/>
          <p:nvPr/>
        </p:nvSpPr>
        <p:spPr>
          <a:xfrm>
            <a:off x="916163" y="5598914"/>
            <a:ext cx="5863681" cy="235148"/>
          </a:xfrm>
          <a:prstGeom prst="rect">
            <a:avLst/>
          </a:prstGeom>
          <a:noFill/>
          <a:ln/>
        </p:spPr>
        <p:txBody>
          <a:bodyPr wrap="none" lIns="0" tIns="0" rIns="0" bIns="0" rtlCol="0" anchor="t"/>
          <a:lstStyle/>
          <a:p>
            <a:pPr algn="l" indent="0" marL="0">
              <a:lnSpc>
                <a:spcPct val="123000"/>
              </a:lnSpc>
              <a:buNone/>
            </a:pPr>
            <a:r>
              <a:rPr lang="en-US" sz="1250" dirty="0">
                <a:solidFill>
                  <a:srgbClr val="1C1C1C"/>
                </a:solidFill>
                <a:latin typeface="Roboto Condensed" pitchFamily="34" charset="0"/>
                <a:ea typeface="Roboto Condensed" pitchFamily="34" charset="-122"/>
                <a:cs typeface="Roboto Condensed" pitchFamily="34" charset="-120"/>
              </a:rPr>
              <a:t>The printer needs one clean count by size</a:t>
            </a:r>
            <a:endParaRPr lang="en-US" sz="1250" dirty="0"/>
          </a:p>
        </p:txBody>
      </p:sp>
      <p:sp>
        <p:nvSpPr>
          <p:cNvPr id="16" name="Text 9"/>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619809" y="0"/>
            <a:ext cx="4571886" cy="6858000"/>
          </a:xfrm>
          <a:prstGeom prst="rect">
            <a:avLst/>
          </a:prstGeom>
        </p:spPr>
      </p:pic>
      <p:sp>
        <p:nvSpPr>
          <p:cNvPr id="3" name="Text 0"/>
          <p:cNvSpPr/>
          <p:nvPr/>
        </p:nvSpPr>
        <p:spPr>
          <a:xfrm>
            <a:off x="661475" y="1102519"/>
            <a:ext cx="6296860"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A CSV is text with rules</a:t>
            </a:r>
            <a:endParaRPr lang="en-US" sz="3700" dirty="0"/>
          </a:p>
        </p:txBody>
      </p:sp>
      <p:sp>
        <p:nvSpPr>
          <p:cNvPr id="4" name="Shape 1"/>
          <p:cNvSpPr/>
          <p:nvPr/>
        </p:nvSpPr>
        <p:spPr>
          <a:xfrm>
            <a:off x="661475" y="2567285"/>
            <a:ext cx="425241" cy="425252"/>
          </a:xfrm>
          <a:prstGeom prst="roundRect">
            <a:avLst>
              <a:gd name="adj" fmla="val 18669"/>
            </a:avLst>
          </a:prstGeom>
          <a:solidFill>
            <a:srgbClr val="D1E5FA"/>
          </a:solidFill>
          <a:ln w="19050">
            <a:solidFill>
              <a:srgbClr val="B7CBE0"/>
            </a:solidFill>
            <a:prstDash val="solid"/>
          </a:ln>
        </p:spPr>
      </p:sp>
      <p:sp>
        <p:nvSpPr>
          <p:cNvPr id="5" name="Text 2"/>
          <p:cNvSpPr/>
          <p:nvPr/>
        </p:nvSpPr>
        <p:spPr>
          <a:xfrm>
            <a:off x="732365" y="2602706"/>
            <a:ext cx="283461" cy="354409"/>
          </a:xfrm>
          <a:prstGeom prst="rect">
            <a:avLst/>
          </a:prstGeom>
          <a:noFill/>
          <a:ln/>
        </p:spPr>
        <p:txBody>
          <a:bodyPr wrap="none" lIns="0" tIns="0" rIns="0" bIns="0" rtlCol="0" anchor="ctr"/>
          <a:lstStyle/>
          <a:p>
            <a:pPr algn="ctr" indent="0" marL="0">
              <a:lnSpc>
                <a:spcPct val="100000"/>
              </a:lnSpc>
              <a:buNone/>
            </a:pPr>
            <a:r>
              <a:rPr lang="en-US" sz="2200" b="1" dirty="0">
                <a:solidFill>
                  <a:srgbClr val="1C1C1C"/>
                </a:solidFill>
                <a:latin typeface="Orbitron Bold" pitchFamily="34" charset="0"/>
                <a:ea typeface="Orbitron Bold" pitchFamily="34" charset="-122"/>
                <a:cs typeface="Orbitron Bold" pitchFamily="34" charset="-120"/>
              </a:rPr>
              <a:t>1</a:t>
            </a:r>
            <a:endParaRPr lang="en-US" sz="2200" dirty="0"/>
          </a:p>
        </p:txBody>
      </p:sp>
      <p:sp>
        <p:nvSpPr>
          <p:cNvPr id="6" name="Text 3"/>
          <p:cNvSpPr/>
          <p:nvPr/>
        </p:nvSpPr>
        <p:spPr>
          <a:xfrm>
            <a:off x="1275723" y="2632174"/>
            <a:ext cx="5682612"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One row per line, commas between fields</a:t>
            </a:r>
            <a:endParaRPr lang="en-US" sz="1850" dirty="0"/>
          </a:p>
        </p:txBody>
      </p:sp>
      <p:sp>
        <p:nvSpPr>
          <p:cNvPr id="7" name="Shape 4"/>
          <p:cNvSpPr/>
          <p:nvPr/>
        </p:nvSpPr>
        <p:spPr>
          <a:xfrm>
            <a:off x="661475" y="3370560"/>
            <a:ext cx="425241" cy="425252"/>
          </a:xfrm>
          <a:prstGeom prst="roundRect">
            <a:avLst>
              <a:gd name="adj" fmla="val 18669"/>
            </a:avLst>
          </a:prstGeom>
          <a:solidFill>
            <a:srgbClr val="D1E5FA"/>
          </a:solidFill>
          <a:ln w="19050">
            <a:solidFill>
              <a:srgbClr val="B7CBE0"/>
            </a:solidFill>
            <a:prstDash val="solid"/>
          </a:ln>
        </p:spPr>
      </p:sp>
      <p:sp>
        <p:nvSpPr>
          <p:cNvPr id="8" name="Text 5"/>
          <p:cNvSpPr/>
          <p:nvPr/>
        </p:nvSpPr>
        <p:spPr>
          <a:xfrm>
            <a:off x="732365" y="3405981"/>
            <a:ext cx="283461" cy="354409"/>
          </a:xfrm>
          <a:prstGeom prst="rect">
            <a:avLst/>
          </a:prstGeom>
          <a:noFill/>
          <a:ln/>
        </p:spPr>
        <p:txBody>
          <a:bodyPr wrap="none" lIns="0" tIns="0" rIns="0" bIns="0" rtlCol="0" anchor="ctr"/>
          <a:lstStyle/>
          <a:p>
            <a:pPr algn="ctr" indent="0" marL="0">
              <a:lnSpc>
                <a:spcPct val="100000"/>
              </a:lnSpc>
              <a:buNone/>
            </a:pPr>
            <a:r>
              <a:rPr lang="en-US" sz="2200" b="1" dirty="0">
                <a:solidFill>
                  <a:srgbClr val="1C1C1C"/>
                </a:solidFill>
                <a:latin typeface="Orbitron Bold" pitchFamily="34" charset="0"/>
                <a:ea typeface="Orbitron Bold" pitchFamily="34" charset="-122"/>
                <a:cs typeface="Orbitron Bold" pitchFamily="34" charset="-120"/>
              </a:rPr>
              <a:t>2</a:t>
            </a:r>
            <a:endParaRPr lang="en-US" sz="2200" dirty="0"/>
          </a:p>
        </p:txBody>
      </p:sp>
      <p:sp>
        <p:nvSpPr>
          <p:cNvPr id="9" name="Text 6"/>
          <p:cNvSpPr/>
          <p:nvPr/>
        </p:nvSpPr>
        <p:spPr>
          <a:xfrm>
            <a:off x="1275723" y="3435449"/>
            <a:ext cx="5682612"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The first row is usually the header</a:t>
            </a:r>
            <a:endParaRPr lang="en-US" sz="1850" dirty="0"/>
          </a:p>
        </p:txBody>
      </p:sp>
      <p:sp>
        <p:nvSpPr>
          <p:cNvPr id="10" name="Shape 7"/>
          <p:cNvSpPr/>
          <p:nvPr/>
        </p:nvSpPr>
        <p:spPr>
          <a:xfrm>
            <a:off x="661475" y="4173835"/>
            <a:ext cx="425241" cy="425252"/>
          </a:xfrm>
          <a:prstGeom prst="roundRect">
            <a:avLst>
              <a:gd name="adj" fmla="val 18669"/>
            </a:avLst>
          </a:prstGeom>
          <a:solidFill>
            <a:srgbClr val="D1E5FA"/>
          </a:solidFill>
          <a:ln w="19050">
            <a:solidFill>
              <a:srgbClr val="B7CBE0"/>
            </a:solidFill>
            <a:prstDash val="solid"/>
          </a:ln>
        </p:spPr>
      </p:sp>
      <p:sp>
        <p:nvSpPr>
          <p:cNvPr id="11" name="Text 8"/>
          <p:cNvSpPr/>
          <p:nvPr/>
        </p:nvSpPr>
        <p:spPr>
          <a:xfrm>
            <a:off x="732365" y="4209256"/>
            <a:ext cx="283461" cy="354409"/>
          </a:xfrm>
          <a:prstGeom prst="rect">
            <a:avLst/>
          </a:prstGeom>
          <a:noFill/>
          <a:ln/>
        </p:spPr>
        <p:txBody>
          <a:bodyPr wrap="none" lIns="0" tIns="0" rIns="0" bIns="0" rtlCol="0" anchor="ctr"/>
          <a:lstStyle/>
          <a:p>
            <a:pPr algn="ctr" indent="0" marL="0">
              <a:lnSpc>
                <a:spcPct val="100000"/>
              </a:lnSpc>
              <a:buNone/>
            </a:pPr>
            <a:r>
              <a:rPr lang="en-US" sz="2200" b="1" dirty="0">
                <a:solidFill>
                  <a:srgbClr val="1C1C1C"/>
                </a:solidFill>
                <a:latin typeface="Orbitron Bold" pitchFamily="34" charset="0"/>
                <a:ea typeface="Orbitron Bold" pitchFamily="34" charset="-122"/>
                <a:cs typeface="Orbitron Bold" pitchFamily="34" charset="-120"/>
              </a:rPr>
              <a:t>3</a:t>
            </a:r>
            <a:endParaRPr lang="en-US" sz="2200" dirty="0"/>
          </a:p>
        </p:txBody>
      </p:sp>
      <p:sp>
        <p:nvSpPr>
          <p:cNvPr id="12" name="Text 9"/>
          <p:cNvSpPr/>
          <p:nvPr/>
        </p:nvSpPr>
        <p:spPr>
          <a:xfrm>
            <a:off x="1275723" y="4238724"/>
            <a:ext cx="5682612" cy="590550"/>
          </a:xfrm>
          <a:prstGeom prst="rect">
            <a:avLst/>
          </a:prstGeom>
          <a:noFill/>
          <a:ln/>
        </p:spPr>
        <p:txBody>
          <a:bodyPr wrap="square" lIns="0" tIns="0" rIns="0" bIns="0" rtlCol="0" anchor="t">
            <a:normAutofit/>
          </a:bodyPr>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A field with a comma inside is wrapped in quotes</a:t>
            </a:r>
            <a:endParaRPr lang="en-US" sz="1850" dirty="0"/>
          </a:p>
        </p:txBody>
      </p:sp>
      <p:sp>
        <p:nvSpPr>
          <p:cNvPr id="13" name="Shape 10"/>
          <p:cNvSpPr/>
          <p:nvPr/>
        </p:nvSpPr>
        <p:spPr>
          <a:xfrm>
            <a:off x="661475" y="5207298"/>
            <a:ext cx="425241" cy="425252"/>
          </a:xfrm>
          <a:prstGeom prst="roundRect">
            <a:avLst>
              <a:gd name="adj" fmla="val 18669"/>
            </a:avLst>
          </a:prstGeom>
          <a:solidFill>
            <a:srgbClr val="D1E5FA"/>
          </a:solidFill>
          <a:ln w="19050">
            <a:solidFill>
              <a:srgbClr val="B7CBE0"/>
            </a:solidFill>
            <a:prstDash val="solid"/>
          </a:ln>
        </p:spPr>
      </p:sp>
      <p:sp>
        <p:nvSpPr>
          <p:cNvPr id="14" name="Text 11"/>
          <p:cNvSpPr/>
          <p:nvPr/>
        </p:nvSpPr>
        <p:spPr>
          <a:xfrm>
            <a:off x="732365" y="5242719"/>
            <a:ext cx="283461" cy="354409"/>
          </a:xfrm>
          <a:prstGeom prst="rect">
            <a:avLst/>
          </a:prstGeom>
          <a:noFill/>
          <a:ln/>
        </p:spPr>
        <p:txBody>
          <a:bodyPr wrap="none" lIns="0" tIns="0" rIns="0" bIns="0" rtlCol="0" anchor="ctr"/>
          <a:lstStyle/>
          <a:p>
            <a:pPr algn="ctr" indent="0" marL="0">
              <a:lnSpc>
                <a:spcPct val="100000"/>
              </a:lnSpc>
              <a:buNone/>
            </a:pPr>
            <a:r>
              <a:rPr lang="en-US" sz="2200" b="1" dirty="0">
                <a:solidFill>
                  <a:srgbClr val="1C1C1C"/>
                </a:solidFill>
                <a:latin typeface="Orbitron Bold" pitchFamily="34" charset="0"/>
                <a:ea typeface="Orbitron Bold" pitchFamily="34" charset="-122"/>
                <a:cs typeface="Orbitron Bold" pitchFamily="34" charset="-120"/>
              </a:rPr>
              <a:t>4</a:t>
            </a:r>
            <a:endParaRPr lang="en-US" sz="2200" dirty="0"/>
          </a:p>
        </p:txBody>
      </p:sp>
      <p:sp>
        <p:nvSpPr>
          <p:cNvPr id="15" name="Text 12"/>
          <p:cNvSpPr/>
          <p:nvPr/>
        </p:nvSpPr>
        <p:spPr>
          <a:xfrm>
            <a:off x="1275723" y="5272187"/>
            <a:ext cx="5682612"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Everything arrives as a string</a:t>
            </a:r>
            <a:endParaRPr lang="en-US" sz="1850" dirty="0"/>
          </a:p>
        </p:txBody>
      </p:sp>
      <p:sp>
        <p:nvSpPr>
          <p:cNvPr id="16" name="Text 13"/>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61475" y="1772841"/>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Watch this: split on commas</a:t>
            </a:r>
            <a:endParaRPr lang="en-US" sz="3700" dirty="0"/>
          </a:p>
        </p:txBody>
      </p:sp>
      <p:sp>
        <p:nvSpPr>
          <p:cNvPr id="3" name="Shape 1"/>
          <p:cNvSpPr/>
          <p:nvPr/>
        </p:nvSpPr>
        <p:spPr>
          <a:xfrm>
            <a:off x="661475" y="2859584"/>
            <a:ext cx="5203794" cy="1890117"/>
          </a:xfrm>
          <a:prstGeom prst="roundRect">
            <a:avLst>
              <a:gd name="adj" fmla="val 4200"/>
            </a:avLst>
          </a:prstGeom>
          <a:solidFill>
            <a:srgbClr val="F2F2F2"/>
          </a:solidFill>
          <a:ln/>
        </p:spPr>
      </p:sp>
      <p:sp>
        <p:nvSpPr>
          <p:cNvPr id="4" name="Text 2"/>
          <p:cNvSpPr/>
          <p:nvPr/>
        </p:nvSpPr>
        <p:spPr>
          <a:xfrm>
            <a:off x="888283" y="3048595"/>
            <a:ext cx="4750177" cy="1512094"/>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sheet = open("signups.csv", encoding="utf-8")</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for line in sheet:</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    parts = line.strip().split(",")</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    print(len(parts), parts[0], "| size:", parts[2])</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sheet.close()</a:t>
            </a:r>
            <a:endParaRPr lang="en-US" sz="1450" dirty="0"/>
          </a:p>
        </p:txBody>
      </p:sp>
      <p:sp>
        <p:nvSpPr>
          <p:cNvPr id="5" name="Shape 3"/>
          <p:cNvSpPr/>
          <p:nvPr/>
        </p:nvSpPr>
        <p:spPr>
          <a:xfrm>
            <a:off x="6332776" y="2859584"/>
            <a:ext cx="5203794" cy="1890117"/>
          </a:xfrm>
          <a:prstGeom prst="roundRect">
            <a:avLst>
              <a:gd name="adj" fmla="val 4200"/>
            </a:avLst>
          </a:prstGeom>
          <a:solidFill>
            <a:srgbClr val="F2F2F2"/>
          </a:solidFill>
          <a:ln/>
        </p:spPr>
      </p:sp>
      <p:sp>
        <p:nvSpPr>
          <p:cNvPr id="6" name="Text 4"/>
          <p:cNvSpPr/>
          <p:nvPr/>
        </p:nvSpPr>
        <p:spPr>
          <a:xfrm>
            <a:off x="6559584" y="3048595"/>
            <a:ext cx="4750177" cy="1512094"/>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4 Name | size: Size</a:t>
            </a:r>
            <a:endParaRPr lang="en-US" sz="1450" dirty="0"/>
          </a:p>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4 Maya R. | size: M</a:t>
            </a:r>
            <a:endParaRPr lang="en-US" sz="1450" dirty="0"/>
          </a:p>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5 "Reyes | size: 10</a:t>
            </a:r>
            <a:endParaRPr lang="en-US" sz="1450" dirty="0"/>
          </a:p>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4 Theo K.  | size: large</a:t>
            </a:r>
            <a:endParaRPr lang="en-US" sz="1450" dirty="0"/>
          </a:p>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4 Luis M. | size: med</a:t>
            </a:r>
            <a:endParaRPr lang="en-US" sz="1450" dirty="0"/>
          </a:p>
        </p:txBody>
      </p:sp>
      <p:sp>
        <p:nvSpPr>
          <p:cNvPr id="7" name="Text 5"/>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61475" y="1772841"/>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The csv module knows the rules</a:t>
            </a:r>
            <a:endParaRPr lang="en-US" sz="3700" dirty="0"/>
          </a:p>
        </p:txBody>
      </p:sp>
      <p:sp>
        <p:nvSpPr>
          <p:cNvPr id="3" name="Shape 1"/>
          <p:cNvSpPr/>
          <p:nvPr/>
        </p:nvSpPr>
        <p:spPr>
          <a:xfrm>
            <a:off x="661475" y="2859584"/>
            <a:ext cx="5203794" cy="1890117"/>
          </a:xfrm>
          <a:prstGeom prst="roundRect">
            <a:avLst>
              <a:gd name="adj" fmla="val 4200"/>
            </a:avLst>
          </a:prstGeom>
          <a:solidFill>
            <a:srgbClr val="F2F2F2"/>
          </a:solidFill>
          <a:ln/>
        </p:spPr>
      </p:sp>
      <p:sp>
        <p:nvSpPr>
          <p:cNvPr id="4" name="Text 2"/>
          <p:cNvSpPr/>
          <p:nvPr/>
        </p:nvSpPr>
        <p:spPr>
          <a:xfrm>
            <a:off x="888283" y="3048595"/>
            <a:ext cx="4750177" cy="1512094"/>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with open("signups.csv", newline="", encoding="utf-8") as sheet:</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reader = csv.DictReader(sheet)</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for row in reader:</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print(reader.line_num, row["Name"], row["Size"])</a:t>
            </a:r>
            <a:endParaRPr lang="en-US" sz="1450" dirty="0"/>
          </a:p>
        </p:txBody>
      </p:sp>
      <p:sp>
        <p:nvSpPr>
          <p:cNvPr id="5" name="Shape 3"/>
          <p:cNvSpPr/>
          <p:nvPr/>
        </p:nvSpPr>
        <p:spPr>
          <a:xfrm>
            <a:off x="6332776" y="2859584"/>
            <a:ext cx="5203794" cy="1587698"/>
          </a:xfrm>
          <a:prstGeom prst="roundRect">
            <a:avLst>
              <a:gd name="adj" fmla="val 5000"/>
            </a:avLst>
          </a:prstGeom>
          <a:solidFill>
            <a:srgbClr val="F2F2F2"/>
          </a:solidFill>
          <a:ln/>
        </p:spPr>
      </p:sp>
      <p:sp>
        <p:nvSpPr>
          <p:cNvPr id="6" name="Text 4"/>
          <p:cNvSpPr/>
          <p:nvPr/>
        </p:nvSpPr>
        <p:spPr>
          <a:xfrm>
            <a:off x="6559584" y="3048595"/>
            <a:ext cx="4750177" cy="1209675"/>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2 Maya R. M</a:t>
            </a:r>
            <a:endParaRPr lang="en-US" sz="1450" dirty="0"/>
          </a:p>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3 Reyes, Ana L</a:t>
            </a:r>
            <a:endParaRPr lang="en-US" sz="1450" dirty="0"/>
          </a:p>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4  Theo K.  large</a:t>
            </a:r>
            <a:endParaRPr lang="en-US" sz="1450" dirty="0"/>
          </a:p>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5 Luis M. med</a:t>
            </a:r>
            <a:endParaRPr lang="en-US" sz="1450" dirty="0"/>
          </a:p>
        </p:txBody>
      </p:sp>
      <p:sp>
        <p:nvSpPr>
          <p:cNvPr id="7" name="Text 5"/>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61475" y="1038027"/>
            <a:ext cx="10868745"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Cleaning is deciding, and a dictionary holds the decisions</a:t>
            </a:r>
            <a:endParaRPr lang="en-US" sz="3700" dirty="0"/>
          </a:p>
        </p:txBody>
      </p:sp>
      <p:sp>
        <p:nvSpPr>
          <p:cNvPr id="3" name="Shape 1"/>
          <p:cNvSpPr/>
          <p:nvPr/>
        </p:nvSpPr>
        <p:spPr>
          <a:xfrm>
            <a:off x="661475" y="2597348"/>
            <a:ext cx="10868745" cy="3099792"/>
          </a:xfrm>
          <a:prstGeom prst="roundRect">
            <a:avLst>
              <a:gd name="adj" fmla="val 2561"/>
            </a:avLst>
          </a:prstGeom>
          <a:solidFill>
            <a:srgbClr val="F2F2F2"/>
          </a:solidFill>
          <a:ln/>
        </p:spPr>
      </p:sp>
      <p:sp>
        <p:nvSpPr>
          <p:cNvPr id="4" name="Text 2"/>
          <p:cNvSpPr/>
          <p:nvPr/>
        </p:nvSpPr>
        <p:spPr>
          <a:xfrm>
            <a:off x="888283" y="2786360"/>
            <a:ext cx="10415129" cy="2721769"/>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SIZES = {"s": "S", "m": "M", "med": "M", "l": "L", "large": "L"}</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PAID_WORDS = {"yes", "y"}</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UNPAID_WORDS = {"no", "n"}</a:t>
            </a:r>
            <a:endParaRPr lang="en-US" sz="1450" dirty="0"/>
          </a:p>
          <a:p>
            <a:pPr algn="l" indent="0" marL="0">
              <a:lnSpc>
                <a:spcPct val="133000"/>
              </a:lnSpc>
              <a:buNone/>
            </a:pP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size = row["Size"].strip().lower()</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if size not in SIZES:</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    problems.append(f"line {reader.line_num}: size {repr(row['Size'])}")</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else:</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    clean_size = SIZES[size]</a:t>
            </a:r>
            <a:endParaRPr lang="en-US" sz="1450" dirty="0"/>
          </a:p>
        </p:txBody>
      </p:sp>
      <p:sp>
        <p:nvSpPr>
          <p:cNvPr id="5" name="Text 3"/>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61475" y="1379438"/>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Write it back out, and convert it</a:t>
            </a:r>
            <a:endParaRPr lang="en-US" sz="3700" dirty="0"/>
          </a:p>
        </p:txBody>
      </p:sp>
      <p:sp>
        <p:nvSpPr>
          <p:cNvPr id="3" name="Text 1"/>
          <p:cNvSpPr/>
          <p:nvPr/>
        </p:nvSpPr>
        <p:spPr>
          <a:xfrm>
            <a:off x="661475" y="2442567"/>
            <a:ext cx="5203794" cy="295275"/>
          </a:xfrm>
          <a:prstGeom prst="rect">
            <a:avLst/>
          </a:prstGeom>
          <a:noFill/>
          <a:ln/>
        </p:spPr>
        <p:txBody>
          <a:bodyPr wrap="none" lIns="0" tIns="0" rIns="0" bIns="0" rtlCol="0" anchor="t"/>
          <a:lstStyle/>
          <a:p>
            <a:pPr algn="l" indent="0" marL="0">
              <a:lnSpc>
                <a:spcPct val="104000"/>
              </a:lnSpc>
              <a:buNone/>
            </a:pPr>
            <a:r>
              <a:rPr lang="en-US" sz="1850" b="1" dirty="0">
                <a:solidFill>
                  <a:srgbClr val="111111"/>
                </a:solidFill>
                <a:latin typeface="Orbitron Bold" pitchFamily="34" charset="0"/>
                <a:ea typeface="Orbitron Bold" pitchFamily="34" charset="-122"/>
                <a:cs typeface="Orbitron Bold" pitchFamily="34" charset="-120"/>
              </a:rPr>
              <a:t>Write clean CSV</a:t>
            </a:r>
            <a:endParaRPr lang="en-US" sz="1850" dirty="0"/>
          </a:p>
        </p:txBody>
      </p:sp>
      <p:sp>
        <p:nvSpPr>
          <p:cNvPr id="4" name="Shape 2"/>
          <p:cNvSpPr/>
          <p:nvPr/>
        </p:nvSpPr>
        <p:spPr>
          <a:xfrm>
            <a:off x="661475" y="2950468"/>
            <a:ext cx="5203794" cy="2192536"/>
          </a:xfrm>
          <a:prstGeom prst="roundRect">
            <a:avLst>
              <a:gd name="adj" fmla="val 3621"/>
            </a:avLst>
          </a:prstGeom>
          <a:solidFill>
            <a:srgbClr val="F2F2F2"/>
          </a:solidFill>
          <a:ln/>
        </p:spPr>
      </p:sp>
      <p:sp>
        <p:nvSpPr>
          <p:cNvPr id="5" name="Text 3"/>
          <p:cNvSpPr/>
          <p:nvPr/>
        </p:nvSpPr>
        <p:spPr>
          <a:xfrm>
            <a:off x="888283" y="3139480"/>
            <a:ext cx="4750177" cy="1814513"/>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with open("signups_clean.csv", "w", newline="", encoding="utf-8") as out:</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writer = csv.DictWriter(out, fieldnames=["name", "size", "paid"])</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writer.writeheader()</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writer.writerows(clean)</a:t>
            </a:r>
            <a:endParaRPr lang="en-US" sz="1450" dirty="0"/>
          </a:p>
        </p:txBody>
      </p:sp>
      <p:sp>
        <p:nvSpPr>
          <p:cNvPr id="6" name="Text 4"/>
          <p:cNvSpPr/>
          <p:nvPr/>
        </p:nvSpPr>
        <p:spPr>
          <a:xfrm>
            <a:off x="6332776" y="2442567"/>
            <a:ext cx="5203794" cy="295275"/>
          </a:xfrm>
          <a:prstGeom prst="rect">
            <a:avLst/>
          </a:prstGeom>
          <a:noFill/>
          <a:ln/>
        </p:spPr>
        <p:txBody>
          <a:bodyPr wrap="none" lIns="0" tIns="0" rIns="0" bIns="0" rtlCol="0" anchor="t"/>
          <a:lstStyle/>
          <a:p>
            <a:pPr algn="l" indent="0" marL="0">
              <a:lnSpc>
                <a:spcPct val="104000"/>
              </a:lnSpc>
              <a:buNone/>
            </a:pPr>
            <a:r>
              <a:rPr lang="en-US" sz="1850" b="1" dirty="0">
                <a:solidFill>
                  <a:srgbClr val="111111"/>
                </a:solidFill>
                <a:latin typeface="Orbitron Bold" pitchFamily="34" charset="0"/>
                <a:ea typeface="Orbitron Bold" pitchFamily="34" charset="-122"/>
                <a:cs typeface="Orbitron Bold" pitchFamily="34" charset="-120"/>
              </a:rPr>
              <a:t>Write JSON</a:t>
            </a:r>
            <a:endParaRPr lang="en-US" sz="1850" dirty="0"/>
          </a:p>
        </p:txBody>
      </p:sp>
      <p:sp>
        <p:nvSpPr>
          <p:cNvPr id="7" name="Shape 5"/>
          <p:cNvSpPr/>
          <p:nvPr/>
        </p:nvSpPr>
        <p:spPr>
          <a:xfrm>
            <a:off x="6332776" y="2950468"/>
            <a:ext cx="5203794" cy="1285280"/>
          </a:xfrm>
          <a:prstGeom prst="roundRect">
            <a:avLst>
              <a:gd name="adj" fmla="val 6177"/>
            </a:avLst>
          </a:prstGeom>
          <a:solidFill>
            <a:srgbClr val="F2F2F2"/>
          </a:solidFill>
          <a:ln/>
        </p:spPr>
      </p:sp>
      <p:sp>
        <p:nvSpPr>
          <p:cNvPr id="8" name="Text 6"/>
          <p:cNvSpPr/>
          <p:nvPr/>
        </p:nvSpPr>
        <p:spPr>
          <a:xfrm>
            <a:off x="6559584" y="3139480"/>
            <a:ext cx="4750177" cy="907256"/>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with open("signups.json", "w", encoding="utf-8") as out:</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json.dump(clean, out, indent=2)</a:t>
            </a:r>
            <a:endParaRPr lang="en-US" sz="1450" dirty="0"/>
          </a:p>
        </p:txBody>
      </p:sp>
      <p:sp>
        <p:nvSpPr>
          <p:cNvPr id="9" name="Text 7"/>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61475" y="1326257"/>
            <a:ext cx="10868745"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Forget newline and every other row is blank</a:t>
            </a:r>
            <a:endParaRPr lang="en-US" sz="3700" dirty="0"/>
          </a:p>
        </p:txBody>
      </p:sp>
      <p:sp>
        <p:nvSpPr>
          <p:cNvPr id="3" name="Shape 1"/>
          <p:cNvSpPr/>
          <p:nvPr/>
        </p:nvSpPr>
        <p:spPr>
          <a:xfrm>
            <a:off x="661475" y="3003649"/>
            <a:ext cx="5203794" cy="2192536"/>
          </a:xfrm>
          <a:prstGeom prst="roundRect">
            <a:avLst>
              <a:gd name="adj" fmla="val 3621"/>
            </a:avLst>
          </a:prstGeom>
          <a:solidFill>
            <a:srgbClr val="F2F2F2"/>
          </a:solidFill>
          <a:ln/>
        </p:spPr>
      </p:sp>
      <p:sp>
        <p:nvSpPr>
          <p:cNvPr id="4" name="Text 2"/>
          <p:cNvSpPr/>
          <p:nvPr/>
        </p:nvSpPr>
        <p:spPr>
          <a:xfrm>
            <a:off x="888283" y="3192661"/>
            <a:ext cx="4750177" cy="1814513"/>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['name', 'size']</a:t>
            </a:r>
            <a:endParaRPr lang="en-US" sz="1450" dirty="0"/>
          </a:p>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a:t>
            </a:r>
            <a:endParaRPr lang="en-US" sz="1450" dirty="0"/>
          </a:p>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['Maya R.', 'M']</a:t>
            </a:r>
            <a:endParaRPr lang="en-US" sz="1450" dirty="0"/>
          </a:p>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a:t>
            </a:r>
            <a:endParaRPr lang="en-US" sz="1450" dirty="0"/>
          </a:p>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['Theo K.', 'L']</a:t>
            </a:r>
            <a:endParaRPr lang="en-US" sz="1450" dirty="0"/>
          </a:p>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a:t>
            </a:r>
            <a:endParaRPr lang="en-US" sz="1450" dirty="0"/>
          </a:p>
        </p:txBody>
      </p:sp>
      <p:sp>
        <p:nvSpPr>
          <p:cNvPr id="5" name="Text 3"/>
          <p:cNvSpPr/>
          <p:nvPr/>
        </p:nvSpPr>
        <p:spPr>
          <a:xfrm>
            <a:off x="6332776" y="2980035"/>
            <a:ext cx="5203794" cy="295275"/>
          </a:xfrm>
          <a:prstGeom prst="rect">
            <a:avLst/>
          </a:prstGeom>
          <a:noFill/>
          <a:ln/>
        </p:spPr>
        <p:txBody>
          <a:bodyPr wrap="none" lIns="0" tIns="0" rIns="0" bIns="0" rtlCol="0" anchor="t"/>
          <a:lstStyle/>
          <a:p>
            <a:pPr algn="l" indent="0" marL="0">
              <a:lnSpc>
                <a:spcPct val="104000"/>
              </a:lnSpc>
              <a:buNone/>
            </a:pPr>
            <a:r>
              <a:rPr lang="en-US" sz="1850" b="1" dirty="0">
                <a:solidFill>
                  <a:srgbClr val="111111"/>
                </a:solidFill>
                <a:latin typeface="Orbitron Bold" pitchFamily="34" charset="0"/>
                <a:ea typeface="Orbitron Bold" pitchFamily="34" charset="-122"/>
                <a:cs typeface="Orbitron Bold" pitchFamily="34" charset="-120"/>
              </a:rPr>
              <a:t>What went wrong</a:t>
            </a:r>
            <a:endParaRPr lang="en-US" sz="1850" dirty="0"/>
          </a:p>
        </p:txBody>
      </p:sp>
      <p:sp>
        <p:nvSpPr>
          <p:cNvPr id="6" name="Text 4"/>
          <p:cNvSpPr/>
          <p:nvPr/>
        </p:nvSpPr>
        <p:spPr>
          <a:xfrm>
            <a:off x="6332776" y="3464322"/>
            <a:ext cx="5203794" cy="1045766"/>
          </a:xfrm>
          <a:prstGeom prst="rect">
            <a:avLst/>
          </a:prstGeom>
          <a:noFill/>
          <a:ln/>
        </p:spPr>
        <p:txBody>
          <a:bodyPr wrap="square" lIns="0" tIns="0"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Writing CSV on Windows without </a:t>
            </a:r>
            <a:pPr algn="l" marL="294640" indent="-294640">
              <a:lnSpc>
                <a:spcPct val="133000"/>
              </a:lnSpc>
              <a:buSzPct val="100000"/>
              <a:buChar char="•"/>
            </a:pPr>
            <a:r>
              <a:rPr lang="en-US" sz="1450" dirty="0">
                <a:solidFill>
                  <a:srgbClr val="1C1C1C"/>
                </a:solidFill>
                <a:highlight>
                  <a:srgbClr val="F2F2F2"/>
                </a:highlight>
                <a:latin typeface="Consolas" pitchFamily="34" charset="0"/>
                <a:ea typeface="Consolas" pitchFamily="34" charset="-122"/>
                <a:cs typeface="Consolas" pitchFamily="34" charset="-120"/>
              </a:rPr>
              <a:t>newline=""</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Every row ends with an extra line break</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Excel shows a blank row between each order</a:t>
            </a:r>
            <a:endParaRPr lang="en-US" sz="1450" dirty="0"/>
          </a:p>
        </p:txBody>
      </p:sp>
      <p:sp>
        <p:nvSpPr>
          <p:cNvPr id="7" name="Text 5"/>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571886" cy="6858000"/>
          </a:xfrm>
          <a:prstGeom prst="rect">
            <a:avLst/>
          </a:prstGeom>
        </p:spPr>
      </p:pic>
      <p:sp>
        <p:nvSpPr>
          <p:cNvPr id="3" name="Text 0"/>
          <p:cNvSpPr/>
          <p:nvPr/>
        </p:nvSpPr>
        <p:spPr>
          <a:xfrm>
            <a:off x="5233360" y="642938"/>
            <a:ext cx="6296860" cy="544513"/>
          </a:xfrm>
          <a:prstGeom prst="rect">
            <a:avLst/>
          </a:prstGeom>
          <a:noFill/>
          <a:ln/>
        </p:spPr>
        <p:txBody>
          <a:bodyPr wrap="none" lIns="0" tIns="0" rIns="0" bIns="0" rtlCol="0" anchor="t"/>
          <a:lstStyle/>
          <a:p>
            <a:pPr algn="l" indent="0" marL="0">
              <a:lnSpc>
                <a:spcPct val="104000"/>
              </a:lnSpc>
              <a:buNone/>
            </a:pPr>
            <a:r>
              <a:rPr lang="en-US" sz="3400" b="1" dirty="0">
                <a:solidFill>
                  <a:srgbClr val="111111"/>
                </a:solidFill>
                <a:latin typeface="Orbitron Bold" pitchFamily="34" charset="0"/>
                <a:ea typeface="Orbitron Bold" pitchFamily="34" charset="-122"/>
                <a:cs typeface="Orbitron Bold" pitchFamily="34" charset="-120"/>
              </a:rPr>
              <a:t>Never drop a row silently</a:t>
            </a:r>
            <a:endParaRPr lang="en-US" sz="3400" dirty="0"/>
          </a:p>
        </p:txBody>
      </p:sp>
      <p:pic>
        <p:nvPicPr>
          <p:cNvPr id="4"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233360" y="1428353"/>
            <a:ext cx="6296860" cy="1045468"/>
          </a:xfrm>
          <a:prstGeom prst="rect">
            <a:avLst/>
          </a:prstGeom>
        </p:spPr>
      </p:pic>
      <p:sp>
        <p:nvSpPr>
          <p:cNvPr id="5" name="Text 1"/>
          <p:cNvSpPr/>
          <p:nvPr/>
        </p:nvSpPr>
        <p:spPr>
          <a:xfrm>
            <a:off x="5460665" y="1787723"/>
            <a:ext cx="261336" cy="326727"/>
          </a:xfrm>
          <a:prstGeom prst="rect">
            <a:avLst/>
          </a:prstGeom>
          <a:noFill/>
          <a:ln/>
        </p:spPr>
        <p:txBody>
          <a:bodyPr wrap="none" lIns="0" tIns="0" rIns="0" bIns="0" rtlCol="0" anchor="ctr"/>
          <a:lstStyle/>
          <a:p>
            <a:pPr algn="ctr" indent="0" marL="0">
              <a:lnSpc>
                <a:spcPct val="100000"/>
              </a:lnSpc>
              <a:buNone/>
            </a:pPr>
            <a:r>
              <a:rPr lang="en-US" sz="2050" b="1" dirty="0">
                <a:solidFill>
                  <a:srgbClr val="1C1C1C"/>
                </a:solidFill>
                <a:latin typeface="Orbitron Bold" pitchFamily="34" charset="0"/>
                <a:ea typeface="Orbitron Bold" pitchFamily="34" charset="-122"/>
                <a:cs typeface="Orbitron Bold" pitchFamily="34" charset="-120"/>
              </a:rPr>
              <a:t>1</a:t>
            </a:r>
            <a:endParaRPr lang="en-US" sz="2050" dirty="0"/>
          </a:p>
        </p:txBody>
      </p:sp>
      <p:sp>
        <p:nvSpPr>
          <p:cNvPr id="6" name="Text 2"/>
          <p:cNvSpPr/>
          <p:nvPr/>
        </p:nvSpPr>
        <p:spPr>
          <a:xfrm>
            <a:off x="6110035" y="1621631"/>
            <a:ext cx="5226911" cy="272157"/>
          </a:xfrm>
          <a:prstGeom prst="rect">
            <a:avLst/>
          </a:prstGeom>
          <a:noFill/>
          <a:ln/>
        </p:spPr>
        <p:txBody>
          <a:bodyPr wrap="none" lIns="0" tIns="0" rIns="0" bIns="0" rtlCol="0" anchor="t"/>
          <a:lstStyle/>
          <a:p>
            <a:pPr algn="l" indent="0" marL="0">
              <a:lnSpc>
                <a:spcPct val="104000"/>
              </a:lnSpc>
              <a:buNone/>
            </a:pPr>
            <a:r>
              <a:rPr lang="en-US" sz="1700" b="1" dirty="0">
                <a:solidFill>
                  <a:srgbClr val="1C1C1C"/>
                </a:solidFill>
                <a:latin typeface="Orbitron Bold" pitchFamily="34" charset="0"/>
                <a:ea typeface="Orbitron Bold" pitchFamily="34" charset="-122"/>
                <a:cs typeface="Orbitron Bold" pitchFamily="34" charset="-120"/>
              </a:rPr>
              <a:t>Blank rows and a pasted header</a:t>
            </a:r>
            <a:endParaRPr lang="en-US" sz="1700" dirty="0"/>
          </a:p>
        </p:txBody>
      </p:sp>
      <p:sp>
        <p:nvSpPr>
          <p:cNvPr id="7" name="Text 3"/>
          <p:cNvSpPr/>
          <p:nvPr/>
        </p:nvSpPr>
        <p:spPr>
          <a:xfrm>
            <a:off x="6110035" y="1990130"/>
            <a:ext cx="5226911" cy="267791"/>
          </a:xfrm>
          <a:prstGeom prst="rect">
            <a:avLst/>
          </a:prstGeom>
          <a:noFill/>
          <a:ln/>
        </p:spPr>
        <p:txBody>
          <a:bodyPr wrap="none" lIns="0" tIns="0" rIns="0" bIns="0" rtlCol="0" anchor="t"/>
          <a:lstStyle/>
          <a:p>
            <a:pPr algn="l" indent="0" marL="0">
              <a:lnSpc>
                <a:spcPct val="128000"/>
              </a:lnSpc>
              <a:buNone/>
            </a:pPr>
            <a:r>
              <a:rPr lang="en-US" sz="1350" dirty="0">
                <a:solidFill>
                  <a:srgbClr val="1C1C1C"/>
                </a:solidFill>
                <a:latin typeface="Roboto Condensed" pitchFamily="34" charset="0"/>
                <a:ea typeface="Roboto Condensed" pitchFamily="34" charset="-122"/>
                <a:cs typeface="Roboto Condensed" pitchFamily="34" charset="-120"/>
              </a:rPr>
              <a:t>Skip, no report needed</a:t>
            </a:r>
            <a:endParaRPr lang="en-US" sz="1350" dirty="0"/>
          </a:p>
        </p:txBody>
      </p:sp>
      <p:pic>
        <p:nvPicPr>
          <p:cNvPr id="8" name="Image 2" descr="preencoded.png">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233360" y="2634456"/>
            <a:ext cx="6296860" cy="1045468"/>
          </a:xfrm>
          <a:prstGeom prst="rect">
            <a:avLst/>
          </a:prstGeom>
        </p:spPr>
      </p:pic>
      <p:sp>
        <p:nvSpPr>
          <p:cNvPr id="9" name="Text 4"/>
          <p:cNvSpPr/>
          <p:nvPr/>
        </p:nvSpPr>
        <p:spPr>
          <a:xfrm>
            <a:off x="5460665" y="2993827"/>
            <a:ext cx="261336" cy="326727"/>
          </a:xfrm>
          <a:prstGeom prst="rect">
            <a:avLst/>
          </a:prstGeom>
          <a:noFill/>
          <a:ln/>
        </p:spPr>
        <p:txBody>
          <a:bodyPr wrap="none" lIns="0" tIns="0" rIns="0" bIns="0" rtlCol="0" anchor="ctr"/>
          <a:lstStyle/>
          <a:p>
            <a:pPr algn="ctr" indent="0" marL="0">
              <a:lnSpc>
                <a:spcPct val="100000"/>
              </a:lnSpc>
              <a:buNone/>
            </a:pPr>
            <a:r>
              <a:rPr lang="en-US" sz="2050" b="1" dirty="0">
                <a:solidFill>
                  <a:srgbClr val="1C1C1C"/>
                </a:solidFill>
                <a:latin typeface="Orbitron Bold" pitchFamily="34" charset="0"/>
                <a:ea typeface="Orbitron Bold" pitchFamily="34" charset="-122"/>
                <a:cs typeface="Orbitron Bold" pitchFamily="34" charset="-120"/>
              </a:rPr>
              <a:t>2</a:t>
            </a:r>
            <a:endParaRPr lang="en-US" sz="2050" dirty="0"/>
          </a:p>
        </p:txBody>
      </p:sp>
      <p:sp>
        <p:nvSpPr>
          <p:cNvPr id="10" name="Text 5"/>
          <p:cNvSpPr/>
          <p:nvPr/>
        </p:nvSpPr>
        <p:spPr>
          <a:xfrm>
            <a:off x="6110035" y="2827734"/>
            <a:ext cx="5226911" cy="272157"/>
          </a:xfrm>
          <a:prstGeom prst="rect">
            <a:avLst/>
          </a:prstGeom>
          <a:noFill/>
          <a:ln/>
        </p:spPr>
        <p:txBody>
          <a:bodyPr wrap="none" lIns="0" tIns="0" rIns="0" bIns="0" rtlCol="0" anchor="t"/>
          <a:lstStyle/>
          <a:p>
            <a:pPr algn="l" indent="0" marL="0">
              <a:lnSpc>
                <a:spcPct val="104000"/>
              </a:lnSpc>
              <a:buNone/>
            </a:pPr>
            <a:r>
              <a:rPr lang="en-US" sz="1700" b="1" dirty="0">
                <a:solidFill>
                  <a:srgbClr val="1C1C1C"/>
                </a:solidFill>
                <a:latin typeface="Orbitron Bold" pitchFamily="34" charset="0"/>
                <a:ea typeface="Orbitron Bold" pitchFamily="34" charset="-122"/>
                <a:cs typeface="Orbitron Bold" pitchFamily="34" charset="-120"/>
              </a:rPr>
              <a:t>Unreadable values</a:t>
            </a:r>
            <a:endParaRPr lang="en-US" sz="1700" dirty="0"/>
          </a:p>
        </p:txBody>
      </p:sp>
      <p:sp>
        <p:nvSpPr>
          <p:cNvPr id="11" name="Text 6"/>
          <p:cNvSpPr/>
          <p:nvPr/>
        </p:nvSpPr>
        <p:spPr>
          <a:xfrm>
            <a:off x="6110035" y="3196233"/>
            <a:ext cx="5226911" cy="267791"/>
          </a:xfrm>
          <a:prstGeom prst="rect">
            <a:avLst/>
          </a:prstGeom>
          <a:noFill/>
          <a:ln/>
        </p:spPr>
        <p:txBody>
          <a:bodyPr wrap="none" lIns="0" tIns="0" rIns="0" bIns="0" rtlCol="0" anchor="t"/>
          <a:lstStyle/>
          <a:p>
            <a:pPr algn="l" indent="0" marL="0">
              <a:lnSpc>
                <a:spcPct val="128000"/>
              </a:lnSpc>
              <a:buNone/>
            </a:pPr>
            <a:r>
              <a:rPr lang="en-US" sz="1350" dirty="0">
                <a:solidFill>
                  <a:srgbClr val="1C1C1C"/>
                </a:solidFill>
                <a:latin typeface="Roboto Condensed" pitchFamily="34" charset="0"/>
                <a:ea typeface="Roboto Condensed" pitchFamily="34" charset="-122"/>
                <a:cs typeface="Roboto Condensed" pitchFamily="34" charset="-120"/>
              </a:rPr>
              <a:t>List with line number and reason</a:t>
            </a:r>
            <a:endParaRPr lang="en-US" sz="1350" dirty="0"/>
          </a:p>
        </p:txBody>
      </p:sp>
      <p:pic>
        <p:nvPicPr>
          <p:cNvPr id="12" name="Image 3" descr="preencoded.png">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233360" y="3840559"/>
            <a:ext cx="6296860" cy="1045468"/>
          </a:xfrm>
          <a:prstGeom prst="rect">
            <a:avLst/>
          </a:prstGeom>
        </p:spPr>
      </p:pic>
      <p:sp>
        <p:nvSpPr>
          <p:cNvPr id="13" name="Text 7"/>
          <p:cNvSpPr/>
          <p:nvPr/>
        </p:nvSpPr>
        <p:spPr>
          <a:xfrm>
            <a:off x="5460665" y="4199930"/>
            <a:ext cx="261336" cy="326727"/>
          </a:xfrm>
          <a:prstGeom prst="rect">
            <a:avLst/>
          </a:prstGeom>
          <a:noFill/>
          <a:ln/>
        </p:spPr>
        <p:txBody>
          <a:bodyPr wrap="none" lIns="0" tIns="0" rIns="0" bIns="0" rtlCol="0" anchor="ctr"/>
          <a:lstStyle/>
          <a:p>
            <a:pPr algn="ctr" indent="0" marL="0">
              <a:lnSpc>
                <a:spcPct val="100000"/>
              </a:lnSpc>
              <a:buNone/>
            </a:pPr>
            <a:r>
              <a:rPr lang="en-US" sz="2050" b="1" dirty="0">
                <a:solidFill>
                  <a:srgbClr val="1C1C1C"/>
                </a:solidFill>
                <a:latin typeface="Orbitron Bold" pitchFamily="34" charset="0"/>
                <a:ea typeface="Orbitron Bold" pitchFamily="34" charset="-122"/>
                <a:cs typeface="Orbitron Bold" pitchFamily="34" charset="-120"/>
              </a:rPr>
              <a:t>3</a:t>
            </a:r>
            <a:endParaRPr lang="en-US" sz="2050" dirty="0"/>
          </a:p>
        </p:txBody>
      </p:sp>
      <p:sp>
        <p:nvSpPr>
          <p:cNvPr id="14" name="Text 8"/>
          <p:cNvSpPr/>
          <p:nvPr/>
        </p:nvSpPr>
        <p:spPr>
          <a:xfrm>
            <a:off x="6110035" y="4033838"/>
            <a:ext cx="5226911" cy="272157"/>
          </a:xfrm>
          <a:prstGeom prst="rect">
            <a:avLst/>
          </a:prstGeom>
          <a:noFill/>
          <a:ln/>
        </p:spPr>
        <p:txBody>
          <a:bodyPr wrap="none" lIns="0" tIns="0" rIns="0" bIns="0" rtlCol="0" anchor="t"/>
          <a:lstStyle/>
          <a:p>
            <a:pPr algn="l" indent="0" marL="0">
              <a:lnSpc>
                <a:spcPct val="104000"/>
              </a:lnSpc>
              <a:buNone/>
            </a:pPr>
            <a:r>
              <a:rPr lang="en-US" sz="1700" b="1" dirty="0">
                <a:solidFill>
                  <a:srgbClr val="1C1C1C"/>
                </a:solidFill>
                <a:latin typeface="Orbitron Bold" pitchFamily="34" charset="0"/>
                <a:ea typeface="Orbitron Bold" pitchFamily="34" charset="-122"/>
                <a:cs typeface="Orbitron Bold" pitchFamily="34" charset="-120"/>
              </a:rPr>
              <a:t>Duplicates</a:t>
            </a:r>
            <a:endParaRPr lang="en-US" sz="1700" dirty="0"/>
          </a:p>
        </p:txBody>
      </p:sp>
      <p:sp>
        <p:nvSpPr>
          <p:cNvPr id="15" name="Text 9"/>
          <p:cNvSpPr/>
          <p:nvPr/>
        </p:nvSpPr>
        <p:spPr>
          <a:xfrm>
            <a:off x="6110035" y="4402336"/>
            <a:ext cx="5226911" cy="267791"/>
          </a:xfrm>
          <a:prstGeom prst="rect">
            <a:avLst/>
          </a:prstGeom>
          <a:noFill/>
          <a:ln/>
        </p:spPr>
        <p:txBody>
          <a:bodyPr wrap="none" lIns="0" tIns="0" rIns="0" bIns="0" rtlCol="0" anchor="t"/>
          <a:lstStyle/>
          <a:p>
            <a:pPr algn="l" indent="0" marL="0">
              <a:lnSpc>
                <a:spcPct val="128000"/>
              </a:lnSpc>
              <a:buNone/>
            </a:pPr>
            <a:r>
              <a:rPr lang="en-US" sz="1350" dirty="0">
                <a:solidFill>
                  <a:srgbClr val="1C1C1C"/>
                </a:solidFill>
                <a:latin typeface="Roboto Condensed" pitchFamily="34" charset="0"/>
                <a:ea typeface="Roboto Condensed" pitchFamily="34" charset="-122"/>
                <a:cs typeface="Roboto Condensed" pitchFamily="34" charset="-120"/>
              </a:rPr>
              <a:t>Count once, and say so</a:t>
            </a:r>
            <a:endParaRPr lang="en-US" sz="1350" dirty="0"/>
          </a:p>
        </p:txBody>
      </p:sp>
      <p:pic>
        <p:nvPicPr>
          <p:cNvPr id="16" name="Image 4" descr="preencoded.png">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233360" y="5046663"/>
            <a:ext cx="6296860" cy="1045468"/>
          </a:xfrm>
          <a:prstGeom prst="rect">
            <a:avLst/>
          </a:prstGeom>
        </p:spPr>
      </p:pic>
      <p:sp>
        <p:nvSpPr>
          <p:cNvPr id="17" name="Text 10"/>
          <p:cNvSpPr/>
          <p:nvPr/>
        </p:nvSpPr>
        <p:spPr>
          <a:xfrm>
            <a:off x="5460665" y="5406033"/>
            <a:ext cx="261336" cy="326727"/>
          </a:xfrm>
          <a:prstGeom prst="rect">
            <a:avLst/>
          </a:prstGeom>
          <a:noFill/>
          <a:ln/>
        </p:spPr>
        <p:txBody>
          <a:bodyPr wrap="none" lIns="0" tIns="0" rIns="0" bIns="0" rtlCol="0" anchor="ctr"/>
          <a:lstStyle/>
          <a:p>
            <a:pPr algn="ctr" indent="0" marL="0">
              <a:lnSpc>
                <a:spcPct val="100000"/>
              </a:lnSpc>
              <a:buNone/>
            </a:pPr>
            <a:r>
              <a:rPr lang="en-US" sz="2050" b="1" dirty="0">
                <a:solidFill>
                  <a:srgbClr val="1C1C1C"/>
                </a:solidFill>
                <a:latin typeface="Orbitron Bold" pitchFamily="34" charset="0"/>
                <a:ea typeface="Orbitron Bold" pitchFamily="34" charset="-122"/>
                <a:cs typeface="Orbitron Bold" pitchFamily="34" charset="-120"/>
              </a:rPr>
              <a:t>4</a:t>
            </a:r>
            <a:endParaRPr lang="en-US" sz="2050" dirty="0"/>
          </a:p>
        </p:txBody>
      </p:sp>
      <p:sp>
        <p:nvSpPr>
          <p:cNvPr id="18" name="Text 11"/>
          <p:cNvSpPr/>
          <p:nvPr/>
        </p:nvSpPr>
        <p:spPr>
          <a:xfrm>
            <a:off x="6110035" y="5239941"/>
            <a:ext cx="5226911" cy="272157"/>
          </a:xfrm>
          <a:prstGeom prst="rect">
            <a:avLst/>
          </a:prstGeom>
          <a:noFill/>
          <a:ln/>
        </p:spPr>
        <p:txBody>
          <a:bodyPr wrap="none" lIns="0" tIns="0" rIns="0" bIns="0" rtlCol="0" anchor="t"/>
          <a:lstStyle/>
          <a:p>
            <a:pPr algn="l" indent="0" marL="0">
              <a:lnSpc>
                <a:spcPct val="104000"/>
              </a:lnSpc>
              <a:buNone/>
            </a:pPr>
            <a:r>
              <a:rPr lang="en-US" sz="1700" b="1" dirty="0">
                <a:solidFill>
                  <a:srgbClr val="1C1C1C"/>
                </a:solidFill>
                <a:latin typeface="Orbitron Bold" pitchFamily="34" charset="0"/>
                <a:ea typeface="Orbitron Bold" pitchFamily="34" charset="-122"/>
                <a:cs typeface="Orbitron Bold" pitchFamily="34" charset="-120"/>
              </a:rPr>
              <a:t>Summary</a:t>
            </a:r>
            <a:endParaRPr lang="en-US" sz="1700" dirty="0"/>
          </a:p>
        </p:txBody>
      </p:sp>
      <p:sp>
        <p:nvSpPr>
          <p:cNvPr id="19" name="Text 12"/>
          <p:cNvSpPr/>
          <p:nvPr/>
        </p:nvSpPr>
        <p:spPr>
          <a:xfrm>
            <a:off x="6110035" y="5608439"/>
            <a:ext cx="5226911" cy="267791"/>
          </a:xfrm>
          <a:prstGeom prst="rect">
            <a:avLst/>
          </a:prstGeom>
          <a:noFill/>
          <a:ln/>
        </p:spPr>
        <p:txBody>
          <a:bodyPr wrap="none" lIns="0" tIns="0" rIns="0" bIns="0" rtlCol="0" anchor="t"/>
          <a:lstStyle/>
          <a:p>
            <a:pPr algn="l" indent="0" marL="0">
              <a:lnSpc>
                <a:spcPct val="128000"/>
              </a:lnSpc>
              <a:buNone/>
            </a:pPr>
            <a:r>
              <a:rPr lang="en-US" sz="1350" dirty="0">
                <a:solidFill>
                  <a:srgbClr val="1C1C1C"/>
                </a:solidFill>
                <a:latin typeface="Roboto Condensed" pitchFamily="34" charset="0"/>
                <a:ea typeface="Roboto Condensed" pitchFamily="34" charset="-122"/>
                <a:cs typeface="Roboto Condensed" pitchFamily="34" charset="-120"/>
              </a:rPr>
              <a:t>Report how many rows went where</a:t>
            </a:r>
            <a:endParaRPr lang="en-US" sz="1350" dirty="0"/>
          </a:p>
        </p:txBody>
      </p:sp>
      <p:sp>
        <p:nvSpPr>
          <p:cNvPr id="20" name="Text 13"/>
          <p:cNvSpPr/>
          <p:nvPr/>
        </p:nvSpPr>
        <p:spPr>
          <a:xfrm>
            <a:off x="4704141"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619809" y="0"/>
            <a:ext cx="4571886" cy="6858000"/>
          </a:xfrm>
          <a:prstGeom prst="rect">
            <a:avLst/>
          </a:prstGeom>
        </p:spPr>
      </p:pic>
      <p:sp>
        <p:nvSpPr>
          <p:cNvPr id="3" name="Text 0"/>
          <p:cNvSpPr/>
          <p:nvPr/>
        </p:nvSpPr>
        <p:spPr>
          <a:xfrm>
            <a:off x="661475" y="550565"/>
            <a:ext cx="6296860" cy="1144389"/>
          </a:xfrm>
          <a:prstGeom prst="rect">
            <a:avLst/>
          </a:prstGeom>
          <a:noFill/>
          <a:ln/>
        </p:spPr>
        <p:txBody>
          <a:bodyPr wrap="square" lIns="0" tIns="0" rIns="0" bIns="0" rtlCol="0" anchor="t">
            <a:normAutofit/>
          </a:bodyPr>
          <a:lstStyle/>
          <a:p>
            <a:pPr algn="l" indent="0" marL="0">
              <a:lnSpc>
                <a:spcPct val="104000"/>
              </a:lnSpc>
              <a:buNone/>
            </a:pPr>
            <a:r>
              <a:rPr lang="en-US" sz="3600" b="1" dirty="0">
                <a:solidFill>
                  <a:srgbClr val="111111"/>
                </a:solidFill>
                <a:latin typeface="Orbitron Bold" pitchFamily="34" charset="0"/>
                <a:ea typeface="Orbitron Bold" pitchFamily="34" charset="-122"/>
                <a:cs typeface="Orbitron Bold" pitchFamily="34" charset="-120"/>
              </a:rPr>
              <a:t>What you are about to build</a:t>
            </a:r>
            <a:endParaRPr lang="en-US" sz="3600" dirty="0"/>
          </a:p>
        </p:txBody>
      </p:sp>
      <p:sp>
        <p:nvSpPr>
          <p:cNvPr id="4" name="Text 1"/>
          <p:cNvSpPr/>
          <p:nvPr/>
        </p:nvSpPr>
        <p:spPr>
          <a:xfrm>
            <a:off x="661475" y="1960959"/>
            <a:ext cx="366207" cy="228798"/>
          </a:xfrm>
          <a:prstGeom prst="rect">
            <a:avLst/>
          </a:prstGeom>
          <a:noFill/>
          <a:ln/>
        </p:spPr>
        <p:txBody>
          <a:bodyPr wrap="none" lIns="0" tIns="0" rIns="0" bIns="0" rtlCol="0" anchor="ctr"/>
          <a:lstStyle/>
          <a:p>
            <a:pPr algn="l" indent="0" marL="0">
              <a:lnSpc>
                <a:spcPct val="100000"/>
              </a:lnSpc>
              <a:buNone/>
            </a:pPr>
            <a:r>
              <a:rPr lang="en-US" sz="1400" dirty="0">
                <a:solidFill>
                  <a:srgbClr val="1C1C1C"/>
                </a:solidFill>
                <a:latin typeface="Orbitron" pitchFamily="34" charset="0"/>
                <a:ea typeface="Orbitron" pitchFamily="34" charset="-122"/>
                <a:cs typeface="Orbitron" pitchFamily="34" charset="-120"/>
              </a:rPr>
              <a:t>01</a:t>
            </a:r>
            <a:endParaRPr lang="en-US" sz="1400" dirty="0"/>
          </a:p>
        </p:txBody>
      </p:sp>
      <p:sp>
        <p:nvSpPr>
          <p:cNvPr id="5" name="Shape 2"/>
          <p:cNvSpPr/>
          <p:nvPr/>
        </p:nvSpPr>
        <p:spPr>
          <a:xfrm>
            <a:off x="661475" y="2246709"/>
            <a:ext cx="6296860" cy="25400"/>
          </a:xfrm>
          <a:prstGeom prst="rect">
            <a:avLst/>
          </a:prstGeom>
          <a:solidFill>
            <a:srgbClr val="57A1EB"/>
          </a:solidFill>
          <a:ln/>
        </p:spPr>
      </p:sp>
      <p:sp>
        <p:nvSpPr>
          <p:cNvPr id="6" name="Text 3"/>
          <p:cNvSpPr/>
          <p:nvPr/>
        </p:nvSpPr>
        <p:spPr>
          <a:xfrm>
            <a:off x="661475" y="2388989"/>
            <a:ext cx="6296860" cy="286048"/>
          </a:xfrm>
          <a:prstGeom prst="rect">
            <a:avLst/>
          </a:prstGeom>
          <a:noFill/>
          <a:ln/>
        </p:spPr>
        <p:txBody>
          <a:bodyPr wrap="none" lIns="0" tIns="0" rIns="0" bIns="0" rtlCol="0" anchor="t"/>
          <a:lstStyle/>
          <a:p>
            <a:pPr algn="l" indent="0" marL="0">
              <a:lnSpc>
                <a:spcPct val="104000"/>
              </a:lnSpc>
              <a:buNone/>
            </a:pPr>
            <a:r>
              <a:rPr lang="en-US" sz="1800" b="1" dirty="0">
                <a:solidFill>
                  <a:srgbClr val="1C1C1C"/>
                </a:solidFill>
                <a:latin typeface="Orbitron Bold" pitchFamily="34" charset="0"/>
                <a:ea typeface="Orbitron Bold" pitchFamily="34" charset="-122"/>
                <a:cs typeface="Orbitron Bold" pitchFamily="34" charset="-120"/>
              </a:rPr>
              <a:t>Lab U5-04: the hoodie order cleanup</a:t>
            </a:r>
            <a:endParaRPr lang="en-US" sz="1800" dirty="0"/>
          </a:p>
        </p:txBody>
      </p:sp>
      <p:sp>
        <p:nvSpPr>
          <p:cNvPr id="7" name="Text 4"/>
          <p:cNvSpPr/>
          <p:nvPr/>
        </p:nvSpPr>
        <p:spPr>
          <a:xfrm>
            <a:off x="661475" y="2989659"/>
            <a:ext cx="366207" cy="228798"/>
          </a:xfrm>
          <a:prstGeom prst="rect">
            <a:avLst/>
          </a:prstGeom>
          <a:noFill/>
          <a:ln/>
        </p:spPr>
        <p:txBody>
          <a:bodyPr wrap="none" lIns="0" tIns="0" rIns="0" bIns="0" rtlCol="0" anchor="ctr"/>
          <a:lstStyle/>
          <a:p>
            <a:pPr algn="l" indent="0" marL="0">
              <a:lnSpc>
                <a:spcPct val="100000"/>
              </a:lnSpc>
              <a:buNone/>
            </a:pPr>
            <a:r>
              <a:rPr lang="en-US" sz="1400" dirty="0">
                <a:solidFill>
                  <a:srgbClr val="1C1C1C"/>
                </a:solidFill>
                <a:latin typeface="Orbitron" pitchFamily="34" charset="0"/>
                <a:ea typeface="Orbitron" pitchFamily="34" charset="-122"/>
                <a:cs typeface="Orbitron" pitchFamily="34" charset="-120"/>
              </a:rPr>
              <a:t>02</a:t>
            </a:r>
            <a:endParaRPr lang="en-US" sz="1400" dirty="0"/>
          </a:p>
        </p:txBody>
      </p:sp>
      <p:sp>
        <p:nvSpPr>
          <p:cNvPr id="8" name="Shape 5"/>
          <p:cNvSpPr/>
          <p:nvPr/>
        </p:nvSpPr>
        <p:spPr>
          <a:xfrm>
            <a:off x="661475" y="3275409"/>
            <a:ext cx="6296860" cy="25400"/>
          </a:xfrm>
          <a:prstGeom prst="rect">
            <a:avLst/>
          </a:prstGeom>
          <a:solidFill>
            <a:srgbClr val="57A1EB"/>
          </a:solidFill>
          <a:ln/>
        </p:spPr>
      </p:sp>
      <p:sp>
        <p:nvSpPr>
          <p:cNvPr id="9" name="Text 6"/>
          <p:cNvSpPr/>
          <p:nvPr/>
        </p:nvSpPr>
        <p:spPr>
          <a:xfrm>
            <a:off x="661475" y="3417689"/>
            <a:ext cx="6296860" cy="286048"/>
          </a:xfrm>
          <a:prstGeom prst="rect">
            <a:avLst/>
          </a:prstGeom>
          <a:noFill/>
          <a:ln/>
        </p:spPr>
        <p:txBody>
          <a:bodyPr wrap="none" lIns="0" tIns="0" rIns="0" bIns="0" rtlCol="0" anchor="t"/>
          <a:lstStyle/>
          <a:p>
            <a:pPr algn="l" indent="0" marL="0">
              <a:lnSpc>
                <a:spcPct val="104000"/>
              </a:lnSpc>
              <a:buNone/>
            </a:pPr>
            <a:r>
              <a:rPr lang="en-US" sz="1800" b="1" dirty="0">
                <a:solidFill>
                  <a:srgbClr val="1C1C1C"/>
                </a:solidFill>
                <a:latin typeface="Orbitron Bold" pitchFamily="34" charset="0"/>
                <a:ea typeface="Orbitron Bold" pitchFamily="34" charset="-122"/>
                <a:cs typeface="Orbitron Bold" pitchFamily="34" charset="-120"/>
              </a:rPr>
              <a:t>Clean 23 messy rows into a printer order</a:t>
            </a:r>
            <a:endParaRPr lang="en-US" sz="1800" dirty="0"/>
          </a:p>
        </p:txBody>
      </p:sp>
      <p:sp>
        <p:nvSpPr>
          <p:cNvPr id="10" name="Text 7"/>
          <p:cNvSpPr/>
          <p:nvPr/>
        </p:nvSpPr>
        <p:spPr>
          <a:xfrm>
            <a:off x="661475" y="4018359"/>
            <a:ext cx="366207" cy="228798"/>
          </a:xfrm>
          <a:prstGeom prst="rect">
            <a:avLst/>
          </a:prstGeom>
          <a:noFill/>
          <a:ln/>
        </p:spPr>
        <p:txBody>
          <a:bodyPr wrap="none" lIns="0" tIns="0" rIns="0" bIns="0" rtlCol="0" anchor="ctr"/>
          <a:lstStyle/>
          <a:p>
            <a:pPr algn="l" indent="0" marL="0">
              <a:lnSpc>
                <a:spcPct val="100000"/>
              </a:lnSpc>
              <a:buNone/>
            </a:pPr>
            <a:r>
              <a:rPr lang="en-US" sz="1400" dirty="0">
                <a:solidFill>
                  <a:srgbClr val="1C1C1C"/>
                </a:solidFill>
                <a:latin typeface="Orbitron" pitchFamily="34" charset="0"/>
                <a:ea typeface="Orbitron" pitchFamily="34" charset="-122"/>
                <a:cs typeface="Orbitron" pitchFamily="34" charset="-120"/>
              </a:rPr>
              <a:t>03</a:t>
            </a:r>
            <a:endParaRPr lang="en-US" sz="1400" dirty="0"/>
          </a:p>
        </p:txBody>
      </p:sp>
      <p:sp>
        <p:nvSpPr>
          <p:cNvPr id="11" name="Shape 8"/>
          <p:cNvSpPr/>
          <p:nvPr/>
        </p:nvSpPr>
        <p:spPr>
          <a:xfrm>
            <a:off x="661475" y="4304109"/>
            <a:ext cx="6296860" cy="25400"/>
          </a:xfrm>
          <a:prstGeom prst="rect">
            <a:avLst/>
          </a:prstGeom>
          <a:solidFill>
            <a:srgbClr val="57A1EB"/>
          </a:solidFill>
          <a:ln/>
        </p:spPr>
      </p:sp>
      <p:sp>
        <p:nvSpPr>
          <p:cNvPr id="12" name="Text 9"/>
          <p:cNvSpPr/>
          <p:nvPr/>
        </p:nvSpPr>
        <p:spPr>
          <a:xfrm>
            <a:off x="661475" y="4446389"/>
            <a:ext cx="6296860" cy="286048"/>
          </a:xfrm>
          <a:prstGeom prst="rect">
            <a:avLst/>
          </a:prstGeom>
          <a:noFill/>
          <a:ln/>
        </p:spPr>
        <p:txBody>
          <a:bodyPr wrap="none" lIns="0" tIns="0" rIns="0" bIns="0" rtlCol="0" anchor="t"/>
          <a:lstStyle/>
          <a:p>
            <a:pPr algn="l" indent="0" marL="0">
              <a:lnSpc>
                <a:spcPct val="104000"/>
              </a:lnSpc>
              <a:buNone/>
            </a:pPr>
            <a:r>
              <a:rPr lang="en-US" sz="1800" b="1" dirty="0">
                <a:solidFill>
                  <a:srgbClr val="1C1C1C"/>
                </a:solidFill>
                <a:latin typeface="Orbitron Bold" pitchFamily="34" charset="0"/>
                <a:ea typeface="Orbitron Bold" pitchFamily="34" charset="-122"/>
                <a:cs typeface="Orbitron Bold" pitchFamily="34" charset="-120"/>
              </a:rPr>
              <a:t>Convert to clean CSV and JSON</a:t>
            </a:r>
            <a:endParaRPr lang="en-US" sz="1800" dirty="0"/>
          </a:p>
        </p:txBody>
      </p:sp>
      <p:sp>
        <p:nvSpPr>
          <p:cNvPr id="13" name="Text 10"/>
          <p:cNvSpPr/>
          <p:nvPr/>
        </p:nvSpPr>
        <p:spPr>
          <a:xfrm>
            <a:off x="661475" y="5047059"/>
            <a:ext cx="366207" cy="228798"/>
          </a:xfrm>
          <a:prstGeom prst="rect">
            <a:avLst/>
          </a:prstGeom>
          <a:noFill/>
          <a:ln/>
        </p:spPr>
        <p:txBody>
          <a:bodyPr wrap="none" lIns="0" tIns="0" rIns="0" bIns="0" rtlCol="0" anchor="ctr"/>
          <a:lstStyle/>
          <a:p>
            <a:pPr algn="l" indent="0" marL="0">
              <a:lnSpc>
                <a:spcPct val="100000"/>
              </a:lnSpc>
              <a:buNone/>
            </a:pPr>
            <a:r>
              <a:rPr lang="en-US" sz="1400" dirty="0">
                <a:solidFill>
                  <a:srgbClr val="1C1C1C"/>
                </a:solidFill>
                <a:latin typeface="Orbitron" pitchFamily="34" charset="0"/>
                <a:ea typeface="Orbitron" pitchFamily="34" charset="-122"/>
                <a:cs typeface="Orbitron" pitchFamily="34" charset="-120"/>
              </a:rPr>
              <a:t>04</a:t>
            </a:r>
            <a:endParaRPr lang="en-US" sz="1400" dirty="0"/>
          </a:p>
        </p:txBody>
      </p:sp>
      <p:sp>
        <p:nvSpPr>
          <p:cNvPr id="14" name="Shape 11"/>
          <p:cNvSpPr/>
          <p:nvPr/>
        </p:nvSpPr>
        <p:spPr>
          <a:xfrm>
            <a:off x="661475" y="5332809"/>
            <a:ext cx="6296860" cy="25400"/>
          </a:xfrm>
          <a:prstGeom prst="rect">
            <a:avLst/>
          </a:prstGeom>
          <a:solidFill>
            <a:srgbClr val="57A1EB"/>
          </a:solidFill>
          <a:ln/>
        </p:spPr>
      </p:sp>
      <p:sp>
        <p:nvSpPr>
          <p:cNvPr id="15" name="Text 12"/>
          <p:cNvSpPr/>
          <p:nvPr/>
        </p:nvSpPr>
        <p:spPr>
          <a:xfrm>
            <a:off x="661475" y="5475089"/>
            <a:ext cx="6296860" cy="572095"/>
          </a:xfrm>
          <a:prstGeom prst="rect">
            <a:avLst/>
          </a:prstGeom>
          <a:noFill/>
          <a:ln/>
        </p:spPr>
        <p:txBody>
          <a:bodyPr wrap="square" lIns="0" tIns="0" rIns="0" bIns="0" rtlCol="0" anchor="t">
            <a:normAutofit/>
          </a:bodyPr>
          <a:lstStyle/>
          <a:p>
            <a:pPr algn="l" indent="0" marL="0">
              <a:lnSpc>
                <a:spcPct val="104000"/>
              </a:lnSpc>
              <a:buNone/>
            </a:pPr>
            <a:r>
              <a:rPr lang="en-US" sz="1800" b="1" dirty="0">
                <a:solidFill>
                  <a:srgbClr val="1C1C1C"/>
                </a:solidFill>
                <a:latin typeface="Orbitron Bold" pitchFamily="34" charset="0"/>
                <a:ea typeface="Orbitron Bold" pitchFamily="34" charset="-122"/>
                <a:cs typeface="Orbitron Bold" pitchFamily="34" charset="-120"/>
              </a:rPr>
              <a:t>Build 2: text adventure v3 due, with paired demos</a:t>
            </a:r>
            <a:endParaRPr lang="en-US" sz="1800" dirty="0"/>
          </a:p>
        </p:txBody>
      </p:sp>
      <p:sp>
        <p:nvSpPr>
          <p:cNvPr id="16" name="Text 13"/>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2026-09-15T17:08:24Z</dcterms:created>
  <dcterms:modified xsi:type="dcterms:W3CDTF">2026-09-15T17:08:24Z</dcterms:modified>
</cp:coreProperties>
</file>