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find_exit in your version 2. Room by room, direction by direction, it is a wall of if and elif. What that function really holds is a map: this room, this direction, that room. A map is data. Today you learn the structure that stores a map directly, so the question which room is north of the lobby becomes one lookup instead of thirty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name you look up, and the value is what you get back. There are no positions. You never ask for item number two. You ask for north. A key can only appear once, which makes sense, because north from the hallway cannot lead to two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with a key reads a value. The word in checks whether a key exists. Assigning to a key that is not there yet adds it, and assigning to one that is there replaces its value. Dictionaries keep the order you added keys, so printing it shows them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gives you each key and its value together, so a for loop can name both. The second half is the counting pattern, and you will write it all year. If the key is already there, add one. If it is not, start it at one. The class lunch vote, the most-played artist, how many hoodies in each size. Same six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typed n r o t h. Square brackets refuse to guess. They stop the program and print the exact key that does not exist. You read it, you see the typo, you fix it in five seconds. Hold on to that feeling, because the next slide is the same typo with a different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looks a key up and hands back None if it is missing, instead of crashing. That sounds safer. It is not safer here. The same typo now produces a sentence that looks almost right and walks the player into a room called None. No error, no line number, nothing to find. You have met this shape before, all the way back to 121212 in Unit 1. It is the bug that does not crash. Get is for keys that are allowed to be missing. It is not a way to make errors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with a default is good when a missing key is a normal answer, like a room with no exit down. Checking with in first and then using square brackets is often clearer, because the reader can see both paths. What you should never do is reach for get to silence a KeyError you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a dictionary when the question is find the one with this name. Exits by direction. A player by jersey number. A price by item. A count by vote. It is also how you translate messy spellings into clean ones, which you will do next week with a sign-up sheet where people typed med, medium, and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two of the Playlist Doctor. You count songs per artist with the pattern from slide four, find the artist with the most, and then misspell an artist on purpose both ways and write down what each one did. Build two is your text adventure. Draw your map as a dictionary of rooms, each with a dictionary of exits, first on paper and then in code, and delete find_exit.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Look It Up by Name: Dictionaries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find_exit function is thirty lines of if</a:t>
            </a:r>
            <a:endParaRPr lang="en-US" sz="3700" dirty="0"/>
          </a:p>
        </p:txBody>
      </p:sp>
      <p:sp>
        <p:nvSpPr>
          <p:cNvPr id="4" name="Shape 1"/>
          <p:cNvSpPr/>
          <p:nvPr/>
        </p:nvSpPr>
        <p:spPr>
          <a:xfrm>
            <a:off x="661475"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room is an if</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direction inside it is another if</a:t>
            </a:r>
            <a:endParaRPr lang="en-US" sz="1850" dirty="0"/>
          </a:p>
        </p:txBody>
      </p:sp>
      <p:sp>
        <p:nvSpPr>
          <p:cNvPr id="8" name="Shape 5"/>
          <p:cNvSpPr/>
          <p:nvPr/>
        </p:nvSpPr>
        <p:spPr>
          <a:xfrm>
            <a:off x="661475"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new room means new branches everywhere</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map is buried inside the code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dictionary pairs a key with a value</a:t>
            </a:r>
            <a:endParaRPr lang="en-US" sz="3700" dirty="0"/>
          </a:p>
        </p:txBody>
      </p:sp>
      <p:sp>
        <p:nvSpPr>
          <p:cNvPr id="4" name="Shape 1"/>
          <p:cNvSpPr/>
          <p:nvPr/>
        </p:nvSpPr>
        <p:spPr>
          <a:xfrm>
            <a:off x="661475" y="2368252"/>
            <a:ext cx="6296860"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875881" y="258266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Curly braces, key colon value</a:t>
            </a:r>
            <a:endParaRPr lang="en-US" sz="1850" dirty="0"/>
          </a:p>
        </p:txBody>
      </p:sp>
      <p:sp>
        <p:nvSpPr>
          <p:cNvPr id="6" name="Shape 3"/>
          <p:cNvSpPr/>
          <p:nvPr/>
        </p:nvSpPr>
        <p:spPr>
          <a:xfrm>
            <a:off x="661475" y="3281362"/>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875881" y="349577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find a value by its key, not its position</a:t>
            </a:r>
            <a:endParaRPr lang="en-US" sz="1850" dirty="0"/>
          </a:p>
        </p:txBody>
      </p:sp>
      <p:sp>
        <p:nvSpPr>
          <p:cNvPr id="8" name="Shape 5"/>
          <p:cNvSpPr/>
          <p:nvPr/>
        </p:nvSpPr>
        <p:spPr>
          <a:xfrm>
            <a:off x="661475" y="4194473"/>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40888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Keys are unique, values can repeat</a:t>
            </a:r>
            <a:endParaRPr lang="en-US" sz="1850" dirty="0"/>
          </a:p>
        </p:txBody>
      </p:sp>
      <p:sp>
        <p:nvSpPr>
          <p:cNvPr id="10" name="Shape 7"/>
          <p:cNvSpPr/>
          <p:nvPr/>
        </p:nvSpPr>
        <p:spPr>
          <a:xfrm>
            <a:off x="661475" y="5107583"/>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875881" y="532199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Keys are usually strings you choose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 it, read it, change it</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exits = {"north": "hallway", "east": "archive"}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print(exits["north"])      # hallway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print("west" in exits)     #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exits["west"] = "studio"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print(exits)   # {'north': 'hallway', 'east': 'archive', 'west': 'studio'}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print(len(exits))          #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Walk every pair, and count things</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direction, room in exits.items():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print(direction, "-&gt;", room)</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votes = ["tacos", "pizza", "tacos", "wings", "tacos", "pizza"]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counts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vote in votes: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vote in counts: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counts[vote]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counts[vote]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print(counts)   # {'tacos': 3, 'pizza': 2, 'wings': 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717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loud mistake</a:t>
            </a:r>
            <a:endParaRPr lang="en-US" sz="3700" dirty="0"/>
          </a:p>
        </p:txBody>
      </p:sp>
      <p:sp>
        <p:nvSpPr>
          <p:cNvPr id="3" name="Shape 1"/>
          <p:cNvSpPr/>
          <p:nvPr/>
        </p:nvSpPr>
        <p:spPr>
          <a:xfrm>
            <a:off x="661475" y="2558455"/>
            <a:ext cx="5203794" cy="1285280"/>
          </a:xfrm>
          <a:prstGeom prst="roundRect">
            <a:avLst>
              <a:gd name="adj" fmla="val 6177"/>
            </a:avLst>
          </a:prstGeom>
          <a:solidFill>
            <a:srgbClr val="F2F2F2"/>
          </a:solidFill>
          <a:ln/>
        </p:spPr>
      </p:sp>
      <p:sp>
        <p:nvSpPr>
          <p:cNvPr id="4" name="Text 2"/>
          <p:cNvSpPr/>
          <p:nvPr/>
        </p:nvSpPr>
        <p:spPr>
          <a:xfrm>
            <a:off x="888283" y="2747466"/>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print("You walk to the", exits["nroth"])</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KeyError: 'nroth'</a:t>
            </a:r>
            <a:endParaRPr lang="en-US" sz="14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3616" y="2564309"/>
            <a:ext cx="283461" cy="283468"/>
          </a:xfrm>
          <a:prstGeom prst="rect">
            <a:avLst/>
          </a:prstGeom>
        </p:spPr>
      </p:pic>
      <p:sp>
        <p:nvSpPr>
          <p:cNvPr id="6" name="Text 3"/>
          <p:cNvSpPr/>
          <p:nvPr/>
        </p:nvSpPr>
        <p:spPr>
          <a:xfrm>
            <a:off x="6947024" y="2558455"/>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typo in the key</a:t>
            </a:r>
            <a:endParaRPr lang="en-US" sz="18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3616" y="3515221"/>
            <a:ext cx="283461" cy="283468"/>
          </a:xfrm>
          <a:prstGeom prst="rect">
            <a:avLst/>
          </a:prstGeom>
        </p:spPr>
      </p:pic>
      <p:sp>
        <p:nvSpPr>
          <p:cNvPr id="8" name="Text 4"/>
          <p:cNvSpPr/>
          <p:nvPr/>
        </p:nvSpPr>
        <p:spPr>
          <a:xfrm>
            <a:off x="6947024" y="3509367"/>
            <a:ext cx="458954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Python stops and names the key it could not find</a:t>
            </a:r>
            <a:endParaRPr lang="en-US" sz="18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3616" y="4483795"/>
            <a:ext cx="283461" cy="283468"/>
          </a:xfrm>
          <a:prstGeom prst="rect">
            <a:avLst/>
          </a:prstGeom>
        </p:spPr>
      </p:pic>
      <p:sp>
        <p:nvSpPr>
          <p:cNvPr id="10" name="Text 5"/>
          <p:cNvSpPr/>
          <p:nvPr/>
        </p:nvSpPr>
        <p:spPr>
          <a:xfrm>
            <a:off x="6947024" y="4477941"/>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the helpful outcome</a:t>
            </a:r>
            <a:endParaRPr lang="en-US" sz="18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964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quiet mistake</a:t>
            </a:r>
            <a:endParaRPr lang="en-US" sz="3700" dirty="0"/>
          </a:p>
        </p:txBody>
      </p:sp>
      <p:sp>
        <p:nvSpPr>
          <p:cNvPr id="3" name="Shape 1"/>
          <p:cNvSpPr/>
          <p:nvPr/>
        </p:nvSpPr>
        <p:spPr>
          <a:xfrm>
            <a:off x="661475" y="3065165"/>
            <a:ext cx="10868745" cy="680442"/>
          </a:xfrm>
          <a:prstGeom prst="roundRect">
            <a:avLst>
              <a:gd name="adj" fmla="val 11667"/>
            </a:avLst>
          </a:prstGeom>
          <a:solidFill>
            <a:srgbClr val="F2F2F2"/>
          </a:solidFill>
          <a:ln/>
        </p:spPr>
      </p:sp>
      <p:sp>
        <p:nvSpPr>
          <p:cNvPr id="4" name="Text 2"/>
          <p:cNvSpPr/>
          <p:nvPr/>
        </p:nvSpPr>
        <p:spPr>
          <a:xfrm>
            <a:off x="888283" y="325417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print("You walk to the", exits.get("nroth"))</a:t>
            </a:r>
            <a:endParaRPr lang="en-US" sz="1450" dirty="0"/>
          </a:p>
        </p:txBody>
      </p:sp>
      <p:sp>
        <p:nvSpPr>
          <p:cNvPr id="5" name="Shape 3"/>
          <p:cNvSpPr/>
          <p:nvPr/>
        </p:nvSpPr>
        <p:spPr>
          <a:xfrm>
            <a:off x="661475" y="3958233"/>
            <a:ext cx="10868745" cy="680442"/>
          </a:xfrm>
          <a:prstGeom prst="roundRect">
            <a:avLst>
              <a:gd name="adj" fmla="val 11667"/>
            </a:avLst>
          </a:prstGeom>
          <a:solidFill>
            <a:srgbClr val="F2F2F2"/>
          </a:solidFill>
          <a:ln/>
        </p:spPr>
      </p:sp>
      <p:sp>
        <p:nvSpPr>
          <p:cNvPr id="6" name="Text 4"/>
          <p:cNvSpPr/>
          <p:nvPr/>
        </p:nvSpPr>
        <p:spPr>
          <a:xfrm>
            <a:off x="888283" y="414724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 walk to the None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get is the right tool</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print(exits.get("down", "no exit that way"))   # no exit that way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if "down" in exits:</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print("You go down to the", exits["down"])</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print("You cannot go down from here.")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a dictionary is the right choice</a:t>
            </a:r>
            <a:endParaRPr lang="en-US" sz="3700" dirty="0"/>
          </a:p>
        </p:txBody>
      </p:sp>
      <p:sp>
        <p:nvSpPr>
          <p:cNvPr id="4" name="Shape 1"/>
          <p:cNvSpPr/>
          <p:nvPr/>
        </p:nvSpPr>
        <p:spPr>
          <a:xfrm>
            <a:off x="5233360"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look things up by a name or ID</a:t>
            </a:r>
            <a:endParaRPr lang="en-US" sz="1850" dirty="0"/>
          </a:p>
        </p:txBody>
      </p:sp>
      <p:sp>
        <p:nvSpPr>
          <p:cNvPr id="6" name="Shape 3"/>
          <p:cNvSpPr/>
          <p:nvPr/>
        </p:nvSpPr>
        <p:spPr>
          <a:xfrm>
            <a:off x="5233360"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Each key means one thing</a:t>
            </a:r>
            <a:endParaRPr lang="en-US" sz="1850" dirty="0"/>
          </a:p>
        </p:txBody>
      </p:sp>
      <p:sp>
        <p:nvSpPr>
          <p:cNvPr id="8" name="Shape 5"/>
          <p:cNvSpPr/>
          <p:nvPr/>
        </p:nvSpPr>
        <p:spPr>
          <a:xfrm>
            <a:off x="5233360"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Counting how many of each</a:t>
            </a:r>
            <a:endParaRPr lang="en-US" sz="1850" dirty="0"/>
          </a:p>
        </p:txBody>
      </p:sp>
      <p:sp>
        <p:nvSpPr>
          <p:cNvPr id="10" name="Shape 7"/>
          <p:cNvSpPr/>
          <p:nvPr/>
        </p:nvSpPr>
        <p:spPr>
          <a:xfrm>
            <a:off x="5233360"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Translating one spelling into another</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356148"/>
            <a:ext cx="6296860" cy="25400"/>
          </a:xfrm>
          <a:prstGeom prst="rect">
            <a:avLst/>
          </a:prstGeom>
          <a:solidFill>
            <a:srgbClr val="57A1EB"/>
          </a:solidFill>
          <a:ln/>
        </p:spPr>
      </p:sp>
      <p:sp>
        <p:nvSpPr>
          <p:cNvPr id="6" name="Text 3"/>
          <p:cNvSpPr/>
          <p:nvPr/>
        </p:nvSpPr>
        <p:spPr>
          <a:xfrm>
            <a:off x="5233360"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U5-01 Part 2: songs per artist</a:t>
            </a:r>
            <a:endParaRPr lang="en-US" sz="1850" dirty="0"/>
          </a:p>
        </p:txBody>
      </p:sp>
      <p:sp>
        <p:nvSpPr>
          <p:cNvPr id="7" name="Text 4"/>
          <p:cNvSpPr/>
          <p:nvPr/>
        </p:nvSpPr>
        <p:spPr>
          <a:xfrm>
            <a:off x="5233360"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423245"/>
            <a:ext cx="6296860" cy="25400"/>
          </a:xfrm>
          <a:prstGeom prst="rect">
            <a:avLst/>
          </a:prstGeom>
          <a:solidFill>
            <a:srgbClr val="57A1EB"/>
          </a:solidFill>
          <a:ln/>
        </p:spPr>
      </p:sp>
      <p:sp>
        <p:nvSpPr>
          <p:cNvPr id="9" name="Text 6"/>
          <p:cNvSpPr/>
          <p:nvPr/>
        </p:nvSpPr>
        <p:spPr>
          <a:xfrm>
            <a:off x="5233360"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counting pattern on the real playlist</a:t>
            </a:r>
            <a:endParaRPr lang="en-US" sz="1850" dirty="0"/>
          </a:p>
        </p:txBody>
      </p:sp>
      <p:sp>
        <p:nvSpPr>
          <p:cNvPr id="10" name="Text 7"/>
          <p:cNvSpPr/>
          <p:nvPr/>
        </p:nvSpPr>
        <p:spPr>
          <a:xfrm>
            <a:off x="5233360"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490343"/>
            <a:ext cx="6296860" cy="25400"/>
          </a:xfrm>
          <a:prstGeom prst="rect">
            <a:avLst/>
          </a:prstGeom>
          <a:solidFill>
            <a:srgbClr val="57A1EB"/>
          </a:solidFill>
          <a:ln/>
        </p:spPr>
      </p:sp>
      <p:sp>
        <p:nvSpPr>
          <p:cNvPr id="12" name="Text 9"/>
          <p:cNvSpPr/>
          <p:nvPr/>
        </p:nvSpPr>
        <p:spPr>
          <a:xfrm>
            <a:off x="5233360"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 the KeyError and the silent get</a:t>
            </a:r>
            <a:endParaRPr lang="en-US" sz="1850" dirty="0"/>
          </a:p>
        </p:txBody>
      </p:sp>
      <p:sp>
        <p:nvSpPr>
          <p:cNvPr id="13" name="Text 10"/>
          <p:cNvSpPr/>
          <p:nvPr/>
        </p:nvSpPr>
        <p:spPr>
          <a:xfrm>
            <a:off x="5233360"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557441"/>
            <a:ext cx="6296860" cy="25400"/>
          </a:xfrm>
          <a:prstGeom prst="rect">
            <a:avLst/>
          </a:prstGeom>
          <a:solidFill>
            <a:srgbClr val="57A1EB"/>
          </a:solidFill>
          <a:ln/>
        </p:spPr>
      </p:sp>
      <p:sp>
        <p:nvSpPr>
          <p:cNvPr id="15" name="Text 12"/>
          <p:cNvSpPr/>
          <p:nvPr/>
        </p:nvSpPr>
        <p:spPr>
          <a:xfrm>
            <a:off x="5233360"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your v2 map as a dictionary</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2026-09-14T18:52:06Z</dcterms:created>
  <dcterms:modified xsi:type="dcterms:W3CDTF">2026-09-14T18:52:06Z</dcterms:modified>
</cp:coreProperties>
</file>