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on the roof, fuse in your pocket, three moves from winning, and the bell rings. Close the program and it is all gone. Your playtesters have asked for a save button. Today you build one, and you build the part most people skip: what happens when the save file is missing, damaged, or 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builds a plain dictionary of exactly the things that need to come back, and dumps it. Notice visited is sorted into a list, because yesterday you learned JSON has no set. Save only what you need. Anything you save, you will have to check when you load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version that forgets. It crashes, which you expected. Now the part nobody expects. Open savegame dot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real contents of the file after the crash. json dump had already written the room and the inventory when it reached the set and stopped. Opening a file for writing empties it first, so the good save that was there before is gone too. This is why every load must expect a damaged file. It is not a rare case. You made one in eight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failures, three different messages. Missing file, damaged file, and a file that is valid JSON but describes something impossible. The last check matters most. Only after every value is checked does the function build a new state. The caller keeps the old game if anything raises, so a bad load never leaves you half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runs. No traceback in any of them, and every message tells the player what happened and that their current game is safe. Compare that with a traceback full of json decoder internals. Same information for you. Useless for the person playing.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will edit a save file by hand. Maybe you, while testing. The JSON can be perfect and the data nonsense. moves equals true is valid JSON, and because Python treats True as the number one, a lazy check lets it through. A room name that is not in your world is valid JSON too. Checking the format is not checking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trap in the code on slide five. JSONDecodeError is a special kind of ValueError. If you write except ValueError above except JSONDecodeError, the first one catches everything and the second never runs. Nothing crashes. The damaged file gets the wrong message forever. Put the most specific exception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finishes the Streak Tracker. Your program must handle a missing file, a damaged file, and a file with a bad value, each with its own message, and it must never save over a damaged file, because that file might be months of somebody's streaks. Build two adds save and load commands to your text adventure, with three distinct bad save messages you can trigger on demand in your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Save, Load, and the File You Cannot Trust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bell rings on the roof</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got to the roof with the fuse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Fourth period is over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Tomorrow you start from the lobby again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a bad save could be worse than no save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Saving is converting your state to JSON</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save_game(state):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data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"room": state["room"],</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"inventory": state["inventory"],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"visited": sorted(state["visited"]),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"moves": state["moves"],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with open(SAVE_FILE, "w", encoding="utf-8") as save_file: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json.dump(data, save_file, indent=2)</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916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forget to convert the set</a:t>
            </a:r>
            <a:endParaRPr lang="en-US" sz="3700" dirty="0"/>
          </a:p>
        </p:txBody>
      </p:sp>
      <p:sp>
        <p:nvSpPr>
          <p:cNvPr id="3" name="Shape 1"/>
          <p:cNvSpPr/>
          <p:nvPr/>
        </p:nvSpPr>
        <p:spPr>
          <a:xfrm>
            <a:off x="661475" y="2460327"/>
            <a:ext cx="10868745" cy="1890117"/>
          </a:xfrm>
          <a:prstGeom prst="roundRect">
            <a:avLst>
              <a:gd name="adj" fmla="val 4200"/>
            </a:avLst>
          </a:prstGeom>
          <a:solidFill>
            <a:srgbClr val="F2F2F2"/>
          </a:solidFill>
          <a:ln/>
        </p:spPr>
      </p:sp>
      <p:sp>
        <p:nvSpPr>
          <p:cNvPr id="4" name="Text 2"/>
          <p:cNvSpPr/>
          <p:nvPr/>
        </p:nvSpPr>
        <p:spPr>
          <a:xfrm>
            <a:off x="888283" y="2649339"/>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state = {"room": "archive", "inventory": ["flashlight"],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"visited": {"lobby", "hallway", "archive"}, "moves": 2}</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open("savegame.json", "w", encoding="utf-8") as save_file: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json.dump(state, save_file, indent=2)</a:t>
            </a:r>
            <a:endParaRPr lang="en-US" sz="1450" dirty="0"/>
          </a:p>
        </p:txBody>
      </p:sp>
      <p:sp>
        <p:nvSpPr>
          <p:cNvPr id="5" name="Shape 3"/>
          <p:cNvSpPr/>
          <p:nvPr/>
        </p:nvSpPr>
        <p:spPr>
          <a:xfrm>
            <a:off x="661475" y="4563070"/>
            <a:ext cx="10868745" cy="680442"/>
          </a:xfrm>
          <a:prstGeom prst="roundRect">
            <a:avLst>
              <a:gd name="adj" fmla="val 11667"/>
            </a:avLst>
          </a:prstGeom>
          <a:solidFill>
            <a:srgbClr val="F2F2F2"/>
          </a:solidFill>
          <a:ln/>
        </p:spPr>
      </p:sp>
      <p:sp>
        <p:nvSpPr>
          <p:cNvPr id="6" name="Text 4"/>
          <p:cNvSpPr/>
          <p:nvPr/>
        </p:nvSpPr>
        <p:spPr>
          <a:xfrm>
            <a:off x="888283" y="4752082"/>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6F42C1"/>
                </a:solidFill>
                <a:latin typeface="Consolas" pitchFamily="34" charset="0"/>
                <a:ea typeface="Consolas" pitchFamily="34" charset="-122"/>
                <a:cs typeface="Consolas" pitchFamily="34" charset="-120"/>
              </a:rPr>
              <a:t>TypeError: Object of type set is not JSON serializable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2163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crash left half a file behind</a:t>
            </a:r>
            <a:endParaRPr lang="en-US" sz="3700" dirty="0"/>
          </a:p>
        </p:txBody>
      </p:sp>
      <p:sp>
        <p:nvSpPr>
          <p:cNvPr id="3" name="Shape 1"/>
          <p:cNvSpPr/>
          <p:nvPr/>
        </p:nvSpPr>
        <p:spPr>
          <a:xfrm>
            <a:off x="661475" y="2708374"/>
            <a:ext cx="5203794" cy="2192536"/>
          </a:xfrm>
          <a:prstGeom prst="roundRect">
            <a:avLst>
              <a:gd name="adj" fmla="val 3621"/>
            </a:avLst>
          </a:prstGeom>
          <a:solidFill>
            <a:srgbClr val="F2F2F2"/>
          </a:solidFill>
          <a:ln/>
        </p:spPr>
      </p:sp>
      <p:sp>
        <p:nvSpPr>
          <p:cNvPr id="4" name="Text 2"/>
          <p:cNvSpPr/>
          <p:nvPr/>
        </p:nvSpPr>
        <p:spPr>
          <a:xfrm>
            <a:off x="888283" y="2897386"/>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"room": "archive",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"inventory":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"flashlight"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"visited": </a:t>
            </a:r>
            <a:endParaRPr lang="en-US" sz="1450" dirty="0"/>
          </a:p>
        </p:txBody>
      </p:sp>
      <p:sp>
        <p:nvSpPr>
          <p:cNvPr id="5" name="Text 3"/>
          <p:cNvSpPr/>
          <p:nvPr/>
        </p:nvSpPr>
        <p:spPr>
          <a:xfrm>
            <a:off x="6332776" y="2665809"/>
            <a:ext cx="5203794"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json.dump wrote until it hit the set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file is now damaged JSON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old good save is gone</a:t>
            </a:r>
            <a:endParaRPr lang="en-US" sz="1450" dirty="0"/>
          </a:p>
        </p:txBody>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30523"/>
            <a:ext cx="10868745"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A load either fully succeeds or changes nothing</a:t>
            </a:r>
            <a:endParaRPr lang="en-US" sz="3600" dirty="0"/>
          </a:p>
        </p:txBody>
      </p:sp>
      <p:sp>
        <p:nvSpPr>
          <p:cNvPr id="3" name="Shape 1"/>
          <p:cNvSpPr/>
          <p:nvPr/>
        </p:nvSpPr>
        <p:spPr>
          <a:xfrm>
            <a:off x="661475" y="2029619"/>
            <a:ext cx="10868745" cy="4175026"/>
          </a:xfrm>
          <a:prstGeom prst="roundRect">
            <a:avLst>
              <a:gd name="adj" fmla="val 1842"/>
            </a:avLst>
          </a:prstGeom>
          <a:solidFill>
            <a:srgbClr val="F2F2F2"/>
          </a:solidFill>
          <a:ln/>
        </p:spPr>
      </p:sp>
      <p:sp>
        <p:nvSpPr>
          <p:cNvPr id="4" name="Text 2"/>
          <p:cNvSpPr/>
          <p:nvPr/>
        </p:nvSpPr>
        <p:spPr>
          <a:xfrm>
            <a:off x="881140" y="2212677"/>
            <a:ext cx="10429416" cy="3808909"/>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def load_game():</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try:</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with open(SAVE_FILE, encoding="utf-8") as save_file:</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data = json.load(save_file)</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except FileNotFoundError:</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raise ValueError("There is no save file yet.") from None</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except json.JSONDecodeError:</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raise ValueError("The save file is damaged.") from None</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if not isinstance(data, dict) or data.get("room") not in ROOMS:</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raise ValueError("The save file puts you somewhere that does not exist.")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return {"room": data["room"], "inventory": data["inventory"],</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"visited": set(data["visited"]), "moves": data["moves"]}</a:t>
            </a:r>
            <a:endParaRPr lang="en-US" sz="140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the player sees</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load before any save: There is no save file yet. You are still in the lobby.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load a damaged file: The save file is damaged. You are still in the lobby.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save, then load: loaded, you are in the archive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Valid JSON is not a valid save</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"moves": true loads as a bool, not a number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True counts as 1 in Python, so it sneaks through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room called control_tower is valid JSON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every value against your world</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3867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Order your except clauses</a:t>
            </a:r>
            <a:endParaRPr lang="en-US" sz="3700" dirty="0"/>
          </a:p>
        </p:txBody>
      </p:sp>
      <p:pic>
        <p:nvPicPr>
          <p:cNvPr id="3" name="Image 0" descr="preencoded.png">    </p:cNvPr>
          <p:cNvPicPr>
            <a:picLocks noChangeAspect="1"/>
          </p:cNvPicPr>
          <p:nvPr/>
        </p:nvPicPr>
        <p:blipFill>
          <a:blip r:embed="rId1"/>
          <a:stretch>
            <a:fillRect/>
          </a:stretch>
        </p:blipFill>
        <p:spPr>
          <a:xfrm>
            <a:off x="2191787" y="1725414"/>
            <a:ext cx="3842646" cy="4158456"/>
          </a:xfrm>
          <a:prstGeom prst="rect">
            <a:avLst/>
          </a:prstGeom>
        </p:spPr>
      </p:pic>
      <p:sp>
        <p:nvSpPr>
          <p:cNvPr id="4" name="Text 1"/>
          <p:cNvSpPr/>
          <p:nvPr/>
        </p:nvSpPr>
        <p:spPr>
          <a:xfrm>
            <a:off x="2318924" y="4743271"/>
            <a:ext cx="2114298" cy="493495"/>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111111"/>
                </a:solidFill>
                <a:latin typeface="Orbitron Bold" pitchFamily="34" charset="0"/>
                <a:ea typeface="Orbitron Bold" pitchFamily="34" charset="-122"/>
                <a:cs typeface="Orbitron Bold" pitchFamily="34" charset="-120"/>
              </a:rPr>
              <a:t>Handle JSONDecodeError</a:t>
            </a:r>
            <a:endParaRPr lang="en-US" sz="1550" dirty="0"/>
          </a:p>
        </p:txBody>
      </p:sp>
      <p:sp>
        <p:nvSpPr>
          <p:cNvPr id="5" name="Text 2"/>
          <p:cNvSpPr/>
          <p:nvPr/>
        </p:nvSpPr>
        <p:spPr>
          <a:xfrm>
            <a:off x="2318924" y="5306952"/>
            <a:ext cx="2114298" cy="394796"/>
          </a:xfrm>
          <a:prstGeom prst="rect">
            <a:avLst/>
          </a:prstGeom>
          <a:noFill/>
          <a:ln/>
        </p:spPr>
        <p:txBody>
          <a:bodyPr wrap="square" lIns="0" tIns="0" rIns="0" bIns="0" rtlCol="0" anchor="t">
            <a:normAutofit/>
          </a:bodyPr>
          <a:lstStyle/>
          <a:p>
            <a:pPr algn="ctr" indent="0" marL="0">
              <a:lnSpc>
                <a:spcPct val="104000"/>
              </a:lnSpc>
              <a:buNone/>
            </a:pPr>
            <a:r>
              <a:rPr lang="en-US" sz="1200" dirty="0">
                <a:solidFill>
                  <a:srgbClr val="1C1C1C"/>
                </a:solidFill>
                <a:latin typeface="Roboto Condensed" pitchFamily="34" charset="0"/>
                <a:ea typeface="Roboto Condensed" pitchFamily="34" charset="-122"/>
                <a:cs typeface="Roboto Condensed" pitchFamily="34" charset="-120"/>
              </a:rPr>
              <a:t>Catch JSON parsing errors specifically.</a:t>
            </a:r>
            <a:endParaRPr lang="en-US" sz="1200" dirty="0"/>
          </a:p>
        </p:txBody>
      </p:sp>
      <p:sp>
        <p:nvSpPr>
          <p:cNvPr id="6" name="Text 3"/>
          <p:cNvSpPr/>
          <p:nvPr/>
        </p:nvSpPr>
        <p:spPr>
          <a:xfrm>
            <a:off x="3792791" y="1907322"/>
            <a:ext cx="2114298" cy="493495"/>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111111"/>
                </a:solidFill>
                <a:latin typeface="Orbitron Bold" pitchFamily="34" charset="0"/>
                <a:ea typeface="Orbitron Bold" pitchFamily="34" charset="-122"/>
                <a:cs typeface="Orbitron Bold" pitchFamily="34" charset="-120"/>
              </a:rPr>
              <a:t>Then Handle ValueError</a:t>
            </a:r>
            <a:endParaRPr lang="en-US" sz="1550" dirty="0"/>
          </a:p>
        </p:txBody>
      </p:sp>
      <p:sp>
        <p:nvSpPr>
          <p:cNvPr id="7" name="Text 4"/>
          <p:cNvSpPr/>
          <p:nvPr/>
        </p:nvSpPr>
        <p:spPr>
          <a:xfrm>
            <a:off x="3792791" y="2471002"/>
            <a:ext cx="2114298" cy="394796"/>
          </a:xfrm>
          <a:prstGeom prst="rect">
            <a:avLst/>
          </a:prstGeom>
          <a:noFill/>
          <a:ln/>
        </p:spPr>
        <p:txBody>
          <a:bodyPr wrap="square" lIns="0" tIns="0" rIns="0" bIns="0" rtlCol="0" anchor="t">
            <a:normAutofit/>
          </a:bodyPr>
          <a:lstStyle/>
          <a:p>
            <a:pPr algn="ctr" indent="0" marL="0">
              <a:lnSpc>
                <a:spcPct val="104000"/>
              </a:lnSpc>
              <a:buNone/>
            </a:pPr>
            <a:r>
              <a:rPr lang="en-US" sz="1200" dirty="0">
                <a:solidFill>
                  <a:srgbClr val="1C1C1C"/>
                </a:solidFill>
                <a:latin typeface="Roboto Condensed" pitchFamily="34" charset="0"/>
                <a:ea typeface="Roboto Condensed" pitchFamily="34" charset="-122"/>
                <a:cs typeface="Roboto Condensed" pitchFamily="34" charset="-120"/>
              </a:rPr>
              <a:t>Catch broader value-related exceptions.</a:t>
            </a:r>
            <a:endParaRPr lang="en-US" sz="1200" dirty="0"/>
          </a:p>
        </p:txBody>
      </p:sp>
      <p:sp>
        <p:nvSpPr>
          <p:cNvPr id="8" name="Text 5"/>
          <p:cNvSpPr/>
          <p:nvPr/>
        </p:nvSpPr>
        <p:spPr>
          <a:xfrm>
            <a:off x="8032251" y="2699048"/>
            <a:ext cx="3504219" cy="231517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JSONDecodeError is a kind of ValueError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Catch ValueError first and JSONDecodeError never runs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player gets the wrong message, silently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Most specific exception first</a:t>
            </a:r>
            <a:endParaRPr lang="en-US" sz="1450" dirty="0"/>
          </a:p>
        </p:txBody>
      </p:sp>
      <p:sp>
        <p:nvSpPr>
          <p:cNvPr id="9"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Lab U5-03 Part 2: a tracker that never eats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Missing, damaged, and wrong files each get a message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damaged file is never overwritten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save and load commands in v3</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2026-09-14T18:55:16Z</dcterms:created>
  <dcterms:modified xsi:type="dcterms:W3CDTF">2026-09-14T18:55:16Z</dcterms:modified>
</cp:coreProperties>
</file>