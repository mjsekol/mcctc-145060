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1695" cy="6858000"/>
  <p:notesSz cx="6858000" cy="12191695"/>
  <p:embeddedFontLst>
    <p:embeddedFont>
      <p:font typeface="Orbitron Bold"/>
      <p:regular r:id="rId201314"/>
    </p:embeddedFont>
    <p:embeddedFont>
      <p:font typeface="Orbitron"/>
      <p:regular r:id="rId201315"/>
    </p:embeddedFont>
    <p:embeddedFont>
      <p:font typeface="Roboto Condensed Bold"/>
      <p:regular r:id="rId201316"/>
    </p:embeddedFont>
    <p:embeddedFont>
      <p:font typeface="Roboto Condensed"/>
      <p:regular r:id="rId201317"/>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201314" Target="fonts/201314.fntdata" Type="http://schemas.openxmlformats.org/officeDocument/2006/relationships/font"/><Relationship Id="rId201315" Target="fonts/201315.fntdata" Type="http://schemas.openxmlformats.org/officeDocument/2006/relationships/font"/><Relationship Id="rId201316" Target="fonts/201316.fntdata" Type="http://schemas.openxmlformats.org/officeDocument/2006/relationships/font"/><Relationship Id="rId201317" Target="fonts/201317.fntdata" Type="http://schemas.openxmlformats.org/officeDocument/2006/relationships/font"/><Relationship Id="rId201318" Target="fonts/201318.fntdata" Type="http://schemas.openxmlformats.org/officeDocument/2006/relationships/font"/><Relationship Id="rId201319" Target="fonts/201319.fntdata" Type="http://schemas.openxmlformats.org/officeDocument/2006/relationships/font"/><Relationship Id="rId201320" Target="fonts/201320.fntdata" Type="http://schemas.openxmlformats.org/officeDocument/2006/relationships/font"/><Relationship Id="rId201321" Target="fonts/201321.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Your friend writes better room descriptions than you do. They want to add a haunted greenhouse to your game. Right now that means editing your Python file, and one misplaced quote breaks everything. Today you move the world out of the code and into a data file. The code will know how the game works. The file will know what the place looks like.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JSON is plain text that almost every language can read. It maps straight onto what you learned last week. A JSON object is a dictionary, a JSON array is a list. The rules are stricter than Python, though. Double quotes only, lowercase true and false, and null where Python says None. Those differences are where the errors come from.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Unit 1 you opened a file and had to remember to close it. with does the closing for you, when the indented block ends, even if something inside it crashes. From today on, every file you open uses with. dump writes a Python collection out as JSON text. load reads JSON text back into a Python collection. indent equals two makes the file readable by a person, which matters, because a person is going to edit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Dump the world, load it back, and you get an equal dictionary. Nested keys read exactly like last week: rooms, then the lobby, then its exits, then north. Your version 3 world is this structure with more rooms. The file on disk is text. The moment it is loaded, it is dictionaries and lists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what happens the first time someone who knows Python edits JSON. Single quotes are fine in Python and illegal in JSON. The error is loud and specific. It even tells you line two, column three. Read the line and column before you read anything else.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comma after the last item. Python allows it. JSON does not. On Python 3.13 the message names the problem exactly. Older versions said something less helpful, so if your machine words it differently, the line and column are still right. This is exactly the error your game must catch and explain, instead of showing your friend a traceback.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more rule before you build. JSON has no set type. Hand json.dump a set and it raises TypeError: Object of type set is not JSON serializable. Your visited rooms are a set. So you convert to a sorted list when you write, and back to a set when you read. Tomorrow you will see what that crash does to a save file halfway through writing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failure to name before you hit it. If world.json says north leads to hallawy, loading works fine. The crash comes later, when a player walks north, maybe during your demo. So after loading, walk through every room and check that every exit leads to a room that exists. Version 3 does this in a function called validate world. A clear message at launch beats a crash in front of a judge.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one is part one of the Streak Tracker. Habits and their streaks live in a JSON file. Your program loads them, adds a day, and saves. Then you open the file, break it with a single quote and a trailing comma, and record both errors. Build two is the big one for your text adventure. Move every room, exit, and item out of your code into world dot json, and load it at startup.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AFAFA"/>
          </a:solidFill>
          <a:ln/>
        </p:spPr>
      </p:sp>
      <p:sp>
        <p:nvSpPr>
          <p:cNvPr id="3" name="Shape 1"/>
          <p:cNvSpPr/>
          <p:nvPr/>
        </p:nvSpPr>
        <p:spPr>
          <a:xfrm>
            <a:off x="0" y="0"/>
            <a:ext cx="12191695" cy="6858000"/>
          </a:xfrm>
          <a:prstGeom prst="rect">
            <a:avLst/>
          </a:prstGeom>
          <a:solidFill>
            <a:srgbClr val="FFFFFF"/>
          </a:solidFill>
          <a:ln/>
        </p:spPr>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eg"/><Relationship Id="rId2" Type="http://schemas.openxmlformats.org/officeDocument/2006/relationships/image" Target="../media/image-3-2.png"/><Relationship Id="rId3" Type="http://schemas.openxmlformats.org/officeDocument/2006/relationships/image" Target="../media/image-3-3.svg"/><Relationship Id="rId4" Type="http://schemas.openxmlformats.org/officeDocument/2006/relationships/image" Target="../media/image-3-2.png"/><Relationship Id="rId5" Type="http://schemas.openxmlformats.org/officeDocument/2006/relationships/image" Target="../media/image-3-3.svg"/><Relationship Id="rId6" Type="http://schemas.openxmlformats.org/officeDocument/2006/relationships/image" Target="../media/image-3-2.png"/><Relationship Id="rId7" Type="http://schemas.openxmlformats.org/officeDocument/2006/relationships/image" Target="../media/image-3-3.svg"/><Relationship Id="rId8" Type="http://schemas.openxmlformats.org/officeDocument/2006/relationships/image" Target="../media/image-3-8.png"/><Relationship Id="rId9" Type="http://schemas.openxmlformats.org/officeDocument/2006/relationships/image" Target="../media/image-3-9.svg"/><Relationship Id="rId10" Type="http://schemas.openxmlformats.org/officeDocument/2006/relationships/slideLayout" Target="../slideLayouts/slideLayout2.xml"/><Relationship Id="rId11"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e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e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e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61475" y="2776934"/>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Data Out of Code: JSON and the World File</a:t>
            </a:r>
            <a:endParaRPr lang="en-US" sz="3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61475" y="872331"/>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Your friend wants to add a room</a:t>
            </a:r>
            <a:endParaRPr lang="en-US" sz="3700" dirty="0"/>
          </a:p>
        </p:txBody>
      </p:sp>
      <p:sp>
        <p:nvSpPr>
          <p:cNvPr id="4" name="Shape 1"/>
          <p:cNvSpPr/>
          <p:nvPr/>
        </p:nvSpPr>
        <p:spPr>
          <a:xfrm>
            <a:off x="661475" y="2337098"/>
            <a:ext cx="425241" cy="425252"/>
          </a:xfrm>
          <a:prstGeom prst="roundRect">
            <a:avLst>
              <a:gd name="adj" fmla="val 18669"/>
            </a:avLst>
          </a:prstGeom>
          <a:solidFill>
            <a:srgbClr val="D1E5FA"/>
          </a:solidFill>
          <a:ln w="19050">
            <a:solidFill>
              <a:srgbClr val="B7CBE0"/>
            </a:solidFill>
            <a:prstDash val="solid"/>
          </a:ln>
        </p:spPr>
      </p:sp>
      <p:sp>
        <p:nvSpPr>
          <p:cNvPr id="5" name="Text 2"/>
          <p:cNvSpPr/>
          <p:nvPr/>
        </p:nvSpPr>
        <p:spPr>
          <a:xfrm>
            <a:off x="1275723" y="2401987"/>
            <a:ext cx="5682612" cy="59055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They can write a great haunted greenhouse</a:t>
            </a:r>
            <a:endParaRPr lang="en-US" sz="1850" dirty="0"/>
          </a:p>
        </p:txBody>
      </p:sp>
      <p:sp>
        <p:nvSpPr>
          <p:cNvPr id="6" name="Shape 3"/>
          <p:cNvSpPr/>
          <p:nvPr/>
        </p:nvSpPr>
        <p:spPr>
          <a:xfrm>
            <a:off x="661475" y="3370560"/>
            <a:ext cx="425241" cy="425252"/>
          </a:xfrm>
          <a:prstGeom prst="roundRect">
            <a:avLst>
              <a:gd name="adj" fmla="val 18669"/>
            </a:avLst>
          </a:prstGeom>
          <a:solidFill>
            <a:srgbClr val="D1E5FA"/>
          </a:solidFill>
          <a:ln w="19050">
            <a:solidFill>
              <a:srgbClr val="B7CBE0"/>
            </a:solidFill>
            <a:prstDash val="solid"/>
          </a:ln>
        </p:spPr>
      </p:sp>
      <p:sp>
        <p:nvSpPr>
          <p:cNvPr id="7" name="Text 4"/>
          <p:cNvSpPr/>
          <p:nvPr/>
        </p:nvSpPr>
        <p:spPr>
          <a:xfrm>
            <a:off x="1275723" y="3435449"/>
            <a:ext cx="5682612"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They cannot read Python</a:t>
            </a:r>
            <a:endParaRPr lang="en-US" sz="1850" dirty="0"/>
          </a:p>
        </p:txBody>
      </p:sp>
      <p:sp>
        <p:nvSpPr>
          <p:cNvPr id="8" name="Shape 5"/>
          <p:cNvSpPr/>
          <p:nvPr/>
        </p:nvSpPr>
        <p:spPr>
          <a:xfrm>
            <a:off x="661475" y="4173835"/>
            <a:ext cx="425241" cy="425252"/>
          </a:xfrm>
          <a:prstGeom prst="roundRect">
            <a:avLst>
              <a:gd name="adj" fmla="val 18669"/>
            </a:avLst>
          </a:prstGeom>
          <a:solidFill>
            <a:srgbClr val="D1E5FA"/>
          </a:solidFill>
          <a:ln w="19050">
            <a:solidFill>
              <a:srgbClr val="B7CBE0"/>
            </a:solidFill>
            <a:prstDash val="solid"/>
          </a:ln>
        </p:spPr>
      </p:sp>
      <p:sp>
        <p:nvSpPr>
          <p:cNvPr id="9" name="Text 6"/>
          <p:cNvSpPr/>
          <p:nvPr/>
        </p:nvSpPr>
        <p:spPr>
          <a:xfrm>
            <a:off x="1275723" y="4238724"/>
            <a:ext cx="5682612" cy="59055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Right now the rooms live inside adventure.py</a:t>
            </a:r>
            <a:endParaRPr lang="en-US" sz="1850" dirty="0"/>
          </a:p>
        </p:txBody>
      </p:sp>
      <p:sp>
        <p:nvSpPr>
          <p:cNvPr id="10" name="Shape 7"/>
          <p:cNvSpPr/>
          <p:nvPr/>
        </p:nvSpPr>
        <p:spPr>
          <a:xfrm>
            <a:off x="661475" y="5207298"/>
            <a:ext cx="425241" cy="425252"/>
          </a:xfrm>
          <a:prstGeom prst="roundRect">
            <a:avLst>
              <a:gd name="adj" fmla="val 18669"/>
            </a:avLst>
          </a:prstGeom>
          <a:solidFill>
            <a:srgbClr val="D1E5FA"/>
          </a:solidFill>
          <a:ln w="19050">
            <a:solidFill>
              <a:srgbClr val="B7CBE0"/>
            </a:solidFill>
            <a:prstDash val="solid"/>
          </a:ln>
        </p:spPr>
      </p:sp>
      <p:sp>
        <p:nvSpPr>
          <p:cNvPr id="11" name="Text 8"/>
          <p:cNvSpPr/>
          <p:nvPr/>
        </p:nvSpPr>
        <p:spPr>
          <a:xfrm>
            <a:off x="1275723" y="5272187"/>
            <a:ext cx="5682612" cy="59055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One wrong comma and your game will not start</a:t>
            </a:r>
            <a:endParaRPr lang="en-US" sz="1850" dirty="0"/>
          </a:p>
        </p:txBody>
      </p:sp>
      <p:sp>
        <p:nvSpPr>
          <p:cNvPr id="12" name="Text 9"/>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61475" y="552351"/>
            <a:ext cx="10868745" cy="563066"/>
          </a:xfrm>
          <a:prstGeom prst="rect">
            <a:avLst/>
          </a:prstGeom>
          <a:noFill/>
          <a:ln/>
        </p:spPr>
        <p:txBody>
          <a:bodyPr wrap="none" lIns="0" tIns="0" rIns="0" bIns="0" rtlCol="0" anchor="t"/>
          <a:lstStyle/>
          <a:p>
            <a:pPr algn="l" indent="0" marL="0">
              <a:lnSpc>
                <a:spcPct val="104000"/>
              </a:lnSpc>
              <a:buNone/>
            </a:pPr>
            <a:r>
              <a:rPr lang="en-US" sz="3500" b="1" dirty="0">
                <a:solidFill>
                  <a:srgbClr val="111111"/>
                </a:solidFill>
                <a:latin typeface="Orbitron Bold" pitchFamily="34" charset="0"/>
                <a:ea typeface="Orbitron Bold" pitchFamily="34" charset="-122"/>
                <a:cs typeface="Orbitron Bold" pitchFamily="34" charset="-120"/>
              </a:rPr>
              <a:t>JSON is a text format for your collections</a:t>
            </a:r>
            <a:endParaRPr lang="en-US" sz="3500" dirty="0"/>
          </a:p>
        </p:txBody>
      </p:sp>
      <p:pic>
        <p:nvPicPr>
          <p:cNvPr id="3" name="Image 0" descr="preencoded.png">    </p:cNvPr>
          <p:cNvPicPr>
            <a:picLocks noChangeAspect="1"/>
          </p:cNvPicPr>
          <p:nvPr/>
        </p:nvPicPr>
        <p:blipFill>
          <a:blip r:embed="rId1"/>
          <a:stretch>
            <a:fillRect/>
          </a:stretch>
        </p:blipFill>
        <p:spPr>
          <a:xfrm>
            <a:off x="661475" y="1819771"/>
            <a:ext cx="6910810" cy="3916164"/>
          </a:xfrm>
          <a:prstGeom prst="rect">
            <a:avLst/>
          </a:prstGeom>
        </p:spPr>
      </p:pic>
      <p:pic>
        <p:nvPicPr>
          <p:cNvPr id="4"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018163" y="1566168"/>
            <a:ext cx="3518308" cy="973931"/>
          </a:xfrm>
          <a:prstGeom prst="rect">
            <a:avLst/>
          </a:prstGeom>
        </p:spPr>
      </p:pic>
      <p:sp>
        <p:nvSpPr>
          <p:cNvPr id="5" name="Text 1"/>
          <p:cNvSpPr/>
          <p:nvPr/>
        </p:nvSpPr>
        <p:spPr>
          <a:xfrm>
            <a:off x="8325237" y="1771650"/>
            <a:ext cx="3005757" cy="562967"/>
          </a:xfrm>
          <a:prstGeom prst="rect">
            <a:avLst/>
          </a:prstGeom>
          <a:noFill/>
          <a:ln/>
        </p:spPr>
        <p:txBody>
          <a:bodyPr wrap="square" lIns="0" tIns="0" rIns="0" bIns="0" rtlCol="0" anchor="t">
            <a:normAutofit/>
          </a:bodyPr>
          <a:lstStyle/>
          <a:p>
            <a:pPr algn="l" indent="0" marL="0">
              <a:lnSpc>
                <a:spcPct val="104000"/>
              </a:lnSpc>
              <a:buNone/>
            </a:pPr>
            <a:r>
              <a:rPr lang="en-US" sz="1750" b="1" dirty="0">
                <a:solidFill>
                  <a:srgbClr val="1C1C1C"/>
                </a:solidFill>
                <a:latin typeface="Orbitron Bold" pitchFamily="34" charset="0"/>
                <a:ea typeface="Orbitron Bold" pitchFamily="34" charset="-122"/>
                <a:cs typeface="Orbitron Bold" pitchFamily="34" charset="-120"/>
              </a:rPr>
              <a:t>Objects in curly braces become dictionaries</a:t>
            </a:r>
            <a:endParaRPr lang="en-US" sz="1750" dirty="0"/>
          </a:p>
        </p:txBody>
      </p:sp>
      <p:pic>
        <p:nvPicPr>
          <p:cNvPr id="6"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018163" y="2711748"/>
            <a:ext cx="3518308" cy="973931"/>
          </a:xfrm>
          <a:prstGeom prst="rect">
            <a:avLst/>
          </a:prstGeom>
        </p:spPr>
      </p:pic>
      <p:sp>
        <p:nvSpPr>
          <p:cNvPr id="7" name="Text 2"/>
          <p:cNvSpPr/>
          <p:nvPr/>
        </p:nvSpPr>
        <p:spPr>
          <a:xfrm>
            <a:off x="8325237" y="2917230"/>
            <a:ext cx="3005757" cy="562967"/>
          </a:xfrm>
          <a:prstGeom prst="rect">
            <a:avLst/>
          </a:prstGeom>
          <a:noFill/>
          <a:ln/>
        </p:spPr>
        <p:txBody>
          <a:bodyPr wrap="square" lIns="0" tIns="0" rIns="0" bIns="0" rtlCol="0" anchor="t">
            <a:normAutofit/>
          </a:bodyPr>
          <a:lstStyle/>
          <a:p>
            <a:pPr algn="l" indent="0" marL="0">
              <a:lnSpc>
                <a:spcPct val="104000"/>
              </a:lnSpc>
              <a:buNone/>
            </a:pPr>
            <a:r>
              <a:rPr lang="en-US" sz="1750" b="1" dirty="0">
                <a:solidFill>
                  <a:srgbClr val="1C1C1C"/>
                </a:solidFill>
                <a:latin typeface="Orbitron Bold" pitchFamily="34" charset="0"/>
                <a:ea typeface="Orbitron Bold" pitchFamily="34" charset="-122"/>
                <a:cs typeface="Orbitron Bold" pitchFamily="34" charset="-120"/>
              </a:rPr>
              <a:t>Arrays in square brackets become lists</a:t>
            </a:r>
            <a:endParaRPr lang="en-US" sz="1750" dirty="0"/>
          </a:p>
        </p:txBody>
      </p:sp>
      <p:pic>
        <p:nvPicPr>
          <p:cNvPr id="8" name="Image 3" descr="preencoded.png">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8018163" y="3857327"/>
            <a:ext cx="3518308" cy="973931"/>
          </a:xfrm>
          <a:prstGeom prst="rect">
            <a:avLst/>
          </a:prstGeom>
        </p:spPr>
      </p:pic>
      <p:sp>
        <p:nvSpPr>
          <p:cNvPr id="9" name="Text 3"/>
          <p:cNvSpPr/>
          <p:nvPr/>
        </p:nvSpPr>
        <p:spPr>
          <a:xfrm>
            <a:off x="8325237" y="4062809"/>
            <a:ext cx="3005757" cy="562967"/>
          </a:xfrm>
          <a:prstGeom prst="rect">
            <a:avLst/>
          </a:prstGeom>
          <a:noFill/>
          <a:ln/>
        </p:spPr>
        <p:txBody>
          <a:bodyPr wrap="square" lIns="0" tIns="0" rIns="0" bIns="0" rtlCol="0" anchor="t">
            <a:normAutofit/>
          </a:bodyPr>
          <a:lstStyle/>
          <a:p>
            <a:pPr algn="l" indent="0" marL="0">
              <a:lnSpc>
                <a:spcPct val="104000"/>
              </a:lnSpc>
              <a:buNone/>
            </a:pPr>
            <a:r>
              <a:rPr lang="en-US" sz="1750" b="1" dirty="0">
                <a:solidFill>
                  <a:srgbClr val="1C1C1C"/>
                </a:solidFill>
                <a:latin typeface="Orbitron Bold" pitchFamily="34" charset="0"/>
                <a:ea typeface="Orbitron Bold" pitchFamily="34" charset="-122"/>
                <a:cs typeface="Orbitron Bold" pitchFamily="34" charset="-120"/>
              </a:rPr>
              <a:t>Strings always use double quotes</a:t>
            </a:r>
            <a:endParaRPr lang="en-US" sz="1750" dirty="0"/>
          </a:p>
        </p:txBody>
      </p:sp>
      <p:pic>
        <p:nvPicPr>
          <p:cNvPr id="10" name="Image 4" descr="preencoded.png">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8018163" y="5002907"/>
            <a:ext cx="3518308" cy="986631"/>
          </a:xfrm>
          <a:prstGeom prst="rect">
            <a:avLst/>
          </a:prstGeom>
        </p:spPr>
      </p:pic>
      <p:sp>
        <p:nvSpPr>
          <p:cNvPr id="11" name="Text 4"/>
          <p:cNvSpPr/>
          <p:nvPr/>
        </p:nvSpPr>
        <p:spPr>
          <a:xfrm>
            <a:off x="8325237" y="5208389"/>
            <a:ext cx="3005757" cy="575667"/>
          </a:xfrm>
          <a:prstGeom prst="rect">
            <a:avLst/>
          </a:prstGeom>
          <a:noFill/>
          <a:ln/>
        </p:spPr>
        <p:txBody>
          <a:bodyPr wrap="square" lIns="0" tIns="0" rIns="0" bIns="0" rtlCol="0" anchor="t">
            <a:normAutofit/>
          </a:bodyPr>
          <a:lstStyle/>
          <a:p>
            <a:pPr algn="l" indent="0" marL="0">
              <a:lnSpc>
                <a:spcPct val="104000"/>
              </a:lnSpc>
              <a:buNone/>
            </a:pPr>
            <a:r>
              <a:rPr lang="en-US" sz="1750" b="1" dirty="0">
                <a:solidFill>
                  <a:srgbClr val="1C1C1C"/>
                </a:solidFill>
                <a:highlight>
                  <a:srgbClr val="F2F2F2"/>
                </a:highlight>
                <a:latin typeface="Consolas" pitchFamily="34" charset="0"/>
                <a:ea typeface="Consolas" pitchFamily="34" charset="-122"/>
                <a:cs typeface="Consolas" pitchFamily="34" charset="-120"/>
              </a:rPr>
              <a:t>true</a:t>
            </a:r>
            <a:pPr algn="l" indent="0" marL="0">
              <a:lnSpc>
                <a:spcPct val="104000"/>
              </a:lnSpc>
              <a:buNone/>
            </a:pPr>
            <a:r>
              <a:rPr lang="en-US" sz="1750" b="1" dirty="0">
                <a:solidFill>
                  <a:srgbClr val="1C1C1C"/>
                </a:solidFill>
                <a:latin typeface="Orbitron Bold" pitchFamily="34" charset="0"/>
                <a:ea typeface="Orbitron Bold" pitchFamily="34" charset="-122"/>
                <a:cs typeface="Orbitron Bold" pitchFamily="34" charset="-120"/>
              </a:rPr>
              <a:t>, </a:t>
            </a:r>
            <a:pPr algn="l" indent="0" marL="0">
              <a:lnSpc>
                <a:spcPct val="104000"/>
              </a:lnSpc>
              <a:buNone/>
            </a:pPr>
            <a:r>
              <a:rPr lang="en-US" sz="1750" b="1" dirty="0">
                <a:solidFill>
                  <a:srgbClr val="1C1C1C"/>
                </a:solidFill>
                <a:highlight>
                  <a:srgbClr val="F2F2F2"/>
                </a:highlight>
                <a:latin typeface="Consolas" pitchFamily="34" charset="0"/>
                <a:ea typeface="Consolas" pitchFamily="34" charset="-122"/>
                <a:cs typeface="Consolas" pitchFamily="34" charset="-120"/>
              </a:rPr>
              <a:t>false</a:t>
            </a:r>
            <a:pPr algn="l" indent="0" marL="0">
              <a:lnSpc>
                <a:spcPct val="104000"/>
              </a:lnSpc>
              <a:buNone/>
            </a:pPr>
            <a:r>
              <a:rPr lang="en-US" sz="1750" b="1" dirty="0">
                <a:solidFill>
                  <a:srgbClr val="1C1C1C"/>
                </a:solidFill>
                <a:latin typeface="Orbitron Bold" pitchFamily="34" charset="0"/>
                <a:ea typeface="Orbitron Bold" pitchFamily="34" charset="-122"/>
                <a:cs typeface="Orbitron Bold" pitchFamily="34" charset="-120"/>
              </a:rPr>
              <a:t>, and </a:t>
            </a:r>
            <a:pPr algn="l" indent="0" marL="0">
              <a:lnSpc>
                <a:spcPct val="104000"/>
              </a:lnSpc>
              <a:buNone/>
            </a:pPr>
            <a:r>
              <a:rPr lang="en-US" sz="1750" b="1" dirty="0">
                <a:solidFill>
                  <a:srgbClr val="1C1C1C"/>
                </a:solidFill>
                <a:highlight>
                  <a:srgbClr val="F2F2F2"/>
                </a:highlight>
                <a:latin typeface="Consolas" pitchFamily="34" charset="0"/>
                <a:ea typeface="Consolas" pitchFamily="34" charset="-122"/>
                <a:cs typeface="Consolas" pitchFamily="34" charset="-120"/>
              </a:rPr>
              <a:t>null</a:t>
            </a:r>
            <a:pPr algn="l" indent="0" marL="0">
              <a:lnSpc>
                <a:spcPct val="104000"/>
              </a:lnSpc>
              <a:buNone/>
            </a:pPr>
            <a:r>
              <a:rPr lang="en-US" sz="1750" b="1" dirty="0">
                <a:solidFill>
                  <a:srgbClr val="1C1C1C"/>
                </a:solidFill>
                <a:latin typeface="Orbitron Bold" pitchFamily="34" charset="0"/>
                <a:ea typeface="Orbitron Bold" pitchFamily="34" charset="-122"/>
                <a:cs typeface="Orbitron Bold" pitchFamily="34" charset="-120"/>
              </a:rPr>
              <a:t> become </a:t>
            </a:r>
            <a:pPr algn="l" indent="0" marL="0">
              <a:lnSpc>
                <a:spcPct val="104000"/>
              </a:lnSpc>
              <a:buNone/>
            </a:pPr>
            <a:r>
              <a:rPr lang="en-US" sz="1750" b="1" dirty="0">
                <a:solidFill>
                  <a:srgbClr val="1C1C1C"/>
                </a:solidFill>
                <a:highlight>
                  <a:srgbClr val="F2F2F2"/>
                </a:highlight>
                <a:latin typeface="Consolas" pitchFamily="34" charset="0"/>
                <a:ea typeface="Consolas" pitchFamily="34" charset="-122"/>
                <a:cs typeface="Consolas" pitchFamily="34" charset="-120"/>
              </a:rPr>
              <a:t>True</a:t>
            </a:r>
            <a:pPr algn="l" indent="0" marL="0">
              <a:lnSpc>
                <a:spcPct val="104000"/>
              </a:lnSpc>
              <a:buNone/>
            </a:pPr>
            <a:r>
              <a:rPr lang="en-US" sz="1750" b="1" dirty="0">
                <a:solidFill>
                  <a:srgbClr val="1C1C1C"/>
                </a:solidFill>
                <a:latin typeface="Orbitron Bold" pitchFamily="34" charset="0"/>
                <a:ea typeface="Orbitron Bold" pitchFamily="34" charset="-122"/>
                <a:cs typeface="Orbitron Bold" pitchFamily="34" charset="-120"/>
              </a:rPr>
              <a:t>, </a:t>
            </a:r>
            <a:pPr algn="l" indent="0" marL="0">
              <a:lnSpc>
                <a:spcPct val="104000"/>
              </a:lnSpc>
              <a:buNone/>
            </a:pPr>
            <a:r>
              <a:rPr lang="en-US" sz="1750" b="1" dirty="0">
                <a:solidFill>
                  <a:srgbClr val="1C1C1C"/>
                </a:solidFill>
                <a:highlight>
                  <a:srgbClr val="F2F2F2"/>
                </a:highlight>
                <a:latin typeface="Consolas" pitchFamily="34" charset="0"/>
                <a:ea typeface="Consolas" pitchFamily="34" charset="-122"/>
                <a:cs typeface="Consolas" pitchFamily="34" charset="-120"/>
              </a:rPr>
              <a:t>False</a:t>
            </a:r>
            <a:pPr algn="l" indent="0" marL="0">
              <a:lnSpc>
                <a:spcPct val="104000"/>
              </a:lnSpc>
              <a:buNone/>
            </a:pPr>
            <a:r>
              <a:rPr lang="en-US" sz="1750" b="1" dirty="0">
                <a:solidFill>
                  <a:srgbClr val="1C1C1C"/>
                </a:solidFill>
                <a:latin typeface="Orbitron Bold" pitchFamily="34" charset="0"/>
                <a:ea typeface="Orbitron Bold" pitchFamily="34" charset="-122"/>
                <a:cs typeface="Orbitron Bold" pitchFamily="34" charset="-120"/>
              </a:rPr>
              <a:t>, </a:t>
            </a:r>
            <a:pPr algn="l" indent="0" marL="0">
              <a:lnSpc>
                <a:spcPct val="104000"/>
              </a:lnSpc>
              <a:buNone/>
            </a:pPr>
            <a:r>
              <a:rPr lang="en-US" sz="1750" b="1" dirty="0">
                <a:solidFill>
                  <a:srgbClr val="1C1C1C"/>
                </a:solidFill>
                <a:highlight>
                  <a:srgbClr val="F2F2F2"/>
                </a:highlight>
                <a:latin typeface="Consolas" pitchFamily="34" charset="0"/>
                <a:ea typeface="Consolas" pitchFamily="34" charset="-122"/>
                <a:cs typeface="Consolas" pitchFamily="34" charset="-120"/>
              </a:rPr>
              <a:t>None</a:t>
            </a:r>
            <a:endParaRPr lang="en-US" sz="1750" dirty="0"/>
          </a:p>
        </p:txBody>
      </p:sp>
      <p:sp>
        <p:nvSpPr>
          <p:cNvPr id="12" name="Text 5"/>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61475" y="1938139"/>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C1C1C"/>
                </a:solidFill>
                <a:highlight>
                  <a:srgbClr val="F2F2F2"/>
                </a:highlight>
                <a:latin typeface="Consolas" pitchFamily="34" charset="0"/>
                <a:ea typeface="Consolas" pitchFamily="34" charset="-122"/>
                <a:cs typeface="Consolas" pitchFamily="34" charset="-120"/>
              </a:rPr>
              <a:t>with</a:t>
            </a:r>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 opens a file and always closes it</a:t>
            </a:r>
            <a:endParaRPr lang="en-US" sz="3700" dirty="0"/>
          </a:p>
        </p:txBody>
      </p:sp>
      <p:sp>
        <p:nvSpPr>
          <p:cNvPr id="3" name="Shape 1"/>
          <p:cNvSpPr/>
          <p:nvPr/>
        </p:nvSpPr>
        <p:spPr>
          <a:xfrm>
            <a:off x="661475" y="2906812"/>
            <a:ext cx="10868745" cy="1890117"/>
          </a:xfrm>
          <a:prstGeom prst="roundRect">
            <a:avLst>
              <a:gd name="adj" fmla="val 4200"/>
            </a:avLst>
          </a:prstGeom>
          <a:solidFill>
            <a:srgbClr val="F2F2F2"/>
          </a:solidFill>
          <a:ln/>
        </p:spPr>
      </p:sp>
      <p:sp>
        <p:nvSpPr>
          <p:cNvPr id="4" name="Text 2"/>
          <p:cNvSpPr/>
          <p:nvPr/>
        </p:nvSpPr>
        <p:spPr>
          <a:xfrm>
            <a:off x="888283" y="3095823"/>
            <a:ext cx="10415129" cy="1512094"/>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with open("world.json", "w", encoding="utf-8") as world_file:</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    json.dump(world, world_file, indent=2)</a:t>
            </a:r>
            <a:endParaRPr lang="en-US" sz="1450" dirty="0"/>
          </a:p>
          <a:p>
            <a:pPr algn="l" indent="0" marL="0">
              <a:lnSpc>
                <a:spcPct val="133000"/>
              </a:lnSpc>
              <a:buNone/>
            </a:pP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with open("world.json", encoding="utf-8") as world_file:</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    loaded = json.load(world_file)</a:t>
            </a:r>
            <a:endParaRPr lang="en-US" sz="1450" dirty="0"/>
          </a:p>
        </p:txBody>
      </p:sp>
      <p:sp>
        <p:nvSpPr>
          <p:cNvPr id="5" name="Text 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61475" y="1030883"/>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The round trip</a:t>
            </a:r>
            <a:endParaRPr lang="en-US" sz="3700" dirty="0"/>
          </a:p>
        </p:txBody>
      </p:sp>
      <p:sp>
        <p:nvSpPr>
          <p:cNvPr id="3" name="Shape 1"/>
          <p:cNvSpPr/>
          <p:nvPr/>
        </p:nvSpPr>
        <p:spPr>
          <a:xfrm>
            <a:off x="661475" y="1999555"/>
            <a:ext cx="10868745" cy="3704630"/>
          </a:xfrm>
          <a:prstGeom prst="roundRect">
            <a:avLst>
              <a:gd name="adj" fmla="val 2143"/>
            </a:avLst>
          </a:prstGeom>
          <a:solidFill>
            <a:srgbClr val="F2F2F2"/>
          </a:solidFill>
          <a:ln/>
        </p:spPr>
      </p:sp>
      <p:sp>
        <p:nvSpPr>
          <p:cNvPr id="4" name="Text 2"/>
          <p:cNvSpPr/>
          <p:nvPr/>
        </p:nvSpPr>
        <p:spPr>
          <a:xfrm>
            <a:off x="888283" y="2188567"/>
            <a:ext cx="10415129" cy="3326606"/>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world = {</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"start_room": "lobby",</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"rooms": {</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"lobby": {"name": "Lobby", "exits": {"north": "hallway"}, "items": []},</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"hallway": {"name": "Hallway", "exits": {"south": "lobby"}, "items": ["flashlight"]},</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dump it to world.json, then load it back into loaded</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print(type(loaded).__name__)                      # dict</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print(loaded["rooms"]["lobby"]["exits"]["north"]) # hallway</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print(loaded == world)                            # True</a:t>
            </a:r>
            <a:endParaRPr lang="en-US" sz="1450" dirty="0"/>
          </a:p>
        </p:txBody>
      </p:sp>
      <p:sp>
        <p:nvSpPr>
          <p:cNvPr id="5" name="Text 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1394817"/>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Your friend edits the file by hand</a:t>
            </a:r>
            <a:endParaRPr lang="en-US" sz="3700" dirty="0"/>
          </a:p>
        </p:txBody>
      </p:sp>
      <p:sp>
        <p:nvSpPr>
          <p:cNvPr id="4" name="Shape 1"/>
          <p:cNvSpPr/>
          <p:nvPr/>
        </p:nvSpPr>
        <p:spPr>
          <a:xfrm>
            <a:off x="5233360" y="2859584"/>
            <a:ext cx="6296860" cy="1285280"/>
          </a:xfrm>
          <a:prstGeom prst="roundRect">
            <a:avLst>
              <a:gd name="adj" fmla="val 6177"/>
            </a:avLst>
          </a:prstGeom>
          <a:solidFill>
            <a:srgbClr val="F2F2F2"/>
          </a:solidFill>
          <a:ln/>
        </p:spPr>
      </p:sp>
      <p:sp>
        <p:nvSpPr>
          <p:cNvPr id="5" name="Text 2"/>
          <p:cNvSpPr/>
          <p:nvPr/>
        </p:nvSpPr>
        <p:spPr>
          <a:xfrm>
            <a:off x="5460169" y="3048595"/>
            <a:ext cx="5843243" cy="907256"/>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'start_room': 'lobby'</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a:t>
            </a:r>
            <a:endParaRPr lang="en-US" sz="1450" dirty="0"/>
          </a:p>
        </p:txBody>
      </p:sp>
      <p:sp>
        <p:nvSpPr>
          <p:cNvPr id="6" name="Shape 3"/>
          <p:cNvSpPr/>
          <p:nvPr/>
        </p:nvSpPr>
        <p:spPr>
          <a:xfrm>
            <a:off x="5233360" y="4357489"/>
            <a:ext cx="6296860" cy="982861"/>
          </a:xfrm>
          <a:prstGeom prst="roundRect">
            <a:avLst>
              <a:gd name="adj" fmla="val 8077"/>
            </a:avLst>
          </a:prstGeom>
          <a:solidFill>
            <a:srgbClr val="F2F2F2"/>
          </a:solidFill>
          <a:ln/>
        </p:spPr>
      </p:sp>
      <p:sp>
        <p:nvSpPr>
          <p:cNvPr id="7" name="Text 4"/>
          <p:cNvSpPr/>
          <p:nvPr/>
        </p:nvSpPr>
        <p:spPr>
          <a:xfrm>
            <a:off x="5460169" y="4546501"/>
            <a:ext cx="5843243" cy="604838"/>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json.decoder.JSONDecodeError: Expecting property name enclosed in double quotes: line 2 column 3 (char 4)</a:t>
            </a:r>
            <a:endParaRPr lang="en-US" sz="1450" dirty="0"/>
          </a:p>
        </p:txBody>
      </p:sp>
      <p:sp>
        <p:nvSpPr>
          <p:cNvPr id="8" name="Text 5"/>
          <p:cNvSpPr/>
          <p:nvPr/>
        </p:nvSpPr>
        <p:spPr>
          <a:xfrm>
            <a:off x="4704141"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61475" y="2096492"/>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The other one everyone makes</a:t>
            </a:r>
            <a:endParaRPr lang="en-US" sz="3700" dirty="0"/>
          </a:p>
        </p:txBody>
      </p:sp>
      <p:sp>
        <p:nvSpPr>
          <p:cNvPr id="3" name="Shape 1"/>
          <p:cNvSpPr/>
          <p:nvPr/>
        </p:nvSpPr>
        <p:spPr>
          <a:xfrm>
            <a:off x="661475" y="3065165"/>
            <a:ext cx="10868745" cy="680442"/>
          </a:xfrm>
          <a:prstGeom prst="roundRect">
            <a:avLst>
              <a:gd name="adj" fmla="val 11667"/>
            </a:avLst>
          </a:prstGeom>
          <a:solidFill>
            <a:srgbClr val="F2F2F2"/>
          </a:solidFill>
          <a:ln/>
        </p:spPr>
      </p:sp>
      <p:sp>
        <p:nvSpPr>
          <p:cNvPr id="4" name="Text 2"/>
          <p:cNvSpPr/>
          <p:nvPr/>
        </p:nvSpPr>
        <p:spPr>
          <a:xfrm>
            <a:off x="888283" y="3254177"/>
            <a:ext cx="11024713" cy="302419"/>
          </a:xfrm>
          <a:prstGeom prst="rect">
            <a:avLst/>
          </a:prstGeom>
          <a:noFill/>
          <a:ln/>
        </p:spPr>
        <p:txBody>
          <a:bodyPr wrap="none" lIns="0" tIns="0" rIns="0" bIns="0" rtlCol="0" anchor="t"/>
          <a:lstStyle/>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"lobby": {"name": "Lobby", "exits": {"north": "hallway"},},</a:t>
            </a:r>
            <a:endParaRPr lang="en-US" sz="1450" dirty="0"/>
          </a:p>
        </p:txBody>
      </p:sp>
      <p:sp>
        <p:nvSpPr>
          <p:cNvPr id="5" name="Shape 3"/>
          <p:cNvSpPr/>
          <p:nvPr/>
        </p:nvSpPr>
        <p:spPr>
          <a:xfrm>
            <a:off x="661475" y="3958233"/>
            <a:ext cx="10868745" cy="680442"/>
          </a:xfrm>
          <a:prstGeom prst="roundRect">
            <a:avLst>
              <a:gd name="adj" fmla="val 11667"/>
            </a:avLst>
          </a:prstGeom>
          <a:solidFill>
            <a:srgbClr val="F2F2F2"/>
          </a:solidFill>
          <a:ln/>
        </p:spPr>
      </p:sp>
      <p:sp>
        <p:nvSpPr>
          <p:cNvPr id="6" name="Text 4"/>
          <p:cNvSpPr/>
          <p:nvPr/>
        </p:nvSpPr>
        <p:spPr>
          <a:xfrm>
            <a:off x="888283" y="4147245"/>
            <a:ext cx="11024713" cy="302419"/>
          </a:xfrm>
          <a:prstGeom prst="rect">
            <a:avLst/>
          </a:prstGeom>
          <a:noFill/>
          <a:ln/>
        </p:spPr>
        <p:txBody>
          <a:bodyPr wrap="none" lIns="0" tIns="0" rIns="0" bIns="0" rtlCol="0" anchor="t"/>
          <a:lstStyle/>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json.decoder.JSONDecodeError: Illegal trailing comma before end of object: line 4 column 61 (char 100)</a:t>
            </a:r>
            <a:endParaRPr lang="en-US" sz="1450" dirty="0"/>
          </a:p>
        </p:txBody>
      </p:sp>
      <p:sp>
        <p:nvSpPr>
          <p:cNvPr id="7" name="Text 5"/>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61475" y="573683"/>
            <a:ext cx="10868745" cy="516731"/>
          </a:xfrm>
          <a:prstGeom prst="rect">
            <a:avLst/>
          </a:prstGeom>
          <a:noFill/>
          <a:ln/>
        </p:spPr>
        <p:txBody>
          <a:bodyPr wrap="none" lIns="0" tIns="0" rIns="0" bIns="0" rtlCol="0" anchor="t"/>
          <a:lstStyle/>
          <a:p>
            <a:pPr algn="l" indent="0" marL="0">
              <a:lnSpc>
                <a:spcPct val="104000"/>
              </a:lnSpc>
              <a:buNone/>
            </a:pPr>
            <a:r>
              <a:rPr lang="en-US" sz="3250" b="1" dirty="0">
                <a:solidFill>
                  <a:srgbClr val="111111"/>
                </a:solidFill>
                <a:latin typeface="Orbitron Bold" pitchFamily="34" charset="0"/>
                <a:ea typeface="Orbitron Bold" pitchFamily="34" charset="-122"/>
                <a:cs typeface="Orbitron Bold" pitchFamily="34" charset="-120"/>
              </a:rPr>
              <a:t>JSON cannot hold a set</a:t>
            </a:r>
            <a:endParaRPr lang="en-US" sz="3250" dirty="0"/>
          </a:p>
        </p:txBody>
      </p:sp>
      <p:pic>
        <p:nvPicPr>
          <p:cNvPr id="3" name="Image 0" descr="preencoded.png">    </p:cNvPr>
          <p:cNvPicPr>
            <a:picLocks noChangeAspect="1"/>
          </p:cNvPicPr>
          <p:nvPr/>
        </p:nvPicPr>
        <p:blipFill>
          <a:blip r:embed="rId1"/>
          <a:stretch>
            <a:fillRect/>
          </a:stretch>
        </p:blipFill>
        <p:spPr>
          <a:xfrm>
            <a:off x="661475" y="1772741"/>
            <a:ext cx="6923410" cy="3923308"/>
          </a:xfrm>
          <a:prstGeom prst="rect">
            <a:avLst/>
          </a:prstGeom>
        </p:spPr>
      </p:pic>
      <p:sp>
        <p:nvSpPr>
          <p:cNvPr id="4" name="Text 1"/>
          <p:cNvSpPr/>
          <p:nvPr/>
        </p:nvSpPr>
        <p:spPr>
          <a:xfrm>
            <a:off x="7994648" y="1470124"/>
            <a:ext cx="330688" cy="206673"/>
          </a:xfrm>
          <a:prstGeom prst="rect">
            <a:avLst/>
          </a:prstGeom>
          <a:noFill/>
          <a:ln/>
        </p:spPr>
        <p:txBody>
          <a:bodyPr wrap="none" lIns="0" tIns="0" rIns="0" bIns="0" rtlCol="0" anchor="ctr"/>
          <a:lstStyle/>
          <a:p>
            <a:pPr algn="l" indent="0" marL="0">
              <a:lnSpc>
                <a:spcPct val="100000"/>
              </a:lnSpc>
              <a:buNone/>
            </a:pPr>
            <a:r>
              <a:rPr lang="en-US" sz="1300" dirty="0">
                <a:solidFill>
                  <a:srgbClr val="1C1C1C"/>
                </a:solidFill>
                <a:latin typeface="Orbitron" pitchFamily="34" charset="0"/>
                <a:ea typeface="Orbitron" pitchFamily="34" charset="-122"/>
                <a:cs typeface="Orbitron" pitchFamily="34" charset="-120"/>
              </a:rPr>
              <a:t>01</a:t>
            </a:r>
            <a:endParaRPr lang="en-US" sz="1300" dirty="0"/>
          </a:p>
        </p:txBody>
      </p:sp>
      <p:sp>
        <p:nvSpPr>
          <p:cNvPr id="5" name="Shape 2"/>
          <p:cNvSpPr/>
          <p:nvPr/>
        </p:nvSpPr>
        <p:spPr>
          <a:xfrm>
            <a:off x="7994648" y="1732062"/>
            <a:ext cx="3541822" cy="19050"/>
          </a:xfrm>
          <a:prstGeom prst="rect">
            <a:avLst/>
          </a:prstGeom>
          <a:solidFill>
            <a:srgbClr val="57A1EB"/>
          </a:solidFill>
          <a:ln/>
        </p:spPr>
      </p:sp>
      <p:sp>
        <p:nvSpPr>
          <p:cNvPr id="6" name="Text 3"/>
          <p:cNvSpPr/>
          <p:nvPr/>
        </p:nvSpPr>
        <p:spPr>
          <a:xfrm>
            <a:off x="7994648" y="1852811"/>
            <a:ext cx="3541822" cy="516930"/>
          </a:xfrm>
          <a:prstGeom prst="rect">
            <a:avLst/>
          </a:prstGeom>
          <a:noFill/>
          <a:ln/>
        </p:spPr>
        <p:txBody>
          <a:bodyPr wrap="square" lIns="0" tIns="0" rIns="0" bIns="0" rtlCol="0" anchor="t">
            <a:normAutofit/>
          </a:bodyPr>
          <a:lstStyle/>
          <a:p>
            <a:pPr algn="l" indent="0" marL="0">
              <a:lnSpc>
                <a:spcPct val="104000"/>
              </a:lnSpc>
              <a:buNone/>
            </a:pPr>
            <a:r>
              <a:rPr lang="en-US" sz="1600" b="1" dirty="0">
                <a:solidFill>
                  <a:srgbClr val="1C1C1C"/>
                </a:solidFill>
                <a:highlight>
                  <a:srgbClr val="F2F2F2"/>
                </a:highlight>
                <a:latin typeface="Consolas" pitchFamily="34" charset="0"/>
                <a:ea typeface="Consolas" pitchFamily="34" charset="-122"/>
                <a:cs typeface="Consolas" pitchFamily="34" charset="-120"/>
              </a:rPr>
              <a:t>json.dump</a:t>
            </a:r>
            <a:pPr algn="l" indent="0" marL="0">
              <a:lnSpc>
                <a:spcPct val="104000"/>
              </a:lnSpc>
              <a:buNone/>
            </a:pPr>
            <a:r>
              <a:rPr lang="en-US" sz="1600" b="1" dirty="0">
                <a:solidFill>
                  <a:srgbClr val="1C1C1C"/>
                </a:solidFill>
                <a:latin typeface="Orbitron Bold" pitchFamily="34" charset="0"/>
                <a:ea typeface="Orbitron Bold" pitchFamily="34" charset="-122"/>
                <a:cs typeface="Orbitron Bold" pitchFamily="34" charset="-120"/>
              </a:rPr>
              <a:t> on a set raises </a:t>
            </a:r>
            <a:pPr algn="l" indent="0" marL="0">
              <a:lnSpc>
                <a:spcPct val="104000"/>
              </a:lnSpc>
              <a:buNone/>
            </a:pPr>
            <a:r>
              <a:rPr lang="en-US" sz="1600" b="1" dirty="0">
                <a:solidFill>
                  <a:srgbClr val="1C1C1C"/>
                </a:solidFill>
                <a:highlight>
                  <a:srgbClr val="F2F2F2"/>
                </a:highlight>
                <a:latin typeface="Consolas" pitchFamily="34" charset="0"/>
                <a:ea typeface="Consolas" pitchFamily="34" charset="-122"/>
                <a:cs typeface="Consolas" pitchFamily="34" charset="-120"/>
              </a:rPr>
              <a:t>TypeError</a:t>
            </a:r>
            <a:endParaRPr lang="en-US" sz="1600" dirty="0"/>
          </a:p>
        </p:txBody>
      </p:sp>
      <p:sp>
        <p:nvSpPr>
          <p:cNvPr id="7" name="Text 4"/>
          <p:cNvSpPr/>
          <p:nvPr/>
        </p:nvSpPr>
        <p:spPr>
          <a:xfrm>
            <a:off x="7994648" y="2638425"/>
            <a:ext cx="330688" cy="206673"/>
          </a:xfrm>
          <a:prstGeom prst="rect">
            <a:avLst/>
          </a:prstGeom>
          <a:noFill/>
          <a:ln/>
        </p:spPr>
        <p:txBody>
          <a:bodyPr wrap="none" lIns="0" tIns="0" rIns="0" bIns="0" rtlCol="0" anchor="ctr"/>
          <a:lstStyle/>
          <a:p>
            <a:pPr algn="l" indent="0" marL="0">
              <a:lnSpc>
                <a:spcPct val="100000"/>
              </a:lnSpc>
              <a:buNone/>
            </a:pPr>
            <a:r>
              <a:rPr lang="en-US" sz="1300" dirty="0">
                <a:solidFill>
                  <a:srgbClr val="1C1C1C"/>
                </a:solidFill>
                <a:latin typeface="Orbitron" pitchFamily="34" charset="0"/>
                <a:ea typeface="Orbitron" pitchFamily="34" charset="-122"/>
                <a:cs typeface="Orbitron" pitchFamily="34" charset="-120"/>
              </a:rPr>
              <a:t>02</a:t>
            </a:r>
            <a:endParaRPr lang="en-US" sz="1300" dirty="0"/>
          </a:p>
        </p:txBody>
      </p:sp>
      <p:sp>
        <p:nvSpPr>
          <p:cNvPr id="8" name="Shape 5"/>
          <p:cNvSpPr/>
          <p:nvPr/>
        </p:nvSpPr>
        <p:spPr>
          <a:xfrm>
            <a:off x="7994648" y="2900363"/>
            <a:ext cx="3541822" cy="19050"/>
          </a:xfrm>
          <a:prstGeom prst="rect">
            <a:avLst/>
          </a:prstGeom>
          <a:solidFill>
            <a:srgbClr val="57A1EB"/>
          </a:solidFill>
          <a:ln/>
        </p:spPr>
      </p:sp>
      <p:sp>
        <p:nvSpPr>
          <p:cNvPr id="9" name="Text 6"/>
          <p:cNvSpPr/>
          <p:nvPr/>
        </p:nvSpPr>
        <p:spPr>
          <a:xfrm>
            <a:off x="7994648" y="3021112"/>
            <a:ext cx="3541822" cy="516930"/>
          </a:xfrm>
          <a:prstGeom prst="rect">
            <a:avLst/>
          </a:prstGeom>
          <a:noFill/>
          <a:ln/>
        </p:spPr>
        <p:txBody>
          <a:bodyPr wrap="square" lIns="0" tIns="0" rIns="0" bIns="0" rtlCol="0" anchor="t">
            <a:normAutofit/>
          </a:bodyPr>
          <a:lstStyle/>
          <a:p>
            <a:pPr algn="l" indent="0" marL="0">
              <a:lnSpc>
                <a:spcPct val="104000"/>
              </a:lnSpc>
              <a:buNone/>
            </a:pPr>
            <a:r>
              <a:rPr lang="en-US" sz="1600" b="1" dirty="0">
                <a:solidFill>
                  <a:srgbClr val="1C1C1C"/>
                </a:solidFill>
                <a:latin typeface="Orbitron Bold" pitchFamily="34" charset="0"/>
                <a:ea typeface="Orbitron Bold" pitchFamily="34" charset="-122"/>
                <a:cs typeface="Orbitron Bold" pitchFamily="34" charset="-120"/>
              </a:rPr>
              <a:t>Convert it to a sorted list on the way out</a:t>
            </a:r>
            <a:endParaRPr lang="en-US" sz="1600" dirty="0"/>
          </a:p>
        </p:txBody>
      </p:sp>
      <p:sp>
        <p:nvSpPr>
          <p:cNvPr id="10" name="Text 7"/>
          <p:cNvSpPr/>
          <p:nvPr/>
        </p:nvSpPr>
        <p:spPr>
          <a:xfrm>
            <a:off x="7994648" y="3806726"/>
            <a:ext cx="330688" cy="206673"/>
          </a:xfrm>
          <a:prstGeom prst="rect">
            <a:avLst/>
          </a:prstGeom>
          <a:noFill/>
          <a:ln/>
        </p:spPr>
        <p:txBody>
          <a:bodyPr wrap="none" lIns="0" tIns="0" rIns="0" bIns="0" rtlCol="0" anchor="ctr"/>
          <a:lstStyle/>
          <a:p>
            <a:pPr algn="l" indent="0" marL="0">
              <a:lnSpc>
                <a:spcPct val="100000"/>
              </a:lnSpc>
              <a:buNone/>
            </a:pPr>
            <a:r>
              <a:rPr lang="en-US" sz="1300" dirty="0">
                <a:solidFill>
                  <a:srgbClr val="1C1C1C"/>
                </a:solidFill>
                <a:latin typeface="Orbitron" pitchFamily="34" charset="0"/>
                <a:ea typeface="Orbitron" pitchFamily="34" charset="-122"/>
                <a:cs typeface="Orbitron" pitchFamily="34" charset="-120"/>
              </a:rPr>
              <a:t>03</a:t>
            </a:r>
            <a:endParaRPr lang="en-US" sz="1300" dirty="0"/>
          </a:p>
        </p:txBody>
      </p:sp>
      <p:sp>
        <p:nvSpPr>
          <p:cNvPr id="11" name="Shape 8"/>
          <p:cNvSpPr/>
          <p:nvPr/>
        </p:nvSpPr>
        <p:spPr>
          <a:xfrm>
            <a:off x="7994648" y="4068663"/>
            <a:ext cx="3541822" cy="19050"/>
          </a:xfrm>
          <a:prstGeom prst="rect">
            <a:avLst/>
          </a:prstGeom>
          <a:solidFill>
            <a:srgbClr val="57A1EB"/>
          </a:solidFill>
          <a:ln/>
        </p:spPr>
      </p:sp>
      <p:sp>
        <p:nvSpPr>
          <p:cNvPr id="12" name="Text 9"/>
          <p:cNvSpPr/>
          <p:nvPr/>
        </p:nvSpPr>
        <p:spPr>
          <a:xfrm>
            <a:off x="7994648" y="4189413"/>
            <a:ext cx="3541822" cy="516930"/>
          </a:xfrm>
          <a:prstGeom prst="rect">
            <a:avLst/>
          </a:prstGeom>
          <a:noFill/>
          <a:ln/>
        </p:spPr>
        <p:txBody>
          <a:bodyPr wrap="square" lIns="0" tIns="0" rIns="0" bIns="0" rtlCol="0" anchor="t">
            <a:normAutofit/>
          </a:bodyPr>
          <a:lstStyle/>
          <a:p>
            <a:pPr algn="l" indent="0" marL="0">
              <a:lnSpc>
                <a:spcPct val="104000"/>
              </a:lnSpc>
              <a:buNone/>
            </a:pPr>
            <a:r>
              <a:rPr lang="en-US" sz="1600" b="1" dirty="0">
                <a:solidFill>
                  <a:srgbClr val="1C1C1C"/>
                </a:solidFill>
                <a:latin typeface="Orbitron Bold" pitchFamily="34" charset="0"/>
                <a:ea typeface="Orbitron Bold" pitchFamily="34" charset="-122"/>
                <a:cs typeface="Orbitron Bold" pitchFamily="34" charset="-120"/>
              </a:rPr>
              <a:t>Convert the list back to a set on the way in</a:t>
            </a:r>
            <a:endParaRPr lang="en-US" sz="1600" dirty="0"/>
          </a:p>
        </p:txBody>
      </p:sp>
      <p:sp>
        <p:nvSpPr>
          <p:cNvPr id="13" name="Text 10"/>
          <p:cNvSpPr/>
          <p:nvPr/>
        </p:nvSpPr>
        <p:spPr>
          <a:xfrm>
            <a:off x="7994648" y="4975027"/>
            <a:ext cx="330688" cy="206673"/>
          </a:xfrm>
          <a:prstGeom prst="rect">
            <a:avLst/>
          </a:prstGeom>
          <a:noFill/>
          <a:ln/>
        </p:spPr>
        <p:txBody>
          <a:bodyPr wrap="none" lIns="0" tIns="0" rIns="0" bIns="0" rtlCol="0" anchor="ctr"/>
          <a:lstStyle/>
          <a:p>
            <a:pPr algn="l" indent="0" marL="0">
              <a:lnSpc>
                <a:spcPct val="100000"/>
              </a:lnSpc>
              <a:buNone/>
            </a:pPr>
            <a:r>
              <a:rPr lang="en-US" sz="1300" dirty="0">
                <a:solidFill>
                  <a:srgbClr val="1C1C1C"/>
                </a:solidFill>
                <a:latin typeface="Orbitron" pitchFamily="34" charset="0"/>
                <a:ea typeface="Orbitron" pitchFamily="34" charset="-122"/>
                <a:cs typeface="Orbitron" pitchFamily="34" charset="-120"/>
              </a:rPr>
              <a:t>04</a:t>
            </a:r>
            <a:endParaRPr lang="en-US" sz="1300" dirty="0"/>
          </a:p>
        </p:txBody>
      </p:sp>
      <p:sp>
        <p:nvSpPr>
          <p:cNvPr id="14" name="Shape 11"/>
          <p:cNvSpPr/>
          <p:nvPr/>
        </p:nvSpPr>
        <p:spPr>
          <a:xfrm>
            <a:off x="7994648" y="5236964"/>
            <a:ext cx="3541822" cy="19050"/>
          </a:xfrm>
          <a:prstGeom prst="rect">
            <a:avLst/>
          </a:prstGeom>
          <a:solidFill>
            <a:srgbClr val="57A1EB"/>
          </a:solidFill>
          <a:ln/>
        </p:spPr>
      </p:sp>
      <p:sp>
        <p:nvSpPr>
          <p:cNvPr id="15" name="Text 12"/>
          <p:cNvSpPr/>
          <p:nvPr/>
        </p:nvSpPr>
        <p:spPr>
          <a:xfrm>
            <a:off x="7994648" y="5357713"/>
            <a:ext cx="3541822" cy="516930"/>
          </a:xfrm>
          <a:prstGeom prst="rect">
            <a:avLst/>
          </a:prstGeom>
          <a:noFill/>
          <a:ln/>
        </p:spPr>
        <p:txBody>
          <a:bodyPr wrap="square" lIns="0" tIns="0" rIns="0" bIns="0" rtlCol="0" anchor="t">
            <a:normAutofit/>
          </a:bodyPr>
          <a:lstStyle/>
          <a:p>
            <a:pPr algn="l" indent="0" marL="0">
              <a:lnSpc>
                <a:spcPct val="104000"/>
              </a:lnSpc>
              <a:buNone/>
            </a:pPr>
            <a:r>
              <a:rPr lang="en-US" sz="1600" b="1" dirty="0">
                <a:solidFill>
                  <a:srgbClr val="1C1C1C"/>
                </a:solidFill>
                <a:latin typeface="Orbitron Bold" pitchFamily="34" charset="0"/>
                <a:ea typeface="Orbitron Bold" pitchFamily="34" charset="-122"/>
                <a:cs typeface="Orbitron Bold" pitchFamily="34" charset="-120"/>
              </a:rPr>
              <a:t>Sorted, so the same game saves the same file</a:t>
            </a:r>
            <a:endParaRPr lang="en-US" sz="1600" dirty="0"/>
          </a:p>
        </p:txBody>
      </p:sp>
      <p:sp>
        <p:nvSpPr>
          <p:cNvPr id="16" name="Text 1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61475" y="928886"/>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Check the world before the game starts</a:t>
            </a:r>
            <a:endParaRPr lang="en-US" sz="3700" dirty="0"/>
          </a:p>
        </p:txBody>
      </p:sp>
      <p:sp>
        <p:nvSpPr>
          <p:cNvPr id="4" name="Shape 1"/>
          <p:cNvSpPr/>
          <p:nvPr/>
        </p:nvSpPr>
        <p:spPr>
          <a:xfrm>
            <a:off x="661475" y="2393652"/>
            <a:ext cx="6296860" cy="711398"/>
          </a:xfrm>
          <a:prstGeom prst="roundRect">
            <a:avLst>
              <a:gd name="adj" fmla="val 11159"/>
            </a:avLst>
          </a:prstGeom>
          <a:solidFill>
            <a:srgbClr val="D1E5FA"/>
          </a:solidFill>
          <a:ln w="19050">
            <a:solidFill>
              <a:srgbClr val="B7CBE0"/>
            </a:solidFill>
            <a:prstDash val="solid"/>
          </a:ln>
        </p:spPr>
      </p:sp>
      <p:sp>
        <p:nvSpPr>
          <p:cNvPr id="5" name="Text 2"/>
          <p:cNvSpPr/>
          <p:nvPr/>
        </p:nvSpPr>
        <p:spPr>
          <a:xfrm>
            <a:off x="869531" y="2601714"/>
            <a:ext cx="5880747"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A typo in an exit does not crash on load</a:t>
            </a:r>
            <a:endParaRPr lang="en-US" sz="1850" dirty="0"/>
          </a:p>
        </p:txBody>
      </p:sp>
      <p:sp>
        <p:nvSpPr>
          <p:cNvPr id="6" name="Shape 3"/>
          <p:cNvSpPr/>
          <p:nvPr/>
        </p:nvSpPr>
        <p:spPr>
          <a:xfrm>
            <a:off x="661475" y="3294063"/>
            <a:ext cx="6296860" cy="711398"/>
          </a:xfrm>
          <a:prstGeom prst="roundRect">
            <a:avLst>
              <a:gd name="adj" fmla="val 11159"/>
            </a:avLst>
          </a:prstGeom>
          <a:solidFill>
            <a:srgbClr val="D1E5FA"/>
          </a:solidFill>
          <a:ln w="19050">
            <a:solidFill>
              <a:srgbClr val="B7CBE0"/>
            </a:solidFill>
            <a:prstDash val="solid"/>
          </a:ln>
        </p:spPr>
      </p:sp>
      <p:sp>
        <p:nvSpPr>
          <p:cNvPr id="7" name="Text 4"/>
          <p:cNvSpPr/>
          <p:nvPr/>
        </p:nvSpPr>
        <p:spPr>
          <a:xfrm>
            <a:off x="869531" y="3502124"/>
            <a:ext cx="5880747"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It crashes when someone walks that way</a:t>
            </a:r>
            <a:endParaRPr lang="en-US" sz="1850" dirty="0"/>
          </a:p>
        </p:txBody>
      </p:sp>
      <p:sp>
        <p:nvSpPr>
          <p:cNvPr id="8" name="Shape 5"/>
          <p:cNvSpPr/>
          <p:nvPr/>
        </p:nvSpPr>
        <p:spPr>
          <a:xfrm>
            <a:off x="661475" y="4194473"/>
            <a:ext cx="6296860" cy="711398"/>
          </a:xfrm>
          <a:prstGeom prst="roundRect">
            <a:avLst>
              <a:gd name="adj" fmla="val 11159"/>
            </a:avLst>
          </a:prstGeom>
          <a:solidFill>
            <a:srgbClr val="D1E5FA"/>
          </a:solidFill>
          <a:ln w="19050">
            <a:solidFill>
              <a:srgbClr val="B7CBE0"/>
            </a:solidFill>
            <a:prstDash val="solid"/>
          </a:ln>
        </p:spPr>
      </p:sp>
      <p:sp>
        <p:nvSpPr>
          <p:cNvPr id="9" name="Text 6"/>
          <p:cNvSpPr/>
          <p:nvPr/>
        </p:nvSpPr>
        <p:spPr>
          <a:xfrm>
            <a:off x="869531" y="4402534"/>
            <a:ext cx="5880747"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Validate every exit and item at startup</a:t>
            </a:r>
            <a:endParaRPr lang="en-US" sz="1850" dirty="0"/>
          </a:p>
        </p:txBody>
      </p:sp>
      <p:sp>
        <p:nvSpPr>
          <p:cNvPr id="10" name="Shape 7"/>
          <p:cNvSpPr/>
          <p:nvPr/>
        </p:nvSpPr>
        <p:spPr>
          <a:xfrm>
            <a:off x="661475" y="5094883"/>
            <a:ext cx="6296860" cy="711398"/>
          </a:xfrm>
          <a:prstGeom prst="roundRect">
            <a:avLst>
              <a:gd name="adj" fmla="val 11159"/>
            </a:avLst>
          </a:prstGeom>
          <a:solidFill>
            <a:srgbClr val="D1E5FA"/>
          </a:solidFill>
          <a:ln w="19050">
            <a:solidFill>
              <a:srgbClr val="B7CBE0"/>
            </a:solidFill>
            <a:prstDash val="solid"/>
          </a:ln>
        </p:spPr>
      </p:sp>
      <p:sp>
        <p:nvSpPr>
          <p:cNvPr id="11" name="Text 8"/>
          <p:cNvSpPr/>
          <p:nvPr/>
        </p:nvSpPr>
        <p:spPr>
          <a:xfrm>
            <a:off x="869531" y="5302945"/>
            <a:ext cx="5880747"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Turn a crash next week into a message now</a:t>
            </a:r>
            <a:endParaRPr lang="en-US" sz="1850" dirty="0"/>
          </a:p>
        </p:txBody>
      </p:sp>
      <p:sp>
        <p:nvSpPr>
          <p:cNvPr id="12" name="Text 9"/>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661475" y="2225377"/>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What you are about to build</a:t>
            </a:r>
            <a:endParaRPr lang="en-US" sz="3700" dirty="0"/>
          </a:p>
        </p:txBody>
      </p:sp>
      <p:sp>
        <p:nvSpPr>
          <p:cNvPr id="3" name="Text 1"/>
          <p:cNvSpPr/>
          <p:nvPr/>
        </p:nvSpPr>
        <p:spPr>
          <a:xfrm>
            <a:off x="661475" y="3288506"/>
            <a:ext cx="5203794" cy="295275"/>
          </a:xfrm>
          <a:prstGeom prst="rect">
            <a:avLst/>
          </a:prstGeom>
          <a:noFill/>
          <a:ln/>
        </p:spPr>
        <p:txBody>
          <a:bodyPr wrap="none" lIns="0" tIns="0" rIns="0" bIns="0" rtlCol="0" anchor="t"/>
          <a:lstStyle/>
          <a:p>
            <a:pPr algn="l" indent="0" marL="0">
              <a:lnSpc>
                <a:spcPct val="104000"/>
              </a:lnSpc>
              <a:buNone/>
            </a:pPr>
            <a:r>
              <a:rPr lang="en-US" sz="1850" b="1" dirty="0">
                <a:solidFill>
                  <a:srgbClr val="111111"/>
                </a:solidFill>
                <a:latin typeface="Orbitron Bold" pitchFamily="34" charset="0"/>
                <a:ea typeface="Orbitron Bold" pitchFamily="34" charset="-122"/>
                <a:cs typeface="Orbitron Bold" pitchFamily="34" charset="-120"/>
              </a:rPr>
              <a:t>Lab U5-03 Part 1: the Streak Tracker</a:t>
            </a:r>
            <a:endParaRPr lang="en-US" sz="1850" dirty="0"/>
          </a:p>
        </p:txBody>
      </p:sp>
      <p:sp>
        <p:nvSpPr>
          <p:cNvPr id="4" name="Text 2"/>
          <p:cNvSpPr/>
          <p:nvPr/>
        </p:nvSpPr>
        <p:spPr>
          <a:xfrm>
            <a:off x="661475" y="3772793"/>
            <a:ext cx="5203794" cy="670917"/>
          </a:xfrm>
          <a:prstGeom prst="rect">
            <a:avLst/>
          </a:prstGeom>
          <a:noFill/>
          <a:ln/>
        </p:spPr>
        <p:txBody>
          <a:bodyPr wrap="square" lIns="0" tIns="0" rIns="0" bIns="0" rtlCol="0" anchor="t">
            <a:normAutofit/>
          </a:bodyPr>
          <a:lstStyle/>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Load streaks from JSON, add a day, save</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Break the file by hand and read the error</a:t>
            </a:r>
            <a:endParaRPr lang="en-US" sz="1450" dirty="0"/>
          </a:p>
        </p:txBody>
      </p:sp>
      <p:sp>
        <p:nvSpPr>
          <p:cNvPr id="5" name="Text 3"/>
          <p:cNvSpPr/>
          <p:nvPr/>
        </p:nvSpPr>
        <p:spPr>
          <a:xfrm>
            <a:off x="6332776" y="3288506"/>
            <a:ext cx="5203794" cy="59055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11111"/>
                </a:solidFill>
                <a:latin typeface="Orbitron Bold" pitchFamily="34" charset="0"/>
                <a:ea typeface="Orbitron Bold" pitchFamily="34" charset="-122"/>
                <a:cs typeface="Orbitron Bold" pitchFamily="34" charset="-120"/>
              </a:rPr>
              <a:t>Build 2: move your v3 world into world.json</a:t>
            </a:r>
            <a:endParaRPr lang="en-US" sz="1850" dirty="0"/>
          </a:p>
        </p:txBody>
      </p:sp>
      <p:sp>
        <p:nvSpPr>
          <p:cNvPr id="6" name="Text 4"/>
          <p:cNvSpPr/>
          <p:nvPr/>
        </p:nvSpPr>
        <p:spPr>
          <a:xfrm>
            <a:off x="6332776" y="4068068"/>
            <a:ext cx="5813379" cy="302419"/>
          </a:xfrm>
          <a:prstGeom prst="rect">
            <a:avLst/>
          </a:prstGeom>
          <a:noFill/>
          <a:ln/>
        </p:spPr>
        <p:txBody>
          <a:bodyPr wrap="none" lIns="0" tIns="0" rIns="0" bIns="0" rtlCol="0" anchor="t"/>
          <a:lstStyle/>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Move your v3 world into world.json</a:t>
            </a:r>
            <a:endParaRPr lang="en-US" sz="1450" dirty="0"/>
          </a:p>
        </p:txBody>
      </p:sp>
      <p:sp>
        <p:nvSpPr>
          <p:cNvPr id="7" name="Text 5"/>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2026-09-14T18:54:37Z</dcterms:created>
  <dcterms:modified xsi:type="dcterms:W3CDTF">2026-09-14T18:54:37Z</dcterms:modified>
</cp:coreProperties>
</file>