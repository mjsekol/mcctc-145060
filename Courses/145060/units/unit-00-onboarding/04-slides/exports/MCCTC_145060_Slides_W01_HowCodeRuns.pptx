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Orbitron Black"/>
      <p:regular r:id="rId201316"/>
    </p:embeddedFont>
    <p:embeddedFont>
      <p:font typeface="Roboto Condensed Black"/>
      <p:regular r:id="rId201317"/>
    </p:embeddedFont>
    <p:embeddedFont>
      <p:font typeface="Roboto Condensed Bold"/>
      <p:regular r:id="rId201318"/>
    </p:embeddedFont>
    <p:embeddedFont>
      <p:font typeface="Roboto Condense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your hand up if you have opened an app today. Keep it up if you could tell me, right now, where that app is on the disk. Nobody can, and that is not a knowledge gap you should feel bad about. It is a gap nobody ever showed you. By the end of this block you will have written a file, found it on the disk, and run it on purpose. Three separate things are involved every time software runs, and once you can name all three, error messages stop being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they are. The file is a document. It has no more power to act than a note on your fridge. The interpreter is a program already installed on this machine, and its entire job is to read a document like that and carry it out, line by line, top to bottom. The terminal is where you hand the recipe to the cook. Say that back to me. A recipe is not a cook. You are going to write recipes. Python does the cooking.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entire program. Eight lines, two of which do nothing at all. I am going to type it in front of you and I want you to watch what I do before I run it, because that step is where half of you will get stuck this week. I write it. Then I save it. Then I run it. If I skip the save, the machine reads the old version and I will swear the computer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command. The word python is the cook. The word after it is the recipe I am handing over. Look at the output and find three things nobody typed. There is a blank line in the middle. There are no quote marks anywhere, even though the file is full of them. And the lines came out in the order I wrote them, which nothing in the file asked for. Top to bottom is the only order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these one at a time. The empty print printed nothing and then ended the line, and an ended line with nothing on it is a blank line. The quotes are punctuation for Python, not for you, so they never come out. The two lines starting with a hash are comments. Python reads them and moves straight past. You write those for the next person who opens this file, which is usually you, three weeks from now, with no memory of what you were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going to take the closing quote off line two and run it. Do not tell me what happens. I want you to look at the error with me, because reading error messages is the actual skill this week, more than anything about Python. Watch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questions, in this order, every time. What file. What line. What is the caret sitting under. What kind of error. This message answers all four and most of you skipped past it looking for the word wrong. Notice something else. Nothing printed. Not even line one, which was perfectly fine. That tells you something specific and we are about to say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a debugging shortcut you will use all year. If your program printed nothing before it died, Python could not understand the file and never started it. If your program printed six lines and then died, the file was fine as Python and the trouble is at line seven or later. That single distinction cuts your search in half before you read any code. And when the caret points at a character, believe the caret. You cannot proofread your own work, because your eye supplies what you meant to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trap inside the trap. The missing quote is on line two, so line two is where Python noticed. But because that text never ended, Python kept reading forward and swallowed line three into it. Line three stopped being code without ever being mentioned. About half the time in this course, the fix is one or two lines above the line the error names. Read the named line first, then walk upward.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blocks. First we get the tools installed and proven working, and that will be the loudest thirty-five minutes of the week, which is fine. Then you write your own status card from scratch. Not copied off this board, typed. Five lines of output, one of them blank, and one line that says something true about your day that the person next to you could check. The bar for done is this: I point at any line of your output and you point at the line in your file that made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8.png"/><Relationship Id="rId9" Type="http://schemas.openxmlformats.org/officeDocument/2006/relationships/image" Target="../media/image-3-9.sv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image" Target="../media/image-6-2.png"/><Relationship Id="rId7" Type="http://schemas.openxmlformats.org/officeDocument/2006/relationships/image" Target="../media/image-6-3.svg"/><Relationship Id="rId8" Type="http://schemas.openxmlformats.org/officeDocument/2006/relationships/image" Target="../media/image-6-2.png"/><Relationship Id="rId9" Type="http://schemas.openxmlformats.org/officeDocument/2006/relationships/image" Target="../media/image-6-3.sv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1.png"/><Relationship Id="rId4" Type="http://schemas.openxmlformats.org/officeDocument/2006/relationships/image" Target="../media/image-11-2.svg"/><Relationship Id="rId5" Type="http://schemas.openxmlformats.org/officeDocument/2006/relationships/image" Target="../media/image-11-1.png"/><Relationship Id="rId6" Type="http://schemas.openxmlformats.org/officeDocument/2006/relationships/image" Target="../media/image-11-2.svg"/><Relationship Id="rId7" Type="http://schemas.openxmlformats.org/officeDocument/2006/relationships/image" Target="../media/image-11-1.png"/><Relationship Id="rId8" Type="http://schemas.openxmlformats.org/officeDocument/2006/relationships/image" Target="../media/image-11-2.svg"/><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How Code Actually Runs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21761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have never seen where software lives</a:t>
            </a:r>
            <a:endParaRPr lang="en-US" sz="3700" dirty="0"/>
          </a:p>
        </p:txBody>
      </p:sp>
      <p:sp>
        <p:nvSpPr>
          <p:cNvPr id="4" name="Shape 1"/>
          <p:cNvSpPr/>
          <p:nvPr/>
        </p:nvSpPr>
        <p:spPr>
          <a:xfrm>
            <a:off x="661475" y="2682379"/>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1275723" y="274726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have used apps for twelve years</a:t>
            </a:r>
            <a:endParaRPr lang="en-US" sz="1850" dirty="0"/>
          </a:p>
        </p:txBody>
      </p:sp>
      <p:sp>
        <p:nvSpPr>
          <p:cNvPr id="6" name="Shape 3"/>
          <p:cNvSpPr/>
          <p:nvPr/>
        </p:nvSpPr>
        <p:spPr>
          <a:xfrm>
            <a:off x="661475" y="3485654"/>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1275723" y="355054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have never seen one as a file</a:t>
            </a:r>
            <a:endParaRPr lang="en-US" sz="1850" dirty="0"/>
          </a:p>
        </p:txBody>
      </p:sp>
      <p:sp>
        <p:nvSpPr>
          <p:cNvPr id="8" name="Shape 5"/>
          <p:cNvSpPr/>
          <p:nvPr/>
        </p:nvSpPr>
        <p:spPr>
          <a:xfrm>
            <a:off x="661475" y="4288929"/>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1275723" y="435381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Today that gap closes</a:t>
            </a:r>
            <a:endParaRPr lang="en-US" sz="1850" dirty="0"/>
          </a:p>
        </p:txBody>
      </p:sp>
      <p:sp>
        <p:nvSpPr>
          <p:cNvPr id="10" name="Shape 7"/>
          <p:cNvSpPr/>
          <p:nvPr/>
        </p:nvSpPr>
        <p:spPr>
          <a:xfrm>
            <a:off x="661475" y="5092204"/>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1275723" y="515709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Three things are involved, not one</a:t>
            </a:r>
            <a:endParaRPr lang="en-US" sz="1850" dirty="0"/>
          </a:p>
        </p:txBody>
      </p:sp>
      <p:sp>
        <p:nvSpPr>
          <p:cNvPr id="12" name="Text 9"/>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30225"/>
            <a:ext cx="10868745" cy="553740"/>
          </a:xfrm>
          <a:prstGeom prst="rect">
            <a:avLst/>
          </a:prstGeom>
          <a:noFill/>
          <a:ln/>
        </p:spPr>
        <p:txBody>
          <a:bodyPr wrap="none" lIns="0" tIns="0" rIns="0" bIns="0" rtlCol="0" anchor="t"/>
          <a:lstStyle/>
          <a:p>
            <a:pPr algn="l" indent="0" marL="0">
              <a:lnSpc>
                <a:spcPct val="104000"/>
              </a:lnSpc>
              <a:buNone/>
            </a:pPr>
            <a:r>
              <a:rPr lang="en-US" sz="3450" b="1" dirty="0">
                <a:solidFill>
                  <a:srgbClr val="111111"/>
                </a:solidFill>
                <a:latin typeface="Orbitron Bold" pitchFamily="34" charset="0"/>
                <a:ea typeface="Orbitron Bold" pitchFamily="34" charset="-122"/>
                <a:cs typeface="Orbitron Bold" pitchFamily="34" charset="-120"/>
              </a:rPr>
              <a:t>The three things</a:t>
            </a:r>
            <a:endParaRPr lang="en-US" sz="3450" dirty="0"/>
          </a:p>
        </p:txBody>
      </p:sp>
      <p:pic>
        <p:nvPicPr>
          <p:cNvPr id="3" name="Image 0" descr="preencoded.png">    </p:cNvPr>
          <p:cNvPicPr>
            <a:picLocks noChangeAspect="1"/>
          </p:cNvPicPr>
          <p:nvPr/>
        </p:nvPicPr>
        <p:blipFill>
          <a:blip r:embed="rId1"/>
          <a:stretch>
            <a:fillRect/>
          </a:stretch>
        </p:blipFill>
        <p:spPr>
          <a:xfrm>
            <a:off x="661475" y="1810147"/>
            <a:ext cx="6913390" cy="3917652"/>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13400" y="1519932"/>
            <a:ext cx="3523070" cy="1110159"/>
          </a:xfrm>
          <a:prstGeom prst="rect">
            <a:avLst/>
          </a:prstGeom>
        </p:spPr>
      </p:pic>
      <p:sp>
        <p:nvSpPr>
          <p:cNvPr id="5" name="Text 1"/>
          <p:cNvSpPr/>
          <p:nvPr/>
        </p:nvSpPr>
        <p:spPr>
          <a:xfrm>
            <a:off x="8285848" y="1716187"/>
            <a:ext cx="3054373"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The file</a:t>
            </a:r>
            <a:endParaRPr lang="en-US" sz="1700" dirty="0"/>
          </a:p>
        </p:txBody>
      </p:sp>
      <p:sp>
        <p:nvSpPr>
          <p:cNvPr id="6" name="Text 2"/>
          <p:cNvSpPr/>
          <p:nvPr/>
        </p:nvSpPr>
        <p:spPr>
          <a:xfrm>
            <a:off x="8285848" y="2159198"/>
            <a:ext cx="3054373" cy="274638"/>
          </a:xfrm>
          <a:prstGeom prst="rect">
            <a:avLst/>
          </a:prstGeom>
          <a:noFill/>
          <a:ln/>
        </p:spPr>
        <p:txBody>
          <a:bodyPr wrap="none" lIns="0" tIns="0" rIns="0" bIns="0" rtlCol="0" anchor="t"/>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Text on a disk, does nothing</a:t>
            </a:r>
            <a:endParaRPr lang="en-US" sz="13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13400" y="2796183"/>
            <a:ext cx="3523070" cy="1110159"/>
          </a:xfrm>
          <a:prstGeom prst="rect">
            <a:avLst/>
          </a:prstGeom>
        </p:spPr>
      </p:pic>
      <p:sp>
        <p:nvSpPr>
          <p:cNvPr id="8" name="Text 3"/>
          <p:cNvSpPr/>
          <p:nvPr/>
        </p:nvSpPr>
        <p:spPr>
          <a:xfrm>
            <a:off x="8285848" y="2992438"/>
            <a:ext cx="3054373"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The interpreter</a:t>
            </a:r>
            <a:endParaRPr lang="en-US" sz="1700" dirty="0"/>
          </a:p>
        </p:txBody>
      </p:sp>
      <p:sp>
        <p:nvSpPr>
          <p:cNvPr id="9" name="Text 4"/>
          <p:cNvSpPr/>
          <p:nvPr/>
        </p:nvSpPr>
        <p:spPr>
          <a:xfrm>
            <a:off x="8285848" y="3435449"/>
            <a:ext cx="3054373" cy="274638"/>
          </a:xfrm>
          <a:prstGeom prst="rect">
            <a:avLst/>
          </a:prstGeom>
          <a:noFill/>
          <a:ln/>
        </p:spPr>
        <p:txBody>
          <a:bodyPr wrap="none" lIns="0" tIns="0" rIns="0" bIns="0" rtlCol="0" anchor="t"/>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The program named python</a:t>
            </a:r>
            <a:endParaRPr lang="en-US" sz="13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13400" y="4072434"/>
            <a:ext cx="3523070" cy="1110159"/>
          </a:xfrm>
          <a:prstGeom prst="rect">
            <a:avLst/>
          </a:prstGeom>
        </p:spPr>
      </p:pic>
      <p:sp>
        <p:nvSpPr>
          <p:cNvPr id="11" name="Text 5"/>
          <p:cNvSpPr/>
          <p:nvPr/>
        </p:nvSpPr>
        <p:spPr>
          <a:xfrm>
            <a:off x="8285848" y="4268688"/>
            <a:ext cx="3054373"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The terminal</a:t>
            </a:r>
            <a:endParaRPr lang="en-US" sz="1700" dirty="0"/>
          </a:p>
        </p:txBody>
      </p:sp>
      <p:sp>
        <p:nvSpPr>
          <p:cNvPr id="12" name="Text 6"/>
          <p:cNvSpPr/>
          <p:nvPr/>
        </p:nvSpPr>
        <p:spPr>
          <a:xfrm>
            <a:off x="8285848" y="4711700"/>
            <a:ext cx="3054373" cy="274638"/>
          </a:xfrm>
          <a:prstGeom prst="rect">
            <a:avLst/>
          </a:prstGeom>
          <a:noFill/>
          <a:ln/>
        </p:spPr>
        <p:txBody>
          <a:bodyPr wrap="none" lIns="0" tIns="0" rIns="0" bIns="0" rtlCol="0" anchor="t"/>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Where you hand one over</a:t>
            </a:r>
            <a:endParaRPr lang="en-US" sz="135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13400" y="5348684"/>
            <a:ext cx="3523070" cy="669429"/>
          </a:xfrm>
          <a:prstGeom prst="rect">
            <a:avLst/>
          </a:prstGeom>
        </p:spPr>
      </p:pic>
      <p:sp>
        <p:nvSpPr>
          <p:cNvPr id="14" name="Text 7"/>
          <p:cNvSpPr/>
          <p:nvPr/>
        </p:nvSpPr>
        <p:spPr>
          <a:xfrm>
            <a:off x="8285848" y="5544939"/>
            <a:ext cx="3054373"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A recipe is not a cook</a:t>
            </a:r>
            <a:endParaRPr lang="en-US" sz="1700" dirty="0"/>
          </a:p>
        </p:txBody>
      </p:sp>
      <p:sp>
        <p:nvSpPr>
          <p:cNvPr id="15" name="Text 8"/>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Our first file</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status_card.py</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Prints a short status card to the terminal.</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print("MCCTC Programming 145060")</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print("Name: Ava Ruiz")</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print("Day 1 goal: run one file I wrote myself")</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print()</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print("Battery on my phone right now: 41 percent")</a:t>
            </a:r>
            <a:endParaRPr lang="en-US" sz="1450" dirty="0"/>
          </a:p>
        </p:txBody>
      </p:sp>
      <p:sp>
        <p:nvSpPr>
          <p:cNvPr id="5" name="Text 3"/>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5306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Running it</a:t>
            </a:r>
            <a:endParaRPr lang="en-US" sz="3700" dirty="0"/>
          </a:p>
        </p:txBody>
      </p:sp>
      <p:sp>
        <p:nvSpPr>
          <p:cNvPr id="3" name="Text 1"/>
          <p:cNvSpPr/>
          <p:nvPr/>
        </p:nvSpPr>
        <p:spPr>
          <a:xfrm>
            <a:off x="661475" y="2593777"/>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Command</a:t>
            </a:r>
            <a:endParaRPr lang="en-US" sz="1850" dirty="0"/>
          </a:p>
        </p:txBody>
      </p:sp>
      <p:sp>
        <p:nvSpPr>
          <p:cNvPr id="4" name="Shape 2"/>
          <p:cNvSpPr/>
          <p:nvPr/>
        </p:nvSpPr>
        <p:spPr>
          <a:xfrm>
            <a:off x="661475" y="3101677"/>
            <a:ext cx="5203794" cy="680442"/>
          </a:xfrm>
          <a:prstGeom prst="roundRect">
            <a:avLst>
              <a:gd name="adj" fmla="val 11667"/>
            </a:avLst>
          </a:prstGeom>
          <a:solidFill>
            <a:srgbClr val="F2F2F2"/>
          </a:solidFill>
          <a:ln/>
        </p:spPr>
      </p:sp>
      <p:sp>
        <p:nvSpPr>
          <p:cNvPr id="5" name="Text 3"/>
          <p:cNvSpPr/>
          <p:nvPr/>
        </p:nvSpPr>
        <p:spPr>
          <a:xfrm>
            <a:off x="888283" y="3290689"/>
            <a:ext cx="5359762"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python status_card.py</a:t>
            </a:r>
            <a:endParaRPr lang="en-US" sz="1450" dirty="0"/>
          </a:p>
        </p:txBody>
      </p:sp>
      <p:sp>
        <p:nvSpPr>
          <p:cNvPr id="6" name="Text 4"/>
          <p:cNvSpPr/>
          <p:nvPr/>
        </p:nvSpPr>
        <p:spPr>
          <a:xfrm>
            <a:off x="6332776" y="2593777"/>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Output</a:t>
            </a:r>
            <a:endParaRPr lang="en-US" sz="1850" dirty="0"/>
          </a:p>
        </p:txBody>
      </p:sp>
      <p:sp>
        <p:nvSpPr>
          <p:cNvPr id="7" name="Shape 5"/>
          <p:cNvSpPr/>
          <p:nvPr/>
        </p:nvSpPr>
        <p:spPr>
          <a:xfrm>
            <a:off x="6332776" y="3101677"/>
            <a:ext cx="5203794" cy="1890117"/>
          </a:xfrm>
          <a:prstGeom prst="roundRect">
            <a:avLst>
              <a:gd name="adj" fmla="val 4200"/>
            </a:avLst>
          </a:prstGeom>
          <a:solidFill>
            <a:srgbClr val="F2F2F2"/>
          </a:solidFill>
          <a:ln/>
        </p:spPr>
      </p:sp>
      <p:sp>
        <p:nvSpPr>
          <p:cNvPr id="8" name="Text 6"/>
          <p:cNvSpPr/>
          <p:nvPr/>
        </p:nvSpPr>
        <p:spPr>
          <a:xfrm>
            <a:off x="6559584" y="3290689"/>
            <a:ext cx="4750177"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MCCTC Programming 145060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Name: Ava Ruiz</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Day 1 goal: run one file I wrote myself</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Battery on my phone right now: 41 percent</a:t>
            </a:r>
            <a:endParaRPr lang="en-US" sz="1450" dirty="0"/>
          </a:p>
        </p:txBody>
      </p:sp>
      <p:sp>
        <p:nvSpPr>
          <p:cNvPr id="9" name="Text 7"/>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89584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things nobody typed</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4201" y="2366466"/>
            <a:ext cx="283461" cy="283468"/>
          </a:xfrm>
          <a:prstGeom prst="rect">
            <a:avLst/>
          </a:prstGeom>
        </p:spPr>
      </p:pic>
      <p:sp>
        <p:nvSpPr>
          <p:cNvPr id="5" name="Text 1"/>
          <p:cNvSpPr/>
          <p:nvPr/>
        </p:nvSpPr>
        <p:spPr>
          <a:xfrm>
            <a:off x="5847608" y="2360613"/>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Blank line came from print with empty parentheses</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04201" y="3335040"/>
            <a:ext cx="283461" cy="283468"/>
          </a:xfrm>
          <a:prstGeom prst="rect">
            <a:avLst/>
          </a:prstGeom>
        </p:spPr>
      </p:pic>
      <p:sp>
        <p:nvSpPr>
          <p:cNvPr id="7" name="Text 2"/>
          <p:cNvSpPr/>
          <p:nvPr/>
        </p:nvSpPr>
        <p:spPr>
          <a:xfrm>
            <a:off x="5847608" y="3329186"/>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Quotes told Python where text starts and stops</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04201" y="4303613"/>
            <a:ext cx="283461" cy="283468"/>
          </a:xfrm>
          <a:prstGeom prst="rect">
            <a:avLst/>
          </a:prstGeom>
        </p:spPr>
      </p:pic>
      <p:sp>
        <p:nvSpPr>
          <p:cNvPr id="9" name="Text 3"/>
          <p:cNvSpPr/>
          <p:nvPr/>
        </p:nvSpPr>
        <p:spPr>
          <a:xfrm>
            <a:off x="5847608" y="429775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Order came from the file, nothing else</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04201" y="5254526"/>
            <a:ext cx="283461" cy="283468"/>
          </a:xfrm>
          <a:prstGeom prst="rect">
            <a:avLst/>
          </a:prstGeom>
        </p:spPr>
      </p:pic>
      <p:sp>
        <p:nvSpPr>
          <p:cNvPr id="11" name="Text 4"/>
          <p:cNvSpPr/>
          <p:nvPr/>
        </p:nvSpPr>
        <p:spPr>
          <a:xfrm>
            <a:off x="5847608" y="5248672"/>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Lines starting with hash produced nothing at all</a:t>
            </a:r>
            <a:endParaRPr lang="en-US" sz="1850" dirty="0"/>
          </a:p>
        </p:txBody>
      </p:sp>
      <p:sp>
        <p:nvSpPr>
          <p:cNvPr id="12" name="Text 5"/>
          <p:cNvSpPr/>
          <p:nvPr/>
        </p:nvSpPr>
        <p:spPr>
          <a:xfrm>
            <a:off x="4704141"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24055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Now I break it on purpose</a:t>
            </a:r>
            <a:endParaRPr lang="en-US" sz="3700" dirty="0"/>
          </a:p>
        </p:txBody>
      </p:sp>
      <p:sp>
        <p:nvSpPr>
          <p:cNvPr id="3" name="Shape 1"/>
          <p:cNvSpPr/>
          <p:nvPr/>
        </p:nvSpPr>
        <p:spPr>
          <a:xfrm>
            <a:off x="661475" y="3209230"/>
            <a:ext cx="10868745" cy="1285280"/>
          </a:xfrm>
          <a:prstGeom prst="roundRect">
            <a:avLst>
              <a:gd name="adj" fmla="val 6177"/>
            </a:avLst>
          </a:prstGeom>
          <a:solidFill>
            <a:srgbClr val="F2F2F2"/>
          </a:solidFill>
          <a:ln/>
        </p:spPr>
      </p:sp>
      <p:sp>
        <p:nvSpPr>
          <p:cNvPr id="4" name="Text 2"/>
          <p:cNvSpPr/>
          <p:nvPr/>
        </p:nvSpPr>
        <p:spPr>
          <a:xfrm>
            <a:off x="888283" y="339824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print("MCCTC Programming 145060")</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print("Name: Ava Ruiz)</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print("done")</a:t>
            </a:r>
            <a:endParaRPr lang="en-US" sz="1450" dirty="0"/>
          </a:p>
        </p:txBody>
      </p:sp>
      <p:sp>
        <p:nvSpPr>
          <p:cNvPr id="5" name="Text 3"/>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error, read in four steps</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File "C:\...\status_card.py", line 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print("Name: Ava Ruiz)</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SyntaxError: unterminated string literal (detected at line 2)</a:t>
            </a:r>
            <a:endParaRPr lang="en-US" sz="1450" dirty="0"/>
          </a:p>
        </p:txBody>
      </p:sp>
      <p:sp>
        <p:nvSpPr>
          <p:cNvPr id="5" name="Text 3"/>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81123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kinds of broken</a:t>
            </a:r>
            <a:endParaRPr lang="en-US" sz="3700" dirty="0"/>
          </a:p>
        </p:txBody>
      </p:sp>
      <p:sp>
        <p:nvSpPr>
          <p:cNvPr id="3" name="Shape 1"/>
          <p:cNvSpPr/>
          <p:nvPr/>
        </p:nvSpPr>
        <p:spPr>
          <a:xfrm>
            <a:off x="661475" y="2897981"/>
            <a:ext cx="2507394" cy="1505248"/>
          </a:xfrm>
          <a:prstGeom prst="roundRect">
            <a:avLst>
              <a:gd name="adj" fmla="val 5274"/>
            </a:avLst>
          </a:prstGeom>
          <a:solidFill>
            <a:srgbClr val="D1E5FA"/>
          </a:solidFill>
          <a:ln w="19050">
            <a:solidFill>
              <a:srgbClr val="B7CBE0"/>
            </a:solidFill>
            <a:prstDash val="solid"/>
          </a:ln>
        </p:spPr>
      </p:sp>
      <p:sp>
        <p:nvSpPr>
          <p:cNvPr id="4" name="Text 2"/>
          <p:cNvSpPr/>
          <p:nvPr/>
        </p:nvSpPr>
        <p:spPr>
          <a:xfrm>
            <a:off x="869531" y="3106043"/>
            <a:ext cx="209128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SyntaxError</a:t>
            </a:r>
            <a:endParaRPr lang="en-US" sz="1850" dirty="0"/>
          </a:p>
        </p:txBody>
      </p:sp>
      <p:sp>
        <p:nvSpPr>
          <p:cNvPr id="5" name="Text 3"/>
          <p:cNvSpPr/>
          <p:nvPr/>
        </p:nvSpPr>
        <p:spPr>
          <a:xfrm>
            <a:off x="869531" y="3590330"/>
            <a:ext cx="209128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Found while reading, nothing printed</a:t>
            </a:r>
            <a:endParaRPr lang="en-US" sz="1450" dirty="0"/>
          </a:p>
        </p:txBody>
      </p:sp>
      <p:sp>
        <p:nvSpPr>
          <p:cNvPr id="6" name="Shape 4"/>
          <p:cNvSpPr/>
          <p:nvPr/>
        </p:nvSpPr>
        <p:spPr>
          <a:xfrm>
            <a:off x="3357875" y="2897981"/>
            <a:ext cx="2507394" cy="1505248"/>
          </a:xfrm>
          <a:prstGeom prst="roundRect">
            <a:avLst>
              <a:gd name="adj" fmla="val 5274"/>
            </a:avLst>
          </a:prstGeom>
          <a:solidFill>
            <a:srgbClr val="D1E5FA"/>
          </a:solidFill>
          <a:ln w="19050">
            <a:solidFill>
              <a:srgbClr val="B7CBE0"/>
            </a:solidFill>
            <a:prstDash val="solid"/>
          </a:ln>
        </p:spPr>
      </p:sp>
      <p:sp>
        <p:nvSpPr>
          <p:cNvPr id="7" name="Text 5"/>
          <p:cNvSpPr/>
          <p:nvPr/>
        </p:nvSpPr>
        <p:spPr>
          <a:xfrm>
            <a:off x="3565932" y="3106043"/>
            <a:ext cx="209128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NameError</a:t>
            </a:r>
            <a:endParaRPr lang="en-US" sz="1850" dirty="0"/>
          </a:p>
        </p:txBody>
      </p:sp>
      <p:sp>
        <p:nvSpPr>
          <p:cNvPr id="8" name="Text 6"/>
          <p:cNvSpPr/>
          <p:nvPr/>
        </p:nvSpPr>
        <p:spPr>
          <a:xfrm>
            <a:off x="3565932" y="3590330"/>
            <a:ext cx="209128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Found while running, output came first</a:t>
            </a:r>
            <a:endParaRPr lang="en-US" sz="145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32776" y="2897981"/>
            <a:ext cx="2507394" cy="1813223"/>
          </a:xfrm>
          <a:prstGeom prst="rect">
            <a:avLst/>
          </a:prstGeom>
        </p:spPr>
      </p:pic>
      <p:sp>
        <p:nvSpPr>
          <p:cNvPr id="10" name="Text 7"/>
          <p:cNvSpPr/>
          <p:nvPr/>
        </p:nvSpPr>
        <p:spPr>
          <a:xfrm>
            <a:off x="6648780" y="3112393"/>
            <a:ext cx="1976983"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Got output before the crash?</a:t>
            </a:r>
            <a:endParaRPr lang="en-US" sz="1850" dirty="0"/>
          </a:p>
        </p:txBody>
      </p:sp>
      <p:sp>
        <p:nvSpPr>
          <p:cNvPr id="11" name="Text 8"/>
          <p:cNvSpPr/>
          <p:nvPr/>
        </p:nvSpPr>
        <p:spPr>
          <a:xfrm>
            <a:off x="6648780" y="4187230"/>
            <a:ext cx="1976983"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Problem is below it</a:t>
            </a:r>
            <a:endParaRPr lang="en-US" sz="1450" dirty="0"/>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29176" y="2897981"/>
            <a:ext cx="2507394" cy="1813223"/>
          </a:xfrm>
          <a:prstGeom prst="rect">
            <a:avLst/>
          </a:prstGeom>
        </p:spPr>
      </p:pic>
      <p:sp>
        <p:nvSpPr>
          <p:cNvPr id="13" name="Text 9"/>
          <p:cNvSpPr/>
          <p:nvPr/>
        </p:nvSpPr>
        <p:spPr>
          <a:xfrm>
            <a:off x="9345180" y="3112393"/>
            <a:ext cx="1976983"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caret points</a:t>
            </a:r>
            <a:endParaRPr lang="en-US" sz="1850" dirty="0"/>
          </a:p>
        </p:txBody>
      </p:sp>
      <p:sp>
        <p:nvSpPr>
          <p:cNvPr id="14" name="Text 10"/>
          <p:cNvSpPr/>
          <p:nvPr/>
        </p:nvSpPr>
        <p:spPr>
          <a:xfrm>
            <a:off x="9345180" y="3891955"/>
            <a:ext cx="197698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Trust it over your reading</a:t>
            </a:r>
            <a:endParaRPr lang="en-US" sz="1450" dirty="0"/>
          </a:p>
        </p:txBody>
      </p:sp>
      <p:sp>
        <p:nvSpPr>
          <p:cNvPr id="15" name="Text 11"/>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3673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Where the line number lies to you</a:t>
            </a:r>
            <a:endParaRPr lang="en-US" sz="3700" dirty="0"/>
          </a:p>
        </p:txBody>
      </p:sp>
      <p:sp>
        <p:nvSpPr>
          <p:cNvPr id="4" name="Text 1"/>
          <p:cNvSpPr/>
          <p:nvPr/>
        </p:nvSpPr>
        <p:spPr>
          <a:xfrm>
            <a:off x="661475" y="2832100"/>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5" name="Shape 2"/>
          <p:cNvSpPr/>
          <p:nvPr/>
        </p:nvSpPr>
        <p:spPr>
          <a:xfrm>
            <a:off x="661475" y="3127970"/>
            <a:ext cx="3053877" cy="25400"/>
          </a:xfrm>
          <a:prstGeom prst="rect">
            <a:avLst/>
          </a:prstGeom>
          <a:solidFill>
            <a:srgbClr val="57A1EB"/>
          </a:solidFill>
          <a:ln/>
        </p:spPr>
      </p:sp>
      <p:sp>
        <p:nvSpPr>
          <p:cNvPr id="6" name="Text 3"/>
          <p:cNvSpPr/>
          <p:nvPr/>
        </p:nvSpPr>
        <p:spPr>
          <a:xfrm>
            <a:off x="661475" y="3273227"/>
            <a:ext cx="3053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Error said line 2, line 3 also stopped working</a:t>
            </a:r>
            <a:endParaRPr lang="en-US" sz="1850" dirty="0"/>
          </a:p>
        </p:txBody>
      </p:sp>
      <p:sp>
        <p:nvSpPr>
          <p:cNvPr id="7" name="Text 4"/>
          <p:cNvSpPr/>
          <p:nvPr/>
        </p:nvSpPr>
        <p:spPr>
          <a:xfrm>
            <a:off x="3904359" y="2832100"/>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5"/>
          <p:cNvSpPr/>
          <p:nvPr/>
        </p:nvSpPr>
        <p:spPr>
          <a:xfrm>
            <a:off x="3904359" y="3127970"/>
            <a:ext cx="3053976" cy="25400"/>
          </a:xfrm>
          <a:prstGeom prst="rect">
            <a:avLst/>
          </a:prstGeom>
          <a:solidFill>
            <a:srgbClr val="57A1EB"/>
          </a:solidFill>
          <a:ln/>
        </p:spPr>
      </p:sp>
      <p:sp>
        <p:nvSpPr>
          <p:cNvPr id="9" name="Text 6"/>
          <p:cNvSpPr/>
          <p:nvPr/>
        </p:nvSpPr>
        <p:spPr>
          <a:xfrm>
            <a:off x="3904359" y="3273227"/>
            <a:ext cx="3053976"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Python reports where it noticed, not where you erred</a:t>
            </a:r>
            <a:endParaRPr lang="en-US" sz="1850" dirty="0"/>
          </a:p>
        </p:txBody>
      </p:sp>
      <p:sp>
        <p:nvSpPr>
          <p:cNvPr id="10" name="Text 7"/>
          <p:cNvSpPr/>
          <p:nvPr/>
        </p:nvSpPr>
        <p:spPr>
          <a:xfrm>
            <a:off x="661475" y="4489748"/>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1" name="Shape 8"/>
          <p:cNvSpPr/>
          <p:nvPr/>
        </p:nvSpPr>
        <p:spPr>
          <a:xfrm>
            <a:off x="661475" y="4785618"/>
            <a:ext cx="6296860" cy="25400"/>
          </a:xfrm>
          <a:prstGeom prst="rect">
            <a:avLst/>
          </a:prstGeom>
          <a:solidFill>
            <a:srgbClr val="57A1EB"/>
          </a:solidFill>
          <a:ln/>
        </p:spPr>
      </p:sp>
      <p:sp>
        <p:nvSpPr>
          <p:cNvPr id="12" name="Text 9"/>
          <p:cNvSpPr/>
          <p:nvPr/>
        </p:nvSpPr>
        <p:spPr>
          <a:xfrm>
            <a:off x="661475" y="4930874"/>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Read the named line, then read upward</a:t>
            </a:r>
            <a:endParaRPr lang="en-US" sz="1850" dirty="0"/>
          </a:p>
        </p:txBody>
      </p:sp>
      <p:sp>
        <p:nvSpPr>
          <p:cNvPr id="13" name="Text 10"/>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22783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196505"/>
            <a:ext cx="5339820" cy="1560909"/>
          </a:xfrm>
          <a:prstGeom prst="rect">
            <a:avLst/>
          </a:prstGeom>
        </p:spPr>
      </p:pic>
      <p:sp>
        <p:nvSpPr>
          <p:cNvPr id="4" name="Text 1"/>
          <p:cNvSpPr/>
          <p:nvPr/>
        </p:nvSpPr>
        <p:spPr>
          <a:xfrm>
            <a:off x="3217931" y="2338288"/>
            <a:ext cx="226808" cy="283468"/>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Orbitron Bold" pitchFamily="34" charset="0"/>
                <a:ea typeface="Orbitron Bold" pitchFamily="34" charset="-122"/>
                <a:cs typeface="Orbitron Bold" pitchFamily="34" charset="-120"/>
              </a:rPr>
              <a:t>1</a:t>
            </a:r>
            <a:endParaRPr lang="en-US" sz="1750" dirty="0"/>
          </a:p>
        </p:txBody>
      </p:sp>
      <p:sp>
        <p:nvSpPr>
          <p:cNvPr id="5" name="Text 2"/>
          <p:cNvSpPr/>
          <p:nvPr/>
        </p:nvSpPr>
        <p:spPr>
          <a:xfrm>
            <a:off x="875881" y="2952452"/>
            <a:ext cx="491100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Install Python, Git, and VS Code, verified</a:t>
            </a:r>
            <a:endParaRPr lang="en-US" sz="18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196505"/>
            <a:ext cx="5339919" cy="1560909"/>
          </a:xfrm>
          <a:prstGeom prst="rect">
            <a:avLst/>
          </a:prstGeom>
        </p:spPr>
      </p:pic>
      <p:sp>
        <p:nvSpPr>
          <p:cNvPr id="7" name="Text 3"/>
          <p:cNvSpPr/>
          <p:nvPr/>
        </p:nvSpPr>
        <p:spPr>
          <a:xfrm>
            <a:off x="8746757" y="2338288"/>
            <a:ext cx="226808" cy="283468"/>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Orbitron Bold" pitchFamily="34" charset="0"/>
                <a:ea typeface="Orbitron Bold" pitchFamily="34" charset="-122"/>
                <a:cs typeface="Orbitron Bold" pitchFamily="34" charset="-120"/>
              </a:rPr>
              <a:t>2</a:t>
            </a:r>
            <a:endParaRPr lang="en-US" sz="1750" dirty="0"/>
          </a:p>
        </p:txBody>
      </p:sp>
      <p:sp>
        <p:nvSpPr>
          <p:cNvPr id="8" name="Text 4"/>
          <p:cNvSpPr/>
          <p:nvPr/>
        </p:nvSpPr>
        <p:spPr>
          <a:xfrm>
            <a:off x="6404708" y="2952452"/>
            <a:ext cx="4911106"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status_card.py yourself, not copied</a:t>
            </a:r>
            <a:endParaRPr lang="en-US" sz="18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560909"/>
          </a:xfrm>
          <a:prstGeom prst="rect">
            <a:avLst/>
          </a:prstGeom>
        </p:spPr>
      </p:pic>
      <p:sp>
        <p:nvSpPr>
          <p:cNvPr id="10" name="Text 5"/>
          <p:cNvSpPr/>
          <p:nvPr/>
        </p:nvSpPr>
        <p:spPr>
          <a:xfrm>
            <a:off x="3217931" y="4088209"/>
            <a:ext cx="226808" cy="283468"/>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Orbitron Bold" pitchFamily="34" charset="0"/>
                <a:ea typeface="Orbitron Bold" pitchFamily="34" charset="-122"/>
                <a:cs typeface="Orbitron Bold" pitchFamily="34" charset="-120"/>
              </a:rPr>
              <a:t>3</a:t>
            </a:r>
            <a:endParaRPr lang="en-US" sz="1750" dirty="0"/>
          </a:p>
        </p:txBody>
      </p:sp>
      <p:sp>
        <p:nvSpPr>
          <p:cNvPr id="11" name="Text 6"/>
          <p:cNvSpPr/>
          <p:nvPr/>
        </p:nvSpPr>
        <p:spPr>
          <a:xfrm>
            <a:off x="875881" y="4702373"/>
            <a:ext cx="491100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Five lines of output, one of them blank</a:t>
            </a:r>
            <a:endParaRPr lang="en-US" sz="18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560909"/>
          </a:xfrm>
          <a:prstGeom prst="rect">
            <a:avLst/>
          </a:prstGeom>
        </p:spPr>
      </p:pic>
      <p:sp>
        <p:nvSpPr>
          <p:cNvPr id="13" name="Text 7"/>
          <p:cNvSpPr/>
          <p:nvPr/>
        </p:nvSpPr>
        <p:spPr>
          <a:xfrm>
            <a:off x="8746757" y="4088209"/>
            <a:ext cx="226808" cy="283468"/>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Orbitron Bold" pitchFamily="34" charset="0"/>
                <a:ea typeface="Orbitron Bold" pitchFamily="34" charset="-122"/>
                <a:cs typeface="Orbitron Bold" pitchFamily="34" charset="-120"/>
              </a:rPr>
              <a:t>4</a:t>
            </a:r>
            <a:endParaRPr lang="en-US" sz="1750" dirty="0"/>
          </a:p>
        </p:txBody>
      </p:sp>
      <p:sp>
        <p:nvSpPr>
          <p:cNvPr id="14" name="Text 8"/>
          <p:cNvSpPr/>
          <p:nvPr/>
        </p:nvSpPr>
        <p:spPr>
          <a:xfrm>
            <a:off x="6404708" y="4702373"/>
            <a:ext cx="4911106"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Point at the line that made any output line</a:t>
            </a:r>
            <a:endParaRPr lang="en-US" sz="1850" dirty="0"/>
          </a:p>
        </p:txBody>
      </p:sp>
      <p:sp>
        <p:nvSpPr>
          <p:cNvPr id="15" name="Text 9"/>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2026-09-01T15:27:54Z</dcterms:created>
  <dcterms:modified xsi:type="dcterms:W3CDTF">2026-09-01T15:27:54Z</dcterms:modified>
</cp:coreProperties>
</file>