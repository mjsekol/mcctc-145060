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learned to read error messages. That worked because Python is a referee. It either accepts your file or it does not, and it cannot be talked out of its answer. Today I am taking that away. When a model writes you a paragraph, an explanation, or a diagram, there is no traceback. Nothing turns red. A wrong answer and a right answer look exactly the same on the screen, and both of them sound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thing people get wrong. You have been told AI makes mistakes, and you hear that as it is sometimes wrong about hard things. That is not the failure mode. It is wrong in exactly the same voice it uses when it is right. The confidence is not a signal, because the confidence is produced by the same process as the content. There is no separate step where it checks a record of what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Ohio standard names five criteria and I want you to treat them as five separate questions. Students collapse them into one general feeling of seems legit, and that feeling is what we are replacing. Each of these catches a different failure, and today you are going to apply all five to one document and label every finding with exactly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the one you will get wrong, so let us do it now. If I tell you Python's sort method returns a new sorted list, that is a validity failure. Sort is real. The sentence about it is false. If I tell you to use Python's titlecase method, that is a hallucination, because there is no such method. Notice the difference in how you catch them. You can test the first by running sort. You cannot test the second at all until you go and look, and find nothing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ask it a question right now, in front of you, and I genuinely do not know what it will say. We verified the real answer last week, so we can check it in about ten seconds. I want you to run the five criteria on whatever comes back while I read it out loud. If it gets it right, that is fine. We are still going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established last week. The key survives git rm cached. It is still in commit 38cc1b2. Now compare that against what the model told us a moment ago. If it matched, notice that I checked anyway, and notice that checking took ten seconds. That is the habit, and the habit is the lesson. The point was never catching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the most persuasive form a false claim takes, because precision looks like somebody counted something. When you see a figure like this, ask four questions. Who was surveyed. How many. When. Where can I read it. If the answer to all four is nothing, you do not have weak evidence. You have no evidence with a number attached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what you find today can be settled by typing one command. Two of the defects cannot. One is about who a document assumes its reader is and who it leaves out. The other is about whether something has an owner. Notice while you work which findings you could prove and which you had to argue. That difference matters more than the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getting a one page Python study guide that was made with AI. It looks fine. It is not. For every defect you find, I want four things: the exact sentence quoted, which of the five criteria it fails, why it is wrong in your words, and how you know. That last one is where the points are. Saying something is wrong is an opinion. Showing how you checked is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Judging What You Cannot Run</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Last week the computer was the referee</a:t>
            </a:r>
            <a:endParaRPr lang="en-US" sz="3700" dirty="0"/>
          </a:p>
        </p:txBody>
      </p:sp>
      <p:sp>
        <p:nvSpPr>
          <p:cNvPr id="4" name="Text 1"/>
          <p:cNvSpPr/>
          <p:nvPr/>
        </p:nvSpPr>
        <p:spPr>
          <a:xfrm>
            <a:off x="5233360" y="3691334"/>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program runs or it does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interpreter never argues with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the referee goes away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crashes when prose is wrong</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39726"/>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Fluent is not the same as correct</a:t>
            </a:r>
            <a:endParaRPr lang="en-US" sz="3700" dirty="0"/>
          </a:p>
        </p:txBody>
      </p:sp>
      <p:sp>
        <p:nvSpPr>
          <p:cNvPr id="4" name="Text 1"/>
          <p:cNvSpPr/>
          <p:nvPr/>
        </p:nvSpPr>
        <p:spPr>
          <a:xfrm>
            <a:off x="8032251" y="3100685"/>
            <a:ext cx="3504219" cy="2617589"/>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tone is generated the same way the content is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Confidence carries no information about accuracy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been told it "makes mistakes"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real failure mode is worse than that</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75866"/>
            <a:ext cx="10868745" cy="461466"/>
          </a:xfrm>
          <a:prstGeom prst="rect">
            <a:avLst/>
          </a:prstGeom>
          <a:noFill/>
          <a:ln/>
        </p:spPr>
        <p:txBody>
          <a:bodyPr wrap="none" lIns="0" tIns="0" rIns="0" bIns="0" rtlCol="0" anchor="t"/>
          <a:lstStyle/>
          <a:p>
            <a:pPr algn="l" indent="0" marL="0">
              <a:lnSpc>
                <a:spcPct val="104000"/>
              </a:lnSpc>
              <a:buNone/>
            </a:pPr>
            <a:r>
              <a:rPr lang="en-US" sz="2900" b="1" dirty="0">
                <a:solidFill>
                  <a:srgbClr val="111111"/>
                </a:solidFill>
                <a:latin typeface="Orbitron Bold" pitchFamily="34" charset="0"/>
                <a:ea typeface="Orbitron Bold" pitchFamily="34" charset="-122"/>
                <a:cs typeface="Orbitron Bold" pitchFamily="34" charset="-120"/>
              </a:rPr>
              <a:t>Five questions, not one feeling</a:t>
            </a:r>
            <a:endParaRPr lang="en-US" sz="2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68016"/>
            <a:ext cx="10868745" cy="886023"/>
          </a:xfrm>
          <a:prstGeom prst="rect">
            <a:avLst/>
          </a:prstGeom>
        </p:spPr>
      </p:pic>
      <p:sp>
        <p:nvSpPr>
          <p:cNvPr id="4" name="Text 1"/>
          <p:cNvSpPr/>
          <p:nvPr/>
        </p:nvSpPr>
        <p:spPr>
          <a:xfrm>
            <a:off x="858717" y="1572617"/>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1</a:t>
            </a:r>
            <a:endParaRPr lang="en-US" sz="1700" dirty="0"/>
          </a:p>
        </p:txBody>
      </p:sp>
      <p:sp>
        <p:nvSpPr>
          <p:cNvPr id="5" name="Text 2"/>
          <p:cNvSpPr/>
          <p:nvPr/>
        </p:nvSpPr>
        <p:spPr>
          <a:xfrm>
            <a:off x="1386448" y="1434703"/>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Validity</a:t>
            </a:r>
            <a:endParaRPr lang="en-US" sz="1450" dirty="0"/>
          </a:p>
        </p:txBody>
      </p:sp>
      <p:sp>
        <p:nvSpPr>
          <p:cNvPr id="6" name="Text 3"/>
          <p:cNvSpPr/>
          <p:nvPr/>
        </p:nvSpPr>
        <p:spPr>
          <a:xfrm>
            <a:off x="1386448" y="1734542"/>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Is it correct</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269331"/>
            <a:ext cx="10868745" cy="886023"/>
          </a:xfrm>
          <a:prstGeom prst="rect">
            <a:avLst/>
          </a:prstGeom>
        </p:spPr>
      </p:pic>
      <p:sp>
        <p:nvSpPr>
          <p:cNvPr id="8" name="Text 4"/>
          <p:cNvSpPr/>
          <p:nvPr/>
        </p:nvSpPr>
        <p:spPr>
          <a:xfrm>
            <a:off x="858717" y="2573933"/>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2</a:t>
            </a:r>
            <a:endParaRPr lang="en-US" sz="1700" dirty="0"/>
          </a:p>
        </p:txBody>
      </p:sp>
      <p:sp>
        <p:nvSpPr>
          <p:cNvPr id="9" name="Text 5"/>
          <p:cNvSpPr/>
          <p:nvPr/>
        </p:nvSpPr>
        <p:spPr>
          <a:xfrm>
            <a:off x="1386448" y="2436019"/>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Relevance</a:t>
            </a:r>
            <a:endParaRPr lang="en-US" sz="1450" dirty="0"/>
          </a:p>
        </p:txBody>
      </p:sp>
      <p:sp>
        <p:nvSpPr>
          <p:cNvPr id="10" name="Text 6"/>
          <p:cNvSpPr/>
          <p:nvPr/>
        </p:nvSpPr>
        <p:spPr>
          <a:xfrm>
            <a:off x="1386448" y="2735858"/>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Does it answer what I asked</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70647"/>
            <a:ext cx="10868745" cy="886023"/>
          </a:xfrm>
          <a:prstGeom prst="rect">
            <a:avLst/>
          </a:prstGeom>
        </p:spPr>
      </p:pic>
      <p:sp>
        <p:nvSpPr>
          <p:cNvPr id="12" name="Text 7"/>
          <p:cNvSpPr/>
          <p:nvPr/>
        </p:nvSpPr>
        <p:spPr>
          <a:xfrm>
            <a:off x="858717" y="3575248"/>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3</a:t>
            </a:r>
            <a:endParaRPr lang="en-US" sz="1700" dirty="0"/>
          </a:p>
        </p:txBody>
      </p:sp>
      <p:sp>
        <p:nvSpPr>
          <p:cNvPr id="13" name="Text 8"/>
          <p:cNvSpPr/>
          <p:nvPr/>
        </p:nvSpPr>
        <p:spPr>
          <a:xfrm>
            <a:off x="1386448" y="3437334"/>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Authenticity</a:t>
            </a:r>
            <a:endParaRPr lang="en-US" sz="1450" dirty="0"/>
          </a:p>
        </p:txBody>
      </p:sp>
      <p:sp>
        <p:nvSpPr>
          <p:cNvPr id="14" name="Text 9"/>
          <p:cNvSpPr/>
          <p:nvPr/>
        </p:nvSpPr>
        <p:spPr>
          <a:xfrm>
            <a:off x="1386448" y="3737173"/>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Does it belong to somebody</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71963"/>
            <a:ext cx="10868745" cy="886023"/>
          </a:xfrm>
          <a:prstGeom prst="rect">
            <a:avLst/>
          </a:prstGeom>
        </p:spPr>
      </p:pic>
      <p:sp>
        <p:nvSpPr>
          <p:cNvPr id="16" name="Text 10"/>
          <p:cNvSpPr/>
          <p:nvPr/>
        </p:nvSpPr>
        <p:spPr>
          <a:xfrm>
            <a:off x="858717" y="4576564"/>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4</a:t>
            </a:r>
            <a:endParaRPr lang="en-US" sz="1700" dirty="0"/>
          </a:p>
        </p:txBody>
      </p:sp>
      <p:sp>
        <p:nvSpPr>
          <p:cNvPr id="17" name="Text 11"/>
          <p:cNvSpPr/>
          <p:nvPr/>
        </p:nvSpPr>
        <p:spPr>
          <a:xfrm>
            <a:off x="1386448" y="4438650"/>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Potential Bias</a:t>
            </a:r>
            <a:endParaRPr lang="en-US" sz="1450" dirty="0"/>
          </a:p>
        </p:txBody>
      </p:sp>
      <p:sp>
        <p:nvSpPr>
          <p:cNvPr id="18" name="Text 12"/>
          <p:cNvSpPr/>
          <p:nvPr/>
        </p:nvSpPr>
        <p:spPr>
          <a:xfrm>
            <a:off x="1386448" y="4738489"/>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Whose view is built in</a:t>
            </a:r>
            <a:endParaRPr lang="en-US" sz="11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273278"/>
            <a:ext cx="10868745" cy="886023"/>
          </a:xfrm>
          <a:prstGeom prst="rect">
            <a:avLst/>
          </a:prstGeom>
        </p:spPr>
      </p:pic>
      <p:sp>
        <p:nvSpPr>
          <p:cNvPr id="20" name="Text 13"/>
          <p:cNvSpPr/>
          <p:nvPr/>
        </p:nvSpPr>
        <p:spPr>
          <a:xfrm>
            <a:off x="858717" y="5577880"/>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5</a:t>
            </a:r>
            <a:endParaRPr lang="en-US" sz="1700" dirty="0"/>
          </a:p>
        </p:txBody>
      </p:sp>
      <p:sp>
        <p:nvSpPr>
          <p:cNvPr id="21" name="Text 14"/>
          <p:cNvSpPr/>
          <p:nvPr/>
        </p:nvSpPr>
        <p:spPr>
          <a:xfrm>
            <a:off x="1386448" y="5439966"/>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Hallucinations</a:t>
            </a:r>
            <a:endParaRPr lang="en-US" sz="1450" dirty="0"/>
          </a:p>
        </p:txBody>
      </p:sp>
      <p:sp>
        <p:nvSpPr>
          <p:cNvPr id="22" name="Text 15"/>
          <p:cNvSpPr/>
          <p:nvPr/>
        </p:nvSpPr>
        <p:spPr>
          <a:xfrm>
            <a:off x="1386448" y="5739805"/>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Does this thing exist at all</a:t>
            </a:r>
            <a:endParaRPr lang="en-US" sz="1150" dirty="0"/>
          </a:p>
        </p:txBody>
      </p:sp>
      <p:sp>
        <p:nvSpPr>
          <p:cNvPr id="23" name="Text 16"/>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1115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hard one, and it is worth four minutes</a:t>
            </a:r>
            <a:endParaRPr lang="en-US" sz="3700" dirty="0"/>
          </a:p>
        </p:txBody>
      </p:sp>
      <p:sp>
        <p:nvSpPr>
          <p:cNvPr id="4" name="Shape 1"/>
          <p:cNvSpPr/>
          <p:nvPr/>
        </p:nvSpPr>
        <p:spPr>
          <a:xfrm>
            <a:off x="5233360" y="2575917"/>
            <a:ext cx="6296860" cy="3048000"/>
          </a:xfrm>
          <a:prstGeom prst="roundRect">
            <a:avLst>
              <a:gd name="adj" fmla="val 2605"/>
            </a:avLst>
          </a:prstGeom>
          <a:solidFill>
            <a:srgbClr val="D1E5FA"/>
          </a:solidFill>
          <a:ln w="19050">
            <a:solidFill>
              <a:srgbClr val="B7CBE0"/>
            </a:solidFill>
            <a:prstDash val="solid"/>
          </a:ln>
        </p:spPr>
      </p:sp>
      <p:sp>
        <p:nvSpPr>
          <p:cNvPr id="5" name="Shape 2"/>
          <p:cNvSpPr/>
          <p:nvPr/>
        </p:nvSpPr>
        <p:spPr>
          <a:xfrm>
            <a:off x="5252410" y="2594967"/>
            <a:ext cx="6258761" cy="1504950"/>
          </a:xfrm>
          <a:custGeom>
            <a:avLst/>
            <a:gdLst/>
            <a:ahLst/>
            <a:cxnLst/>
            <a:rect l="l" t="t" r="r" b="b"/>
            <a:pathLst>
              <a:path w="6258761" h="1504950">
                <a:moveTo>
                  <a:pt x="66156" y="0"/>
                </a:moveTo>
                <a:lnTo>
                  <a:pt x="6192604" y="0"/>
                </a:lnTo>
                <a:arcTo hR="66158" wR="66156" stAng="16200000" swAng="5400000"/>
                <a:lnTo>
                  <a:pt x="6258761" y="1504950"/>
                </a:lnTo>
                <a:lnTo>
                  <a:pt x="0" y="1504950"/>
                </a:lnTo>
                <a:lnTo>
                  <a:pt x="0" y="66158"/>
                </a:lnTo>
                <a:arcTo hR="66158" wR="66156" stAng="10800000" swAng="5400000"/>
                <a:close/>
              </a:path>
            </a:pathLst>
          </a:custGeom>
          <a:solidFill>
            <a:srgbClr val="D1E5FA"/>
          </a:solidFill>
          <a:ln/>
        </p:spPr>
      </p:sp>
      <p:sp>
        <p:nvSpPr>
          <p:cNvPr id="6" name="Text 3"/>
          <p:cNvSpPr/>
          <p:nvPr/>
        </p:nvSpPr>
        <p:spPr>
          <a:xfrm>
            <a:off x="5441417" y="2783979"/>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Validity</a:t>
            </a:r>
            <a:endParaRPr lang="en-US" sz="1850" dirty="0"/>
          </a:p>
        </p:txBody>
      </p:sp>
      <p:sp>
        <p:nvSpPr>
          <p:cNvPr id="7" name="Text 4"/>
          <p:cNvSpPr/>
          <p:nvPr/>
        </p:nvSpPr>
        <p:spPr>
          <a:xfrm>
            <a:off x="5441417" y="3192661"/>
            <a:ext cx="5880747"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A false claim about a real thing</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test the first one</a:t>
            </a:r>
            <a:endParaRPr lang="en-US" sz="1450" dirty="0"/>
          </a:p>
        </p:txBody>
      </p:sp>
      <p:sp>
        <p:nvSpPr>
          <p:cNvPr id="8" name="Shape 5"/>
          <p:cNvSpPr/>
          <p:nvPr/>
        </p:nvSpPr>
        <p:spPr>
          <a:xfrm>
            <a:off x="5252410" y="4099917"/>
            <a:ext cx="6258761" cy="1504950"/>
          </a:xfrm>
          <a:custGeom>
            <a:avLst/>
            <a:gdLst/>
            <a:ahLst/>
            <a:cxnLst/>
            <a:rect l="l" t="t" r="r" b="b"/>
            <a:pathLst>
              <a:path w="6258761" h="1504950">
                <a:moveTo>
                  <a:pt x="0" y="0"/>
                </a:moveTo>
                <a:lnTo>
                  <a:pt x="6258761" y="0"/>
                </a:lnTo>
                <a:lnTo>
                  <a:pt x="6258761" y="1438792"/>
                </a:lnTo>
                <a:arcTo hR="66158" wR="66156" stAng="0" swAng="5400000"/>
                <a:lnTo>
                  <a:pt x="66156" y="1504950"/>
                </a:lnTo>
                <a:arcTo hR="66158" wR="66156" stAng="5400000" swAng="5400000"/>
                <a:lnTo>
                  <a:pt x="0" y="0"/>
                </a:lnTo>
                <a:close/>
              </a:path>
            </a:pathLst>
          </a:custGeom>
          <a:solidFill>
            <a:srgbClr val="D1E5FA"/>
          </a:solidFill>
          <a:ln/>
        </p:spPr>
      </p:sp>
      <p:sp>
        <p:nvSpPr>
          <p:cNvPr id="9" name="Shape 6"/>
          <p:cNvSpPr/>
          <p:nvPr/>
        </p:nvSpPr>
        <p:spPr>
          <a:xfrm>
            <a:off x="5252410" y="4099917"/>
            <a:ext cx="6258761" cy="25400"/>
          </a:xfrm>
          <a:prstGeom prst="roundRect">
            <a:avLst>
              <a:gd name="adj" fmla="val 49999"/>
            </a:avLst>
          </a:prstGeom>
          <a:solidFill>
            <a:srgbClr val="B7CBE0"/>
          </a:solidFill>
          <a:ln/>
        </p:spPr>
      </p:sp>
      <p:sp>
        <p:nvSpPr>
          <p:cNvPr id="10" name="Text 7"/>
          <p:cNvSpPr/>
          <p:nvPr/>
        </p:nvSpPr>
        <p:spPr>
          <a:xfrm>
            <a:off x="5441417" y="4288929"/>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Hallucination</a:t>
            </a:r>
            <a:endParaRPr lang="en-US" sz="1850" dirty="0"/>
          </a:p>
        </p:txBody>
      </p:sp>
      <p:sp>
        <p:nvSpPr>
          <p:cNvPr id="11" name="Text 8"/>
          <p:cNvSpPr/>
          <p:nvPr/>
        </p:nvSpPr>
        <p:spPr>
          <a:xfrm>
            <a:off x="5441417" y="4697611"/>
            <a:ext cx="5880747"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It invented the thing</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have to go look for the second</a:t>
            </a:r>
            <a:endParaRPr lang="en-US" sz="1450" dirty="0"/>
          </a:p>
        </p:txBody>
      </p:sp>
      <p:sp>
        <p:nvSpPr>
          <p:cNvPr id="12" name="Text 9"/>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09649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live, and I do not know the answer</a:t>
            </a:r>
            <a:endParaRPr lang="en-US" sz="3700" dirty="0"/>
          </a:p>
        </p:txBody>
      </p:sp>
      <p:sp>
        <p:nvSpPr>
          <p:cNvPr id="3" name="Shape 1"/>
          <p:cNvSpPr/>
          <p:nvPr/>
        </p:nvSpPr>
        <p:spPr>
          <a:xfrm>
            <a:off x="661475" y="3655814"/>
            <a:ext cx="10868745" cy="982861"/>
          </a:xfrm>
          <a:prstGeom prst="roundRect">
            <a:avLst>
              <a:gd name="adj" fmla="val 8077"/>
            </a:avLst>
          </a:prstGeom>
          <a:solidFill>
            <a:srgbClr val="F2F2F2"/>
          </a:solidFill>
          <a:ln/>
        </p:spPr>
      </p:sp>
      <p:sp>
        <p:nvSpPr>
          <p:cNvPr id="4" name="Text 2"/>
          <p:cNvSpPr/>
          <p:nvPr/>
        </p:nvSpPr>
        <p:spPr>
          <a:xfrm>
            <a:off x="888283" y="384482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Ask the local model: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does git rm --cached do to a file's history?"</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verification, either way</a:t>
            </a:r>
            <a:endParaRPr lang="en-US" sz="3700" dirty="0"/>
          </a:p>
        </p:txBody>
      </p:sp>
      <p:sp>
        <p:nvSpPr>
          <p:cNvPr id="3" name="Shape 1"/>
          <p:cNvSpPr/>
          <p:nvPr/>
        </p:nvSpPr>
        <p:spPr>
          <a:xfrm>
            <a:off x="661475" y="2913955"/>
            <a:ext cx="10868745" cy="680442"/>
          </a:xfrm>
          <a:prstGeom prst="roundRect">
            <a:avLst>
              <a:gd name="adj" fmla="val 11667"/>
            </a:avLst>
          </a:prstGeom>
          <a:solidFill>
            <a:srgbClr val="F2F2F2"/>
          </a:solidFill>
          <a:ln/>
        </p:spPr>
      </p:sp>
      <p:sp>
        <p:nvSpPr>
          <p:cNvPr id="4" name="Text 2"/>
          <p:cNvSpPr/>
          <p:nvPr/>
        </p:nvSpPr>
        <p:spPr>
          <a:xfrm>
            <a:off x="888283" y="310296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log --oneline -- secrets.txt</a:t>
            </a:r>
            <a:endParaRPr lang="en-US" sz="1450" dirty="0"/>
          </a:p>
        </p:txBody>
      </p:sp>
      <p:sp>
        <p:nvSpPr>
          <p:cNvPr id="5" name="Shape 3"/>
          <p:cNvSpPr/>
          <p:nvPr/>
        </p:nvSpPr>
        <p:spPr>
          <a:xfrm>
            <a:off x="661475" y="3807023"/>
            <a:ext cx="10868745" cy="982861"/>
          </a:xfrm>
          <a:prstGeom prst="roundRect">
            <a:avLst>
              <a:gd name="adj" fmla="val 8077"/>
            </a:avLst>
          </a:prstGeom>
          <a:solidFill>
            <a:srgbClr val="F2F2F2"/>
          </a:solidFill>
          <a:ln/>
        </p:spPr>
      </p:sp>
      <p:sp>
        <p:nvSpPr>
          <p:cNvPr id="6" name="Text 4"/>
          <p:cNvSpPr/>
          <p:nvPr/>
        </p:nvSpPr>
        <p:spPr>
          <a:xfrm>
            <a:off x="888283" y="399603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b151592 Stop tracking the settings 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38cc1b2 Add settings file</a:t>
            </a:r>
            <a:endParaRPr lang="en-US" sz="1450" dirty="0"/>
          </a:p>
        </p:txBody>
      </p:sp>
      <p:sp>
        <p:nvSpPr>
          <p:cNvPr id="7"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042888"/>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statistic with no source is not evidence</a:t>
            </a:r>
            <a:endParaRPr lang="en-US" sz="3700" dirty="0"/>
          </a:p>
        </p:txBody>
      </p:sp>
      <p:sp>
        <p:nvSpPr>
          <p:cNvPr id="4" name="Text 1"/>
          <p:cNvSpPr/>
          <p:nvPr/>
        </p:nvSpPr>
        <p:spPr>
          <a:xfrm>
            <a:off x="8315712" y="3788172"/>
            <a:ext cx="32207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"97 percent of developers say Python is simplest"</a:t>
            </a:r>
            <a:endParaRPr lang="en-US" sz="1450" dirty="0"/>
          </a:p>
        </p:txBody>
      </p:sp>
      <p:sp>
        <p:nvSpPr>
          <p:cNvPr id="5" name="Shape 2"/>
          <p:cNvSpPr/>
          <p:nvPr/>
        </p:nvSpPr>
        <p:spPr>
          <a:xfrm>
            <a:off x="8032251" y="3618111"/>
            <a:ext cx="25399" cy="944959"/>
          </a:xfrm>
          <a:prstGeom prst="roundRect">
            <a:avLst>
              <a:gd name="adj" fmla="val 50001"/>
            </a:avLst>
          </a:prstGeom>
          <a:solidFill>
            <a:srgbClr val="57A1EB"/>
          </a:solidFill>
          <a:ln/>
        </p:spPr>
      </p:sp>
      <p:sp>
        <p:nvSpPr>
          <p:cNvPr id="6" name="Text 3"/>
          <p:cNvSpPr/>
          <p:nvPr/>
        </p:nvSpPr>
        <p:spPr>
          <a:xfrm>
            <a:off x="8032251" y="4775696"/>
            <a:ext cx="3504219" cy="1039416"/>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survey named. No year. No sample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Precision reads as proof and is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Ask what would make you believe it</a:t>
            </a:r>
            <a:endParaRPr lang="en-US" sz="1450" dirty="0"/>
          </a:p>
        </p:txBody>
      </p:sp>
      <p:sp>
        <p:nvSpPr>
          <p:cNvPr id="7" name="Text 4"/>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failures no command can catch</a:t>
            </a:r>
            <a:endParaRPr lang="en-US" sz="3700" dirty="0"/>
          </a:p>
        </p:txBody>
      </p:sp>
      <p:sp>
        <p:nvSpPr>
          <p:cNvPr id="4" name="Text 1"/>
          <p:cNvSpPr/>
          <p:nvPr/>
        </p:nvSpPr>
        <p:spPr>
          <a:xfrm>
            <a:off x="661475"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Whose perspective is built into the list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 got left out of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Whether the code you copied belongs to somebody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These need judgment, not a terminal</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44214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8032251" y="3403104"/>
            <a:ext cx="3504219" cy="2012752"/>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autopsy of a study guide that looks good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Six findings minimum, eight is strong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Quote it, label it, prove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findings proved by a command you ran</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2026-09-01T16:08:42Z</dcterms:created>
  <dcterms:modified xsi:type="dcterms:W3CDTF">2026-09-01T16:08:42Z</dcterms:modified>
</cp:coreProperties>
</file>