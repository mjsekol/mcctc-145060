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embeddedFontLst>
    <p:embeddedFont>
      <p:font typeface="Orbitron Bold"/>
      <p:regular r:id="rId201314"/>
    </p:embeddedFont>
    <p:embeddedFont>
      <p:font typeface="Orbitron"/>
      <p:regular r:id="rId201315"/>
    </p:embeddedFont>
    <p:embeddedFont>
      <p:font typeface="Orbitron Black"/>
      <p:regular r:id="rId201316"/>
    </p:embeddedFont>
    <p:embeddedFont>
      <p:font typeface="Roboto Condensed Black"/>
      <p:regular r:id="rId201317"/>
    </p:embeddedFont>
    <p:embeddedFont>
      <p:font typeface="Roboto Condensed Bold"/>
      <p:regular r:id="rId201318"/>
    </p:embeddedFont>
    <p:embeddedFont>
      <p:font typeface="Roboto Condensed"/>
      <p:regular r:id="rId2013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 Id="rId201321" Target="fonts/201321.fntdata" Type="http://schemas.openxmlformats.org/officeDocument/2006/relationships/font"/><Relationship Id="rId201322" Target="fonts/201322.fntdata" Type="http://schemas.openxmlformats.org/officeDocument/2006/relationships/font"/><Relationship Id="rId201323" Target="fonts/201323.fntdata" Type="http://schemas.openxmlformats.org/officeDocument/2006/relationships/font"/><Relationship Id="rId201324" Target="fonts/201324.fntdata" Type="http://schemas.openxmlformats.org/officeDocument/2006/relationships/font"/><Relationship Id="rId201325" Target="fonts/201325.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six weeks some of you submit to a national competition. A submission is not only code. It is a claim that this is your work. Between now and then you will use AI, because this course tells you to. So the question of what you are actually claiming is not theoretical and it is not for later. It is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honest about what I do not know, because that is itself the lesson. Who owns AI output is being fought over right now and the rules are still being written. If I stood here and gave you a clean answer, I would be doing the exact thing we spent yesterday learning to catch. So I am not going to. Instead I am going to show you what you can actually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does not depend on how the law lands. Three documents govern your situation and all three exist today. The terms of service of the tool. The license of any code you pulled in. And the rules of whoever is receiving the work. That last one governs in practice, because they are the ones judging you. Whatever the law turns out to be, you will be judged by somebody who already wrote down what they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settled and checkable, so learn it properly. These three licenses ask genuinely different things of you. The last bullet is the one people get wrong. Code posted publicly with no license attached is not free to take. Public means visible. It does not mean permitted. You are going to read all three of these today and write one sentence each on what they require.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look, and it takes about eight seconds. The file sits at the top level of the repository next to the README. If you open a project and there is no license file at all, that is not a shortcut. That is the author not having granted anyone permission, and the safe reading is that you may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template and the last two lines are the graded ones. The first four are record keeping and anybody can fill them in. What I changed and why is where your thinking shows. How I verified it is where I find out whether you checked. It looked right is not verification and it will not earn the points. Today you write your first complete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you are writing about today. Take both sides seriously, because both are serious. On one side, you chose the problem, wrote the input, judged the result and fixed it, which is authorship in the ordinary sense. On the other, the output came from patterns in work that other people made and did not agree to, and typing a sentence is not the same act as writing a thousand lines. I am not going to resolve it and neither is your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correct side today, so here is what I am actually grading. Four parts. State where you land. Argue it. Then argue against yourself, honestly, which is the part everybody skips and the part worth the most. And name what specifically would change your mind. If nothing would change your mind, you do not have a position, you have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going to read you a confident sounding statement about AI and copyright. Your job is to try to find where it came from. You will not be able to, because it has no source. That is the point. This is yesterday's lesson moved into a domain where the stakes are legal instead of technical, and where being wrong costs you a competition entry rather than a wrong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that are not contested and are entirely within my authority. Log it. Explain it. Never put anyone's personal information into any of these tools. And the one from the syllabus that governs everything: the only way to fail this course outright is to hand me work you cannot explain. Notice that this rule protects you no matter which way the law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Find the ownership sentence in the terms of the tool we use and quote it exactly. Write one sentence per license in your own words. Then the position paper, all four parts including the argument against yourself. And your first full AI usage log entry, with a real answer in the how I verified it box. It looked right is not verification and it does not earn the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1.png"/><Relationship Id="rId4" Type="http://schemas.openxmlformats.org/officeDocument/2006/relationships/image" Target="../media/image-5-2.svg"/><Relationship Id="rId5" Type="http://schemas.openxmlformats.org/officeDocument/2006/relationships/image" Target="../media/image-5-1.png"/><Relationship Id="rId6" Type="http://schemas.openxmlformats.org/officeDocument/2006/relationships/image" Target="../media/image-5-2.svg"/><Relationship Id="rId7" Type="http://schemas.openxmlformats.org/officeDocument/2006/relationships/image" Target="../media/image-5-1.png"/><Relationship Id="rId8" Type="http://schemas.openxmlformats.org/officeDocument/2006/relationships/image" Target="../media/image-5-2.sv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277693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Who Owns What the Machine Made</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You are going to ship something in six weeks</a:t>
            </a:r>
            <a:endParaRPr lang="en-US" sz="3700" dirty="0"/>
          </a:p>
        </p:txBody>
      </p:sp>
      <p:sp>
        <p:nvSpPr>
          <p:cNvPr id="4" name="Text 1"/>
          <p:cNvSpPr/>
          <p:nvPr/>
        </p:nvSpPr>
        <p:spPr>
          <a:xfrm>
            <a:off x="5233360" y="3395960"/>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Congressional App Challenge closes October 26</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submission is a claim about your work</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 will use AI between now and then</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Nobody told you what that means yet</a:t>
            </a:r>
            <a:endParaRPr lang="en-US" sz="1450" dirty="0"/>
          </a:p>
        </p:txBody>
      </p:sp>
      <p:sp>
        <p:nvSpPr>
          <p:cNvPr id="5" name="Text 2"/>
          <p:cNvSpPr/>
          <p:nvPr/>
        </p:nvSpPr>
        <p:spPr>
          <a:xfrm>
            <a:off x="4704141"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I am not going to pretend to know</a:t>
            </a:r>
            <a:endParaRPr lang="en-US" sz="3700" dirty="0"/>
          </a:p>
        </p:txBody>
      </p:sp>
      <p:sp>
        <p:nvSpPr>
          <p:cNvPr id="4" name="Text 1"/>
          <p:cNvSpPr/>
          <p:nvPr/>
        </p:nvSpPr>
        <p:spPr>
          <a:xfrm>
            <a:off x="5233360" y="3395960"/>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This is genuinely unsettled law</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is being argued in court right now</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 am not a lawyer and neither is anyone here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Anything stated confidently today may be wrong</a:t>
            </a:r>
            <a:endParaRPr lang="en-US" sz="1450" dirty="0"/>
          </a:p>
        </p:txBody>
      </p:sp>
      <p:sp>
        <p:nvSpPr>
          <p:cNvPr id="5" name="Text 2"/>
          <p:cNvSpPr/>
          <p:nvPr/>
        </p:nvSpPr>
        <p:spPr>
          <a:xfrm>
            <a:off x="4704141"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475" y="1411585"/>
            <a:ext cx="6903269" cy="3911898"/>
          </a:xfrm>
          <a:prstGeom prst="rect">
            <a:avLst/>
          </a:prstGeom>
        </p:spPr>
      </p:pic>
      <p:sp>
        <p:nvSpPr>
          <p:cNvPr id="3" name="Text 0"/>
          <p:cNvSpPr/>
          <p:nvPr/>
        </p:nvSpPr>
        <p:spPr>
          <a:xfrm>
            <a:off x="8032251" y="1146870"/>
            <a:ext cx="3504219" cy="2362597"/>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Read the documents, not the doctrine</a:t>
            </a:r>
            <a:endParaRPr lang="en-US" sz="3700" dirty="0"/>
          </a:p>
        </p:txBody>
      </p:sp>
      <p:sp>
        <p:nvSpPr>
          <p:cNvPr id="4" name="Text 1"/>
          <p:cNvSpPr/>
          <p:nvPr/>
        </p:nvSpPr>
        <p:spPr>
          <a:xfrm>
            <a:off x="8032251" y="3698478"/>
            <a:ext cx="3504219" cy="2012752"/>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terms of the tool you used</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license of any code you included</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rules of the competition or the client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All three are written down and findable</a:t>
            </a:r>
            <a:endParaRPr lang="en-US" sz="1450" dirty="0"/>
          </a:p>
        </p:txBody>
      </p:sp>
      <p:sp>
        <p:nvSpPr>
          <p:cNvPr id="5" name="Text 2"/>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1648817"/>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Licenses are not contested</a:t>
            </a:r>
            <a:endParaRPr lang="en-US" sz="370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2617490"/>
            <a:ext cx="5339820" cy="1139924"/>
          </a:xfrm>
          <a:prstGeom prst="rect">
            <a:avLst/>
          </a:prstGeom>
        </p:spPr>
      </p:pic>
      <p:sp>
        <p:nvSpPr>
          <p:cNvPr id="4" name="Text 1"/>
          <p:cNvSpPr/>
          <p:nvPr/>
        </p:nvSpPr>
        <p:spPr>
          <a:xfrm>
            <a:off x="977479" y="2831902"/>
            <a:ext cx="480940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MIT</a:t>
            </a:r>
            <a:endParaRPr lang="en-US" sz="1850" dirty="0"/>
          </a:p>
        </p:txBody>
      </p:sp>
      <p:sp>
        <p:nvSpPr>
          <p:cNvPr id="5" name="Text 2"/>
          <p:cNvSpPr/>
          <p:nvPr/>
        </p:nvSpPr>
        <p:spPr>
          <a:xfrm>
            <a:off x="977479" y="3240584"/>
            <a:ext cx="480940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Use it, keep the notice</a:t>
            </a:r>
            <a:endParaRPr lang="en-US" sz="1450" dirty="0"/>
          </a:p>
        </p:txBody>
      </p:sp>
      <p:pic>
        <p:nvPicPr>
          <p:cNvPr id="6"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90301" y="2617490"/>
            <a:ext cx="5339919" cy="1139924"/>
          </a:xfrm>
          <a:prstGeom prst="rect">
            <a:avLst/>
          </a:prstGeom>
        </p:spPr>
      </p:pic>
      <p:sp>
        <p:nvSpPr>
          <p:cNvPr id="7" name="Text 3"/>
          <p:cNvSpPr/>
          <p:nvPr/>
        </p:nvSpPr>
        <p:spPr>
          <a:xfrm>
            <a:off x="6506305" y="2831902"/>
            <a:ext cx="480950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Apache 2.0</a:t>
            </a:r>
            <a:endParaRPr lang="en-US" sz="1850" dirty="0"/>
          </a:p>
        </p:txBody>
      </p:sp>
      <p:sp>
        <p:nvSpPr>
          <p:cNvPr id="8" name="Text 4"/>
          <p:cNvSpPr/>
          <p:nvPr/>
        </p:nvSpPr>
        <p:spPr>
          <a:xfrm>
            <a:off x="6506305" y="3240584"/>
            <a:ext cx="480950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Similar, plus patent terms</a:t>
            </a:r>
            <a:endParaRPr lang="en-US" sz="1450" dirty="0"/>
          </a:p>
        </p:txBody>
      </p:sp>
      <p:pic>
        <p:nvPicPr>
          <p:cNvPr id="9"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1475" y="3946426"/>
            <a:ext cx="5339820" cy="1139924"/>
          </a:xfrm>
          <a:prstGeom prst="rect">
            <a:avLst/>
          </a:prstGeom>
        </p:spPr>
      </p:pic>
      <p:sp>
        <p:nvSpPr>
          <p:cNvPr id="10" name="Text 5"/>
          <p:cNvSpPr/>
          <p:nvPr/>
        </p:nvSpPr>
        <p:spPr>
          <a:xfrm>
            <a:off x="977479" y="4160838"/>
            <a:ext cx="480940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GPL</a:t>
            </a:r>
            <a:endParaRPr lang="en-US" sz="1850" dirty="0"/>
          </a:p>
        </p:txBody>
      </p:sp>
      <p:sp>
        <p:nvSpPr>
          <p:cNvPr id="11" name="Text 6"/>
          <p:cNvSpPr/>
          <p:nvPr/>
        </p:nvSpPr>
        <p:spPr>
          <a:xfrm>
            <a:off x="977479" y="4569520"/>
            <a:ext cx="480940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Use it, and publish your own source</a:t>
            </a:r>
            <a:endParaRPr lang="en-US" sz="1450" dirty="0"/>
          </a:p>
        </p:txBody>
      </p:sp>
      <p:pic>
        <p:nvPicPr>
          <p:cNvPr id="1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90301" y="3946426"/>
            <a:ext cx="5339919" cy="1139924"/>
          </a:xfrm>
          <a:prstGeom prst="rect">
            <a:avLst/>
          </a:prstGeom>
        </p:spPr>
      </p:pic>
      <p:sp>
        <p:nvSpPr>
          <p:cNvPr id="13" name="Text 7"/>
          <p:cNvSpPr/>
          <p:nvPr/>
        </p:nvSpPr>
        <p:spPr>
          <a:xfrm>
            <a:off x="6506305" y="4160838"/>
            <a:ext cx="480950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No license at all</a:t>
            </a:r>
            <a:endParaRPr lang="en-US" sz="1850" dirty="0"/>
          </a:p>
        </p:txBody>
      </p:sp>
      <p:sp>
        <p:nvSpPr>
          <p:cNvPr id="14" name="Text 8"/>
          <p:cNvSpPr/>
          <p:nvPr/>
        </p:nvSpPr>
        <p:spPr>
          <a:xfrm>
            <a:off x="6506305" y="4569520"/>
            <a:ext cx="4809509"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No license at all is not permission</a:t>
            </a:r>
            <a:endParaRPr lang="en-US" sz="1450" dirty="0"/>
          </a:p>
        </p:txBody>
      </p:sp>
      <p:sp>
        <p:nvSpPr>
          <p:cNvPr id="15" name="Text 9"/>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635720"/>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Where to actually find a license</a:t>
            </a:r>
            <a:endParaRPr lang="en-US" sz="3700" dirty="0"/>
          </a:p>
        </p:txBody>
      </p:sp>
      <p:sp>
        <p:nvSpPr>
          <p:cNvPr id="3" name="Shape 1"/>
          <p:cNvSpPr/>
          <p:nvPr/>
        </p:nvSpPr>
        <p:spPr>
          <a:xfrm>
            <a:off x="661475" y="2604393"/>
            <a:ext cx="10868745" cy="2494955"/>
          </a:xfrm>
          <a:prstGeom prst="roundRect">
            <a:avLst>
              <a:gd name="adj" fmla="val 3182"/>
            </a:avLst>
          </a:prstGeom>
          <a:solidFill>
            <a:srgbClr val="F2F2F2"/>
          </a:solidFill>
          <a:ln/>
        </p:spPr>
      </p:sp>
      <p:sp>
        <p:nvSpPr>
          <p:cNvPr id="4" name="Text 2"/>
          <p:cNvSpPr/>
          <p:nvPr/>
        </p:nvSpPr>
        <p:spPr>
          <a:xfrm>
            <a:off x="888283" y="2793405"/>
            <a:ext cx="10415129" cy="2116931"/>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32F62"/>
                </a:solidFill>
                <a:latin typeface="Consolas" pitchFamily="34" charset="0"/>
                <a:ea typeface="Consolas" pitchFamily="34" charset="-122"/>
                <a:cs typeface="Consolas" pitchFamily="34" charset="-120"/>
              </a:rPr>
              <a:t>On any GitHub repository, top level folder:</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032F62"/>
                </a:solidFill>
                <a:latin typeface="Consolas" pitchFamily="34" charset="0"/>
                <a:ea typeface="Consolas" pitchFamily="34" charset="-122"/>
                <a:cs typeface="Consolas" pitchFamily="34" charset="-120"/>
              </a:rPr>
              <a:t>  LICENSE          most common</a:t>
            </a:r>
            <a:endParaRPr lang="en-US" sz="1450" dirty="0"/>
          </a:p>
          <a:p>
            <a:pPr algn="l" indent="0" marL="0">
              <a:lnSpc>
                <a:spcPct val="133000"/>
              </a:lnSpc>
              <a:buNone/>
            </a:pPr>
            <a:r>
              <a:rPr lang="en-US" sz="1450" dirty="0">
                <a:solidFill>
                  <a:srgbClr val="032F62"/>
                </a:solidFill>
                <a:latin typeface="Consolas" pitchFamily="34" charset="0"/>
                <a:ea typeface="Consolas" pitchFamily="34" charset="-122"/>
                <a:cs typeface="Consolas" pitchFamily="34" charset="-120"/>
              </a:rPr>
              <a:t>  LICENSE.md       same thing</a:t>
            </a:r>
            <a:endParaRPr lang="en-US" sz="1450" dirty="0"/>
          </a:p>
          <a:p>
            <a:pPr algn="l" indent="0" marL="0">
              <a:lnSpc>
                <a:spcPct val="133000"/>
              </a:lnSpc>
              <a:buNone/>
            </a:pPr>
            <a:r>
              <a:rPr lang="en-US" sz="1450" dirty="0">
                <a:solidFill>
                  <a:srgbClr val="032F62"/>
                </a:solidFill>
                <a:latin typeface="Consolas" pitchFamily="34" charset="0"/>
                <a:ea typeface="Consolas" pitchFamily="34" charset="-122"/>
                <a:cs typeface="Consolas" pitchFamily="34" charset="-120"/>
              </a:rPr>
              <a:t>  COPYING          older projects, usually GPL</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032F62"/>
                </a:solidFill>
                <a:latin typeface="Consolas" pitchFamily="34" charset="0"/>
                <a:ea typeface="Consolas" pitchFamily="34" charset="-122"/>
                <a:cs typeface="Consolas" pitchFamily="34" charset="-120"/>
              </a:rPr>
              <a:t>No such file?  Then no permission was granted.</a:t>
            </a:r>
            <a:endParaRPr lang="en-US" sz="1450" dirty="0"/>
          </a:p>
        </p:txBody>
      </p:sp>
      <p:sp>
        <p:nvSpPr>
          <p:cNvPr id="5" name="Text 3"/>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1786930"/>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a log entry actually looks like</a:t>
            </a:r>
            <a:endParaRPr lang="en-US" sz="3700" dirty="0"/>
          </a:p>
        </p:txBody>
      </p:sp>
      <p:sp>
        <p:nvSpPr>
          <p:cNvPr id="3" name="Shape 1"/>
          <p:cNvSpPr/>
          <p:nvPr/>
        </p:nvSpPr>
        <p:spPr>
          <a:xfrm>
            <a:off x="661475" y="2755602"/>
            <a:ext cx="10868745" cy="2192536"/>
          </a:xfrm>
          <a:prstGeom prst="roundRect">
            <a:avLst>
              <a:gd name="adj" fmla="val 3621"/>
            </a:avLst>
          </a:prstGeom>
          <a:solidFill>
            <a:srgbClr val="F2F2F2"/>
          </a:solidFill>
          <a:ln/>
        </p:spPr>
      </p:sp>
      <p:sp>
        <p:nvSpPr>
          <p:cNvPr id="4" name="Text 2"/>
          <p:cNvSpPr/>
          <p:nvPr/>
        </p:nvSpPr>
        <p:spPr>
          <a:xfrm>
            <a:off x="888283" y="2944614"/>
            <a:ext cx="10415129" cy="1814513"/>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Model used:</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What I asked:</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What came back, in summary:</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What I kept: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What I changed, and why:</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How I verified it:</a:t>
            </a:r>
            <a:endParaRPr lang="en-US" sz="1450" dirty="0"/>
          </a:p>
        </p:txBody>
      </p:sp>
      <p:sp>
        <p:nvSpPr>
          <p:cNvPr id="5" name="Text 3"/>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question, and both sides are serious</a:t>
            </a:r>
            <a:endParaRPr lang="en-US" sz="3700" dirty="0"/>
          </a:p>
        </p:txBody>
      </p:sp>
      <p:sp>
        <p:nvSpPr>
          <p:cNvPr id="4" name="Text 1"/>
          <p:cNvSpPr/>
          <p:nvPr/>
        </p:nvSpPr>
        <p:spPr>
          <a:xfrm>
            <a:off x="5233360" y="3395960"/>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Does the prompt writer own the output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Yes: you chose, judged, revised, integrated</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 it was assembled from other people's work</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Pick a side and argue the other one honestly</a:t>
            </a:r>
            <a:endParaRPr lang="en-US" sz="1450" dirty="0"/>
          </a:p>
        </p:txBody>
      </p:sp>
      <p:sp>
        <p:nvSpPr>
          <p:cNvPr id="5" name="Text 2"/>
          <p:cNvSpPr/>
          <p:nvPr/>
        </p:nvSpPr>
        <p:spPr>
          <a:xfrm>
            <a:off x="4704141"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475" y="1411585"/>
            <a:ext cx="6903269" cy="3911898"/>
          </a:xfrm>
          <a:prstGeom prst="rect">
            <a:avLst/>
          </a:prstGeom>
        </p:spPr>
      </p:pic>
      <p:sp>
        <p:nvSpPr>
          <p:cNvPr id="3" name="Text 0"/>
          <p:cNvSpPr/>
          <p:nvPr/>
        </p:nvSpPr>
        <p:spPr>
          <a:xfrm>
            <a:off x="8032251" y="1449189"/>
            <a:ext cx="3504219" cy="2362597"/>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You are graded on the argument</a:t>
            </a:r>
            <a:endParaRPr lang="en-US" sz="3700" dirty="0"/>
          </a:p>
        </p:txBody>
      </p:sp>
      <p:sp>
        <p:nvSpPr>
          <p:cNvPr id="4" name="Text 1"/>
          <p:cNvSpPr/>
          <p:nvPr/>
        </p:nvSpPr>
        <p:spPr>
          <a:xfrm>
            <a:off x="8032251" y="4000798"/>
            <a:ext cx="3504219"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State your position clearly</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Give the strongest case for 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Give the strongest case against 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Say what would change your mind</a:t>
            </a:r>
            <a:endParaRPr lang="en-US" sz="1450" dirty="0"/>
          </a:p>
        </p:txBody>
      </p:sp>
      <p:sp>
        <p:nvSpPr>
          <p:cNvPr id="5" name="Text 2"/>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claim I am about to read you</a:t>
            </a:r>
            <a:endParaRPr lang="en-US" sz="3700" dirty="0"/>
          </a:p>
        </p:txBody>
      </p:sp>
      <p:sp>
        <p:nvSpPr>
          <p:cNvPr id="4" name="Text 1"/>
          <p:cNvSpPr/>
          <p:nvPr/>
        </p:nvSpPr>
        <p:spPr>
          <a:xfrm>
            <a:off x="5233360" y="3395960"/>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will sound authoritative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It will be about a topic you cannot check from memory</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Try to trace it to a primary source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 will not be able to</a:t>
            </a:r>
            <a:endParaRPr lang="en-US" sz="1450" dirty="0"/>
          </a:p>
        </p:txBody>
      </p:sp>
      <p:sp>
        <p:nvSpPr>
          <p:cNvPr id="5" name="Text 2"/>
          <p:cNvSpPr/>
          <p:nvPr/>
        </p:nvSpPr>
        <p:spPr>
          <a:xfrm>
            <a:off x="4704141"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61475" y="1661517"/>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this course requires regardless</a:t>
            </a:r>
            <a:endParaRPr lang="en-US" sz="3700" dirty="0"/>
          </a:p>
        </p:txBody>
      </p:sp>
      <p:sp>
        <p:nvSpPr>
          <p:cNvPr id="3" name="Shape 1"/>
          <p:cNvSpPr/>
          <p:nvPr/>
        </p:nvSpPr>
        <p:spPr>
          <a:xfrm>
            <a:off x="661475" y="2630190"/>
            <a:ext cx="5339820" cy="1127224"/>
          </a:xfrm>
          <a:prstGeom prst="roundRect">
            <a:avLst>
              <a:gd name="adj" fmla="val 7043"/>
            </a:avLst>
          </a:prstGeom>
          <a:solidFill>
            <a:srgbClr val="D1E5FA"/>
          </a:solidFill>
          <a:ln w="19050">
            <a:solidFill>
              <a:srgbClr val="B7CBE0"/>
            </a:solidFill>
            <a:prstDash val="solid"/>
          </a:ln>
        </p:spPr>
      </p:sp>
      <p:sp>
        <p:nvSpPr>
          <p:cNvPr id="4" name="Text 2"/>
          <p:cNvSpPr/>
          <p:nvPr/>
        </p:nvSpPr>
        <p:spPr>
          <a:xfrm>
            <a:off x="869531" y="2838252"/>
            <a:ext cx="49237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Log it</a:t>
            </a:r>
            <a:endParaRPr lang="en-US" sz="1850" dirty="0"/>
          </a:p>
        </p:txBody>
      </p:sp>
      <p:sp>
        <p:nvSpPr>
          <p:cNvPr id="5" name="Text 3"/>
          <p:cNvSpPr/>
          <p:nvPr/>
        </p:nvSpPr>
        <p:spPr>
          <a:xfrm>
            <a:off x="869531" y="3246934"/>
            <a:ext cx="4923707"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Log what you used and what you changed</a:t>
            </a:r>
            <a:endParaRPr lang="en-US" sz="1450" dirty="0"/>
          </a:p>
        </p:txBody>
      </p:sp>
      <p:sp>
        <p:nvSpPr>
          <p:cNvPr id="6" name="Shape 4"/>
          <p:cNvSpPr/>
          <p:nvPr/>
        </p:nvSpPr>
        <p:spPr>
          <a:xfrm>
            <a:off x="6190301" y="2630190"/>
            <a:ext cx="5339919" cy="1127224"/>
          </a:xfrm>
          <a:prstGeom prst="roundRect">
            <a:avLst>
              <a:gd name="adj" fmla="val 7043"/>
            </a:avLst>
          </a:prstGeom>
          <a:solidFill>
            <a:srgbClr val="D1E5FA"/>
          </a:solidFill>
          <a:ln w="19050">
            <a:solidFill>
              <a:srgbClr val="B7CBE0"/>
            </a:solidFill>
            <a:prstDash val="solid"/>
          </a:ln>
        </p:spPr>
      </p:sp>
      <p:sp>
        <p:nvSpPr>
          <p:cNvPr id="7" name="Text 5"/>
          <p:cNvSpPr/>
          <p:nvPr/>
        </p:nvSpPr>
        <p:spPr>
          <a:xfrm>
            <a:off x="6398358" y="2838252"/>
            <a:ext cx="4923806"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Explain it</a:t>
            </a:r>
            <a:endParaRPr lang="en-US" sz="1850" dirty="0"/>
          </a:p>
        </p:txBody>
      </p:sp>
      <p:sp>
        <p:nvSpPr>
          <p:cNvPr id="8" name="Text 6"/>
          <p:cNvSpPr/>
          <p:nvPr/>
        </p:nvSpPr>
        <p:spPr>
          <a:xfrm>
            <a:off x="6398358" y="3246934"/>
            <a:ext cx="4923806"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Be able to explain every line you submit</a:t>
            </a:r>
            <a:endParaRPr lang="en-US" sz="1450" dirty="0"/>
          </a:p>
        </p:txBody>
      </p:sp>
      <p:sp>
        <p:nvSpPr>
          <p:cNvPr id="9" name="Shape 7"/>
          <p:cNvSpPr/>
          <p:nvPr/>
        </p:nvSpPr>
        <p:spPr>
          <a:xfrm>
            <a:off x="661475" y="3946426"/>
            <a:ext cx="5339820" cy="1127224"/>
          </a:xfrm>
          <a:prstGeom prst="roundRect">
            <a:avLst>
              <a:gd name="adj" fmla="val 7043"/>
            </a:avLst>
          </a:prstGeom>
          <a:solidFill>
            <a:srgbClr val="D1E5FA"/>
          </a:solidFill>
          <a:ln w="19050">
            <a:solidFill>
              <a:srgbClr val="B7CBE0"/>
            </a:solidFill>
            <a:prstDash val="solid"/>
          </a:ln>
        </p:spPr>
      </p:sp>
      <p:sp>
        <p:nvSpPr>
          <p:cNvPr id="10" name="Text 8"/>
          <p:cNvSpPr/>
          <p:nvPr/>
        </p:nvSpPr>
        <p:spPr>
          <a:xfrm>
            <a:off x="869531" y="4154488"/>
            <a:ext cx="49237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Protect data</a:t>
            </a:r>
            <a:endParaRPr lang="en-US" sz="1850" dirty="0"/>
          </a:p>
        </p:txBody>
      </p:sp>
      <p:sp>
        <p:nvSpPr>
          <p:cNvPr id="11" name="Text 9"/>
          <p:cNvSpPr/>
          <p:nvPr/>
        </p:nvSpPr>
        <p:spPr>
          <a:xfrm>
            <a:off x="869531" y="4563170"/>
            <a:ext cx="4923707"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No personal data in any tool, ever</a:t>
            </a:r>
            <a:endParaRPr lang="en-US" sz="1450" dirty="0"/>
          </a:p>
        </p:txBody>
      </p:sp>
      <p:sp>
        <p:nvSpPr>
          <p:cNvPr id="12" name="Shape 10"/>
          <p:cNvSpPr/>
          <p:nvPr/>
        </p:nvSpPr>
        <p:spPr>
          <a:xfrm>
            <a:off x="6190301" y="3946426"/>
            <a:ext cx="5339919" cy="1127224"/>
          </a:xfrm>
          <a:prstGeom prst="roundRect">
            <a:avLst>
              <a:gd name="adj" fmla="val 7043"/>
            </a:avLst>
          </a:prstGeom>
          <a:solidFill>
            <a:srgbClr val="D1E5FA"/>
          </a:solidFill>
          <a:ln w="19050">
            <a:solidFill>
              <a:srgbClr val="B7CBE0"/>
            </a:solidFill>
            <a:prstDash val="solid"/>
          </a:ln>
        </p:spPr>
      </p:sp>
      <p:sp>
        <p:nvSpPr>
          <p:cNvPr id="13" name="Text 11"/>
          <p:cNvSpPr/>
          <p:nvPr/>
        </p:nvSpPr>
        <p:spPr>
          <a:xfrm>
            <a:off x="6398358" y="4154488"/>
            <a:ext cx="4923806"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These hold</a:t>
            </a:r>
            <a:endParaRPr lang="en-US" sz="1850" dirty="0"/>
          </a:p>
        </p:txBody>
      </p:sp>
      <p:sp>
        <p:nvSpPr>
          <p:cNvPr id="14" name="Text 12"/>
          <p:cNvSpPr/>
          <p:nvPr/>
        </p:nvSpPr>
        <p:spPr>
          <a:xfrm>
            <a:off x="6398358" y="4563170"/>
            <a:ext cx="4923806"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These hold whatever the law decides</a:t>
            </a:r>
            <a:endParaRPr lang="en-US" sz="1450" dirty="0"/>
          </a:p>
        </p:txBody>
      </p:sp>
      <p:sp>
        <p:nvSpPr>
          <p:cNvPr id="15" name="Text 13"/>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sp>
        <p:nvSpPr>
          <p:cNvPr id="4" name="Text 1"/>
          <p:cNvSpPr/>
          <p:nvPr/>
        </p:nvSpPr>
        <p:spPr>
          <a:xfrm>
            <a:off x="661475" y="3395960"/>
            <a:ext cx="6296860" cy="1407914"/>
          </a:xfrm>
          <a:prstGeom prst="rect">
            <a:avLst/>
          </a:prstGeom>
          <a:noFill/>
          <a:ln/>
        </p:spPr>
        <p:txBody>
          <a:bodyPr wrap="square" lIns="0" tIns="75608"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Quote the ownership clause from the actual terms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One sentence each on MIT, Apache, GPL</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300 to 400 word position paper</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Your first complete AI usage log entry</a:t>
            </a:r>
            <a:endParaRPr lang="en-US" sz="1450" dirty="0"/>
          </a:p>
        </p:txBody>
      </p:sp>
      <p:sp>
        <p:nvSpPr>
          <p:cNvPr id="5" name="Text 2"/>
          <p:cNvSpPr/>
          <p:nvPr/>
        </p:nvSpPr>
        <p:spPr>
          <a:xfrm>
            <a:off x="132255" y="6457255"/>
            <a:ext cx="3640642" cy="158750"/>
          </a:xfrm>
          <a:prstGeom prst="rect">
            <a:avLst/>
          </a:prstGeom>
          <a:noFill/>
          <a:ln/>
        </p:spPr>
        <p:txBody>
          <a:bodyPr wrap="none" lIns="0" tIns="99235"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2026-09-01T16:09:28Z</dcterms:created>
  <dcterms:modified xsi:type="dcterms:W3CDTF">2026-09-01T16:09:28Z</dcterms:modified>
</cp:coreProperties>
</file>