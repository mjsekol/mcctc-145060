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a sprint dies. Nobody wrote down the limits. The plan assumed four people in the room every day. BPA week happened, which everyone knew about in November, and on December sixteenth the team discovers it has half the time it planned for. At that point there is no decision left, only less. Today you write the limits down while cutting is still a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requirement is something the program does. A constraint is a fence around where the program is allowed to exist. Technical limits, time limits, people limits, legal and ethical limits, and whatever the stakeholder cannot bend on. Every one you write down needs a reason next to it. A constraint with a reason can be questioned or confirmed. A constraint without one is a rumor.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building in Python, and I want you to be able to say why, because a stakeholder might ask. Python reads and checks messy files, you can test it, and it runs on these machines. A spreadsheet is what many stakeholders already use, and one dragged formula can break it without a sound. A web page can be shared with one link, and none of you has learned it yet. For this sprint Python wins, and that is a decision with reasons, so it goes in your decision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Timelines run on class days, because weekends and winter break do not build software. Here is our sprint as a list. The BPA days are the ones a competitor might miss, worst case. The loop counts the days that are not BPA days. It prints eleven. Fifteen days in the sprint, eleven in the room. Plan for the worst case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plan forward from today, because forward planning always runs out of days at the end. Start at the date that cannot move, Friday the eighteenth, and count back in class days. Two class days back is Wednesday the sixteenth, the baseline. Five back is Friday the eleventh, the first increment. Eleven back is Thursday the third, which is tomorrow, when your acceptance tests get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is the build time you really have. Days, times blocks per day, times people, minus the blocks you already know you will lose. Six days, two blocks, three people, minus four for BPA. Thirty two blocks. The work is estimated at twenty two, so it fits with ten blocks of slack. That slack is not wasted. Estimates are guesses and guesses run low. Slack is what absorbs the bug that eats a whole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program. This time a teammate copies the BPA dates straight out of the official schedule email, which writes the dates its own way. Everything else is identical. Predict the number before I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Fourteen instead of eleven. Mon Dec zero seven and Mon Dec seven are different strings, so not in is True for every BPA day except Friday, which happened to be written the same way. The plan gains three days that do not exist, capacity looks comfortable, and the team promises more than it can build. A comfortable number stops the questions, which is why this bug survives. Print the list of days you excluded and read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milestone on your timeline needs three things. A class day. One owner, with the backup from your charter. And a done when that a stranger could check. Tests written and failing is checkable. Eighty percent done is not, because nobody can check a percent. When in doubt, make the done when a number of acceptance checks passing.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list every constraint with why it exists, then take a baseline measurement. Count something real in your stakeholder's sample data, like how many rows have a problem nobody would catch today. That number is what Measure means. Build two, your timeline on class days, with BPA week and every known absence in it. Count capacity. Then write down what you will cut first if capacity shrinks, and write it today, while nobody is panicking.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2.png"/><Relationship Id="rId9" Type="http://schemas.openxmlformats.org/officeDocument/2006/relationships/image" Target="../media/image-3-3.sv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Constraints and Timelines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December 16 is too late to find out</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demo is Friday, December 18</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Two teammates were at Regional all week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plan assumed everyone, every 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Now the only choice is shipping less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29332"/>
            <a:ext cx="6296860" cy="996752"/>
          </a:xfrm>
          <a:prstGeom prst="rect">
            <a:avLst/>
          </a:prstGeom>
          <a:noFill/>
          <a:ln/>
        </p:spPr>
        <p:txBody>
          <a:bodyPr wrap="square" lIns="0" tIns="0" rIns="0" bIns="0" rtlCol="0" anchor="t">
            <a:normAutofit/>
          </a:bodyPr>
          <a:lstStyle/>
          <a:p>
            <a:pPr algn="l" indent="0" marL="0">
              <a:lnSpc>
                <a:spcPct val="104000"/>
              </a:lnSpc>
              <a:buNone/>
            </a:pPr>
            <a:r>
              <a:rPr lang="en-US" sz="3100" b="1" dirty="0">
                <a:solidFill>
                  <a:srgbClr val="111111"/>
                </a:solidFill>
                <a:latin typeface="Orbitron Bold" pitchFamily="34" charset="0"/>
                <a:ea typeface="Orbitron Bold" pitchFamily="34" charset="-122"/>
                <a:cs typeface="Orbitron Bold" pitchFamily="34" charset="-120"/>
              </a:rPr>
              <a:t>A constraint is a fence, not a feature</a:t>
            </a:r>
            <a:endParaRPr lang="en-US" sz="31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1727895"/>
            <a:ext cx="6296860" cy="921941"/>
          </a:xfrm>
          <a:prstGeom prst="rect">
            <a:avLst/>
          </a:prstGeom>
        </p:spPr>
      </p:pic>
      <p:sp>
        <p:nvSpPr>
          <p:cNvPr id="5" name="Text 1"/>
          <p:cNvSpPr/>
          <p:nvPr/>
        </p:nvSpPr>
        <p:spPr>
          <a:xfrm>
            <a:off x="5488049" y="1906389"/>
            <a:ext cx="5863681" cy="249138"/>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Technical</a:t>
            </a:r>
            <a:endParaRPr lang="en-US" sz="1550" dirty="0"/>
          </a:p>
        </p:txBody>
      </p:sp>
      <p:sp>
        <p:nvSpPr>
          <p:cNvPr id="6" name="Text 2"/>
          <p:cNvSpPr/>
          <p:nvPr/>
        </p:nvSpPr>
        <p:spPr>
          <a:xfrm>
            <a:off x="5488049" y="2236192"/>
            <a:ext cx="5863681" cy="235148"/>
          </a:xfrm>
          <a:prstGeom prst="rect">
            <a:avLst/>
          </a:prstGeom>
          <a:noFill/>
          <a:ln/>
        </p:spPr>
        <p:txBody>
          <a:bodyPr wrap="none" lIns="0" tIns="0" rIns="0" bIns="0" rtlCol="0" anchor="t"/>
          <a:lstStyle/>
          <a:p>
            <a:pPr algn="l" indent="0" marL="0">
              <a:lnSpc>
                <a:spcPct val="123000"/>
              </a:lnSpc>
              <a:buNone/>
            </a:pPr>
            <a:r>
              <a:rPr lang="en-US" sz="1250" dirty="0">
                <a:solidFill>
                  <a:srgbClr val="1C1C1C"/>
                </a:solidFill>
                <a:latin typeface="Roboto Condensed" pitchFamily="34" charset="0"/>
                <a:ea typeface="Roboto Condensed" pitchFamily="34" charset="-122"/>
                <a:cs typeface="Roboto Condensed" pitchFamily="34" charset="-120"/>
              </a:rPr>
              <a:t>Standard library, lab machines, Python 3.14</a:t>
            </a:r>
            <a:endParaRPr lang="en-US" sz="12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2784376"/>
            <a:ext cx="6296860" cy="921941"/>
          </a:xfrm>
          <a:prstGeom prst="rect">
            <a:avLst/>
          </a:prstGeom>
        </p:spPr>
      </p:pic>
      <p:sp>
        <p:nvSpPr>
          <p:cNvPr id="8" name="Text 3"/>
          <p:cNvSpPr/>
          <p:nvPr/>
        </p:nvSpPr>
        <p:spPr>
          <a:xfrm>
            <a:off x="5488049" y="2962870"/>
            <a:ext cx="5863681" cy="249138"/>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Time</a:t>
            </a:r>
            <a:endParaRPr lang="en-US" sz="1550" dirty="0"/>
          </a:p>
        </p:txBody>
      </p:sp>
      <p:sp>
        <p:nvSpPr>
          <p:cNvPr id="9" name="Text 4"/>
          <p:cNvSpPr/>
          <p:nvPr/>
        </p:nvSpPr>
        <p:spPr>
          <a:xfrm>
            <a:off x="5488049" y="3292673"/>
            <a:ext cx="5863681" cy="235148"/>
          </a:xfrm>
          <a:prstGeom prst="rect">
            <a:avLst/>
          </a:prstGeom>
          <a:noFill/>
          <a:ln/>
        </p:spPr>
        <p:txBody>
          <a:bodyPr wrap="none" lIns="0" tIns="0" rIns="0" bIns="0" rtlCol="0" anchor="t"/>
          <a:lstStyle/>
          <a:p>
            <a:pPr algn="l" indent="0" marL="0">
              <a:lnSpc>
                <a:spcPct val="123000"/>
              </a:lnSpc>
              <a:buNone/>
            </a:pPr>
            <a:r>
              <a:rPr lang="en-US" sz="1250" dirty="0">
                <a:solidFill>
                  <a:srgbClr val="1C1C1C"/>
                </a:solidFill>
                <a:latin typeface="Roboto Condensed" pitchFamily="34" charset="0"/>
                <a:ea typeface="Roboto Condensed" pitchFamily="34" charset="-122"/>
                <a:cs typeface="Roboto Condensed" pitchFamily="34" charset="-120"/>
              </a:rPr>
              <a:t>Acceptance demo Friday, December 18</a:t>
            </a:r>
            <a:endParaRPr lang="en-US" sz="12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3840857"/>
            <a:ext cx="6296860" cy="921941"/>
          </a:xfrm>
          <a:prstGeom prst="rect">
            <a:avLst/>
          </a:prstGeom>
        </p:spPr>
      </p:pic>
      <p:sp>
        <p:nvSpPr>
          <p:cNvPr id="11" name="Text 5"/>
          <p:cNvSpPr/>
          <p:nvPr/>
        </p:nvSpPr>
        <p:spPr>
          <a:xfrm>
            <a:off x="5488049" y="4019352"/>
            <a:ext cx="5863681" cy="249138"/>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People</a:t>
            </a:r>
            <a:endParaRPr lang="en-US" sz="1550" dirty="0"/>
          </a:p>
        </p:txBody>
      </p:sp>
      <p:sp>
        <p:nvSpPr>
          <p:cNvPr id="12" name="Text 6"/>
          <p:cNvSpPr/>
          <p:nvPr/>
        </p:nvSpPr>
        <p:spPr>
          <a:xfrm>
            <a:off x="5488049" y="4349155"/>
            <a:ext cx="5863681" cy="235148"/>
          </a:xfrm>
          <a:prstGeom prst="rect">
            <a:avLst/>
          </a:prstGeom>
          <a:noFill/>
          <a:ln/>
        </p:spPr>
        <p:txBody>
          <a:bodyPr wrap="none" lIns="0" tIns="0" rIns="0" bIns="0" rtlCol="0" anchor="t"/>
          <a:lstStyle/>
          <a:p>
            <a:pPr algn="l" indent="0" marL="0">
              <a:lnSpc>
                <a:spcPct val="123000"/>
              </a:lnSpc>
              <a:buNone/>
            </a:pPr>
            <a:r>
              <a:rPr lang="en-US" sz="1250" dirty="0">
                <a:solidFill>
                  <a:srgbClr val="1C1C1C"/>
                </a:solidFill>
                <a:latin typeface="Roboto Condensed" pitchFamily="34" charset="0"/>
                <a:ea typeface="Roboto Condensed" pitchFamily="34" charset="-122"/>
                <a:cs typeface="Roboto Condensed" pitchFamily="34" charset="-120"/>
              </a:rPr>
              <a:t>Known BPA days, known absences</a:t>
            </a:r>
            <a:endParaRPr lang="en-US" sz="12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4897338"/>
            <a:ext cx="6296860" cy="921941"/>
          </a:xfrm>
          <a:prstGeom prst="rect">
            <a:avLst/>
          </a:prstGeom>
        </p:spPr>
      </p:pic>
      <p:sp>
        <p:nvSpPr>
          <p:cNvPr id="14" name="Text 7"/>
          <p:cNvSpPr/>
          <p:nvPr/>
        </p:nvSpPr>
        <p:spPr>
          <a:xfrm>
            <a:off x="5488049" y="5075833"/>
            <a:ext cx="5863681" cy="249138"/>
          </a:xfrm>
          <a:prstGeom prst="rect">
            <a:avLst/>
          </a:prstGeom>
          <a:noFill/>
          <a:ln/>
        </p:spPr>
        <p:txBody>
          <a:bodyPr wrap="none" lIns="0" tIns="0" rIns="0" bIns="0" rtlCol="0" anchor="t"/>
          <a:lstStyle/>
          <a:p>
            <a:pPr algn="l" indent="0" marL="0">
              <a:lnSpc>
                <a:spcPct val="104000"/>
              </a:lnSpc>
              <a:buNone/>
            </a:pPr>
            <a:r>
              <a:rPr lang="en-US" sz="1550" b="1" dirty="0">
                <a:solidFill>
                  <a:srgbClr val="1C1C1C"/>
                </a:solidFill>
                <a:latin typeface="Orbitron Bold" pitchFamily="34" charset="0"/>
                <a:ea typeface="Orbitron Bold" pitchFamily="34" charset="-122"/>
                <a:cs typeface="Orbitron Bold" pitchFamily="34" charset="-120"/>
              </a:rPr>
              <a:t>Legal and ethical</a:t>
            </a:r>
            <a:endParaRPr lang="en-US" sz="1550" dirty="0"/>
          </a:p>
        </p:txBody>
      </p:sp>
      <p:sp>
        <p:nvSpPr>
          <p:cNvPr id="15" name="Text 8"/>
          <p:cNvSpPr/>
          <p:nvPr/>
        </p:nvSpPr>
        <p:spPr>
          <a:xfrm>
            <a:off x="5488049" y="5405636"/>
            <a:ext cx="5863681" cy="235148"/>
          </a:xfrm>
          <a:prstGeom prst="rect">
            <a:avLst/>
          </a:prstGeom>
          <a:noFill/>
          <a:ln/>
        </p:spPr>
        <p:txBody>
          <a:bodyPr wrap="none" lIns="0" tIns="0" rIns="0" bIns="0" rtlCol="0" anchor="t"/>
          <a:lstStyle/>
          <a:p>
            <a:pPr algn="l" indent="0" marL="0">
              <a:lnSpc>
                <a:spcPct val="123000"/>
              </a:lnSpc>
              <a:buNone/>
            </a:pPr>
            <a:r>
              <a:rPr lang="en-US" sz="1250" dirty="0">
                <a:solidFill>
                  <a:srgbClr val="1C1C1C"/>
                </a:solidFill>
                <a:latin typeface="Roboto Condensed" pitchFamily="34" charset="0"/>
                <a:ea typeface="Roboto Condensed" pitchFamily="34" charset="-122"/>
                <a:cs typeface="Roboto Condensed" pitchFamily="34" charset="-120"/>
              </a:rPr>
              <a:t>No personal information, ever</a:t>
            </a:r>
            <a:endParaRPr lang="en-US" sz="1250" dirty="0"/>
          </a:p>
        </p:txBody>
      </p:sp>
      <p:sp>
        <p:nvSpPr>
          <p:cNvPr id="16" name="Text 9"/>
          <p:cNvSpPr/>
          <p:nvPr/>
        </p:nvSpPr>
        <p:spPr>
          <a:xfrm>
            <a:off x="5233360" y="5970588"/>
            <a:ext cx="6906444" cy="235148"/>
          </a:xfrm>
          <a:prstGeom prst="rect">
            <a:avLst/>
          </a:prstGeom>
          <a:noFill/>
          <a:ln/>
        </p:spPr>
        <p:txBody>
          <a:bodyPr wrap="none" lIns="0" tIns="0" rIns="0" bIns="0" rtlCol="0" anchor="t"/>
          <a:lstStyle/>
          <a:p>
            <a:pPr algn="l" indent="0" marL="0">
              <a:lnSpc>
                <a:spcPct val="123000"/>
              </a:lnSpc>
              <a:buNone/>
            </a:pPr>
            <a:r>
              <a:rPr lang="en-US" sz="1250" dirty="0">
                <a:solidFill>
                  <a:srgbClr val="1C1C1C"/>
                </a:solidFill>
                <a:latin typeface="Roboto Condensed" pitchFamily="34" charset="0"/>
                <a:ea typeface="Roboto Condensed" pitchFamily="34" charset="-122"/>
                <a:cs typeface="Roboto Condensed" pitchFamily="34" charset="-120"/>
              </a:rPr>
              <a:t>Every constraint comes with why it exists</a:t>
            </a:r>
            <a:endParaRPr lang="en-US" sz="1250" dirty="0"/>
          </a:p>
        </p:txBody>
      </p:sp>
      <p:sp>
        <p:nvSpPr>
          <p:cNvPr id="17" name="Text 10"/>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76190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language is a constraint too</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Text 1"/>
          <p:cNvSpPr/>
          <p:nvPr/>
        </p:nvSpPr>
        <p:spPr>
          <a:xfrm>
            <a:off x="8032251" y="2547739"/>
            <a:ext cx="3504219" cy="2617589"/>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Python: reads and validates files, testable, runs here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Spreadsheet: stakeholder knows it, but breaks silently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JavaScript page: shareable, but nobody here knows it yet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Choosing Python is a decision. Log the reason.</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8796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Count class days, not calendar days</a:t>
            </a:r>
            <a:endParaRPr lang="en-US" sz="3700" dirty="0"/>
          </a:p>
        </p:txBody>
      </p:sp>
      <p:sp>
        <p:nvSpPr>
          <p:cNvPr id="3" name="Shape 1"/>
          <p:cNvSpPr/>
          <p:nvPr/>
        </p:nvSpPr>
        <p:spPr>
          <a:xfrm>
            <a:off x="661475" y="1848346"/>
            <a:ext cx="10868745" cy="4007048"/>
          </a:xfrm>
          <a:prstGeom prst="roundRect">
            <a:avLst>
              <a:gd name="adj" fmla="val 1981"/>
            </a:avLst>
          </a:prstGeom>
          <a:solidFill>
            <a:srgbClr val="F2F2F2"/>
          </a:solidFill>
          <a:ln/>
        </p:spPr>
      </p:sp>
      <p:sp>
        <p:nvSpPr>
          <p:cNvPr id="4" name="Text 2"/>
          <p:cNvSpPr/>
          <p:nvPr/>
        </p:nvSpPr>
        <p:spPr>
          <a:xfrm>
            <a:off x="888283" y="2037358"/>
            <a:ext cx="10415129" cy="362902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class_days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"Mon Nov 30", "Tue Dec 1", "Wed Dec 2", "Thu Dec 3", "Fri Dec 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"Mon Dec 7", "Tue Dec 8", "Wed Dec 9", "Thu Dec 10", "Fri Dec 11",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"Mon Dec 14", "Tue Dec 15", "Wed Dec 16", "Thu Dec 17", "Fri Dec 18",</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bpa_days = ["Mon Dec 7", "Tue Dec 8", "Wed Dec 9", "Fri Dec 11"]</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here = 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for day in class_days: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day not in bpa_days: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here = here + 1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print("Days a competitor is in the room:", here)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79834"/>
            <a:ext cx="6296860" cy="1162844"/>
          </a:xfrm>
          <a:prstGeom prst="rect">
            <a:avLst/>
          </a:prstGeom>
          <a:noFill/>
          <a:ln/>
        </p:spPr>
        <p:txBody>
          <a:bodyPr wrap="square" lIns="0" tIns="0" rIns="0" bIns="0" rtlCol="0" anchor="t">
            <a:normAutofit/>
          </a:bodyPr>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Plan backward from what cannot move</a:t>
            </a:r>
            <a:endParaRPr lang="en-US" sz="3650" dirty="0"/>
          </a:p>
        </p:txBody>
      </p:sp>
      <p:sp>
        <p:nvSpPr>
          <p:cNvPr id="4" name="Shape 1"/>
          <p:cNvSpPr/>
          <p:nvPr/>
        </p:nvSpPr>
        <p:spPr>
          <a:xfrm>
            <a:off x="870722" y="2017415"/>
            <a:ext cx="25399" cy="4137819"/>
          </a:xfrm>
          <a:prstGeom prst="roundRect">
            <a:avLst>
              <a:gd name="adj" fmla="val 50001"/>
            </a:avLst>
          </a:prstGeom>
          <a:solidFill>
            <a:srgbClr val="B7CBE0"/>
          </a:solidFill>
          <a:ln/>
        </p:spPr>
      </p:sp>
      <p:sp>
        <p:nvSpPr>
          <p:cNvPr id="5" name="Shape 2"/>
          <p:cNvSpPr/>
          <p:nvPr/>
        </p:nvSpPr>
        <p:spPr>
          <a:xfrm>
            <a:off x="1054619" y="2213967"/>
            <a:ext cx="558191" cy="25400"/>
          </a:xfrm>
          <a:prstGeom prst="roundRect">
            <a:avLst>
              <a:gd name="adj" fmla="val 49999"/>
            </a:avLst>
          </a:prstGeom>
          <a:solidFill>
            <a:srgbClr val="B7CBE0"/>
          </a:solidFill>
          <a:ln/>
        </p:spPr>
      </p:sp>
      <p:sp>
        <p:nvSpPr>
          <p:cNvPr id="6" name="Shape 3"/>
          <p:cNvSpPr/>
          <p:nvPr/>
        </p:nvSpPr>
        <p:spPr>
          <a:xfrm>
            <a:off x="661425" y="2017415"/>
            <a:ext cx="418593" cy="418604"/>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731125" y="2052241"/>
            <a:ext cx="279095" cy="348853"/>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1</a:t>
            </a:r>
            <a:endParaRPr lang="en-US" sz="2150" dirty="0"/>
          </a:p>
        </p:txBody>
      </p:sp>
      <p:sp>
        <p:nvSpPr>
          <p:cNvPr id="8" name="Text 5"/>
          <p:cNvSpPr/>
          <p:nvPr/>
        </p:nvSpPr>
        <p:spPr>
          <a:xfrm>
            <a:off x="1801073" y="2081312"/>
            <a:ext cx="515726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Acceptance tests agreed</a:t>
            </a:r>
            <a:endParaRPr lang="en-US" sz="1800" dirty="0"/>
          </a:p>
        </p:txBody>
      </p:sp>
      <p:sp>
        <p:nvSpPr>
          <p:cNvPr id="9" name="Text 6"/>
          <p:cNvSpPr/>
          <p:nvPr/>
        </p:nvSpPr>
        <p:spPr>
          <a:xfrm>
            <a:off x="1801073" y="2481858"/>
            <a:ext cx="515726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Eleven class days before demo</a:t>
            </a:r>
            <a:endParaRPr lang="en-US" sz="1450" dirty="0"/>
          </a:p>
        </p:txBody>
      </p:sp>
      <p:sp>
        <p:nvSpPr>
          <p:cNvPr id="10" name="Shape 7"/>
          <p:cNvSpPr/>
          <p:nvPr/>
        </p:nvSpPr>
        <p:spPr>
          <a:xfrm>
            <a:off x="1054619" y="3340001"/>
            <a:ext cx="558191" cy="25400"/>
          </a:xfrm>
          <a:prstGeom prst="roundRect">
            <a:avLst>
              <a:gd name="adj" fmla="val 49999"/>
            </a:avLst>
          </a:prstGeom>
          <a:solidFill>
            <a:srgbClr val="B7CBE0"/>
          </a:solidFill>
          <a:ln/>
        </p:spPr>
      </p:sp>
      <p:sp>
        <p:nvSpPr>
          <p:cNvPr id="11" name="Shape 8"/>
          <p:cNvSpPr/>
          <p:nvPr/>
        </p:nvSpPr>
        <p:spPr>
          <a:xfrm>
            <a:off x="661425" y="3143448"/>
            <a:ext cx="418593" cy="418604"/>
          </a:xfrm>
          <a:prstGeom prst="roundRect">
            <a:avLst>
              <a:gd name="adj" fmla="val 18669"/>
            </a:avLst>
          </a:prstGeom>
          <a:solidFill>
            <a:srgbClr val="D1E5FA"/>
          </a:solidFill>
          <a:ln w="19050">
            <a:solidFill>
              <a:srgbClr val="B7CBE0"/>
            </a:solidFill>
            <a:prstDash val="solid"/>
          </a:ln>
        </p:spPr>
      </p:sp>
      <p:sp>
        <p:nvSpPr>
          <p:cNvPr id="12" name="Text 9"/>
          <p:cNvSpPr/>
          <p:nvPr/>
        </p:nvSpPr>
        <p:spPr>
          <a:xfrm>
            <a:off x="731125" y="3178274"/>
            <a:ext cx="279095" cy="348853"/>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2</a:t>
            </a:r>
            <a:endParaRPr lang="en-US" sz="2150" dirty="0"/>
          </a:p>
        </p:txBody>
      </p:sp>
      <p:sp>
        <p:nvSpPr>
          <p:cNvPr id="13" name="Text 10"/>
          <p:cNvSpPr/>
          <p:nvPr/>
        </p:nvSpPr>
        <p:spPr>
          <a:xfrm>
            <a:off x="1801073" y="3207345"/>
            <a:ext cx="515726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First working increment</a:t>
            </a:r>
            <a:endParaRPr lang="en-US" sz="1800" dirty="0"/>
          </a:p>
        </p:txBody>
      </p:sp>
      <p:sp>
        <p:nvSpPr>
          <p:cNvPr id="14" name="Text 11"/>
          <p:cNvSpPr/>
          <p:nvPr/>
        </p:nvSpPr>
        <p:spPr>
          <a:xfrm>
            <a:off x="1801073" y="3607891"/>
            <a:ext cx="515726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Five class days before demo</a:t>
            </a:r>
            <a:endParaRPr lang="en-US" sz="1450" dirty="0"/>
          </a:p>
        </p:txBody>
      </p:sp>
      <p:sp>
        <p:nvSpPr>
          <p:cNvPr id="15" name="Shape 12"/>
          <p:cNvSpPr/>
          <p:nvPr/>
        </p:nvSpPr>
        <p:spPr>
          <a:xfrm>
            <a:off x="1054619" y="4466034"/>
            <a:ext cx="558191" cy="25400"/>
          </a:xfrm>
          <a:prstGeom prst="roundRect">
            <a:avLst>
              <a:gd name="adj" fmla="val 49999"/>
            </a:avLst>
          </a:prstGeom>
          <a:solidFill>
            <a:srgbClr val="B7CBE0"/>
          </a:solidFill>
          <a:ln/>
        </p:spPr>
      </p:sp>
      <p:sp>
        <p:nvSpPr>
          <p:cNvPr id="16" name="Shape 13"/>
          <p:cNvSpPr/>
          <p:nvPr/>
        </p:nvSpPr>
        <p:spPr>
          <a:xfrm>
            <a:off x="661425" y="4269482"/>
            <a:ext cx="418593" cy="418604"/>
          </a:xfrm>
          <a:prstGeom prst="roundRect">
            <a:avLst>
              <a:gd name="adj" fmla="val 18669"/>
            </a:avLst>
          </a:prstGeom>
          <a:solidFill>
            <a:srgbClr val="D1E5FA"/>
          </a:solidFill>
          <a:ln w="19050">
            <a:solidFill>
              <a:srgbClr val="B7CBE0"/>
            </a:solidFill>
            <a:prstDash val="solid"/>
          </a:ln>
        </p:spPr>
      </p:sp>
      <p:sp>
        <p:nvSpPr>
          <p:cNvPr id="17" name="Text 14"/>
          <p:cNvSpPr/>
          <p:nvPr/>
        </p:nvSpPr>
        <p:spPr>
          <a:xfrm>
            <a:off x="731125" y="4304308"/>
            <a:ext cx="279095" cy="348853"/>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3</a:t>
            </a:r>
            <a:endParaRPr lang="en-US" sz="2150" dirty="0"/>
          </a:p>
        </p:txBody>
      </p:sp>
      <p:sp>
        <p:nvSpPr>
          <p:cNvPr id="18" name="Text 15"/>
          <p:cNvSpPr/>
          <p:nvPr/>
        </p:nvSpPr>
        <p:spPr>
          <a:xfrm>
            <a:off x="1801073" y="4333379"/>
            <a:ext cx="515726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Baseline</a:t>
            </a:r>
            <a:endParaRPr lang="en-US" sz="1800" dirty="0"/>
          </a:p>
        </p:txBody>
      </p:sp>
      <p:sp>
        <p:nvSpPr>
          <p:cNvPr id="19" name="Text 16"/>
          <p:cNvSpPr/>
          <p:nvPr/>
        </p:nvSpPr>
        <p:spPr>
          <a:xfrm>
            <a:off x="1801073" y="4733925"/>
            <a:ext cx="515726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Two class days before demo</a:t>
            </a:r>
            <a:endParaRPr lang="en-US" sz="1450" dirty="0"/>
          </a:p>
        </p:txBody>
      </p:sp>
      <p:sp>
        <p:nvSpPr>
          <p:cNvPr id="20" name="Shape 17"/>
          <p:cNvSpPr/>
          <p:nvPr/>
        </p:nvSpPr>
        <p:spPr>
          <a:xfrm>
            <a:off x="1054619" y="5592068"/>
            <a:ext cx="558191" cy="25400"/>
          </a:xfrm>
          <a:prstGeom prst="roundRect">
            <a:avLst>
              <a:gd name="adj" fmla="val 49999"/>
            </a:avLst>
          </a:prstGeom>
          <a:solidFill>
            <a:srgbClr val="B7CBE0"/>
          </a:solidFill>
          <a:ln/>
        </p:spPr>
      </p:sp>
      <p:sp>
        <p:nvSpPr>
          <p:cNvPr id="21" name="Shape 18"/>
          <p:cNvSpPr/>
          <p:nvPr/>
        </p:nvSpPr>
        <p:spPr>
          <a:xfrm>
            <a:off x="661425" y="5395516"/>
            <a:ext cx="418593" cy="418604"/>
          </a:xfrm>
          <a:prstGeom prst="roundRect">
            <a:avLst>
              <a:gd name="adj" fmla="val 18669"/>
            </a:avLst>
          </a:prstGeom>
          <a:solidFill>
            <a:srgbClr val="D1E5FA"/>
          </a:solidFill>
          <a:ln w="19050">
            <a:solidFill>
              <a:srgbClr val="B7CBE0"/>
            </a:solidFill>
            <a:prstDash val="solid"/>
          </a:ln>
        </p:spPr>
      </p:sp>
      <p:sp>
        <p:nvSpPr>
          <p:cNvPr id="22" name="Text 19"/>
          <p:cNvSpPr/>
          <p:nvPr/>
        </p:nvSpPr>
        <p:spPr>
          <a:xfrm>
            <a:off x="731125" y="5430341"/>
            <a:ext cx="279095" cy="348853"/>
          </a:xfrm>
          <a:prstGeom prst="rect">
            <a:avLst/>
          </a:prstGeom>
          <a:noFill/>
          <a:ln/>
        </p:spPr>
        <p:txBody>
          <a:bodyPr wrap="none" lIns="0" tIns="0" rIns="0" bIns="0" rtlCol="0" anchor="ctr"/>
          <a:lstStyle/>
          <a:p>
            <a:pPr algn="ctr" indent="0" marL="0">
              <a:lnSpc>
                <a:spcPct val="100000"/>
              </a:lnSpc>
              <a:buNone/>
            </a:pPr>
            <a:r>
              <a:rPr lang="en-US" sz="2150" b="1" dirty="0">
                <a:solidFill>
                  <a:srgbClr val="1C1C1C"/>
                </a:solidFill>
                <a:latin typeface="Orbitron Bold" pitchFamily="34" charset="0"/>
                <a:ea typeface="Orbitron Bold" pitchFamily="34" charset="-122"/>
                <a:cs typeface="Orbitron Bold" pitchFamily="34" charset="-120"/>
              </a:rPr>
              <a:t>4</a:t>
            </a:r>
            <a:endParaRPr lang="en-US" sz="2150" dirty="0"/>
          </a:p>
        </p:txBody>
      </p:sp>
      <p:sp>
        <p:nvSpPr>
          <p:cNvPr id="23" name="Text 20"/>
          <p:cNvSpPr/>
          <p:nvPr/>
        </p:nvSpPr>
        <p:spPr>
          <a:xfrm>
            <a:off x="1801073" y="5459413"/>
            <a:ext cx="515726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Demo date</a:t>
            </a:r>
            <a:endParaRPr lang="en-US" sz="1800" dirty="0"/>
          </a:p>
        </p:txBody>
      </p:sp>
      <p:sp>
        <p:nvSpPr>
          <p:cNvPr id="24" name="Text 21"/>
          <p:cNvSpPr/>
          <p:nvPr/>
        </p:nvSpPr>
        <p:spPr>
          <a:xfrm>
            <a:off x="1801073" y="5859959"/>
            <a:ext cx="515726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Fixed. Start there.</a:t>
            </a:r>
            <a:endParaRPr lang="en-US" sz="1450" dirty="0"/>
          </a:p>
        </p:txBody>
      </p:sp>
      <p:sp>
        <p:nvSpPr>
          <p:cNvPr id="25" name="Text 2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8796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Does the work fit</a:t>
            </a:r>
            <a:endParaRPr lang="en-US" sz="3700" dirty="0"/>
          </a:p>
        </p:txBody>
      </p:sp>
      <p:sp>
        <p:nvSpPr>
          <p:cNvPr id="3" name="Shape 1"/>
          <p:cNvSpPr/>
          <p:nvPr/>
        </p:nvSpPr>
        <p:spPr>
          <a:xfrm>
            <a:off x="661475" y="1848346"/>
            <a:ext cx="10868745" cy="4007048"/>
          </a:xfrm>
          <a:prstGeom prst="roundRect">
            <a:avLst>
              <a:gd name="adj" fmla="val 1981"/>
            </a:avLst>
          </a:prstGeom>
          <a:solidFill>
            <a:srgbClr val="F2F2F2"/>
          </a:solidFill>
          <a:ln/>
        </p:spPr>
      </p:sp>
      <p:sp>
        <p:nvSpPr>
          <p:cNvPr id="4" name="Text 2"/>
          <p:cNvSpPr/>
          <p:nvPr/>
        </p:nvSpPr>
        <p:spPr>
          <a:xfrm>
            <a:off x="888283" y="2037358"/>
            <a:ext cx="10415129" cy="362902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remaining_estimate = 22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days_left = 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blocks_per_day = 2</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people = 3</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absences = 4</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capacity = days_left * blocks_per_day * people - absences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print("Capacity:", capacity, "Remaining:", remaining_estimate)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remaining_estimate &gt; capacity: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print("Cut scope now.")</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print("Fits, with", capacity - remaining_estimate, "blocks of slack.")</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Copied from the BPA schedule email.</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bpa_days = ["Mon Dec 07", "Tue Dec 08", "Wed Dec 09", "Fri Dec 11"]</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here = 0</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for day in class_days:</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if day not in bpa_days:</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here = here + 1</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print("Days a competitor is in the room:", here)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294930"/>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days that do not exist</a:t>
            </a:r>
            <a:endParaRPr lang="en-US" sz="3700" dirty="0"/>
          </a:p>
        </p:txBody>
      </p:sp>
      <p:sp>
        <p:nvSpPr>
          <p:cNvPr id="4" name="Shape 1"/>
          <p:cNvSpPr/>
          <p:nvPr/>
        </p:nvSpPr>
        <p:spPr>
          <a:xfrm>
            <a:off x="5233360" y="3759696"/>
            <a:ext cx="6296860" cy="680442"/>
          </a:xfrm>
          <a:prstGeom prst="roundRect">
            <a:avLst>
              <a:gd name="adj" fmla="val 11667"/>
            </a:avLst>
          </a:prstGeom>
          <a:solidFill>
            <a:srgbClr val="F2F2F2"/>
          </a:solidFill>
          <a:ln/>
        </p:spPr>
      </p:sp>
      <p:sp>
        <p:nvSpPr>
          <p:cNvPr id="5" name="Text 2"/>
          <p:cNvSpPr/>
          <p:nvPr/>
        </p:nvSpPr>
        <p:spPr>
          <a:xfrm>
            <a:off x="5460169" y="3948708"/>
            <a:ext cx="6452828"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Days a competitor is in the room: 14</a:t>
            </a:r>
            <a:endParaRPr lang="en-US" sz="1450" dirty="0"/>
          </a:p>
        </p:txBody>
      </p:sp>
      <p:sp>
        <p:nvSpPr>
          <p:cNvPr id="6" name="Text 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milestone you can check</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date on a class 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named owner, plus a backup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Done when: something a stranger could verify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Tested checks passing, not percent complete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6615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Shape 1"/>
          <p:cNvSpPr/>
          <p:nvPr/>
        </p:nvSpPr>
        <p:spPr>
          <a:xfrm>
            <a:off x="661475" y="2630190"/>
            <a:ext cx="5339820"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2838252"/>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a:t>
            </a:r>
            <a:endParaRPr lang="en-US" sz="1850" dirty="0"/>
          </a:p>
        </p:txBody>
      </p:sp>
      <p:sp>
        <p:nvSpPr>
          <p:cNvPr id="5" name="Text 3"/>
          <p:cNvSpPr/>
          <p:nvPr/>
        </p:nvSpPr>
        <p:spPr>
          <a:xfrm>
            <a:off x="869531" y="3246934"/>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Constraints, each with its reason</a:t>
            </a:r>
            <a:endParaRPr lang="en-US" sz="1450" dirty="0"/>
          </a:p>
        </p:txBody>
      </p:sp>
      <p:sp>
        <p:nvSpPr>
          <p:cNvPr id="6" name="Shape 4"/>
          <p:cNvSpPr/>
          <p:nvPr/>
        </p:nvSpPr>
        <p:spPr>
          <a:xfrm>
            <a:off x="6190301" y="2630190"/>
            <a:ext cx="5339919"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6398358" y="2838252"/>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1</a:t>
            </a:r>
            <a:endParaRPr lang="en-US" sz="1850" dirty="0"/>
          </a:p>
        </p:txBody>
      </p:sp>
      <p:sp>
        <p:nvSpPr>
          <p:cNvPr id="8" name="Text 6"/>
          <p:cNvSpPr/>
          <p:nvPr/>
        </p:nvSpPr>
        <p:spPr>
          <a:xfrm>
            <a:off x="6398358" y="3246934"/>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baseline measurement from real sample data</a:t>
            </a:r>
            <a:endParaRPr lang="en-US" sz="1450" dirty="0"/>
          </a:p>
        </p:txBody>
      </p:sp>
      <p:sp>
        <p:nvSpPr>
          <p:cNvPr id="9" name="Shape 7"/>
          <p:cNvSpPr/>
          <p:nvPr/>
        </p:nvSpPr>
        <p:spPr>
          <a:xfrm>
            <a:off x="661475" y="3946426"/>
            <a:ext cx="5339820"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69531" y="4154488"/>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a:t>
            </a:r>
            <a:endParaRPr lang="en-US" sz="1850" dirty="0"/>
          </a:p>
        </p:txBody>
      </p:sp>
      <p:sp>
        <p:nvSpPr>
          <p:cNvPr id="11" name="Text 9"/>
          <p:cNvSpPr/>
          <p:nvPr/>
        </p:nvSpPr>
        <p:spPr>
          <a:xfrm>
            <a:off x="869531" y="4563170"/>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timeline on class days, including BPA week</a:t>
            </a:r>
            <a:endParaRPr lang="en-US" sz="1450" dirty="0"/>
          </a:p>
        </p:txBody>
      </p:sp>
      <p:sp>
        <p:nvSpPr>
          <p:cNvPr id="12" name="Shape 10"/>
          <p:cNvSpPr/>
          <p:nvPr/>
        </p:nvSpPr>
        <p:spPr>
          <a:xfrm>
            <a:off x="6190301" y="3946426"/>
            <a:ext cx="5339919" cy="1127224"/>
          </a:xfrm>
          <a:prstGeom prst="roundRect">
            <a:avLst>
              <a:gd name="adj" fmla="val 7043"/>
            </a:avLst>
          </a:prstGeom>
          <a:solidFill>
            <a:srgbClr val="D1E5FA"/>
          </a:solidFill>
          <a:ln w="19050">
            <a:solidFill>
              <a:srgbClr val="B7CBE0"/>
            </a:solidFill>
            <a:prstDash val="solid"/>
          </a:ln>
        </p:spPr>
      </p:sp>
      <p:sp>
        <p:nvSpPr>
          <p:cNvPr id="13" name="Text 11"/>
          <p:cNvSpPr/>
          <p:nvPr/>
        </p:nvSpPr>
        <p:spPr>
          <a:xfrm>
            <a:off x="6398358" y="4154488"/>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Build 2</a:t>
            </a:r>
            <a:endParaRPr lang="en-US" sz="1850" dirty="0"/>
          </a:p>
        </p:txBody>
      </p:sp>
      <p:sp>
        <p:nvSpPr>
          <p:cNvPr id="14" name="Text 12"/>
          <p:cNvSpPr/>
          <p:nvPr/>
        </p:nvSpPr>
        <p:spPr>
          <a:xfrm>
            <a:off x="6398358" y="4563170"/>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Capacity counted, and what you cut first if it shrinks</a:t>
            </a:r>
            <a:endParaRPr lang="en-US" sz="14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2026-09-14T18:32:17Z</dcterms:created>
  <dcterms:modified xsi:type="dcterms:W3CDTF">2026-09-14T18:32:17Z</dcterms:modified>
</cp:coreProperties>
</file>