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group project where all four of you really did work. One person built the input, one built the report, one wrote a README, one made slides. On Friday none of it connects, because nobody agreed on what order the work happens in. Starting today you are on a team, building for somebody who is not you, with a week in the middle where I am not here. Today is about the order of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answer is called waterfall, because work flows downhill and does not flow back up. You finish requirements, get them signed, then design, then build, then test, then deliver. It sounds orderly, and for some projects it is exactly right. Watch what happens when we put it on our real calendar.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waterfall plan as a list. Look at two rows before I run it. Build sits right on top of BPA Regional week. Test starts two days before delivery. Anything testing finds has two days to be fixed. That is the classic waterfall risk. Problems show up late, when they cost the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answer is agile. Instead of one long build, you build a small slice that works all the way through, show it, learn, and plan the next slice. The list of work not yet done is the backlog, ordered by value. Each round is a sprint. Four meetings repeat every sprint: planning, a daily stand-up, a review with the stakeholder, and a retrospective about how the team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backlog. Priority, task, and how many build blocks it needs. The team has five blocks this sprint. The loop takes items from the top while they fit. Run it and you get reading the log and totals by category. After one sprint the stakeholder sees real totals from real data. If the project stopped there, something useful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used DMAIC since Week 4, and it is not a third competitor. It is the frame around everything. The outside runs in order, because you do not build before you know the problem. The inside of Improve runs in sprints, because building is where the surprises live. That is the program rule. Agile ceremonies live inside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tradeoff and I am not going to pretend one side wins. If the rules are fixed by law or contract and the stakeholder can meet twice all project, waterfall is cheaper and more predictable. If nobody really knows what they need until they see something, agile finds out in days instead of at the end. Most real projects are in between, which is why our frame is ordered outside and iterative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backlog. A teammate wants the highest priority first, so they sort with reverse equals True. Priority one is our most important item. Predict what Sprint 1 takes before I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No traceback. The chart eats four of the five blocks, nothing else fits, and Sprint 1 ends with a chart of data the program cannot read yet. Highest priority meant priority one to the team and meant the biggest number to whoever typed reverse. You have seen this shape all semester. One two one two one two, then two oh two, now a sprint plan. The dangerous bugs do not crash, and a plan can be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you meet your team, pick roles, and name a backup for every role, because some of you compete at Regional next week. You write a working agreement, including how you will decide when you disagree, and you write it now while nobody is disagreeing. Build two is Define. A charter draft. Your problem statement says what hurts for your stakeholder, not what you plan to build. Read the first line of your plan out loud before you leave and ask whether your stakeholder would pick it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sv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slideLayout" Target="../slideLayouts/slideLayout2.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2.png"/><Relationship Id="rId5" Type="http://schemas.openxmlformats.org/officeDocument/2006/relationships/image" Target="../media/image-7-3.svg"/><Relationship Id="rId6" Type="http://schemas.openxmlformats.org/officeDocument/2006/relationships/image" Target="../media/image-7-2.png"/><Relationship Id="rId7" Type="http://schemas.openxmlformats.org/officeDocument/2006/relationships/image" Target="../media/image-7-3.svg"/><Relationship Id="rId8" Type="http://schemas.openxmlformats.org/officeDocument/2006/relationships/image" Target="../media/image-7-2.png"/><Relationship Id="rId9" Type="http://schemas.openxmlformats.org/officeDocument/2006/relationships/image" Target="../media/image-7-3.sv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Ordering the Work</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102519"/>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Four people, one week, nothing fits together</a:t>
            </a:r>
            <a:endParaRPr lang="en-US" sz="3700" dirty="0"/>
          </a:p>
        </p:txBody>
      </p:sp>
      <p:sp>
        <p:nvSpPr>
          <p:cNvPr id="4" name="Shape 1"/>
          <p:cNvSpPr/>
          <p:nvPr/>
        </p:nvSpPr>
        <p:spPr>
          <a:xfrm>
            <a:off x="661475" y="2567285"/>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1275723" y="263217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Everyone on the team worked hard</a:t>
            </a:r>
            <a:endParaRPr lang="en-US" sz="1850" dirty="0"/>
          </a:p>
        </p:txBody>
      </p:sp>
      <p:sp>
        <p:nvSpPr>
          <p:cNvPr id="6" name="Shape 3"/>
          <p:cNvSpPr/>
          <p:nvPr/>
        </p:nvSpPr>
        <p:spPr>
          <a:xfrm>
            <a:off x="661475" y="3370560"/>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1275723" y="343544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Nobody's piece connects to anybody else's</a:t>
            </a:r>
            <a:endParaRPr lang="en-US" sz="1850" dirty="0"/>
          </a:p>
        </p:txBody>
      </p:sp>
      <p:sp>
        <p:nvSpPr>
          <p:cNvPr id="8" name="Shape 5"/>
          <p:cNvSpPr/>
          <p:nvPr/>
        </p:nvSpPr>
        <p:spPr>
          <a:xfrm>
            <a:off x="661475" y="4173835"/>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1275723" y="423872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stakeholder sees nothing on Friday</a:t>
            </a:r>
            <a:endParaRPr lang="en-US" sz="1850" dirty="0"/>
          </a:p>
        </p:txBody>
      </p:sp>
      <p:sp>
        <p:nvSpPr>
          <p:cNvPr id="10" name="Shape 7"/>
          <p:cNvSpPr/>
          <p:nvPr/>
        </p:nvSpPr>
        <p:spPr>
          <a:xfrm>
            <a:off x="661475" y="4977110"/>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1275723" y="5041999"/>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problem was never effort. It was order.</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0121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Waterfall, every phase once</a:t>
            </a:r>
            <a:endParaRPr lang="en-US" sz="3700" dirty="0"/>
          </a:p>
        </p:txBody>
      </p:sp>
      <p:pic>
        <p:nvPicPr>
          <p:cNvPr id="3" name="Image 0" descr="preencoded.png">    </p:cNvPr>
          <p:cNvPicPr>
            <a:picLocks noChangeAspect="1"/>
          </p:cNvPicPr>
          <p:nvPr/>
        </p:nvPicPr>
        <p:blipFill>
          <a:blip r:embed="rId1"/>
          <a:stretch>
            <a:fillRect/>
          </a:stretch>
        </p:blipFill>
        <p:spPr>
          <a:xfrm>
            <a:off x="661475" y="1980803"/>
            <a:ext cx="3622882" cy="756047"/>
          </a:xfrm>
          <a:prstGeom prst="rect">
            <a:avLst/>
          </a:prstGeom>
        </p:spPr>
      </p:pic>
      <p:sp>
        <p:nvSpPr>
          <p:cNvPr id="4" name="Text 1"/>
          <p:cNvSpPr/>
          <p:nvPr/>
        </p:nvSpPr>
        <p:spPr>
          <a:xfrm>
            <a:off x="850482" y="2925862"/>
            <a:ext cx="324486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Requirements</a:t>
            </a:r>
            <a:endParaRPr lang="en-US" sz="1850" dirty="0"/>
          </a:p>
        </p:txBody>
      </p:sp>
      <p:pic>
        <p:nvPicPr>
          <p:cNvPr id="5" name="Image 1" descr="preencoded.png">    </p:cNvPr>
          <p:cNvPicPr>
            <a:picLocks noChangeAspect="1"/>
          </p:cNvPicPr>
          <p:nvPr/>
        </p:nvPicPr>
        <p:blipFill>
          <a:blip r:embed="rId2"/>
          <a:stretch>
            <a:fillRect/>
          </a:stretch>
        </p:blipFill>
        <p:spPr>
          <a:xfrm>
            <a:off x="4284357" y="1980803"/>
            <a:ext cx="3622882" cy="756047"/>
          </a:xfrm>
          <a:prstGeom prst="rect">
            <a:avLst/>
          </a:prstGeom>
        </p:spPr>
      </p:pic>
      <p:sp>
        <p:nvSpPr>
          <p:cNvPr id="6" name="Text 2"/>
          <p:cNvSpPr/>
          <p:nvPr/>
        </p:nvSpPr>
        <p:spPr>
          <a:xfrm>
            <a:off x="4473364" y="2925862"/>
            <a:ext cx="324486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Design</a:t>
            </a:r>
            <a:endParaRPr lang="en-US" sz="1850" dirty="0"/>
          </a:p>
        </p:txBody>
      </p:sp>
      <p:pic>
        <p:nvPicPr>
          <p:cNvPr id="7" name="Image 2" descr="preencoded.png">    </p:cNvPr>
          <p:cNvPicPr>
            <a:picLocks noChangeAspect="1"/>
          </p:cNvPicPr>
          <p:nvPr/>
        </p:nvPicPr>
        <p:blipFill>
          <a:blip r:embed="rId3"/>
          <a:stretch>
            <a:fillRect/>
          </a:stretch>
        </p:blipFill>
        <p:spPr>
          <a:xfrm>
            <a:off x="7907239" y="1980803"/>
            <a:ext cx="3622882" cy="756047"/>
          </a:xfrm>
          <a:prstGeom prst="rect">
            <a:avLst/>
          </a:prstGeom>
        </p:spPr>
      </p:pic>
      <p:sp>
        <p:nvSpPr>
          <p:cNvPr id="8" name="Text 3"/>
          <p:cNvSpPr/>
          <p:nvPr/>
        </p:nvSpPr>
        <p:spPr>
          <a:xfrm>
            <a:off x="8096246" y="2925862"/>
            <a:ext cx="324486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a:t>
            </a:r>
            <a:endParaRPr lang="en-US" sz="1850" dirty="0"/>
          </a:p>
        </p:txBody>
      </p:sp>
      <p:pic>
        <p:nvPicPr>
          <p:cNvPr id="9" name="Image 3" descr="preencoded.png">    </p:cNvPr>
          <p:cNvPicPr>
            <a:picLocks noChangeAspect="1"/>
          </p:cNvPicPr>
          <p:nvPr/>
        </p:nvPicPr>
        <p:blipFill>
          <a:blip r:embed="rId4"/>
          <a:stretch>
            <a:fillRect/>
          </a:stretch>
        </p:blipFill>
        <p:spPr>
          <a:xfrm>
            <a:off x="661475" y="3410148"/>
            <a:ext cx="3622882" cy="756047"/>
          </a:xfrm>
          <a:prstGeom prst="rect">
            <a:avLst/>
          </a:prstGeom>
        </p:spPr>
      </p:pic>
      <p:sp>
        <p:nvSpPr>
          <p:cNvPr id="10" name="Text 4"/>
          <p:cNvSpPr/>
          <p:nvPr/>
        </p:nvSpPr>
        <p:spPr>
          <a:xfrm>
            <a:off x="850482" y="4355207"/>
            <a:ext cx="324486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Test</a:t>
            </a:r>
            <a:endParaRPr lang="en-US" sz="1850" dirty="0"/>
          </a:p>
        </p:txBody>
      </p:sp>
      <p:pic>
        <p:nvPicPr>
          <p:cNvPr id="11" name="Image 4" descr="preencoded.png">    </p:cNvPr>
          <p:cNvPicPr>
            <a:picLocks noChangeAspect="1"/>
          </p:cNvPicPr>
          <p:nvPr/>
        </p:nvPicPr>
        <p:blipFill>
          <a:blip r:embed="rId5"/>
          <a:stretch>
            <a:fillRect/>
          </a:stretch>
        </p:blipFill>
        <p:spPr>
          <a:xfrm>
            <a:off x="4284357" y="3410148"/>
            <a:ext cx="3622882" cy="756047"/>
          </a:xfrm>
          <a:prstGeom prst="rect">
            <a:avLst/>
          </a:prstGeom>
        </p:spPr>
      </p:pic>
      <p:sp>
        <p:nvSpPr>
          <p:cNvPr id="12" name="Text 5"/>
          <p:cNvSpPr/>
          <p:nvPr/>
        </p:nvSpPr>
        <p:spPr>
          <a:xfrm>
            <a:off x="4473364" y="4355207"/>
            <a:ext cx="324486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Deliver</a:t>
            </a:r>
            <a:endParaRPr lang="en-US" sz="1850" dirty="0"/>
          </a:p>
        </p:txBody>
      </p:sp>
      <p:sp>
        <p:nvSpPr>
          <p:cNvPr id="13" name="Text 6"/>
          <p:cNvSpPr/>
          <p:nvPr/>
        </p:nvSpPr>
        <p:spPr>
          <a:xfrm>
            <a:off x="661475" y="5052120"/>
            <a:ext cx="10868745" cy="670917"/>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Each phase signed off before the next starts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whole schedule is planned on day one</a:t>
            </a:r>
            <a:endParaRPr lang="en-US" sz="1450" dirty="0"/>
          </a:p>
        </p:txBody>
      </p:sp>
      <p:sp>
        <p:nvSpPr>
          <p:cNvPr id="14"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33330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Waterfall on our calendar</a:t>
            </a:r>
            <a:endParaRPr lang="en-US" sz="3700" dirty="0"/>
          </a:p>
        </p:txBody>
      </p:sp>
      <p:sp>
        <p:nvSpPr>
          <p:cNvPr id="3" name="Shape 1"/>
          <p:cNvSpPr/>
          <p:nvPr/>
        </p:nvSpPr>
        <p:spPr>
          <a:xfrm>
            <a:off x="661475" y="2301974"/>
            <a:ext cx="10868745" cy="3099792"/>
          </a:xfrm>
          <a:prstGeom prst="roundRect">
            <a:avLst>
              <a:gd name="adj" fmla="val 2561"/>
            </a:avLst>
          </a:prstGeom>
          <a:solidFill>
            <a:srgbClr val="F2F2F2"/>
          </a:solidFill>
          <a:ln/>
        </p:spPr>
      </p:sp>
      <p:sp>
        <p:nvSpPr>
          <p:cNvPr id="4" name="Text 2"/>
          <p:cNvSpPr/>
          <p:nvPr/>
        </p:nvSpPr>
        <p:spPr>
          <a:xfrm>
            <a:off x="888283" y="2490986"/>
            <a:ext cx="10415129" cy="2721769"/>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phases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("Requirements", "Mon Nov 30", "Tue Dec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("Design",       "Wed Dec 2",  "Thu Dec 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("Build",        "Mon Dec 7",  "Mon Dec 14"),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("Test",         "Tue Dec 15", "Wed Dec 16"),</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("Deliver",      "Thu Dec 17", "Thu Dec 17"),</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name, start, end in phases: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print(f"{name:&lt;14}{start} to {end}")</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98117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Agile, small working slices</a:t>
            </a:r>
            <a:endParaRPr lang="en-US" sz="3700" dirty="0"/>
          </a:p>
        </p:txBody>
      </p:sp>
      <p:sp>
        <p:nvSpPr>
          <p:cNvPr id="3" name="Text 1"/>
          <p:cNvSpPr/>
          <p:nvPr/>
        </p:nvSpPr>
        <p:spPr>
          <a:xfrm>
            <a:off x="661475" y="2608560"/>
            <a:ext cx="3248837" cy="590550"/>
          </a:xfrm>
          <a:prstGeom prst="rect">
            <a:avLst/>
          </a:prstGeom>
          <a:noFill/>
          <a:ln/>
        </p:spPr>
        <p:txBody>
          <a:bodyPr wrap="square" lIns="0" tIns="0" rIns="0" bIns="0" rtlCol="0" anchor="t">
            <a:normAutofit/>
          </a:bodyPr>
          <a:lstStyle/>
          <a:p>
            <a:pPr algn="r"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a small piece that works end to end</a:t>
            </a:r>
            <a:endParaRPr lang="en-US" sz="1850" dirty="0"/>
          </a:p>
        </p:txBody>
      </p:sp>
      <p:pic>
        <p:nvPicPr>
          <p:cNvPr id="4" name="Image 0" descr="preencoded.png">    </p:cNvPr>
          <p:cNvPicPr>
            <a:picLocks noChangeAspect="1"/>
          </p:cNvPicPr>
          <p:nvPr/>
        </p:nvPicPr>
        <p:blipFill>
          <a:blip r:embed="rId1"/>
          <a:stretch>
            <a:fillRect/>
          </a:stretch>
        </p:blipFill>
        <p:spPr>
          <a:xfrm>
            <a:off x="4193772" y="1949847"/>
            <a:ext cx="3804051" cy="3804146"/>
          </a:xfrm>
          <a:prstGeom prst="rect">
            <a:avLst/>
          </a:prstGeom>
        </p:spPr>
      </p:pic>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88812" y="2621062"/>
            <a:ext cx="282766" cy="282773"/>
          </a:xfrm>
          <a:prstGeom prst="rect">
            <a:avLst/>
          </a:prstGeom>
        </p:spPr>
      </p:pic>
      <p:sp>
        <p:nvSpPr>
          <p:cNvPr id="6" name="Text 2"/>
          <p:cNvSpPr/>
          <p:nvPr/>
        </p:nvSpPr>
        <p:spPr>
          <a:xfrm>
            <a:off x="8281284" y="2460923"/>
            <a:ext cx="3248936"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Show it to the stakeholder, learn something</a:t>
            </a:r>
            <a:endParaRPr lang="en-US" sz="1850" dirty="0"/>
          </a:p>
        </p:txBody>
      </p:sp>
      <p:pic>
        <p:nvPicPr>
          <p:cNvPr id="7" name="Image 2" descr="preencoded.png">    </p:cNvPr>
          <p:cNvPicPr>
            <a:picLocks noChangeAspect="1"/>
          </p:cNvPicPr>
          <p:nvPr/>
        </p:nvPicPr>
        <p:blipFill>
          <a:blip r:embed="rId4"/>
          <a:stretch>
            <a:fillRect/>
          </a:stretch>
        </p:blipFill>
        <p:spPr>
          <a:xfrm>
            <a:off x="4193772" y="1949847"/>
            <a:ext cx="3804051" cy="3804146"/>
          </a:xfrm>
          <a:prstGeom prst="rect">
            <a:avLst/>
          </a:prstGeom>
        </p:spPr>
      </p:pic>
      <p:pic>
        <p:nvPicPr>
          <p:cNvPr id="8"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43661" y="2944813"/>
            <a:ext cx="282766" cy="282773"/>
          </a:xfrm>
          <a:prstGeom prst="rect">
            <a:avLst/>
          </a:prstGeom>
        </p:spPr>
      </p:pic>
      <p:sp>
        <p:nvSpPr>
          <p:cNvPr id="9" name="Text 3"/>
          <p:cNvSpPr/>
          <p:nvPr/>
        </p:nvSpPr>
        <p:spPr>
          <a:xfrm>
            <a:off x="8281284" y="4652367"/>
            <a:ext cx="3248936"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Reorder the backlog, plan the next sprint</a:t>
            </a:r>
            <a:endParaRPr lang="en-US" sz="1850" dirty="0"/>
          </a:p>
        </p:txBody>
      </p:sp>
      <p:pic>
        <p:nvPicPr>
          <p:cNvPr id="10" name="Image 4" descr="preencoded.png">    </p:cNvPr>
          <p:cNvPicPr>
            <a:picLocks noChangeAspect="1"/>
          </p:cNvPicPr>
          <p:nvPr/>
        </p:nvPicPr>
        <p:blipFill>
          <a:blip r:embed="rId7"/>
          <a:stretch>
            <a:fillRect/>
          </a:stretch>
        </p:blipFill>
        <p:spPr>
          <a:xfrm>
            <a:off x="4193772" y="1949847"/>
            <a:ext cx="3804051" cy="3804146"/>
          </a:xfrm>
          <a:prstGeom prst="rect">
            <a:avLst/>
          </a:prstGeom>
        </p:spPr>
      </p:pic>
      <p:pic>
        <p:nvPicPr>
          <p:cNvPr id="11"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719918" y="4799707"/>
            <a:ext cx="282766" cy="282773"/>
          </a:xfrm>
          <a:prstGeom prst="rect">
            <a:avLst/>
          </a:prstGeom>
        </p:spPr>
      </p:pic>
      <p:sp>
        <p:nvSpPr>
          <p:cNvPr id="12" name="Text 4"/>
          <p:cNvSpPr/>
          <p:nvPr/>
        </p:nvSpPr>
        <p:spPr>
          <a:xfrm>
            <a:off x="661475" y="4652367"/>
            <a:ext cx="3248837" cy="590550"/>
          </a:xfrm>
          <a:prstGeom prst="rect">
            <a:avLst/>
          </a:prstGeom>
          <a:noFill/>
          <a:ln/>
        </p:spPr>
        <p:txBody>
          <a:bodyPr wrap="square" lIns="0" tIns="0" rIns="0" bIns="0" rtlCol="0" anchor="t">
            <a:normAutofit/>
          </a:bodyPr>
          <a:lstStyle/>
          <a:p>
            <a:pPr algn="r"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Always have something that runs</a:t>
            </a:r>
            <a:endParaRPr lang="en-US" sz="1850" dirty="0"/>
          </a:p>
        </p:txBody>
      </p:sp>
      <p:pic>
        <p:nvPicPr>
          <p:cNvPr id="13" name="Image 6" descr="preencoded.png">    </p:cNvPr>
          <p:cNvPicPr>
            <a:picLocks noChangeAspect="1"/>
          </p:cNvPicPr>
          <p:nvPr/>
        </p:nvPicPr>
        <p:blipFill>
          <a:blip r:embed="rId10"/>
          <a:stretch>
            <a:fillRect/>
          </a:stretch>
        </p:blipFill>
        <p:spPr>
          <a:xfrm>
            <a:off x="4193772" y="1949847"/>
            <a:ext cx="3804051" cy="3804146"/>
          </a:xfrm>
          <a:prstGeom prst="rect">
            <a:avLst/>
          </a:prstGeom>
        </p:spPr>
      </p:pic>
      <p:pic>
        <p:nvPicPr>
          <p:cNvPr id="14" name="Image 7"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865070" y="4475956"/>
            <a:ext cx="282766" cy="282773"/>
          </a:xfrm>
          <a:prstGeom prst="rect">
            <a:avLst/>
          </a:prstGeom>
        </p:spPr>
      </p:pic>
      <p:sp>
        <p:nvSpPr>
          <p:cNvPr id="15"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72846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backlog, one sprint at a time</a:t>
            </a:r>
            <a:endParaRPr lang="en-US" sz="3700" dirty="0"/>
          </a:p>
        </p:txBody>
      </p:sp>
      <p:sp>
        <p:nvSpPr>
          <p:cNvPr id="3" name="Shape 1"/>
          <p:cNvSpPr/>
          <p:nvPr/>
        </p:nvSpPr>
        <p:spPr>
          <a:xfrm>
            <a:off x="661475" y="1697137"/>
            <a:ext cx="10868745" cy="4309467"/>
          </a:xfrm>
          <a:prstGeom prst="roundRect">
            <a:avLst>
              <a:gd name="adj" fmla="val 1842"/>
            </a:avLst>
          </a:prstGeom>
          <a:solidFill>
            <a:srgbClr val="F2F2F2"/>
          </a:solidFill>
          <a:ln/>
        </p:spPr>
      </p:sp>
      <p:sp>
        <p:nvSpPr>
          <p:cNvPr id="4" name="Text 2"/>
          <p:cNvSpPr/>
          <p:nvPr/>
        </p:nvSpPr>
        <p:spPr>
          <a:xfrm>
            <a:off x="888283" y="1886148"/>
            <a:ext cx="10415129" cy="393144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backlog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(1, "Read the donation log",       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(2, "Total by category",           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(3, "Show what to ask for next",   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(4, "Morning announcement text",   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(5, "Chart of daily totals",       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capacity = 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used = 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priority, task, blocks in backlog: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used + blocks &lt;= capacity: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print("Sprint 1 takes:", task)</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used = used + blocks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19807"/>
            <a:ext cx="10868745"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Where each one lives in DMAIC</a:t>
            </a:r>
            <a:endParaRPr lang="en-US" sz="1850" dirty="0"/>
          </a:p>
        </p:txBody>
      </p:sp>
      <p:pic>
        <p:nvPicPr>
          <p:cNvPr id="3" name="Image 0" descr="preencoded.png">    </p:cNvPr>
          <p:cNvPicPr>
            <a:picLocks noChangeAspect="1"/>
          </p:cNvPicPr>
          <p:nvPr/>
        </p:nvPicPr>
        <p:blipFill>
          <a:blip r:embed="rId1"/>
          <a:stretch>
            <a:fillRect/>
          </a:stretch>
        </p:blipFill>
        <p:spPr>
          <a:xfrm>
            <a:off x="661475" y="939006"/>
            <a:ext cx="5319083" cy="5319216"/>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17487" y="3052366"/>
            <a:ext cx="2635879" cy="522585"/>
          </a:xfrm>
          <a:prstGeom prst="rect">
            <a:avLst/>
          </a:prstGeom>
        </p:spPr>
      </p:pic>
      <p:sp>
        <p:nvSpPr>
          <p:cNvPr id="5" name="Text 1"/>
          <p:cNvSpPr/>
          <p:nvPr/>
        </p:nvSpPr>
        <p:spPr>
          <a:xfrm>
            <a:off x="6375439" y="3159522"/>
            <a:ext cx="2370773" cy="147638"/>
          </a:xfrm>
          <a:prstGeom prst="rect">
            <a:avLst/>
          </a:prstGeom>
          <a:noFill/>
          <a:ln/>
        </p:spPr>
        <p:txBody>
          <a:bodyPr wrap="none" lIns="0" tIns="0" rIns="0" bIns="0" rtlCol="0" anchor="t"/>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Define, Measure, Analyze</a:t>
            </a:r>
            <a:endParaRPr lang="en-US" sz="900" dirty="0"/>
          </a:p>
        </p:txBody>
      </p:sp>
      <p:sp>
        <p:nvSpPr>
          <p:cNvPr id="6" name="Text 2"/>
          <p:cNvSpPr/>
          <p:nvPr/>
        </p:nvSpPr>
        <p:spPr>
          <a:xfrm>
            <a:off x="6375439" y="3354388"/>
            <a:ext cx="2370773" cy="113407"/>
          </a:xfrm>
          <a:prstGeom prst="rect">
            <a:avLst/>
          </a:prstGeom>
          <a:noFill/>
          <a:ln/>
        </p:spPr>
        <p:txBody>
          <a:bodyPr wrap="none" lIns="0" tIns="0" rIns="0" bIns="0" rtlCol="0" anchor="t"/>
          <a:lstStyle/>
          <a:p>
            <a:pPr algn="l" indent="0" marL="0">
              <a:lnSpc>
                <a:spcPct val="100000"/>
              </a:lnSpc>
              <a:buNone/>
            </a:pPr>
            <a:r>
              <a:rPr lang="en-US" sz="700" dirty="0">
                <a:solidFill>
                  <a:srgbClr val="1C1C1C"/>
                </a:solidFill>
                <a:latin typeface="Roboto Condensed" pitchFamily="34" charset="0"/>
                <a:ea typeface="Roboto Condensed" pitchFamily="34" charset="-122"/>
                <a:cs typeface="Roboto Condensed" pitchFamily="34" charset="-120"/>
              </a:rPr>
              <a:t>Sequential, like waterfall</a:t>
            </a:r>
            <a:endParaRPr lang="en-US" sz="7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00592" y="3052366"/>
            <a:ext cx="2635978" cy="522585"/>
          </a:xfrm>
          <a:prstGeom prst="rect">
            <a:avLst/>
          </a:prstGeom>
        </p:spPr>
      </p:pic>
      <p:sp>
        <p:nvSpPr>
          <p:cNvPr id="8" name="Text 3"/>
          <p:cNvSpPr/>
          <p:nvPr/>
        </p:nvSpPr>
        <p:spPr>
          <a:xfrm>
            <a:off x="9058544" y="3159522"/>
            <a:ext cx="2370872" cy="147638"/>
          </a:xfrm>
          <a:prstGeom prst="rect">
            <a:avLst/>
          </a:prstGeom>
          <a:noFill/>
          <a:ln/>
        </p:spPr>
        <p:txBody>
          <a:bodyPr wrap="none" lIns="0" tIns="0" rIns="0" bIns="0" rtlCol="0" anchor="t"/>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Improve</a:t>
            </a:r>
            <a:endParaRPr lang="en-US" sz="900" dirty="0"/>
          </a:p>
        </p:txBody>
      </p:sp>
      <p:sp>
        <p:nvSpPr>
          <p:cNvPr id="9" name="Text 4"/>
          <p:cNvSpPr/>
          <p:nvPr/>
        </p:nvSpPr>
        <p:spPr>
          <a:xfrm>
            <a:off x="9058544" y="3354388"/>
            <a:ext cx="2370872" cy="113407"/>
          </a:xfrm>
          <a:prstGeom prst="rect">
            <a:avLst/>
          </a:prstGeom>
          <a:noFill/>
          <a:ln/>
        </p:spPr>
        <p:txBody>
          <a:bodyPr wrap="none" lIns="0" tIns="0" rIns="0" bIns="0" rtlCol="0" anchor="t"/>
          <a:lstStyle/>
          <a:p>
            <a:pPr algn="l" indent="0" marL="0">
              <a:lnSpc>
                <a:spcPct val="100000"/>
              </a:lnSpc>
              <a:buNone/>
            </a:pPr>
            <a:r>
              <a:rPr lang="en-US" sz="700" dirty="0">
                <a:solidFill>
                  <a:srgbClr val="1C1C1C"/>
                </a:solidFill>
                <a:latin typeface="Roboto Condensed" pitchFamily="34" charset="0"/>
                <a:ea typeface="Roboto Condensed" pitchFamily="34" charset="-122"/>
                <a:cs typeface="Roboto Condensed" pitchFamily="34" charset="-120"/>
              </a:rPr>
              <a:t>Agile sprints, planning, stand-ups, review, retro</a:t>
            </a:r>
            <a:endParaRPr lang="en-US" sz="70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487" y="3622179"/>
            <a:ext cx="2635879" cy="522585"/>
          </a:xfrm>
          <a:prstGeom prst="rect">
            <a:avLst/>
          </a:prstGeom>
        </p:spPr>
      </p:pic>
      <p:sp>
        <p:nvSpPr>
          <p:cNvPr id="11" name="Text 5"/>
          <p:cNvSpPr/>
          <p:nvPr/>
        </p:nvSpPr>
        <p:spPr>
          <a:xfrm>
            <a:off x="6375439" y="3729335"/>
            <a:ext cx="2370773" cy="147638"/>
          </a:xfrm>
          <a:prstGeom prst="rect">
            <a:avLst/>
          </a:prstGeom>
          <a:noFill/>
          <a:ln/>
        </p:spPr>
        <p:txBody>
          <a:bodyPr wrap="none" lIns="0" tIns="0" rIns="0" bIns="0" rtlCol="0" anchor="t"/>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Control</a:t>
            </a:r>
            <a:endParaRPr lang="en-US" sz="900" dirty="0"/>
          </a:p>
        </p:txBody>
      </p:sp>
      <p:sp>
        <p:nvSpPr>
          <p:cNvPr id="12" name="Text 6"/>
          <p:cNvSpPr/>
          <p:nvPr/>
        </p:nvSpPr>
        <p:spPr>
          <a:xfrm>
            <a:off x="6375439" y="3924201"/>
            <a:ext cx="2370773" cy="113407"/>
          </a:xfrm>
          <a:prstGeom prst="rect">
            <a:avLst/>
          </a:prstGeom>
          <a:noFill/>
          <a:ln/>
        </p:spPr>
        <p:txBody>
          <a:bodyPr wrap="none" lIns="0" tIns="0" rIns="0" bIns="0" rtlCol="0" anchor="t"/>
          <a:lstStyle/>
          <a:p>
            <a:pPr algn="l" indent="0" marL="0">
              <a:lnSpc>
                <a:spcPct val="100000"/>
              </a:lnSpc>
              <a:buNone/>
            </a:pPr>
            <a:r>
              <a:rPr lang="en-US" sz="700" dirty="0">
                <a:solidFill>
                  <a:srgbClr val="1C1C1C"/>
                </a:solidFill>
                <a:latin typeface="Roboto Condensed" pitchFamily="34" charset="0"/>
                <a:ea typeface="Roboto Condensed" pitchFamily="34" charset="-122"/>
                <a:cs typeface="Roboto Condensed" pitchFamily="34" charset="-120"/>
              </a:rPr>
              <a:t>Baseline, handoff, retrospective</a:t>
            </a:r>
            <a:endParaRPr lang="en-US" sz="70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900592" y="3622179"/>
            <a:ext cx="2635978" cy="522585"/>
          </a:xfrm>
          <a:prstGeom prst="rect">
            <a:avLst/>
          </a:prstGeom>
        </p:spPr>
      </p:pic>
      <p:sp>
        <p:nvSpPr>
          <p:cNvPr id="14" name="Text 7"/>
          <p:cNvSpPr/>
          <p:nvPr/>
        </p:nvSpPr>
        <p:spPr>
          <a:xfrm>
            <a:off x="9058544" y="3729335"/>
            <a:ext cx="2370872" cy="295275"/>
          </a:xfrm>
          <a:prstGeom prst="rect">
            <a:avLst/>
          </a:prstGeom>
          <a:noFill/>
          <a:ln/>
        </p:spPr>
        <p:txBody>
          <a:bodyPr wrap="square" lIns="0" tIns="0" rIns="0" bIns="0" rtlCol="0" anchor="t">
            <a:normAutofit/>
          </a:bodyPr>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Outside is ordered. Inside Improve is iterative.</a:t>
            </a:r>
            <a:endParaRPr lang="en-US" sz="900" dirty="0"/>
          </a:p>
        </p:txBody>
      </p:sp>
      <p:sp>
        <p:nvSpPr>
          <p:cNvPr id="15" name="Text 8"/>
          <p:cNvSpPr/>
          <p:nvPr/>
        </p:nvSpPr>
        <p:spPr>
          <a:xfrm>
            <a:off x="132255" y="6553200"/>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69899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strongest case for each</a:t>
            </a:r>
            <a:endParaRPr lang="en-US" sz="3700" dirty="0"/>
          </a:p>
        </p:txBody>
      </p:sp>
      <p:sp>
        <p:nvSpPr>
          <p:cNvPr id="4" name="Shape 1"/>
          <p:cNvSpPr/>
          <p:nvPr/>
        </p:nvSpPr>
        <p:spPr>
          <a:xfrm>
            <a:off x="5233360" y="2376388"/>
            <a:ext cx="2917851" cy="2478584"/>
          </a:xfrm>
          <a:prstGeom prst="roundRect">
            <a:avLst>
              <a:gd name="adj" fmla="val 3203"/>
            </a:avLst>
          </a:prstGeom>
          <a:solidFill>
            <a:srgbClr val="D1E5FA"/>
          </a:solidFill>
          <a:ln w="19050">
            <a:solidFill>
              <a:srgbClr val="B7CBE0"/>
            </a:solidFill>
            <a:prstDash val="solid"/>
          </a:ln>
        </p:spPr>
      </p:sp>
      <p:sp>
        <p:nvSpPr>
          <p:cNvPr id="5" name="Text 2"/>
          <p:cNvSpPr/>
          <p:nvPr/>
        </p:nvSpPr>
        <p:spPr>
          <a:xfrm>
            <a:off x="5441417" y="2584450"/>
            <a:ext cx="250173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Waterfall</a:t>
            </a:r>
            <a:endParaRPr lang="en-US" sz="1850" dirty="0"/>
          </a:p>
        </p:txBody>
      </p:sp>
      <p:sp>
        <p:nvSpPr>
          <p:cNvPr id="6" name="Text 3"/>
          <p:cNvSpPr/>
          <p:nvPr/>
        </p:nvSpPr>
        <p:spPr>
          <a:xfrm>
            <a:off x="5441417" y="3068737"/>
            <a:ext cx="2501738" cy="157817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Fixed rules, fixed contract, predictable date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Works when the stakeholder is rarely available</a:t>
            </a:r>
            <a:endParaRPr lang="en-US" sz="1450" dirty="0"/>
          </a:p>
        </p:txBody>
      </p:sp>
      <p:sp>
        <p:nvSpPr>
          <p:cNvPr id="7" name="Shape 4"/>
          <p:cNvSpPr/>
          <p:nvPr/>
        </p:nvSpPr>
        <p:spPr>
          <a:xfrm>
            <a:off x="8618719" y="2376388"/>
            <a:ext cx="2917851" cy="2478584"/>
          </a:xfrm>
          <a:prstGeom prst="roundRect">
            <a:avLst>
              <a:gd name="adj" fmla="val 3203"/>
            </a:avLst>
          </a:prstGeom>
          <a:solidFill>
            <a:srgbClr val="D1E5FA"/>
          </a:solidFill>
          <a:ln w="19050">
            <a:solidFill>
              <a:srgbClr val="B7CBE0"/>
            </a:solidFill>
            <a:prstDash val="solid"/>
          </a:ln>
        </p:spPr>
      </p:sp>
      <p:sp>
        <p:nvSpPr>
          <p:cNvPr id="8" name="Text 5"/>
          <p:cNvSpPr/>
          <p:nvPr/>
        </p:nvSpPr>
        <p:spPr>
          <a:xfrm>
            <a:off x="8826775" y="2584450"/>
            <a:ext cx="250173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Agile</a:t>
            </a:r>
            <a:endParaRPr lang="en-US" sz="1850" dirty="0"/>
          </a:p>
        </p:txBody>
      </p:sp>
      <p:sp>
        <p:nvSpPr>
          <p:cNvPr id="9" name="Text 6"/>
          <p:cNvSpPr/>
          <p:nvPr/>
        </p:nvSpPr>
        <p:spPr>
          <a:xfrm>
            <a:off x="8826775" y="3068737"/>
            <a:ext cx="2501738" cy="157817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Uncertain requirements get discovered early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Defects found while small, something always works</a:t>
            </a:r>
            <a:endParaRPr lang="en-US" sz="1450" dirty="0"/>
          </a:p>
        </p:txBody>
      </p:sp>
      <p:sp>
        <p:nvSpPr>
          <p:cNvPr id="10" name="Shape 7"/>
          <p:cNvSpPr/>
          <p:nvPr/>
        </p:nvSpPr>
        <p:spPr>
          <a:xfrm>
            <a:off x="5233360" y="5280223"/>
            <a:ext cx="6296860" cy="755948"/>
          </a:xfrm>
          <a:prstGeom prst="roundRect">
            <a:avLst>
              <a:gd name="adj" fmla="val 10502"/>
            </a:avLst>
          </a:prstGeom>
          <a:solidFill>
            <a:srgbClr val="D1E5FA"/>
          </a:solidFill>
          <a:ln/>
        </p:spPr>
      </p:sp>
      <p:pic>
        <p:nvPicPr>
          <p:cNvPr id="11" name="Image 1" descr="preencoded.png">    </p:cNvPr>
          <p:cNvPicPr>
            <a:picLocks noChangeAspect="1"/>
          </p:cNvPicPr>
          <p:nvPr/>
        </p:nvPicPr>
        <p:blipFill>
          <a:blip r:embed="rId2"/>
          <a:stretch>
            <a:fillRect/>
          </a:stretch>
        </p:blipFill>
        <p:spPr>
          <a:xfrm>
            <a:off x="5422367" y="5547916"/>
            <a:ext cx="236234" cy="189012"/>
          </a:xfrm>
          <a:prstGeom prst="rect">
            <a:avLst/>
          </a:prstGeom>
        </p:spPr>
      </p:pic>
      <p:sp>
        <p:nvSpPr>
          <p:cNvPr id="12" name="Text 8"/>
          <p:cNvSpPr/>
          <p:nvPr/>
        </p:nvSpPr>
        <p:spPr>
          <a:xfrm>
            <a:off x="5847608" y="5516463"/>
            <a:ext cx="6103190"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The real question: how uncertain, and how costly is change</a:t>
            </a:r>
            <a:endParaRPr lang="en-US" sz="1450" dirty="0"/>
          </a:p>
        </p:txBody>
      </p:sp>
      <p:sp>
        <p:nvSpPr>
          <p:cNvPr id="13"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"Highest priority first," so put the biggest number on top.</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backlog.sort(reverse=True)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used = 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priority, task, blocks in backlog: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used + blocks &lt;= capacity: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print("Sprint 1 takes:", task)</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used = used + blocks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294930"/>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confident plan for the wrong thing</a:t>
            </a:r>
            <a:endParaRPr lang="en-US" sz="3700" dirty="0"/>
          </a:p>
        </p:txBody>
      </p:sp>
      <p:sp>
        <p:nvSpPr>
          <p:cNvPr id="4" name="Shape 1"/>
          <p:cNvSpPr/>
          <p:nvPr/>
        </p:nvSpPr>
        <p:spPr>
          <a:xfrm>
            <a:off x="661475" y="3759696"/>
            <a:ext cx="6296860" cy="680442"/>
          </a:xfrm>
          <a:prstGeom prst="roundRect">
            <a:avLst>
              <a:gd name="adj" fmla="val 11667"/>
            </a:avLst>
          </a:prstGeom>
          <a:solidFill>
            <a:srgbClr val="F2F2F2"/>
          </a:solidFill>
          <a:ln/>
        </p:spPr>
      </p:sp>
      <p:sp>
        <p:nvSpPr>
          <p:cNvPr id="5" name="Text 2"/>
          <p:cNvSpPr/>
          <p:nvPr/>
        </p:nvSpPr>
        <p:spPr>
          <a:xfrm>
            <a:off x="888283" y="3948708"/>
            <a:ext cx="6452828" cy="302419"/>
          </a:xfrm>
          <a:prstGeom prst="rect">
            <a:avLst/>
          </a:prstGeom>
          <a:noFill/>
          <a:ln/>
        </p:spPr>
        <p:txBody>
          <a:bodyPr wrap="none" lIns="0" tIns="0" rIns="0" bIns="0" rtlCol="0" anchor="t"/>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Sprint 1 takes: Chart of daily totals</a:t>
            </a:r>
            <a:endParaRPr lang="en-US" sz="1450" dirty="0"/>
          </a:p>
        </p:txBody>
      </p:sp>
      <p:sp>
        <p:nvSpPr>
          <p:cNvPr id="6"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52748"/>
            <a:ext cx="6296860" cy="1052116"/>
          </a:xfrm>
          <a:prstGeom prst="rect">
            <a:avLst/>
          </a:prstGeom>
          <a:noFill/>
          <a:ln/>
        </p:spPr>
        <p:txBody>
          <a:bodyPr wrap="square" lIns="0" tIns="0" rIns="0" bIns="0" rtlCol="0" anchor="t">
            <a:normAutofit/>
          </a:bodyPr>
          <a:lstStyle/>
          <a:p>
            <a:pPr algn="l" indent="0" marL="0">
              <a:lnSpc>
                <a:spcPct val="104000"/>
              </a:lnSpc>
              <a:buNone/>
            </a:pPr>
            <a:r>
              <a:rPr lang="en-US" sz="3300" b="1" dirty="0">
                <a:solidFill>
                  <a:srgbClr val="111111"/>
                </a:solidFill>
                <a:latin typeface="Orbitron Bold" pitchFamily="34" charset="0"/>
                <a:ea typeface="Orbitron Bold" pitchFamily="34" charset="-122"/>
                <a:cs typeface="Orbitron Bold" pitchFamily="34" charset="-120"/>
              </a:rPr>
              <a:t>What you are about to build</a:t>
            </a:r>
            <a:endParaRPr lang="en-US" sz="3300" dirty="0"/>
          </a:p>
        </p:txBody>
      </p:sp>
      <p:sp>
        <p:nvSpPr>
          <p:cNvPr id="4" name="Text 1"/>
          <p:cNvSpPr/>
          <p:nvPr/>
        </p:nvSpPr>
        <p:spPr>
          <a:xfrm>
            <a:off x="5233360" y="1829693"/>
            <a:ext cx="336641" cy="210344"/>
          </a:xfrm>
          <a:prstGeom prst="rect">
            <a:avLst/>
          </a:prstGeom>
          <a:noFill/>
          <a:ln/>
        </p:spPr>
        <p:txBody>
          <a:bodyPr wrap="none" lIns="0" tIns="0" rIns="0" bIns="0" rtlCol="0" anchor="ctr"/>
          <a:lstStyle/>
          <a:p>
            <a:pPr algn="l" indent="0" marL="0">
              <a:lnSpc>
                <a:spcPct val="100000"/>
              </a:lnSpc>
              <a:buNone/>
            </a:pPr>
            <a:r>
              <a:rPr lang="en-US" sz="1300" dirty="0">
                <a:solidFill>
                  <a:srgbClr val="1C1C1C"/>
                </a:solidFill>
                <a:latin typeface="Orbitron" pitchFamily="34" charset="0"/>
                <a:ea typeface="Orbitron" pitchFamily="34" charset="-122"/>
                <a:cs typeface="Orbitron" pitchFamily="34" charset="-120"/>
              </a:rPr>
              <a:t>01</a:t>
            </a:r>
            <a:endParaRPr lang="en-US" sz="1300" dirty="0"/>
          </a:p>
        </p:txBody>
      </p:sp>
      <p:sp>
        <p:nvSpPr>
          <p:cNvPr id="5" name="Shape 2"/>
          <p:cNvSpPr/>
          <p:nvPr/>
        </p:nvSpPr>
        <p:spPr>
          <a:xfrm>
            <a:off x="5233360" y="2096691"/>
            <a:ext cx="6296860" cy="19050"/>
          </a:xfrm>
          <a:prstGeom prst="rect">
            <a:avLst/>
          </a:prstGeom>
          <a:solidFill>
            <a:srgbClr val="57A1EB"/>
          </a:solidFill>
          <a:ln/>
        </p:spPr>
      </p:sp>
      <p:sp>
        <p:nvSpPr>
          <p:cNvPr id="6" name="Text 3"/>
          <p:cNvSpPr/>
          <p:nvPr/>
        </p:nvSpPr>
        <p:spPr>
          <a:xfrm>
            <a:off x="5233360" y="2218928"/>
            <a:ext cx="6296860" cy="526058"/>
          </a:xfrm>
          <a:prstGeom prst="rect">
            <a:avLst/>
          </a:prstGeom>
          <a:noFill/>
          <a:ln/>
        </p:spPr>
        <p:txBody>
          <a:bodyPr wrap="square" lIns="0" tIns="0" rIns="0" bIns="0" rtlCol="0" anchor="t">
            <a:normAutofit/>
          </a:bodyPr>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Build 1: your team, your roles, your backups for BPA week</a:t>
            </a:r>
            <a:endParaRPr lang="en-US" sz="1650" dirty="0"/>
          </a:p>
        </p:txBody>
      </p:sp>
      <p:sp>
        <p:nvSpPr>
          <p:cNvPr id="7" name="Text 4"/>
          <p:cNvSpPr/>
          <p:nvPr/>
        </p:nvSpPr>
        <p:spPr>
          <a:xfrm>
            <a:off x="5233360" y="3021112"/>
            <a:ext cx="336641" cy="210344"/>
          </a:xfrm>
          <a:prstGeom prst="rect">
            <a:avLst/>
          </a:prstGeom>
          <a:noFill/>
          <a:ln/>
        </p:spPr>
        <p:txBody>
          <a:bodyPr wrap="none" lIns="0" tIns="0" rIns="0" bIns="0" rtlCol="0" anchor="ctr"/>
          <a:lstStyle/>
          <a:p>
            <a:pPr algn="l" indent="0" marL="0">
              <a:lnSpc>
                <a:spcPct val="100000"/>
              </a:lnSpc>
              <a:buNone/>
            </a:pPr>
            <a:r>
              <a:rPr lang="en-US" sz="1300" dirty="0">
                <a:solidFill>
                  <a:srgbClr val="1C1C1C"/>
                </a:solidFill>
                <a:latin typeface="Orbitron" pitchFamily="34" charset="0"/>
                <a:ea typeface="Orbitron" pitchFamily="34" charset="-122"/>
                <a:cs typeface="Orbitron" pitchFamily="34" charset="-120"/>
              </a:rPr>
              <a:t>02</a:t>
            </a:r>
            <a:endParaRPr lang="en-US" sz="1300" dirty="0"/>
          </a:p>
        </p:txBody>
      </p:sp>
      <p:sp>
        <p:nvSpPr>
          <p:cNvPr id="8" name="Shape 5"/>
          <p:cNvSpPr/>
          <p:nvPr/>
        </p:nvSpPr>
        <p:spPr>
          <a:xfrm>
            <a:off x="5233360" y="3288109"/>
            <a:ext cx="6296860" cy="19050"/>
          </a:xfrm>
          <a:prstGeom prst="rect">
            <a:avLst/>
          </a:prstGeom>
          <a:solidFill>
            <a:srgbClr val="57A1EB"/>
          </a:solidFill>
          <a:ln/>
        </p:spPr>
      </p:sp>
      <p:sp>
        <p:nvSpPr>
          <p:cNvPr id="9" name="Text 6"/>
          <p:cNvSpPr/>
          <p:nvPr/>
        </p:nvSpPr>
        <p:spPr>
          <a:xfrm>
            <a:off x="5233360" y="3410347"/>
            <a:ext cx="6296860" cy="526058"/>
          </a:xfrm>
          <a:prstGeom prst="rect">
            <a:avLst/>
          </a:prstGeom>
          <a:noFill/>
          <a:ln/>
        </p:spPr>
        <p:txBody>
          <a:bodyPr wrap="square" lIns="0" tIns="0" rIns="0" bIns="0" rtlCol="0" anchor="t">
            <a:normAutofit/>
          </a:bodyPr>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A working agreement with a decision rule, before any disagreement</a:t>
            </a:r>
            <a:endParaRPr lang="en-US" sz="1650" dirty="0"/>
          </a:p>
        </p:txBody>
      </p:sp>
      <p:sp>
        <p:nvSpPr>
          <p:cNvPr id="10" name="Text 7"/>
          <p:cNvSpPr/>
          <p:nvPr/>
        </p:nvSpPr>
        <p:spPr>
          <a:xfrm>
            <a:off x="5233360" y="4212530"/>
            <a:ext cx="336641" cy="210344"/>
          </a:xfrm>
          <a:prstGeom prst="rect">
            <a:avLst/>
          </a:prstGeom>
          <a:noFill/>
          <a:ln/>
        </p:spPr>
        <p:txBody>
          <a:bodyPr wrap="none" lIns="0" tIns="0" rIns="0" bIns="0" rtlCol="0" anchor="ctr"/>
          <a:lstStyle/>
          <a:p>
            <a:pPr algn="l" indent="0" marL="0">
              <a:lnSpc>
                <a:spcPct val="100000"/>
              </a:lnSpc>
              <a:buNone/>
            </a:pPr>
            <a:r>
              <a:rPr lang="en-US" sz="1300" dirty="0">
                <a:solidFill>
                  <a:srgbClr val="1C1C1C"/>
                </a:solidFill>
                <a:latin typeface="Orbitron" pitchFamily="34" charset="0"/>
                <a:ea typeface="Orbitron" pitchFamily="34" charset="-122"/>
                <a:cs typeface="Orbitron" pitchFamily="34" charset="-120"/>
              </a:rPr>
              <a:t>03</a:t>
            </a:r>
            <a:endParaRPr lang="en-US" sz="1300" dirty="0"/>
          </a:p>
        </p:txBody>
      </p:sp>
      <p:sp>
        <p:nvSpPr>
          <p:cNvPr id="11" name="Shape 8"/>
          <p:cNvSpPr/>
          <p:nvPr/>
        </p:nvSpPr>
        <p:spPr>
          <a:xfrm>
            <a:off x="5233360" y="4479528"/>
            <a:ext cx="6296860" cy="19050"/>
          </a:xfrm>
          <a:prstGeom prst="rect">
            <a:avLst/>
          </a:prstGeom>
          <a:solidFill>
            <a:srgbClr val="57A1EB"/>
          </a:solidFill>
          <a:ln/>
        </p:spPr>
      </p:sp>
      <p:sp>
        <p:nvSpPr>
          <p:cNvPr id="12" name="Text 9"/>
          <p:cNvSpPr/>
          <p:nvPr/>
        </p:nvSpPr>
        <p:spPr>
          <a:xfrm>
            <a:off x="5233360" y="4601766"/>
            <a:ext cx="6296860"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Build 2: Define, a project charter draft</a:t>
            </a:r>
            <a:endParaRPr lang="en-US" sz="1650" dirty="0"/>
          </a:p>
        </p:txBody>
      </p:sp>
      <p:sp>
        <p:nvSpPr>
          <p:cNvPr id="13" name="Text 10"/>
          <p:cNvSpPr/>
          <p:nvPr/>
        </p:nvSpPr>
        <p:spPr>
          <a:xfrm>
            <a:off x="5233360" y="5140920"/>
            <a:ext cx="336641" cy="210344"/>
          </a:xfrm>
          <a:prstGeom prst="rect">
            <a:avLst/>
          </a:prstGeom>
          <a:noFill/>
          <a:ln/>
        </p:spPr>
        <p:txBody>
          <a:bodyPr wrap="none" lIns="0" tIns="0" rIns="0" bIns="0" rtlCol="0" anchor="ctr"/>
          <a:lstStyle/>
          <a:p>
            <a:pPr algn="l" indent="0" marL="0">
              <a:lnSpc>
                <a:spcPct val="100000"/>
              </a:lnSpc>
              <a:buNone/>
            </a:pPr>
            <a:r>
              <a:rPr lang="en-US" sz="1300" dirty="0">
                <a:solidFill>
                  <a:srgbClr val="1C1C1C"/>
                </a:solidFill>
                <a:latin typeface="Orbitron" pitchFamily="34" charset="0"/>
                <a:ea typeface="Orbitron" pitchFamily="34" charset="-122"/>
                <a:cs typeface="Orbitron" pitchFamily="34" charset="-120"/>
              </a:rPr>
              <a:t>04</a:t>
            </a:r>
            <a:endParaRPr lang="en-US" sz="1300" dirty="0"/>
          </a:p>
        </p:txBody>
      </p:sp>
      <p:sp>
        <p:nvSpPr>
          <p:cNvPr id="14" name="Shape 11"/>
          <p:cNvSpPr/>
          <p:nvPr/>
        </p:nvSpPr>
        <p:spPr>
          <a:xfrm>
            <a:off x="5233360" y="5407918"/>
            <a:ext cx="6296860" cy="19050"/>
          </a:xfrm>
          <a:prstGeom prst="rect">
            <a:avLst/>
          </a:prstGeom>
          <a:solidFill>
            <a:srgbClr val="57A1EB"/>
          </a:solidFill>
          <a:ln/>
        </p:spPr>
      </p:sp>
      <p:sp>
        <p:nvSpPr>
          <p:cNvPr id="15" name="Text 12"/>
          <p:cNvSpPr/>
          <p:nvPr/>
        </p:nvSpPr>
        <p:spPr>
          <a:xfrm>
            <a:off x="5233360" y="5530155"/>
            <a:ext cx="6296860" cy="526058"/>
          </a:xfrm>
          <a:prstGeom prst="rect">
            <a:avLst/>
          </a:prstGeom>
          <a:noFill/>
          <a:ln/>
        </p:spPr>
        <p:txBody>
          <a:bodyPr wrap="square" lIns="0" tIns="0" rIns="0" bIns="0" rtlCol="0" anchor="t">
            <a:normAutofit/>
          </a:bodyPr>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Problem statement names what hurts, not what to build</a:t>
            </a:r>
            <a:endParaRPr lang="en-US" sz="165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2026-09-14T18:28:33Z</dcterms:created>
  <dcterms:modified xsi:type="dcterms:W3CDTF">2026-09-14T18:28:33Z</dcterms:modified>
</cp:coreProperties>
</file>