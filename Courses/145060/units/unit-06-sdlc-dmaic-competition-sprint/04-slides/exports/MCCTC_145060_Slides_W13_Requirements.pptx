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story that happens to professionals every week. The stakeholder said teens get the discount. You built it, you tested it with a sixteen year old, it works. At the demo the stakeholder asks why their thirteen year old paid full price. Nobody lied and nobody wrote bad code. The requirement was never pinned down, and today you learn how to pin one down before you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requirement says what the program must do in the stakeholder's words. Report progress toward the goal. An acceptance criterion says exactly how anyone could check it. Given fifty items toward a goal of one fifty, progress is thirty three point three percent. The test for a good criterion is this. Two people who have never met could run it and agree whether it passed.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developers heard teens get the discount. Developer A says thirteen through nineteen. Developer B says high school, fourteen through eighteen. Both are correct code. Both are reasonable readings. They disagree at thirteen and nineteen, and no amount of programming skill settles that. Only a question to the stakeholder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get four minutes with your stakeholder tomorrow, so these are the questions worth your minutes. The walkthrough finds where their process breaks. The bad story finds the real problem. The example gets you real data. How will you know it worked is the acceptance criterion question. And what happens when somebody types it wrong finds processing requirements, the ones every team forgets.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Active listening is a competency, and here it has a real payoff. Restate what you heard. So you need to know which category is furthest from its goal, not the total, is that right. If they correct you, you saved a week. When a stakeholder says well, mostly, there is a requirement inside the mostly, so ask. Do not pitch. They will say yes to any feature you suggest, and now you owe them a feature nobody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settles the argument. The stakeholder agreed to four examples. Twelve pays ten, thirteen pays six, nineteen pays six, twenty pays ten. Look at which ages those are. The edges, and one step past each edge. Run it and all four print True. Thursday we turn examples like these into a full test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stakeholder said thirteen through nineteen. The developer typed what felt natural and tested with sixteen, the most obvious teenager there is. Predict all three lines before I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error. It looks right on sixteen, which is the only age anyone tried. Every thirteen year old and every nineteen year old pays the adult price. Through means including both ends, and less than excludes them. You met this boundary in Unit 2. Now it has a cost. The stakeholder believes you met the requirement, and you did not. The fix is not trying harder. It is a criterion that names thirteen and nineteen before any code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stakeholder in our reference sprint opened with I need to count the cans. Two questions later the real story came out. Last year the pantry got hundreds of cans of green beans and almost no protein. The real need was knowing what to ask for next. A program that counts cans perfectly would have solved nothing. You only find that by asking and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your team writes interview questions and practices pulling requirements out of a written transcript. Build two, I become your stakeholder for four minutes per team, so be ready when I get to you. Then write requirements version one, and every requirement gets at least one criterion in given, when, then form. Name the edges explicitly. Anything you ran out of time to ask goes in the question log with the assumption you are making until you get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png"/><Relationship Id="rId3" Type="http://schemas.openxmlformats.org/officeDocument/2006/relationships/image" Target="../media/image-6-3.svg"/><Relationship Id="rId4" Type="http://schemas.openxmlformats.org/officeDocument/2006/relationships/image" Target="../media/image-6-2.png"/><Relationship Id="rId5" Type="http://schemas.openxmlformats.org/officeDocument/2006/relationships/image" Target="../media/image-6-3.svg"/><Relationship Id="rId6" Type="http://schemas.openxmlformats.org/officeDocument/2006/relationships/image" Target="../media/image-6-2.png"/><Relationship Id="rId7" Type="http://schemas.openxmlformats.org/officeDocument/2006/relationships/image" Target="../media/image-6-3.svg"/><Relationship Id="rId8" Type="http://schemas.openxmlformats.org/officeDocument/2006/relationships/image" Target="../media/image-6-2.png"/><Relationship Id="rId9" Type="http://schemas.openxmlformats.org/officeDocument/2006/relationships/image" Target="../media/image-6-3.sv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Requirements You Can Check</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8742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built exactly what they said</a:t>
            </a:r>
            <a:endParaRPr lang="en-US" sz="3700" dirty="0"/>
          </a:p>
        </p:txBody>
      </p:sp>
      <p:sp>
        <p:nvSpPr>
          <p:cNvPr id="4" name="Shape 1"/>
          <p:cNvSpPr/>
          <p:nvPr/>
        </p:nvSpPr>
        <p:spPr>
          <a:xfrm>
            <a:off x="5233360" y="2452191"/>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847608" y="2517080"/>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 stakeholder said teens get the discount</a:t>
            </a:r>
            <a:endParaRPr lang="en-US" sz="1850" dirty="0"/>
          </a:p>
        </p:txBody>
      </p:sp>
      <p:sp>
        <p:nvSpPr>
          <p:cNvPr id="6" name="Shape 3"/>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7" name="Text 4"/>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built it, tested it, it works</a:t>
            </a:r>
            <a:endParaRPr lang="en-US" sz="1850" dirty="0"/>
          </a:p>
        </p:txBody>
      </p:sp>
      <p:sp>
        <p:nvSpPr>
          <p:cNvPr id="8" name="Shape 5"/>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9" name="Text 6"/>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They are furious at the demo</a:t>
            </a:r>
            <a:endParaRPr lang="en-US" sz="1850" dirty="0"/>
          </a:p>
        </p:txBody>
      </p:sp>
      <p:sp>
        <p:nvSpPr>
          <p:cNvPr id="10" name="Shape 7"/>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847608" y="5157093"/>
            <a:ext cx="5682612"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Nobody lied. Nobody made a coding mistake.</a:t>
            </a:r>
            <a:endParaRPr lang="en-US" sz="1850" dirty="0"/>
          </a:p>
        </p:txBody>
      </p:sp>
      <p:sp>
        <p:nvSpPr>
          <p:cNvPr id="12"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35344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Requirement versus acceptance criterion</a:t>
            </a:r>
            <a:endParaRPr lang="en-US" sz="3700" dirty="0"/>
          </a:p>
        </p:txBody>
      </p:sp>
      <p:sp>
        <p:nvSpPr>
          <p:cNvPr id="3" name="Shape 1"/>
          <p:cNvSpPr/>
          <p:nvPr/>
        </p:nvSpPr>
        <p:spPr>
          <a:xfrm>
            <a:off x="661475" y="2912765"/>
            <a:ext cx="5339820" cy="1139924"/>
          </a:xfrm>
          <a:prstGeom prst="roundRect">
            <a:avLst>
              <a:gd name="adj" fmla="val 6964"/>
            </a:avLst>
          </a:prstGeom>
          <a:solidFill>
            <a:srgbClr val="FFFFFF"/>
          </a:solidFill>
          <a:ln w="25399">
            <a:solidFill>
              <a:srgbClr val="B7CBE0"/>
            </a:solidFill>
            <a:prstDash val="solid"/>
          </a:ln>
        </p:spPr>
      </p:sp>
      <p:sp>
        <p:nvSpPr>
          <p:cNvPr id="4" name="Text 2"/>
          <p:cNvSpPr/>
          <p:nvPr/>
        </p:nvSpPr>
        <p:spPr>
          <a:xfrm>
            <a:off x="875881" y="3127177"/>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Requirement</a:t>
            </a:r>
            <a:endParaRPr lang="en-US" sz="1850" dirty="0"/>
          </a:p>
        </p:txBody>
      </p:sp>
      <p:sp>
        <p:nvSpPr>
          <p:cNvPr id="5" name="Text 3"/>
          <p:cNvSpPr/>
          <p:nvPr/>
        </p:nvSpPr>
        <p:spPr>
          <a:xfrm>
            <a:off x="875881" y="3535859"/>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What it must do, in their words</a:t>
            </a:r>
            <a:endParaRPr lang="en-US" sz="1450" dirty="0"/>
          </a:p>
        </p:txBody>
      </p:sp>
      <p:sp>
        <p:nvSpPr>
          <p:cNvPr id="6" name="Shape 4"/>
          <p:cNvSpPr/>
          <p:nvPr/>
        </p:nvSpPr>
        <p:spPr>
          <a:xfrm>
            <a:off x="6190301" y="2912765"/>
            <a:ext cx="5339919" cy="1139924"/>
          </a:xfrm>
          <a:prstGeom prst="roundRect">
            <a:avLst>
              <a:gd name="adj" fmla="val 6964"/>
            </a:avLst>
          </a:prstGeom>
          <a:solidFill>
            <a:srgbClr val="FFFFFF"/>
          </a:solidFill>
          <a:ln w="25399">
            <a:solidFill>
              <a:srgbClr val="B7CBE0"/>
            </a:solidFill>
            <a:prstDash val="solid"/>
          </a:ln>
        </p:spPr>
      </p:sp>
      <p:sp>
        <p:nvSpPr>
          <p:cNvPr id="7" name="Text 5"/>
          <p:cNvSpPr/>
          <p:nvPr/>
        </p:nvSpPr>
        <p:spPr>
          <a:xfrm>
            <a:off x="6404708" y="3127177"/>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Criterion</a:t>
            </a:r>
            <a:endParaRPr lang="en-US" sz="1850" dirty="0"/>
          </a:p>
        </p:txBody>
      </p:sp>
      <p:sp>
        <p:nvSpPr>
          <p:cNvPr id="8" name="Text 6"/>
          <p:cNvSpPr/>
          <p:nvPr/>
        </p:nvSpPr>
        <p:spPr>
          <a:xfrm>
            <a:off x="6404708" y="3535859"/>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Exactly how anyone can tell it passed</a:t>
            </a:r>
            <a:endParaRPr lang="en-US" sz="1450" dirty="0"/>
          </a:p>
        </p:txBody>
      </p:sp>
      <p:sp>
        <p:nvSpPr>
          <p:cNvPr id="9" name="Shape 7"/>
          <p:cNvSpPr/>
          <p:nvPr/>
        </p:nvSpPr>
        <p:spPr>
          <a:xfrm>
            <a:off x="661475" y="4241701"/>
            <a:ext cx="5339820" cy="1139924"/>
          </a:xfrm>
          <a:prstGeom prst="roundRect">
            <a:avLst>
              <a:gd name="adj" fmla="val 6964"/>
            </a:avLst>
          </a:prstGeom>
          <a:solidFill>
            <a:srgbClr val="FFFFFF"/>
          </a:solidFill>
          <a:ln w="25399">
            <a:solidFill>
              <a:srgbClr val="B7CBE0"/>
            </a:solidFill>
            <a:prstDash val="solid"/>
          </a:ln>
        </p:spPr>
      </p:sp>
      <p:sp>
        <p:nvSpPr>
          <p:cNvPr id="10" name="Text 8"/>
          <p:cNvSpPr/>
          <p:nvPr/>
        </p:nvSpPr>
        <p:spPr>
          <a:xfrm>
            <a:off x="875881" y="4456113"/>
            <a:ext cx="49110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Given / When / Then</a:t>
            </a:r>
            <a:endParaRPr lang="en-US" sz="1850" dirty="0"/>
          </a:p>
        </p:txBody>
      </p:sp>
      <p:sp>
        <p:nvSpPr>
          <p:cNvPr id="11" name="Text 9"/>
          <p:cNvSpPr/>
          <p:nvPr/>
        </p:nvSpPr>
        <p:spPr>
          <a:xfrm>
            <a:off x="875881" y="4864795"/>
            <a:ext cx="49110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Given a situation, when an action, then a result</a:t>
            </a:r>
            <a:endParaRPr lang="en-US" sz="1450" dirty="0"/>
          </a:p>
        </p:txBody>
      </p:sp>
      <p:sp>
        <p:nvSpPr>
          <p:cNvPr id="12" name="Shape 10"/>
          <p:cNvSpPr/>
          <p:nvPr/>
        </p:nvSpPr>
        <p:spPr>
          <a:xfrm>
            <a:off x="6190301" y="4241701"/>
            <a:ext cx="5339919" cy="1139924"/>
          </a:xfrm>
          <a:prstGeom prst="roundRect">
            <a:avLst>
              <a:gd name="adj" fmla="val 6964"/>
            </a:avLst>
          </a:prstGeom>
          <a:solidFill>
            <a:srgbClr val="FFFFFF"/>
          </a:solidFill>
          <a:ln w="25399">
            <a:solidFill>
              <a:srgbClr val="B7CBE0"/>
            </a:solidFill>
            <a:prstDash val="solid"/>
          </a:ln>
        </p:spPr>
      </p:sp>
      <p:sp>
        <p:nvSpPr>
          <p:cNvPr id="13" name="Text 11"/>
          <p:cNvSpPr/>
          <p:nvPr/>
        </p:nvSpPr>
        <p:spPr>
          <a:xfrm>
            <a:off x="6404708" y="4456113"/>
            <a:ext cx="4911106"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Two strangers</a:t>
            </a:r>
            <a:endParaRPr lang="en-US" sz="1850" dirty="0"/>
          </a:p>
        </p:txBody>
      </p:sp>
      <p:sp>
        <p:nvSpPr>
          <p:cNvPr id="14" name="Text 12"/>
          <p:cNvSpPr/>
          <p:nvPr/>
        </p:nvSpPr>
        <p:spPr>
          <a:xfrm>
            <a:off x="6404708" y="4864795"/>
            <a:ext cx="4911106"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Must agree on pass or fail</a:t>
            </a:r>
            <a:endParaRPr lang="en-US" sz="1450" dirty="0"/>
          </a:p>
        </p:txBody>
      </p:sp>
      <p:sp>
        <p:nvSpPr>
          <p:cNvPr id="15" name="Text 1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sentence, two programs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teen_discount_a(age):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13 &lt;= age &lt;= 19</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teen_discount_b(age):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14 &lt;= age &lt;= 18</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for age in [12, 13, 14, 18, 19]:</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print(age, teen_discount_a(age), teen_discount_b(age))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Questions that find requirements</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Walk me through how you do this today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Tell me about the last time it went badly</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Can you show me an actual example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How will you know this worked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 happens when somebody types it wrong</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903486"/>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Listen like it costs you something</a:t>
            </a:r>
            <a:endParaRPr lang="en-US" sz="3700" dirty="0"/>
          </a:p>
        </p:txBody>
      </p:sp>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3360" y="2368252"/>
            <a:ext cx="6296860" cy="724098"/>
          </a:xfrm>
          <a:prstGeom prst="rect">
            <a:avLst/>
          </a:prstGeom>
        </p:spPr>
      </p:pic>
      <p:sp>
        <p:nvSpPr>
          <p:cNvPr id="5" name="Text 1"/>
          <p:cNvSpPr/>
          <p:nvPr/>
        </p:nvSpPr>
        <p:spPr>
          <a:xfrm>
            <a:off x="5549364" y="258266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Restate before you write it down</a:t>
            </a:r>
            <a:endParaRPr lang="en-US" sz="185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233360" y="3281362"/>
            <a:ext cx="6296860" cy="724098"/>
          </a:xfrm>
          <a:prstGeom prst="rect">
            <a:avLst/>
          </a:prstGeom>
        </p:spPr>
      </p:pic>
      <p:sp>
        <p:nvSpPr>
          <p:cNvPr id="7" name="Text 2"/>
          <p:cNvSpPr/>
          <p:nvPr/>
        </p:nvSpPr>
        <p:spPr>
          <a:xfrm>
            <a:off x="5549364" y="349577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pause or a mostly hides a requirement</a:t>
            </a:r>
            <a:endParaRPr lang="en-US" sz="185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33360" y="4194473"/>
            <a:ext cx="6296860" cy="724098"/>
          </a:xfrm>
          <a:prstGeom prst="rect">
            <a:avLst/>
          </a:prstGeom>
        </p:spPr>
      </p:pic>
      <p:sp>
        <p:nvSpPr>
          <p:cNvPr id="9" name="Text 3"/>
          <p:cNvSpPr/>
          <p:nvPr/>
        </p:nvSpPr>
        <p:spPr>
          <a:xfrm>
            <a:off x="5549364" y="4408884"/>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Do not pitch features during the interview</a:t>
            </a:r>
            <a:endParaRPr lang="en-US" sz="185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33360" y="5107583"/>
            <a:ext cx="6296860" cy="724098"/>
          </a:xfrm>
          <a:prstGeom prst="rect">
            <a:avLst/>
          </a:prstGeom>
        </p:spPr>
      </p:pic>
      <p:sp>
        <p:nvSpPr>
          <p:cNvPr id="11" name="Text 4"/>
          <p:cNvSpPr/>
          <p:nvPr/>
        </p:nvSpPr>
        <p:spPr>
          <a:xfrm>
            <a:off x="5549364" y="5321995"/>
            <a:ext cx="576644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Face the person. One teammate types.</a:t>
            </a:r>
            <a:endParaRPr lang="en-US" sz="1850" dirty="0"/>
          </a:p>
        </p:txBody>
      </p:sp>
      <p:sp>
        <p:nvSpPr>
          <p:cNvPr id="12" name="Text 5"/>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Examples the stakeholder agreed to</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def ticket_price(age):</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if 13 &lt;= age &lt;= 19:</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6</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return 10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agreed = [(12, 10), (13, 6), (19, 6), (20, 10)]</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for age, expected in agreed:</a:t>
            </a:r>
            <a:endParaRPr lang="en-US" sz="1450" dirty="0"/>
          </a:p>
          <a:p>
            <a:pPr algn="l" indent="0" marL="0">
              <a:lnSpc>
                <a:spcPct val="133000"/>
              </a:lnSpc>
              <a:buNone/>
            </a:pPr>
            <a:r>
              <a:rPr lang="en-US" sz="1450" dirty="0">
                <a:solidFill>
                  <a:srgbClr val="D73A49"/>
                </a:solidFill>
                <a:latin typeface="Consolas" pitchFamily="34" charset="0"/>
                <a:ea typeface="Consolas" pitchFamily="34" charset="-122"/>
                <a:cs typeface="Consolas" pitchFamily="34" charset="-120"/>
              </a:rPr>
              <a:t>    print(age, ticket_price(age) == expected)</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48451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Watch this</a:t>
            </a:r>
            <a:endParaRPr lang="en-US" sz="3700" dirty="0"/>
          </a:p>
        </p:txBody>
      </p:sp>
      <p:sp>
        <p:nvSpPr>
          <p:cNvPr id="3" name="Shape 1"/>
          <p:cNvSpPr/>
          <p:nvPr/>
        </p:nvSpPr>
        <p:spPr>
          <a:xfrm>
            <a:off x="661475" y="2453184"/>
            <a:ext cx="10868745" cy="2797373"/>
          </a:xfrm>
          <a:prstGeom prst="roundRect">
            <a:avLst>
              <a:gd name="adj" fmla="val 2838"/>
            </a:avLst>
          </a:prstGeom>
          <a:solidFill>
            <a:srgbClr val="F2F2F2"/>
          </a:solidFill>
          <a:ln/>
        </p:spPr>
      </p:sp>
      <p:sp>
        <p:nvSpPr>
          <p:cNvPr id="4" name="Text 2"/>
          <p:cNvSpPr/>
          <p:nvPr/>
        </p:nvSpPr>
        <p:spPr>
          <a:xfrm>
            <a:off x="888283" y="2642195"/>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The stakeholder said "13 through 19."</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def ticket_price(age):</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if 13 &lt; age &lt; 19:</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return 6</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return 10</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for age in [13, 16, 19]:</a:t>
            </a:r>
            <a:endParaRPr lang="en-US" sz="1450" dirty="0"/>
          </a:p>
          <a:p>
            <a:pPr algn="l" indent="0" marL="0">
              <a:lnSpc>
                <a:spcPct val="133000"/>
              </a:lnSpc>
              <a:buNone/>
            </a:pPr>
            <a:r>
              <a:rPr lang="en-US" sz="1450" dirty="0">
                <a:solidFill>
                  <a:srgbClr val="6A737D"/>
                </a:solidFill>
                <a:latin typeface="Consolas" pitchFamily="34" charset="0"/>
                <a:ea typeface="Consolas" pitchFamily="34" charset="-122"/>
                <a:cs typeface="Consolas" pitchFamily="34" charset="-120"/>
              </a:rPr>
              <a:t>    print(age, ticket_price(age))</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295598"/>
            <a:ext cx="5203794"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Every edge charged the adult price</a:t>
            </a:r>
            <a:endParaRPr lang="en-US" sz="3700" dirty="0"/>
          </a:p>
        </p:txBody>
      </p:sp>
      <p:sp>
        <p:nvSpPr>
          <p:cNvPr id="3" name="Text 1"/>
          <p:cNvSpPr/>
          <p:nvPr/>
        </p:nvSpPr>
        <p:spPr>
          <a:xfrm>
            <a:off x="661475" y="3256558"/>
            <a:ext cx="5203794"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output reveals the boundary bug. Ages 13 and 19 both return the adult price, even though the stakeholder said "13 through 19."</a:t>
            </a:r>
            <a:endParaRPr lang="en-US" sz="1450" dirty="0"/>
          </a:p>
        </p:txBody>
      </p:sp>
      <p:sp>
        <p:nvSpPr>
          <p:cNvPr id="4" name="Shape 2"/>
          <p:cNvSpPr/>
          <p:nvPr/>
        </p:nvSpPr>
        <p:spPr>
          <a:xfrm>
            <a:off x="661475" y="4376440"/>
            <a:ext cx="5203794" cy="1039416"/>
          </a:xfrm>
          <a:prstGeom prst="roundRect">
            <a:avLst>
              <a:gd name="adj" fmla="val 7638"/>
            </a:avLst>
          </a:prstGeom>
          <a:solidFill>
            <a:srgbClr val="FFB3B4"/>
          </a:solidFill>
          <a:ln/>
        </p:spPr>
      </p:sp>
      <p:pic>
        <p:nvPicPr>
          <p:cNvPr id="5" name="Image 0" descr="preencoded.png">    </p:cNvPr>
          <p:cNvPicPr>
            <a:picLocks noChangeAspect="1"/>
          </p:cNvPicPr>
          <p:nvPr/>
        </p:nvPicPr>
        <p:blipFill>
          <a:blip r:embed="rId1"/>
          <a:stretch>
            <a:fillRect/>
          </a:stretch>
        </p:blipFill>
        <p:spPr>
          <a:xfrm>
            <a:off x="850482" y="4663182"/>
            <a:ext cx="236234" cy="189012"/>
          </a:xfrm>
          <a:prstGeom prst="rect">
            <a:avLst/>
          </a:prstGeom>
        </p:spPr>
      </p:pic>
      <p:sp>
        <p:nvSpPr>
          <p:cNvPr id="6" name="Text 3"/>
          <p:cNvSpPr/>
          <p:nvPr/>
        </p:nvSpPr>
        <p:spPr>
          <a:xfrm>
            <a:off x="1275723" y="4593729"/>
            <a:ext cx="440053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0000"/>
                </a:solidFill>
                <a:latin typeface="Roboto Condensed" pitchFamily="34" charset="0"/>
                <a:ea typeface="Roboto Condensed" pitchFamily="34" charset="-122"/>
                <a:cs typeface="Roboto Condensed" pitchFamily="34" charset="-120"/>
              </a:rPr>
              <a:t>Strict inequality silently excludes the boundary values.</a:t>
            </a:r>
            <a:endParaRPr lang="en-US" sz="1450" dirty="0"/>
          </a:p>
        </p:txBody>
      </p:sp>
      <p:sp>
        <p:nvSpPr>
          <p:cNvPr id="7" name="Shape 4"/>
          <p:cNvSpPr/>
          <p:nvPr/>
        </p:nvSpPr>
        <p:spPr>
          <a:xfrm>
            <a:off x="6332776" y="1319212"/>
            <a:ext cx="5203794" cy="1285280"/>
          </a:xfrm>
          <a:prstGeom prst="roundRect">
            <a:avLst>
              <a:gd name="adj" fmla="val 6177"/>
            </a:avLst>
          </a:prstGeom>
          <a:solidFill>
            <a:srgbClr val="F2F2F2"/>
          </a:solidFill>
          <a:ln/>
        </p:spPr>
      </p:sp>
      <p:sp>
        <p:nvSpPr>
          <p:cNvPr id="8" name="Text 5"/>
          <p:cNvSpPr/>
          <p:nvPr/>
        </p:nvSpPr>
        <p:spPr>
          <a:xfrm>
            <a:off x="6559584" y="1508224"/>
            <a:ext cx="4750177" cy="907256"/>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13 10</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16 6</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19 10</a:t>
            </a:r>
            <a:endParaRPr lang="en-US" sz="1450" dirty="0"/>
          </a:p>
        </p:txBody>
      </p:sp>
      <p:sp>
        <p:nvSpPr>
          <p:cNvPr id="9" name="Text 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562769"/>
            <a:ext cx="6296860" cy="1107480"/>
          </a:xfrm>
          <a:prstGeom prst="rect">
            <a:avLst/>
          </a:prstGeom>
          <a:noFill/>
          <a:ln/>
        </p:spPr>
        <p:txBody>
          <a:bodyPr wrap="square" lIns="0" tIns="0" rIns="0" bIns="0" rtlCol="0" anchor="t">
            <a:normAutofit/>
          </a:bodyPr>
          <a:lstStyle/>
          <a:p>
            <a:pPr algn="l" indent="0" marL="0">
              <a:lnSpc>
                <a:spcPct val="104000"/>
              </a:lnSpc>
              <a:buNone/>
            </a:pPr>
            <a:r>
              <a:rPr lang="en-US" sz="3450" b="1" dirty="0">
                <a:solidFill>
                  <a:srgbClr val="111111"/>
                </a:solidFill>
                <a:latin typeface="Orbitron Bold" pitchFamily="34" charset="0"/>
                <a:ea typeface="Orbitron Bold" pitchFamily="34" charset="-122"/>
                <a:cs typeface="Orbitron Bold" pitchFamily="34" charset="-120"/>
              </a:rPr>
              <a:t>The first ask is rarely the real need</a:t>
            </a:r>
            <a:endParaRPr lang="en-US" sz="3450" dirty="0"/>
          </a:p>
        </p:txBody>
      </p:sp>
      <p:pic>
        <p:nvPicPr>
          <p:cNvPr id="4" name="Image 1" descr="preencoded.png">    </p:cNvPr>
          <p:cNvPicPr>
            <a:picLocks noChangeAspect="1"/>
          </p:cNvPicPr>
          <p:nvPr/>
        </p:nvPicPr>
        <p:blipFill>
          <a:blip r:embed="rId2"/>
          <a:stretch>
            <a:fillRect/>
          </a:stretch>
        </p:blipFill>
        <p:spPr>
          <a:xfrm>
            <a:off x="5233360" y="1919387"/>
            <a:ext cx="886001" cy="1063228"/>
          </a:xfrm>
          <a:prstGeom prst="rect">
            <a:avLst/>
          </a:prstGeom>
        </p:spPr>
      </p:pic>
      <p:sp>
        <p:nvSpPr>
          <p:cNvPr id="5" name="Text 1"/>
          <p:cNvSpPr/>
          <p:nvPr/>
        </p:nvSpPr>
        <p:spPr>
          <a:xfrm>
            <a:off x="6285450" y="2096591"/>
            <a:ext cx="524477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First ask</a:t>
            </a:r>
            <a:endParaRPr lang="en-US" sz="1700" dirty="0"/>
          </a:p>
        </p:txBody>
      </p:sp>
      <p:sp>
        <p:nvSpPr>
          <p:cNvPr id="6" name="Text 2"/>
          <p:cNvSpPr/>
          <p:nvPr/>
        </p:nvSpPr>
        <p:spPr>
          <a:xfrm>
            <a:off x="6285450" y="2473127"/>
            <a:ext cx="524477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I need to count the cans</a:t>
            </a:r>
            <a:endParaRPr lang="en-US" sz="1350" dirty="0"/>
          </a:p>
        </p:txBody>
      </p:sp>
      <p:pic>
        <p:nvPicPr>
          <p:cNvPr id="7" name="Image 2" descr="preencoded.png">    </p:cNvPr>
          <p:cNvPicPr>
            <a:picLocks noChangeAspect="1"/>
          </p:cNvPicPr>
          <p:nvPr/>
        </p:nvPicPr>
        <p:blipFill>
          <a:blip r:embed="rId3"/>
          <a:stretch>
            <a:fillRect/>
          </a:stretch>
        </p:blipFill>
        <p:spPr>
          <a:xfrm>
            <a:off x="5233360" y="2982615"/>
            <a:ext cx="886001" cy="1063228"/>
          </a:xfrm>
          <a:prstGeom prst="rect">
            <a:avLst/>
          </a:prstGeom>
        </p:spPr>
      </p:pic>
      <p:sp>
        <p:nvSpPr>
          <p:cNvPr id="8" name="Text 3"/>
          <p:cNvSpPr/>
          <p:nvPr/>
        </p:nvSpPr>
        <p:spPr>
          <a:xfrm>
            <a:off x="6285450" y="3159820"/>
            <a:ext cx="524477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Hidden fact</a:t>
            </a:r>
            <a:endParaRPr lang="en-US" sz="1700" dirty="0"/>
          </a:p>
        </p:txBody>
      </p:sp>
      <p:sp>
        <p:nvSpPr>
          <p:cNvPr id="9" name="Text 4"/>
          <p:cNvSpPr/>
          <p:nvPr/>
        </p:nvSpPr>
        <p:spPr>
          <a:xfrm>
            <a:off x="6285450" y="3536355"/>
            <a:ext cx="524477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The club already counts cans</a:t>
            </a:r>
            <a:endParaRPr lang="en-US" sz="1350" dirty="0"/>
          </a:p>
        </p:txBody>
      </p:sp>
      <p:pic>
        <p:nvPicPr>
          <p:cNvPr id="10" name="Image 3" descr="preencoded.png">    </p:cNvPr>
          <p:cNvPicPr>
            <a:picLocks noChangeAspect="1"/>
          </p:cNvPicPr>
          <p:nvPr/>
        </p:nvPicPr>
        <p:blipFill>
          <a:blip r:embed="rId4"/>
          <a:stretch>
            <a:fillRect/>
          </a:stretch>
        </p:blipFill>
        <p:spPr>
          <a:xfrm>
            <a:off x="5233360" y="4045843"/>
            <a:ext cx="886001" cy="1063228"/>
          </a:xfrm>
          <a:prstGeom prst="rect">
            <a:avLst/>
          </a:prstGeom>
        </p:spPr>
      </p:pic>
      <p:sp>
        <p:nvSpPr>
          <p:cNvPr id="11" name="Text 5"/>
          <p:cNvSpPr/>
          <p:nvPr/>
        </p:nvSpPr>
        <p:spPr>
          <a:xfrm>
            <a:off x="6285450" y="4223048"/>
            <a:ext cx="524477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Real need</a:t>
            </a:r>
            <a:endParaRPr lang="en-US" sz="1700" dirty="0"/>
          </a:p>
        </p:txBody>
      </p:sp>
      <p:sp>
        <p:nvSpPr>
          <p:cNvPr id="12" name="Text 6"/>
          <p:cNvSpPr/>
          <p:nvPr/>
        </p:nvSpPr>
        <p:spPr>
          <a:xfrm>
            <a:off x="6285450" y="4599583"/>
            <a:ext cx="524477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Know what to ask for next</a:t>
            </a:r>
            <a:endParaRPr lang="en-US" sz="1350" dirty="0"/>
          </a:p>
        </p:txBody>
      </p:sp>
      <p:pic>
        <p:nvPicPr>
          <p:cNvPr id="13" name="Image 4" descr="preencoded.png">    </p:cNvPr>
          <p:cNvPicPr>
            <a:picLocks noChangeAspect="1"/>
          </p:cNvPicPr>
          <p:nvPr/>
        </p:nvPicPr>
        <p:blipFill>
          <a:blip r:embed="rId5"/>
          <a:stretch>
            <a:fillRect/>
          </a:stretch>
        </p:blipFill>
        <p:spPr>
          <a:xfrm>
            <a:off x="5233360" y="5109071"/>
            <a:ext cx="886001" cy="1063228"/>
          </a:xfrm>
          <a:prstGeom prst="rect">
            <a:avLst/>
          </a:prstGeom>
        </p:spPr>
      </p:pic>
      <p:sp>
        <p:nvSpPr>
          <p:cNvPr id="14" name="Text 7"/>
          <p:cNvSpPr/>
          <p:nvPr/>
        </p:nvSpPr>
        <p:spPr>
          <a:xfrm>
            <a:off x="6285450" y="5286276"/>
            <a:ext cx="5244770" cy="276920"/>
          </a:xfrm>
          <a:prstGeom prst="rect">
            <a:avLst/>
          </a:prstGeom>
          <a:noFill/>
          <a:ln/>
        </p:spPr>
        <p:txBody>
          <a:bodyPr wrap="none" lIns="0" tIns="0" rIns="0" bIns="0" rtlCol="0" anchor="t"/>
          <a:lstStyle/>
          <a:p>
            <a:pPr algn="l" indent="0" marL="0">
              <a:lnSpc>
                <a:spcPct val="104000"/>
              </a:lnSpc>
              <a:buNone/>
            </a:pPr>
            <a:r>
              <a:rPr lang="en-US" sz="1700" b="1" dirty="0">
                <a:solidFill>
                  <a:srgbClr val="1C1C1C"/>
                </a:solidFill>
                <a:latin typeface="Orbitron Bold" pitchFamily="34" charset="0"/>
                <a:ea typeface="Orbitron Bold" pitchFamily="34" charset="-122"/>
                <a:cs typeface="Orbitron Bold" pitchFamily="34" charset="-120"/>
              </a:rPr>
              <a:t>Outcome</a:t>
            </a:r>
            <a:endParaRPr lang="en-US" sz="1700" dirty="0"/>
          </a:p>
        </p:txBody>
      </p:sp>
      <p:sp>
        <p:nvSpPr>
          <p:cNvPr id="15" name="Text 8"/>
          <p:cNvSpPr/>
          <p:nvPr/>
        </p:nvSpPr>
        <p:spPr>
          <a:xfrm>
            <a:off x="6285450" y="5662811"/>
            <a:ext cx="5244770" cy="274638"/>
          </a:xfrm>
          <a:prstGeom prst="rect">
            <a:avLst/>
          </a:prstGeom>
          <a:noFill/>
          <a:ln/>
        </p:spPr>
        <p:txBody>
          <a:bodyPr wrap="none" lIns="0" tIns="0" rIns="0" bIns="0" rtlCol="0" anchor="t"/>
          <a:lstStyle/>
          <a:p>
            <a:pPr algn="l" indent="0" marL="0">
              <a:lnSpc>
                <a:spcPct val="129000"/>
              </a:lnSpc>
              <a:buNone/>
            </a:pPr>
            <a:r>
              <a:rPr lang="en-US" sz="1350" dirty="0">
                <a:solidFill>
                  <a:srgbClr val="1C1C1C"/>
                </a:solidFill>
                <a:latin typeface="Roboto Condensed" pitchFamily="34" charset="0"/>
                <a:ea typeface="Roboto Condensed" pitchFamily="34" charset="-122"/>
                <a:cs typeface="Roboto Condensed" pitchFamily="34" charset="-120"/>
              </a:rPr>
              <a:t>A perfect can counter solves nothing</a:t>
            </a:r>
            <a:endParaRPr lang="en-US" sz="1350" dirty="0"/>
          </a:p>
        </p:txBody>
      </p:sp>
      <p:sp>
        <p:nvSpPr>
          <p:cNvPr id="16" name="Text 9"/>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1: write your interview questions, practice on a transcript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Build 2: four minutes with your stakeholder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requirements, each with Given, When, Then criteria</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Name the edges. Log every question you could not ask.</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2026-09-14T18:30:19Z</dcterms:created>
  <dcterms:modified xsi:type="dcterms:W3CDTF">2026-09-14T18:30:19Z</dcterms:modified>
</cp:coreProperties>
</file>