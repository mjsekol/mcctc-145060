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composite, built from things that happen on student teams all the time. During BPA week, one teammate made a check refuse zero items. Another teammate changed it back to allow zero, because an empty bin is real data. Neither said anything. By Monday the check had flipped twice and both people were annoyed. Three days gone, whichever answer was right. Teams rarely sink on code. They sink when they cannot decide and stick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roles are assigned. Facilitator, liaison, test lead, integration lead. A role tells us whose job something was. Leadership is not a role. It is a set of behaviors anyone on the team can do. Making sure the quietest person speaks before the decision, not after. Saying the problem out loud at stand up. Keeping a commitment or saying early that you cannot. Offering a way to decide when everyone is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conflict is bad. Task conflict, should zero be refused, surfaces real questions. Process conflict, should we fix findings before building the change, is useful if you settle it fast. Relationship conflict, you never listen, almost never helps, because it stops the other two from getting solved. A team with no task conflict at all is usually a team where someone stopped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position is what someone says they want. An interest is why. Refuse zero, because a typo should not count. Allow zero, because a volunteer checked an empty bin and that should show. The positions collide. The interests do not. Keep refusing zero in the log and record empty bins some other way. You only find that by asking why do you want that, and restating the answer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Fist to five. Everyone shows zero to five fingers on a proposal. Our working agreement says any zero or one gets heard before we decide. Three people like this proposal and the average is above three. The rule still stops, and prints hear from Test Lead. That one might know something nobody else does. Hearing it takes two minutes. Missing it can take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working agreement already has a decision rule, and here it is as code so the branches cannot be fudged. Everyone at three or above, adopt it. Someone low and time left, keep talking. Someone low and the timebox is over, the facilitator decides and writes down why, and the team commits. That last line prints here. The rule has to exist before the argument, because a rule invented during an argument always looks like it was invented to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 voting on which review findings to fix first. Nine dots from a shared form, typed by four different people. Count how many dots validate item counts really got, then predict what the program picks.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Validate item counts got five dots, spelled five different ways, so the dictionary saw five different options with one vote each. The team spends the afternoon on the announcement and the fix most people wanted never happens. The fix is one line from Unit 1. Strip and lower each label before counting. When a decision surprises the people who voted, check the tally before you check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sequence when a disagreement will not end. Talk about the problem, not the person. Restate each side's interest until that person says yes, that is it. Check the objective standard, and on a software team the strongest one is the acceptance criteria your stakeholder signed. Look for an option that serves both interests. If you are still stuck, use the rule, and then commit to the result as if it were your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Gate 2 for this week, individually. Build two is your team's response to yesterday's review. Dot vote to rank the findings, then fist to five on the top one. Clean the labels before you count. Every finding gets accepted, rejected, or deferred, with a reason, in your review response. Fix the must fix findings first. By the end of Build two, every acceptance check passes, because tomorrow we tag that version as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Turning Disagreement into Decisions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days arguing about a zero</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Should zero items be refused or allowed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Test Lead flipped the check one way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Integration Lead flipped it back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said a word at stand-up</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45167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Roles are accountability. Leadership is behavior.</a:t>
            </a:r>
            <a:endParaRPr lang="en-US" sz="3700" dirty="0"/>
          </a:p>
        </p:txBody>
      </p:sp>
      <p:sp>
        <p:nvSpPr>
          <p:cNvPr id="4" name="Text 1"/>
          <p:cNvSpPr/>
          <p:nvPr/>
        </p:nvSpPr>
        <p:spPr>
          <a:xfrm>
            <a:off x="661475" y="3507085"/>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role answers: whose job was that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Leadership: making sure the quiet person is heard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Naming a problem out loud at stand-up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Proposing a way to decide when stuck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Any member can lead. Good teams have several.</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Three kinds of conflict</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sp>
        <p:nvSpPr>
          <p:cNvPr id="4" name="Text 1"/>
          <p:cNvSpPr/>
          <p:nvPr/>
        </p:nvSpPr>
        <p:spPr>
          <a:xfrm>
            <a:off x="6217487" y="3360043"/>
            <a:ext cx="5319083" cy="503039"/>
          </a:xfrm>
          <a:prstGeom prst="rect">
            <a:avLst/>
          </a:prstGeom>
          <a:noFill/>
          <a:ln/>
        </p:spPr>
        <p:txBody>
          <a:bodyPr wrap="square" lIns="0" tIns="0" rIns="0" bIns="0" rtlCol="0" anchor="t">
            <a:normAutofit/>
          </a:bodyPr>
          <a:lstStyle/>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Task: what to build. Useful if resolved.</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Process: how and when to work. Useful if quick.</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Relationship: who someone is. Rarely useful.</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The goal is not zero conflict</a:t>
            </a:r>
            <a:endParaRPr lang="en-US" sz="700" dirty="0"/>
          </a:p>
        </p:txBody>
      </p:sp>
      <p:sp>
        <p:nvSpPr>
          <p:cNvPr id="5" name="Text 2"/>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498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Positions versus interests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18495"/>
            <a:ext cx="3496877" cy="2266851"/>
          </a:xfrm>
          <a:prstGeom prst="rect">
            <a:avLst/>
          </a:prstGeom>
        </p:spPr>
      </p:pic>
      <p:sp>
        <p:nvSpPr>
          <p:cNvPr id="4" name="Text 1"/>
          <p:cNvSpPr/>
          <p:nvPr/>
        </p:nvSpPr>
        <p:spPr>
          <a:xfrm>
            <a:off x="977479" y="2932906"/>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Position</a:t>
            </a:r>
            <a:endParaRPr lang="en-US" sz="1850" dirty="0"/>
          </a:p>
        </p:txBody>
      </p:sp>
      <p:sp>
        <p:nvSpPr>
          <p:cNvPr id="5" name="Text 2"/>
          <p:cNvSpPr/>
          <p:nvPr/>
        </p:nvSpPr>
        <p:spPr>
          <a:xfrm>
            <a:off x="977479" y="3341588"/>
            <a:ext cx="296646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Zero must be refused</a:t>
            </a:r>
            <a:endParaRPr lang="en-US" sz="1450" dirty="0"/>
          </a:p>
        </p:txBody>
      </p:sp>
      <p:sp>
        <p:nvSpPr>
          <p:cNvPr id="6" name="Text 3"/>
          <p:cNvSpPr/>
          <p:nvPr/>
        </p:nvSpPr>
        <p:spPr>
          <a:xfrm>
            <a:off x="977479" y="3757414"/>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Interest</a:t>
            </a:r>
            <a:endParaRPr lang="en-US" sz="1850" dirty="0"/>
          </a:p>
        </p:txBody>
      </p:sp>
      <p:sp>
        <p:nvSpPr>
          <p:cNvPr id="7" name="Text 4"/>
          <p:cNvSpPr/>
          <p:nvPr/>
        </p:nvSpPr>
        <p:spPr>
          <a:xfrm>
            <a:off x="977479" y="4166096"/>
            <a:ext cx="296646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typo should never silently count</a:t>
            </a:r>
            <a:endParaRPr lang="en-US" sz="14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718495"/>
            <a:ext cx="3496877" cy="2266851"/>
          </a:xfrm>
          <a:prstGeom prst="rect">
            <a:avLst/>
          </a:prstGeom>
        </p:spPr>
      </p:pic>
      <p:sp>
        <p:nvSpPr>
          <p:cNvPr id="9" name="Text 5"/>
          <p:cNvSpPr/>
          <p:nvPr/>
        </p:nvSpPr>
        <p:spPr>
          <a:xfrm>
            <a:off x="4663363" y="2932906"/>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Position</a:t>
            </a:r>
            <a:endParaRPr lang="en-US" sz="1850" dirty="0"/>
          </a:p>
        </p:txBody>
      </p:sp>
      <p:sp>
        <p:nvSpPr>
          <p:cNvPr id="10" name="Text 6"/>
          <p:cNvSpPr/>
          <p:nvPr/>
        </p:nvSpPr>
        <p:spPr>
          <a:xfrm>
            <a:off x="4663363" y="3341588"/>
            <a:ext cx="296646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Zero must be allowed</a:t>
            </a:r>
            <a:endParaRPr lang="en-US" sz="1450" dirty="0"/>
          </a:p>
        </p:txBody>
      </p:sp>
      <p:sp>
        <p:nvSpPr>
          <p:cNvPr id="11" name="Text 7"/>
          <p:cNvSpPr/>
          <p:nvPr/>
        </p:nvSpPr>
        <p:spPr>
          <a:xfrm>
            <a:off x="4663363" y="3757414"/>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Interest</a:t>
            </a:r>
            <a:endParaRPr lang="en-US" sz="1850" dirty="0"/>
          </a:p>
        </p:txBody>
      </p:sp>
      <p:sp>
        <p:nvSpPr>
          <p:cNvPr id="12" name="Text 8"/>
          <p:cNvSpPr/>
          <p:nvPr/>
        </p:nvSpPr>
        <p:spPr>
          <a:xfrm>
            <a:off x="4663363" y="4166096"/>
            <a:ext cx="296646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 empty checked bin should be visible</a:t>
            </a:r>
            <a:endParaRPr lang="en-US" sz="14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718495"/>
            <a:ext cx="3496877" cy="2266851"/>
          </a:xfrm>
          <a:prstGeom prst="rect">
            <a:avLst/>
          </a:prstGeom>
        </p:spPr>
      </p:pic>
      <p:sp>
        <p:nvSpPr>
          <p:cNvPr id="14" name="Text 9"/>
          <p:cNvSpPr/>
          <p:nvPr/>
        </p:nvSpPr>
        <p:spPr>
          <a:xfrm>
            <a:off x="8349247" y="2932906"/>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Outcome</a:t>
            </a:r>
            <a:endParaRPr lang="en-US" sz="1850" dirty="0"/>
          </a:p>
        </p:txBody>
      </p:sp>
      <p:sp>
        <p:nvSpPr>
          <p:cNvPr id="15" name="Text 10"/>
          <p:cNvSpPr/>
          <p:nvPr/>
        </p:nvSpPr>
        <p:spPr>
          <a:xfrm>
            <a:off x="8349247" y="3341588"/>
            <a:ext cx="296646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Both interests can be served at once</a:t>
            </a:r>
            <a:endParaRPr lang="en-US" sz="1450" dirty="0"/>
          </a:p>
        </p:txBody>
      </p:sp>
      <p:sp>
        <p:nvSpPr>
          <p:cNvPr id="16"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Fist to five</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votes = {"Facilitator": 4, "Stakeholder Liaison": 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"Test Lead": 1, "Integration Lead": 3}</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concerns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role in votes: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votes[role] &lt;=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concerns.append(role)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len(concerns) &gt;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print("Not decided yet. Hear from:", ", ".join(concerns))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print("Decided. Record it in the decision log.")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decision rule agreed in advance</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decide(votes, minutes_spent, timebox_minutes):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lowest = min(votes.values())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lowest &gt;= 3:</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"consensus: adopt it"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minutes_spent &lt; timebox_minutes: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"keep talking: hear the concerns first"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"timebox over: facilitator decides and logs the reason"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print(decide({"A": 4, "B": 1, "C": 5}, 10, 10))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772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1545927"/>
            <a:ext cx="10868745" cy="4611886"/>
          </a:xfrm>
          <a:prstGeom prst="roundRect">
            <a:avLst>
              <a:gd name="adj" fmla="val 1721"/>
            </a:avLst>
          </a:prstGeom>
          <a:solidFill>
            <a:srgbClr val="F2F2F2"/>
          </a:solidFill>
          <a:ln/>
        </p:spPr>
      </p:sp>
      <p:sp>
        <p:nvSpPr>
          <p:cNvPr id="4" name="Text 2"/>
          <p:cNvSpPr/>
          <p:nvPr/>
        </p:nvSpPr>
        <p:spPr>
          <a:xfrm>
            <a:off x="888283" y="1734939"/>
            <a:ext cx="10415129" cy="423386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dots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"Validate item counts", "validate item counts ", "announcement 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"validate item counts", "announcement text", "Validate Item Counts",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"sort the report", "VALIDATE ITEM COUNTS", "announcement 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tally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choice in dots: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tally[choice] = tally.get(choice, 0) + 1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winner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choice in tally: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winner == "" or tally[choice] &gt; tally[winner]: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winner = choice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print("The team chose:", winner, "with", tally[winner], "dots")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9493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vote nobody actually cast</a:t>
            </a:r>
            <a:endParaRPr lang="en-US" sz="3700" dirty="0"/>
          </a:p>
        </p:txBody>
      </p:sp>
      <p:sp>
        <p:nvSpPr>
          <p:cNvPr id="4" name="Shape 1"/>
          <p:cNvSpPr/>
          <p:nvPr/>
        </p:nvSpPr>
        <p:spPr>
          <a:xfrm>
            <a:off x="5233360" y="3759696"/>
            <a:ext cx="6296860" cy="680442"/>
          </a:xfrm>
          <a:prstGeom prst="roundRect">
            <a:avLst>
              <a:gd name="adj" fmla="val 11667"/>
            </a:avLst>
          </a:prstGeom>
          <a:solidFill>
            <a:srgbClr val="F2F2F2"/>
          </a:solidFill>
          <a:ln/>
        </p:spPr>
      </p:sp>
      <p:sp>
        <p:nvSpPr>
          <p:cNvPr id="5" name="Text 2"/>
          <p:cNvSpPr/>
          <p:nvPr/>
        </p:nvSpPr>
        <p:spPr>
          <a:xfrm>
            <a:off x="5460169" y="3948708"/>
            <a:ext cx="6452828"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team chose: announcement text with 3 dots</a:t>
            </a:r>
            <a:endParaRPr lang="en-US" sz="1450" dirty="0"/>
          </a:p>
        </p:txBody>
      </p:sp>
      <p:sp>
        <p:nvSpPr>
          <p:cNvPr id="6" name="Text 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0640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the argument will not end</a:t>
            </a:r>
            <a:endParaRPr lang="en-US" sz="3700" dirty="0"/>
          </a:p>
        </p:txBody>
      </p:sp>
      <p:sp>
        <p:nvSpPr>
          <p:cNvPr id="3" name="Shape 1"/>
          <p:cNvSpPr/>
          <p:nvPr/>
        </p:nvSpPr>
        <p:spPr>
          <a:xfrm>
            <a:off x="661475" y="2032695"/>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2068116"/>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20975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Separate the people from the problem</a:t>
            </a:r>
            <a:endParaRPr lang="en-US" sz="1850" dirty="0"/>
          </a:p>
        </p:txBody>
      </p:sp>
      <p:sp>
        <p:nvSpPr>
          <p:cNvPr id="6" name="Shape 4"/>
          <p:cNvSpPr/>
          <p:nvPr/>
        </p:nvSpPr>
        <p:spPr>
          <a:xfrm>
            <a:off x="661475" y="2835970"/>
            <a:ext cx="425241" cy="425252"/>
          </a:xfrm>
          <a:prstGeom prst="roundRect">
            <a:avLst>
              <a:gd name="adj" fmla="val 18669"/>
            </a:avLst>
          </a:prstGeom>
          <a:solidFill>
            <a:srgbClr val="D1E5FA"/>
          </a:solidFill>
          <a:ln w="19050">
            <a:solidFill>
              <a:srgbClr val="B7CBE0"/>
            </a:solidFill>
            <a:prstDash val="solid"/>
          </a:ln>
        </p:spPr>
      </p:sp>
      <p:sp>
        <p:nvSpPr>
          <p:cNvPr id="7" name="Text 5"/>
          <p:cNvSpPr/>
          <p:nvPr/>
        </p:nvSpPr>
        <p:spPr>
          <a:xfrm>
            <a:off x="732365" y="287139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8" name="Text 6"/>
          <p:cNvSpPr/>
          <p:nvPr/>
        </p:nvSpPr>
        <p:spPr>
          <a:xfrm>
            <a:off x="1275723" y="290085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Restate each interest until the person agrees</a:t>
            </a:r>
            <a:endParaRPr lang="en-US" sz="1850" dirty="0"/>
          </a:p>
        </p:txBody>
      </p:sp>
      <p:sp>
        <p:nvSpPr>
          <p:cNvPr id="9" name="Shape 7"/>
          <p:cNvSpPr/>
          <p:nvPr/>
        </p:nvSpPr>
        <p:spPr>
          <a:xfrm>
            <a:off x="661475" y="3639245"/>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732365" y="3674666"/>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1" name="Text 9"/>
          <p:cNvSpPr/>
          <p:nvPr/>
        </p:nvSpPr>
        <p:spPr>
          <a:xfrm>
            <a:off x="1275723" y="370413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 the objective standard: the signed criteria</a:t>
            </a:r>
            <a:endParaRPr lang="en-US" sz="1850" dirty="0"/>
          </a:p>
        </p:txBody>
      </p:sp>
      <p:sp>
        <p:nvSpPr>
          <p:cNvPr id="12" name="Shape 10"/>
          <p:cNvSpPr/>
          <p:nvPr/>
        </p:nvSpPr>
        <p:spPr>
          <a:xfrm>
            <a:off x="661475" y="4442520"/>
            <a:ext cx="425241" cy="425252"/>
          </a:xfrm>
          <a:prstGeom prst="roundRect">
            <a:avLst>
              <a:gd name="adj" fmla="val 18669"/>
            </a:avLst>
          </a:prstGeom>
          <a:solidFill>
            <a:srgbClr val="D1E5FA"/>
          </a:solidFill>
          <a:ln w="19050">
            <a:solidFill>
              <a:srgbClr val="B7CBE0"/>
            </a:solidFill>
            <a:prstDash val="solid"/>
          </a:ln>
        </p:spPr>
      </p:sp>
      <p:sp>
        <p:nvSpPr>
          <p:cNvPr id="13" name="Text 11"/>
          <p:cNvSpPr/>
          <p:nvPr/>
        </p:nvSpPr>
        <p:spPr>
          <a:xfrm>
            <a:off x="732365" y="44779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4" name="Text 12"/>
          <p:cNvSpPr/>
          <p:nvPr/>
        </p:nvSpPr>
        <p:spPr>
          <a:xfrm>
            <a:off x="1275723" y="450740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Find an option that serves both interests</a:t>
            </a:r>
            <a:endParaRPr lang="en-US" sz="1850" dirty="0"/>
          </a:p>
        </p:txBody>
      </p:sp>
      <p:sp>
        <p:nvSpPr>
          <p:cNvPr id="15" name="Shape 13"/>
          <p:cNvSpPr/>
          <p:nvPr/>
        </p:nvSpPr>
        <p:spPr>
          <a:xfrm>
            <a:off x="661475" y="5245795"/>
            <a:ext cx="425241" cy="425252"/>
          </a:xfrm>
          <a:prstGeom prst="roundRect">
            <a:avLst>
              <a:gd name="adj" fmla="val 18669"/>
            </a:avLst>
          </a:prstGeom>
          <a:solidFill>
            <a:srgbClr val="D1E5FA"/>
          </a:solidFill>
          <a:ln w="19050">
            <a:solidFill>
              <a:srgbClr val="B7CBE0"/>
            </a:solidFill>
            <a:prstDash val="solid"/>
          </a:ln>
        </p:spPr>
      </p:sp>
      <p:sp>
        <p:nvSpPr>
          <p:cNvPr id="16" name="Text 14"/>
          <p:cNvSpPr/>
          <p:nvPr/>
        </p:nvSpPr>
        <p:spPr>
          <a:xfrm>
            <a:off x="732365" y="5281216"/>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5</a:t>
            </a:r>
            <a:endParaRPr lang="en-US" sz="2200" dirty="0"/>
          </a:p>
        </p:txBody>
      </p:sp>
      <p:sp>
        <p:nvSpPr>
          <p:cNvPr id="17" name="Text 15"/>
          <p:cNvSpPr/>
          <p:nvPr/>
        </p:nvSpPr>
        <p:spPr>
          <a:xfrm>
            <a:off x="1275723" y="53106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Still stuck: the decision rule, then commit</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Gate 2 W14, on your 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triage yesterday's review findings as a team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Dot vote to rank, fist to five on the top item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Record accepted, rejected, deferred, and why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Fix the must-fix findings. Every check passes.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2026-09-15T17:12:14Z</dcterms:created>
  <dcterms:modified xsi:type="dcterms:W3CDTF">2026-09-15T17:12:14Z</dcterms:modified>
</cp:coreProperties>
</file>