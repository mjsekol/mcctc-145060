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scenario is a composite. A café owner loved a student team's scheduling tool and wants to hire two students for next summer. Before reading applications, the owner runs a small cleanup script a model suggested. The two strongest applicants in the pool never reach a human being. Nobody decided to do that and nobody noticed. Today is about the laws that shape hiring and work, and about how bias gets into decisions, including decisions made by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rule as Unit 0. I am not a lawyer and this is not legal advice. I am going to tell you what these laws are for, so you can recognize when one applies. I am deliberately not giving you wage amounts or hour limits or age cutoffs, because they change and federal and Ohio rules can differ. When you need a number, you go to the source. The Department of Labor, Ohio's Bureau of Wage and Hour Administration, and the EEOC. That is the professional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Fair Labor Standards Act is the federal law behind minimum wage, overtime, recordkeeping, and youth employment. Youth rules limit when and how much younger teens can work, especially on school days, and keep anyone under eighteen out of jobs the Department of Labor classifies as hazardous. Ohio has its own minor labor law too, and when both apply, the employer follows whichever protects the worker more. The café wants a sixteen year old closing at midnight and running a meat slicer. Those are exactly the details to look up before anyone is hired.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EEOC is the federal agency that enforces laws against employment discrimination. Hiring, firing, pay, assignments, promotions, training. The protected characteristics are race, color, religion, sex including pregnancy, national origin, age forty or older, disability, and genetic information. Punishing someone for reporting discrimination is also illegal. The ADA requires reasonable accommodations for qualified people with disabilities unless it would cause undue hardship. And harassment based on those characteristics is illegal when enduring it becomes a condition of the job or it creates a hostile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owner drafted interview questions, and almost all of them ask about a protected characteristic. That creates legal risk, because those traits cannot be the basis of the decision, and asking suggests they were. So ask about the job. Instead of how old are you, this role closes at nine on Fridays, can you work that shift. Instead of health problems, the job means standing four hours and lifting boxes, can you do that with or without an accommodation. The pregnancy question has no job version. It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practice that reduces bias is a structured interview. Same job related questions for everybody, written before anyone applied, scored on the same scale. Look at the structure. How old are you has nowhere to fit in it. That is part of why it works. Affinity bias, liking people who seem like us, has less room when everyone answers the same questions and gets the same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cleanup step the model suggested. Every applicant is invented. Remove records with corrupted characters in the name. isascii is True only when every character is basic English. Predict the number before I run it, and then tell me whose applications are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Three of five. José and Zoë are gone, and they had the two highest scores in the pool. An accent is not corruption. It is an ordinary letter in millions of names. That is bias turning into a productivity cost, because the café hires weaker applicants, and into legal risk, because filtering people by traits tied to national origin is exactly what discrimination law is about. And nobody on a team of similar people would ever type José into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United States this date is March fourth. In much of the world it is April third. A team where everybody writes month first will never think to ask. The teammate who grew up writing day first catches it in two seconds. You have seen this before. title mangled O'Brien in Unit 1, and Unicode exists because English letters are not the only letters. Global products need teams that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say diverse teams perform better, and this is genuinely argued, so here is the strongest case on each side. For: more perspectives surface more requirements and catch more blind spots, and a global product needs people who understand other users. For caution: diversity by itself guarantees nothing, and teams with different norms can have more misunderstandings early on. What decides it is inclusion, whether those perspectives actually reach the product. That is what Tuesday's decision rules are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Peer Code Review two. You review another team's change branch against their v one point oh baseline before it touches main. Ask the change questions, especially what the change removed. After the review, merge and tag v one point one. Build two is Problem Drop three, individually, forty minutes. The stated problem is not the real problem, so read it twice. And push everything before you leave this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image" Target="../media/image-9-1.png"/><Relationship Id="rId6" Type="http://schemas.openxmlformats.org/officeDocument/2006/relationships/image" Target="../media/image-9-2.sv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Fair Workplace</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script threw out the two best applicants</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café owner wants to hire two students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cleanup script sorts the applications first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two highest scores never reach a person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Nobody meant it. Nobody noticed.</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24470"/>
            <a:ext cx="10868745" cy="1126133"/>
          </a:xfrm>
          <a:prstGeom prst="rect">
            <a:avLst/>
          </a:prstGeom>
          <a:noFill/>
          <a:ln/>
        </p:spPr>
        <p:txBody>
          <a:bodyPr wrap="square" lIns="0" tIns="0" rIns="0" bIns="0" rtlCol="0" anchor="t">
            <a:normAutofit/>
          </a:bodyPr>
          <a:lstStyle/>
          <a:p>
            <a:pPr algn="l" indent="0" marL="0">
              <a:lnSpc>
                <a:spcPct val="104000"/>
              </a:lnSpc>
              <a:buNone/>
            </a:pPr>
            <a:r>
              <a:rPr lang="en-US" sz="3500" b="1" dirty="0">
                <a:solidFill>
                  <a:srgbClr val="111111"/>
                </a:solidFill>
                <a:latin typeface="Orbitron Bold" pitchFamily="34" charset="0"/>
                <a:ea typeface="Orbitron Bold" pitchFamily="34" charset="-122"/>
                <a:cs typeface="Orbitron Bold" pitchFamily="34" charset="-120"/>
              </a:rPr>
              <a:t>I am not a lawyer, and this is not legal advice</a:t>
            </a:r>
            <a:endParaRPr lang="en-US" sz="3500" dirty="0"/>
          </a:p>
        </p:txBody>
      </p:sp>
      <p:sp>
        <p:nvSpPr>
          <p:cNvPr id="3" name="Text 1"/>
          <p:cNvSpPr/>
          <p:nvPr/>
        </p:nvSpPr>
        <p:spPr>
          <a:xfrm>
            <a:off x="661475" y="2719884"/>
            <a:ext cx="3518308" cy="2773462"/>
          </a:xfrm>
          <a:prstGeom prst="rect">
            <a:avLst/>
          </a:prstGeom>
          <a:noFill/>
          <a:ln/>
        </p:spPr>
        <p:txBody>
          <a:bodyPr wrap="square" lIns="0" tIns="0" rIns="0" bIns="0" rtlCol="0" anchor="t">
            <a:normAutofit/>
          </a:bodyPr>
          <a:lstStyle/>
          <a:p>
            <a:pPr algn="l" marL="284480" indent="-284480">
              <a:lnSpc>
                <a:spcPct val="130000"/>
              </a:lnSpc>
              <a:buSzPct val="100000"/>
              <a:buChar char="•"/>
            </a:pPr>
            <a:r>
              <a:rPr lang="en-US" sz="1400" dirty="0">
                <a:solidFill>
                  <a:srgbClr val="1C1C1C"/>
                </a:solidFill>
                <a:latin typeface="Roboto Condensed" pitchFamily="34" charset="0"/>
                <a:ea typeface="Roboto Condensed" pitchFamily="34" charset="-122"/>
                <a:cs typeface="Roboto Condensed" pitchFamily="34" charset="-120"/>
              </a:rPr>
              <a:t>These laws explained at the level of purpose</a:t>
            </a:r>
            <a:endParaRPr lang="en-US" sz="1400" dirty="0"/>
          </a:p>
          <a:p>
            <a:pPr algn="l" marL="284480" indent="-284480">
              <a:lnSpc>
                <a:spcPct val="130000"/>
              </a:lnSpc>
              <a:buSzPct val="100000"/>
              <a:buChar char="•"/>
            </a:pPr>
            <a:r>
              <a:rPr lang="en-US" sz="1400" dirty="0">
                <a:solidFill>
                  <a:srgbClr val="1C1C1C"/>
                </a:solidFill>
                <a:latin typeface="Roboto Condensed" pitchFamily="34" charset="0"/>
                <a:ea typeface="Roboto Condensed" pitchFamily="34" charset="-122"/>
                <a:cs typeface="Roboto Condensed" pitchFamily="34" charset="-120"/>
              </a:rPr>
              <a:t>No wage amounts, hour limits, or cutoffs here</a:t>
            </a:r>
            <a:endParaRPr lang="en-US" sz="1400" dirty="0"/>
          </a:p>
          <a:p>
            <a:pPr algn="l" marL="284480" indent="-284480">
              <a:lnSpc>
                <a:spcPct val="130000"/>
              </a:lnSpc>
              <a:buSzPct val="100000"/>
              <a:buChar char="•"/>
            </a:pPr>
            <a:r>
              <a:rPr lang="en-US" sz="1400" dirty="0">
                <a:solidFill>
                  <a:srgbClr val="1C1C1C"/>
                </a:solidFill>
                <a:latin typeface="Roboto Condensed" pitchFamily="34" charset="0"/>
                <a:ea typeface="Roboto Condensed" pitchFamily="34" charset="-122"/>
                <a:cs typeface="Roboto Condensed" pitchFamily="34" charset="-120"/>
              </a:rPr>
              <a:t>Those change, and federal and Ohio can differ</a:t>
            </a:r>
            <a:endParaRPr lang="en-US" sz="1400" dirty="0"/>
          </a:p>
          <a:p>
            <a:pPr algn="l" marL="284480" indent="-284480">
              <a:lnSpc>
                <a:spcPct val="130000"/>
              </a:lnSpc>
              <a:buSzPct val="100000"/>
              <a:buChar char="•"/>
            </a:pPr>
            <a:r>
              <a:rPr lang="en-US" sz="1400" dirty="0">
                <a:solidFill>
                  <a:srgbClr val="1C1C1C"/>
                </a:solidFill>
                <a:latin typeface="Roboto Condensed" pitchFamily="34" charset="0"/>
                <a:ea typeface="Roboto Condensed" pitchFamily="34" charset="-122"/>
                <a:cs typeface="Roboto Condensed" pitchFamily="34" charset="-120"/>
              </a:rPr>
              <a:t>Look them up: U.S. Department of Labor</a:t>
            </a:r>
            <a:endParaRPr lang="en-US" sz="1400" dirty="0"/>
          </a:p>
          <a:p>
            <a:pPr algn="l" marL="284480" indent="-284480">
              <a:lnSpc>
                <a:spcPct val="130000"/>
              </a:lnSpc>
              <a:buSzPct val="100000"/>
              <a:buChar char="•"/>
            </a:pPr>
            <a:r>
              <a:rPr lang="en-US" sz="1400" dirty="0">
                <a:solidFill>
                  <a:srgbClr val="1C1C1C"/>
                </a:solidFill>
                <a:latin typeface="Roboto Condensed" pitchFamily="34" charset="0"/>
                <a:ea typeface="Roboto Condensed" pitchFamily="34" charset="-122"/>
                <a:cs typeface="Roboto Condensed" pitchFamily="34" charset="-120"/>
              </a:rPr>
              <a:t>Ohio Bureau of Wage and Hour Administration, and the EEOC</a:t>
            </a:r>
            <a:endParaRPr lang="en-US" sz="1400" dirty="0"/>
          </a:p>
        </p:txBody>
      </p:sp>
      <p:pic>
        <p:nvPicPr>
          <p:cNvPr id="4" name="Image 0" descr="preencoded.png">    </p:cNvPr>
          <p:cNvPicPr>
            <a:picLocks noChangeAspect="1"/>
          </p:cNvPicPr>
          <p:nvPr/>
        </p:nvPicPr>
        <p:blipFill>
          <a:blip r:embed="rId1"/>
          <a:stretch>
            <a:fillRect/>
          </a:stretch>
        </p:blipFill>
        <p:spPr>
          <a:xfrm>
            <a:off x="4625661" y="2101354"/>
            <a:ext cx="6910810" cy="3916164"/>
          </a:xfrm>
          <a:prstGeom prst="rect">
            <a:avLst/>
          </a:prstGeom>
        </p:spPr>
      </p:pic>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49760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Pay, hours, and workers under 18</a:t>
            </a:r>
            <a:endParaRPr lang="en-US" sz="3700" dirty="0"/>
          </a:p>
        </p:txBody>
      </p:sp>
      <p:sp>
        <p:nvSpPr>
          <p:cNvPr id="3" name="Shape 1"/>
          <p:cNvSpPr/>
          <p:nvPr/>
        </p:nvSpPr>
        <p:spPr>
          <a:xfrm>
            <a:off x="661475" y="2466280"/>
            <a:ext cx="3496877" cy="1442343"/>
          </a:xfrm>
          <a:prstGeom prst="roundRect">
            <a:avLst>
              <a:gd name="adj" fmla="val 5504"/>
            </a:avLst>
          </a:prstGeom>
          <a:solidFill>
            <a:srgbClr val="FFFFFF"/>
          </a:solidFill>
          <a:ln w="25399">
            <a:solidFill>
              <a:srgbClr val="B7CBE0"/>
            </a:solidFill>
            <a:prstDash val="solid"/>
          </a:ln>
        </p:spPr>
      </p:sp>
      <p:sp>
        <p:nvSpPr>
          <p:cNvPr id="4" name="Text 2"/>
          <p:cNvSpPr/>
          <p:nvPr/>
        </p:nvSpPr>
        <p:spPr>
          <a:xfrm>
            <a:off x="875881" y="2680692"/>
            <a:ext cx="3068065"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FLSA</a:t>
            </a:r>
            <a:endParaRPr lang="en-US" sz="1850" dirty="0"/>
          </a:p>
        </p:txBody>
      </p:sp>
      <p:sp>
        <p:nvSpPr>
          <p:cNvPr id="5" name="Text 3"/>
          <p:cNvSpPr/>
          <p:nvPr/>
        </p:nvSpPr>
        <p:spPr>
          <a:xfrm>
            <a:off x="875881" y="3089374"/>
            <a:ext cx="3068065"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Minimum wage, overtime, records, youth employment</a:t>
            </a:r>
            <a:endParaRPr lang="en-US" sz="1450" dirty="0"/>
          </a:p>
        </p:txBody>
      </p:sp>
      <p:sp>
        <p:nvSpPr>
          <p:cNvPr id="6" name="Shape 4"/>
          <p:cNvSpPr/>
          <p:nvPr/>
        </p:nvSpPr>
        <p:spPr>
          <a:xfrm>
            <a:off x="4347359" y="2466280"/>
            <a:ext cx="3496877" cy="1442343"/>
          </a:xfrm>
          <a:prstGeom prst="roundRect">
            <a:avLst>
              <a:gd name="adj" fmla="val 5504"/>
            </a:avLst>
          </a:prstGeom>
          <a:solidFill>
            <a:srgbClr val="FFFFFF"/>
          </a:solidFill>
          <a:ln w="25399">
            <a:solidFill>
              <a:srgbClr val="B7CBE0"/>
            </a:solidFill>
            <a:prstDash val="solid"/>
          </a:ln>
        </p:spPr>
      </p:sp>
      <p:sp>
        <p:nvSpPr>
          <p:cNvPr id="7" name="Text 5"/>
          <p:cNvSpPr/>
          <p:nvPr/>
        </p:nvSpPr>
        <p:spPr>
          <a:xfrm>
            <a:off x="4561766" y="2680692"/>
            <a:ext cx="3068065"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Younger Teens</a:t>
            </a:r>
            <a:endParaRPr lang="en-US" sz="1850" dirty="0"/>
          </a:p>
        </p:txBody>
      </p:sp>
      <p:sp>
        <p:nvSpPr>
          <p:cNvPr id="8" name="Text 6"/>
          <p:cNvSpPr/>
          <p:nvPr/>
        </p:nvSpPr>
        <p:spPr>
          <a:xfrm>
            <a:off x="4561766" y="3089374"/>
            <a:ext cx="3068065"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Limits on hours and times of day</a:t>
            </a:r>
            <a:endParaRPr lang="en-US" sz="1450" dirty="0"/>
          </a:p>
        </p:txBody>
      </p:sp>
      <p:sp>
        <p:nvSpPr>
          <p:cNvPr id="9" name="Shape 7"/>
          <p:cNvSpPr/>
          <p:nvPr/>
        </p:nvSpPr>
        <p:spPr>
          <a:xfrm>
            <a:off x="8033244" y="2466280"/>
            <a:ext cx="3496877" cy="1442343"/>
          </a:xfrm>
          <a:prstGeom prst="roundRect">
            <a:avLst>
              <a:gd name="adj" fmla="val 5504"/>
            </a:avLst>
          </a:prstGeom>
          <a:solidFill>
            <a:srgbClr val="FFFFFF"/>
          </a:solidFill>
          <a:ln w="25399">
            <a:solidFill>
              <a:srgbClr val="B7CBE0"/>
            </a:solidFill>
            <a:prstDash val="solid"/>
          </a:ln>
        </p:spPr>
      </p:sp>
      <p:sp>
        <p:nvSpPr>
          <p:cNvPr id="10" name="Text 8"/>
          <p:cNvSpPr/>
          <p:nvPr/>
        </p:nvSpPr>
        <p:spPr>
          <a:xfrm>
            <a:off x="8247650" y="2680692"/>
            <a:ext cx="3068065"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Under 18</a:t>
            </a:r>
            <a:endParaRPr lang="en-US" sz="1850" dirty="0"/>
          </a:p>
        </p:txBody>
      </p:sp>
      <p:sp>
        <p:nvSpPr>
          <p:cNvPr id="11" name="Text 9"/>
          <p:cNvSpPr/>
          <p:nvPr/>
        </p:nvSpPr>
        <p:spPr>
          <a:xfrm>
            <a:off x="8247650" y="3089374"/>
            <a:ext cx="3068065"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 jobs classified as hazardous</a:t>
            </a:r>
            <a:endParaRPr lang="en-US" sz="1450" dirty="0"/>
          </a:p>
        </p:txBody>
      </p:sp>
      <p:sp>
        <p:nvSpPr>
          <p:cNvPr id="12" name="Shape 10"/>
          <p:cNvSpPr/>
          <p:nvPr/>
        </p:nvSpPr>
        <p:spPr>
          <a:xfrm>
            <a:off x="661475" y="4097635"/>
            <a:ext cx="5339820" cy="1139924"/>
          </a:xfrm>
          <a:prstGeom prst="roundRect">
            <a:avLst>
              <a:gd name="adj" fmla="val 6964"/>
            </a:avLst>
          </a:prstGeom>
          <a:solidFill>
            <a:srgbClr val="FFFFFF"/>
          </a:solidFill>
          <a:ln w="25399">
            <a:solidFill>
              <a:srgbClr val="B7CBE0"/>
            </a:solidFill>
            <a:prstDash val="solid"/>
          </a:ln>
        </p:spPr>
      </p:sp>
      <p:sp>
        <p:nvSpPr>
          <p:cNvPr id="13" name="Text 11"/>
          <p:cNvSpPr/>
          <p:nvPr/>
        </p:nvSpPr>
        <p:spPr>
          <a:xfrm>
            <a:off x="875881" y="4312047"/>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Both Apply</a:t>
            </a:r>
            <a:endParaRPr lang="en-US" sz="1850" dirty="0"/>
          </a:p>
        </p:txBody>
      </p:sp>
      <p:sp>
        <p:nvSpPr>
          <p:cNvPr id="14" name="Text 12"/>
          <p:cNvSpPr/>
          <p:nvPr/>
        </p:nvSpPr>
        <p:spPr>
          <a:xfrm>
            <a:off x="875881" y="4720729"/>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Federal and Ohio: follow the more protective rule</a:t>
            </a:r>
            <a:endParaRPr lang="en-US" sz="1450" dirty="0"/>
          </a:p>
        </p:txBody>
      </p:sp>
      <p:sp>
        <p:nvSpPr>
          <p:cNvPr id="15" name="Shape 13"/>
          <p:cNvSpPr/>
          <p:nvPr/>
        </p:nvSpPr>
        <p:spPr>
          <a:xfrm>
            <a:off x="6190301" y="4097635"/>
            <a:ext cx="5339820" cy="1139924"/>
          </a:xfrm>
          <a:prstGeom prst="roundRect">
            <a:avLst>
              <a:gd name="adj" fmla="val 6964"/>
            </a:avLst>
          </a:prstGeom>
          <a:solidFill>
            <a:srgbClr val="FFFFFF"/>
          </a:solidFill>
          <a:ln w="25399">
            <a:solidFill>
              <a:srgbClr val="B7CBE0"/>
            </a:solidFill>
            <a:prstDash val="solid"/>
          </a:ln>
        </p:spPr>
      </p:sp>
      <p:sp>
        <p:nvSpPr>
          <p:cNvPr id="16" name="Text 14"/>
          <p:cNvSpPr/>
          <p:nvPr/>
        </p:nvSpPr>
        <p:spPr>
          <a:xfrm>
            <a:off x="6404708" y="4312047"/>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Responsibility</a:t>
            </a:r>
            <a:endParaRPr lang="en-US" sz="1850" dirty="0"/>
          </a:p>
        </p:txBody>
      </p:sp>
      <p:sp>
        <p:nvSpPr>
          <p:cNvPr id="17" name="Text 15"/>
          <p:cNvSpPr/>
          <p:nvPr/>
        </p:nvSpPr>
        <p:spPr>
          <a:xfrm>
            <a:off x="6404708" y="4720729"/>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Youth rules fall on the employer</a:t>
            </a:r>
            <a:endParaRPr lang="en-US" sz="1450" dirty="0"/>
          </a:p>
        </p:txBody>
      </p:sp>
      <p:sp>
        <p:nvSpPr>
          <p:cNvPr id="18" name="Text 1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19807"/>
            <a:ext cx="10868745"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Discrimination, disability, and harassment</a:t>
            </a:r>
            <a:endParaRPr lang="en-US" sz="1850" dirty="0"/>
          </a:p>
        </p:txBody>
      </p:sp>
      <p:pic>
        <p:nvPicPr>
          <p:cNvPr id="3" name="Image 0" descr="preencoded.png">    </p:cNvPr>
          <p:cNvPicPr>
            <a:picLocks noChangeAspect="1"/>
          </p:cNvPicPr>
          <p:nvPr/>
        </p:nvPicPr>
        <p:blipFill>
          <a:blip r:embed="rId1"/>
          <a:stretch>
            <a:fillRect/>
          </a:stretch>
        </p:blipFill>
        <p:spPr>
          <a:xfrm>
            <a:off x="661475" y="939006"/>
            <a:ext cx="5319083" cy="5319216"/>
          </a:xfrm>
          <a:prstGeom prst="rect">
            <a:avLst/>
          </a:prstGeom>
        </p:spPr>
      </p:pic>
      <p:sp>
        <p:nvSpPr>
          <p:cNvPr id="4" name="Text 1"/>
          <p:cNvSpPr/>
          <p:nvPr/>
        </p:nvSpPr>
        <p:spPr>
          <a:xfrm>
            <a:off x="6217487" y="3295154"/>
            <a:ext cx="5319083" cy="632916"/>
          </a:xfrm>
          <a:prstGeom prst="rect">
            <a:avLst/>
          </a:prstGeom>
          <a:noFill/>
          <a:ln/>
        </p:spPr>
        <p:txBody>
          <a:bodyPr wrap="square" lIns="0" tIns="0" rIns="0" bIns="0" rtlCol="0" anchor="t">
            <a:normAutofit/>
          </a:bodyPr>
          <a:lstStyle/>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EEOC enforces laws against discrimination and retaliation</a:t>
            </a:r>
            <a:endParaRPr lang="en-US" sz="700" dirty="0"/>
          </a:p>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Race, color, religion, sex, national origin, disability</a:t>
            </a:r>
            <a:endParaRPr lang="en-US" sz="700" dirty="0"/>
          </a:p>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Age 40 or older, and genetic information</a:t>
            </a:r>
            <a:endParaRPr lang="en-US" sz="700" dirty="0"/>
          </a:p>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ADA: reasonable accommodations for qualified workers</a:t>
            </a:r>
            <a:endParaRPr lang="en-US" sz="700" dirty="0"/>
          </a:p>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Harassment is discrimination when it becomes a job condition</a:t>
            </a:r>
            <a:endParaRPr lang="en-US" sz="700" dirty="0"/>
          </a:p>
        </p:txBody>
      </p:sp>
      <p:sp>
        <p:nvSpPr>
          <p:cNvPr id="5" name="Text 2"/>
          <p:cNvSpPr/>
          <p:nvPr/>
        </p:nvSpPr>
        <p:spPr>
          <a:xfrm>
            <a:off x="132255" y="6553200"/>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51755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Fix the café's interview questions</a:t>
            </a:r>
            <a:endParaRPr lang="en-US" sz="3700" dirty="0"/>
          </a:p>
        </p:txBody>
      </p:sp>
      <p:sp>
        <p:nvSpPr>
          <p:cNvPr id="3" name="Shape 1"/>
          <p:cNvSpPr/>
          <p:nvPr/>
        </p:nvSpPr>
        <p:spPr>
          <a:xfrm>
            <a:off x="661475" y="2486223"/>
            <a:ext cx="10868745" cy="2216348"/>
          </a:xfrm>
          <a:prstGeom prst="roundRect">
            <a:avLst>
              <a:gd name="adj" fmla="val 3582"/>
            </a:avLst>
          </a:prstGeom>
          <a:solidFill>
            <a:srgbClr val="D1E5FA"/>
          </a:solidFill>
          <a:ln w="19050">
            <a:solidFill>
              <a:srgbClr val="B7CBE0"/>
            </a:solidFill>
            <a:prstDash val="solid"/>
          </a:ln>
        </p:spPr>
      </p:sp>
      <p:sp>
        <p:nvSpPr>
          <p:cNvPr id="4" name="Shape 2"/>
          <p:cNvSpPr/>
          <p:nvPr/>
        </p:nvSpPr>
        <p:spPr>
          <a:xfrm>
            <a:off x="680524" y="2505273"/>
            <a:ext cx="5415323" cy="1089124"/>
          </a:xfrm>
          <a:custGeom>
            <a:avLst/>
            <a:gdLst/>
            <a:ahLst/>
            <a:cxnLst/>
            <a:rect l="l" t="t" r="r" b="b"/>
            <a:pathLst>
              <a:path w="5415323" h="1089124">
                <a:moveTo>
                  <a:pt x="66156" y="0"/>
                </a:moveTo>
                <a:lnTo>
                  <a:pt x="5415323" y="0"/>
                </a:lnTo>
                <a:lnTo>
                  <a:pt x="5415323" y="1089124"/>
                </a:lnTo>
                <a:lnTo>
                  <a:pt x="0" y="1089124"/>
                </a:lnTo>
                <a:lnTo>
                  <a:pt x="0" y="66158"/>
                </a:lnTo>
                <a:arcTo hR="66158" wR="66156" stAng="10800000" swAng="5400000"/>
                <a:close/>
              </a:path>
            </a:pathLst>
          </a:custGeom>
          <a:solidFill>
            <a:srgbClr val="D1E5FA"/>
          </a:solidFill>
          <a:ln/>
        </p:spPr>
      </p:sp>
      <p:sp>
        <p:nvSpPr>
          <p:cNvPr id="5" name="Text 3"/>
          <p:cNvSpPr/>
          <p:nvPr/>
        </p:nvSpPr>
        <p:spPr>
          <a:xfrm>
            <a:off x="869531" y="2694285"/>
            <a:ext cx="50373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How old are you</a:t>
            </a:r>
            <a:endParaRPr lang="en-US" sz="1850" dirty="0"/>
          </a:p>
        </p:txBody>
      </p:sp>
      <p:sp>
        <p:nvSpPr>
          <p:cNvPr id="6" name="Text 4"/>
          <p:cNvSpPr/>
          <p:nvPr/>
        </p:nvSpPr>
        <p:spPr>
          <a:xfrm>
            <a:off x="869531" y="3102967"/>
            <a:ext cx="50373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Ask which shifts they can work</a:t>
            </a:r>
            <a:endParaRPr lang="en-US" sz="1450" dirty="0"/>
          </a:p>
        </p:txBody>
      </p:sp>
      <p:sp>
        <p:nvSpPr>
          <p:cNvPr id="7" name="Shape 5"/>
          <p:cNvSpPr/>
          <p:nvPr/>
        </p:nvSpPr>
        <p:spPr>
          <a:xfrm>
            <a:off x="6095848" y="2505273"/>
            <a:ext cx="5415323" cy="1089124"/>
          </a:xfrm>
          <a:custGeom>
            <a:avLst/>
            <a:gdLst/>
            <a:ahLst/>
            <a:cxnLst/>
            <a:rect l="l" t="t" r="r" b="b"/>
            <a:pathLst>
              <a:path w="5415323" h="1089124">
                <a:moveTo>
                  <a:pt x="0" y="0"/>
                </a:moveTo>
                <a:lnTo>
                  <a:pt x="5349167" y="0"/>
                </a:lnTo>
                <a:arcTo hR="66158" wR="66156" stAng="16200000" swAng="5400000"/>
                <a:lnTo>
                  <a:pt x="5415323" y="1089124"/>
                </a:lnTo>
                <a:lnTo>
                  <a:pt x="0" y="1089124"/>
                </a:lnTo>
                <a:lnTo>
                  <a:pt x="0" y="0"/>
                </a:lnTo>
                <a:close/>
              </a:path>
            </a:pathLst>
          </a:custGeom>
          <a:solidFill>
            <a:srgbClr val="D1E5FA"/>
          </a:solidFill>
          <a:ln/>
        </p:spPr>
      </p:sp>
      <p:sp>
        <p:nvSpPr>
          <p:cNvPr id="8" name="Shape 6"/>
          <p:cNvSpPr/>
          <p:nvPr/>
        </p:nvSpPr>
        <p:spPr>
          <a:xfrm>
            <a:off x="6095848" y="2505273"/>
            <a:ext cx="25399" cy="1089124"/>
          </a:xfrm>
          <a:prstGeom prst="roundRect">
            <a:avLst>
              <a:gd name="adj" fmla="val 50001"/>
            </a:avLst>
          </a:prstGeom>
          <a:solidFill>
            <a:srgbClr val="B7CBE0"/>
          </a:solidFill>
          <a:ln/>
        </p:spPr>
      </p:sp>
      <p:sp>
        <p:nvSpPr>
          <p:cNvPr id="9" name="Text 7"/>
          <p:cNvSpPr/>
          <p:nvPr/>
        </p:nvSpPr>
        <p:spPr>
          <a:xfrm>
            <a:off x="6284854" y="2694285"/>
            <a:ext cx="50373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church do you go to</a:t>
            </a:r>
            <a:endParaRPr lang="en-US" sz="1850" dirty="0"/>
          </a:p>
        </p:txBody>
      </p:sp>
      <p:sp>
        <p:nvSpPr>
          <p:cNvPr id="10" name="Text 8"/>
          <p:cNvSpPr/>
          <p:nvPr/>
        </p:nvSpPr>
        <p:spPr>
          <a:xfrm>
            <a:off x="6284854" y="3102967"/>
            <a:ext cx="50373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Ask about the schedule</a:t>
            </a:r>
            <a:endParaRPr lang="en-US" sz="1450" dirty="0"/>
          </a:p>
        </p:txBody>
      </p:sp>
      <p:sp>
        <p:nvSpPr>
          <p:cNvPr id="11" name="Shape 9"/>
          <p:cNvSpPr/>
          <p:nvPr/>
        </p:nvSpPr>
        <p:spPr>
          <a:xfrm>
            <a:off x="680524" y="3594398"/>
            <a:ext cx="5415323" cy="1089124"/>
          </a:xfrm>
          <a:custGeom>
            <a:avLst/>
            <a:gdLst/>
            <a:ahLst/>
            <a:cxnLst/>
            <a:rect l="l" t="t" r="r" b="b"/>
            <a:pathLst>
              <a:path w="5415323" h="1089124">
                <a:moveTo>
                  <a:pt x="0" y="0"/>
                </a:moveTo>
                <a:lnTo>
                  <a:pt x="5415323" y="0"/>
                </a:lnTo>
                <a:lnTo>
                  <a:pt x="5415323" y="1089124"/>
                </a:lnTo>
                <a:lnTo>
                  <a:pt x="66156" y="1089124"/>
                </a:lnTo>
                <a:arcTo hR="66158" wR="66156" stAng="5400000" swAng="5400000"/>
                <a:lnTo>
                  <a:pt x="0" y="0"/>
                </a:lnTo>
                <a:close/>
              </a:path>
            </a:pathLst>
          </a:custGeom>
          <a:solidFill>
            <a:srgbClr val="D1E5FA"/>
          </a:solidFill>
          <a:ln/>
        </p:spPr>
      </p:sp>
      <p:sp>
        <p:nvSpPr>
          <p:cNvPr id="12" name="Shape 10"/>
          <p:cNvSpPr/>
          <p:nvPr/>
        </p:nvSpPr>
        <p:spPr>
          <a:xfrm>
            <a:off x="680524" y="3594398"/>
            <a:ext cx="5415323" cy="25400"/>
          </a:xfrm>
          <a:prstGeom prst="roundRect">
            <a:avLst>
              <a:gd name="adj" fmla="val 49999"/>
            </a:avLst>
          </a:prstGeom>
          <a:solidFill>
            <a:srgbClr val="B7CBE0"/>
          </a:solidFill>
          <a:ln/>
        </p:spPr>
      </p:sp>
      <p:sp>
        <p:nvSpPr>
          <p:cNvPr id="13" name="Text 11"/>
          <p:cNvSpPr/>
          <p:nvPr/>
        </p:nvSpPr>
        <p:spPr>
          <a:xfrm>
            <a:off x="869531" y="3783409"/>
            <a:ext cx="50373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Any health problems</a:t>
            </a:r>
            <a:endParaRPr lang="en-US" sz="1850" dirty="0"/>
          </a:p>
        </p:txBody>
      </p:sp>
      <p:sp>
        <p:nvSpPr>
          <p:cNvPr id="14" name="Text 12"/>
          <p:cNvSpPr/>
          <p:nvPr/>
        </p:nvSpPr>
        <p:spPr>
          <a:xfrm>
            <a:off x="869531" y="4192091"/>
            <a:ext cx="50373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Ask if they can do the duties</a:t>
            </a:r>
            <a:endParaRPr lang="en-US" sz="1450" dirty="0"/>
          </a:p>
        </p:txBody>
      </p:sp>
      <p:sp>
        <p:nvSpPr>
          <p:cNvPr id="15" name="Shape 13"/>
          <p:cNvSpPr/>
          <p:nvPr/>
        </p:nvSpPr>
        <p:spPr>
          <a:xfrm>
            <a:off x="6095848" y="3594398"/>
            <a:ext cx="5415323" cy="1089124"/>
          </a:xfrm>
          <a:custGeom>
            <a:avLst/>
            <a:gdLst/>
            <a:ahLst/>
            <a:cxnLst/>
            <a:rect l="l" t="t" r="r" b="b"/>
            <a:pathLst>
              <a:path w="5415323" h="1089124">
                <a:moveTo>
                  <a:pt x="0" y="0"/>
                </a:moveTo>
                <a:lnTo>
                  <a:pt x="5415323" y="0"/>
                </a:lnTo>
                <a:lnTo>
                  <a:pt x="5415323" y="1022966"/>
                </a:lnTo>
                <a:arcTo hR="66158" wR="66156" stAng="0" swAng="5400000"/>
                <a:lnTo>
                  <a:pt x="0" y="1089124"/>
                </a:lnTo>
                <a:lnTo>
                  <a:pt x="0" y="0"/>
                </a:lnTo>
                <a:close/>
              </a:path>
            </a:pathLst>
          </a:custGeom>
          <a:solidFill>
            <a:srgbClr val="D1E5FA"/>
          </a:solidFill>
          <a:ln/>
        </p:spPr>
      </p:sp>
      <p:sp>
        <p:nvSpPr>
          <p:cNvPr id="16" name="Shape 14"/>
          <p:cNvSpPr/>
          <p:nvPr/>
        </p:nvSpPr>
        <p:spPr>
          <a:xfrm>
            <a:off x="6095848" y="3594398"/>
            <a:ext cx="25399" cy="1089124"/>
          </a:xfrm>
          <a:prstGeom prst="roundRect">
            <a:avLst>
              <a:gd name="adj" fmla="val 50001"/>
            </a:avLst>
          </a:prstGeom>
          <a:solidFill>
            <a:srgbClr val="B7CBE0"/>
          </a:solidFill>
          <a:ln/>
        </p:spPr>
      </p:sp>
      <p:sp>
        <p:nvSpPr>
          <p:cNvPr id="17" name="Shape 15"/>
          <p:cNvSpPr/>
          <p:nvPr/>
        </p:nvSpPr>
        <p:spPr>
          <a:xfrm>
            <a:off x="6095848" y="3594398"/>
            <a:ext cx="5415323" cy="25400"/>
          </a:xfrm>
          <a:prstGeom prst="roundRect">
            <a:avLst>
              <a:gd name="adj" fmla="val 49999"/>
            </a:avLst>
          </a:prstGeom>
          <a:solidFill>
            <a:srgbClr val="B7CBE0"/>
          </a:solidFill>
          <a:ln/>
        </p:spPr>
      </p:sp>
      <p:sp>
        <p:nvSpPr>
          <p:cNvPr id="18" name="Text 16"/>
          <p:cNvSpPr/>
          <p:nvPr/>
        </p:nvSpPr>
        <p:spPr>
          <a:xfrm>
            <a:off x="6284854" y="3783409"/>
            <a:ext cx="50373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Planning to have kids</a:t>
            </a:r>
            <a:endParaRPr lang="en-US" sz="1850" dirty="0"/>
          </a:p>
        </p:txBody>
      </p:sp>
      <p:sp>
        <p:nvSpPr>
          <p:cNvPr id="19" name="Text 17"/>
          <p:cNvSpPr/>
          <p:nvPr/>
        </p:nvSpPr>
        <p:spPr>
          <a:xfrm>
            <a:off x="6284854" y="4192091"/>
            <a:ext cx="50373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Delete it entirely</a:t>
            </a:r>
            <a:endParaRPr lang="en-US" sz="1450" dirty="0"/>
          </a:p>
        </p:txBody>
      </p:sp>
      <p:sp>
        <p:nvSpPr>
          <p:cNvPr id="20" name="Text 18"/>
          <p:cNvSpPr/>
          <p:nvPr/>
        </p:nvSpPr>
        <p:spPr>
          <a:xfrm>
            <a:off x="661475" y="4915198"/>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Ask about the job, never the person's traits</a:t>
            </a:r>
            <a:endParaRPr lang="en-US" sz="1450" dirty="0"/>
          </a:p>
        </p:txBody>
      </p:sp>
      <p:sp>
        <p:nvSpPr>
          <p:cNvPr id="21" name="Text 1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03088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structured interview</a:t>
            </a:r>
            <a:endParaRPr lang="en-US" sz="3700" dirty="0"/>
          </a:p>
        </p:txBody>
      </p:sp>
      <p:sp>
        <p:nvSpPr>
          <p:cNvPr id="3" name="Shape 1"/>
          <p:cNvSpPr/>
          <p:nvPr/>
        </p:nvSpPr>
        <p:spPr>
          <a:xfrm>
            <a:off x="661475" y="1999555"/>
            <a:ext cx="10868745" cy="3704630"/>
          </a:xfrm>
          <a:prstGeom prst="roundRect">
            <a:avLst>
              <a:gd name="adj" fmla="val 2143"/>
            </a:avLst>
          </a:prstGeom>
          <a:solidFill>
            <a:srgbClr val="F2F2F2"/>
          </a:solidFill>
          <a:ln/>
        </p:spPr>
      </p:sp>
      <p:sp>
        <p:nvSpPr>
          <p:cNvPr id="4" name="Text 2"/>
          <p:cNvSpPr/>
          <p:nvPr/>
        </p:nvSpPr>
        <p:spPr>
          <a:xfrm>
            <a:off x="888283" y="2188567"/>
            <a:ext cx="10415129" cy="332660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questions = ["explains a bug clearly", "handles a rush calmly", "asks about the task"]</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scores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"Applicant 1": [4, 3, 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"Applicant 2": [5, 4, 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"Applicant 3": [3, 5, 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applicant in scores: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total = 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for score in scores[applicant]: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total = total + score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print(f"{applicant}: {total} of {len(questions) * 5}")</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72846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a:t>
            </a:r>
            <a:endParaRPr lang="en-US" sz="3700" dirty="0"/>
          </a:p>
        </p:txBody>
      </p:sp>
      <p:sp>
        <p:nvSpPr>
          <p:cNvPr id="3" name="Shape 1"/>
          <p:cNvSpPr/>
          <p:nvPr/>
        </p:nvSpPr>
        <p:spPr>
          <a:xfrm>
            <a:off x="661475" y="1697137"/>
            <a:ext cx="10868745" cy="4309467"/>
          </a:xfrm>
          <a:prstGeom prst="roundRect">
            <a:avLst>
              <a:gd name="adj" fmla="val 1842"/>
            </a:avLst>
          </a:prstGeom>
          <a:solidFill>
            <a:srgbClr val="F2F2F2"/>
          </a:solidFill>
          <a:ln/>
        </p:spPr>
      </p:sp>
      <p:sp>
        <p:nvSpPr>
          <p:cNvPr id="4" name="Text 2"/>
          <p:cNvSpPr/>
          <p:nvPr/>
        </p:nvSpPr>
        <p:spPr>
          <a:xfrm>
            <a:off x="888283" y="1886148"/>
            <a:ext cx="10415129" cy="393144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applicants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{"name": "Maya Johnson", "sample_score": 8},</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{"name": "José Ramírez", "sample_score": 9},</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{"name": "Liam O'Connor", "sample_score": 6},</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{"name": "Zoë Adams", "sample_score": 9},</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{"name": "Dmitri Volkov", "sample_score": 7},</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"Remove records with corrupted characters in the name field."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clean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person in applicants: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person["name"].isascii():</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clean.append(person)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print("Applicants reviewed:", len(clean), "of", len(applicants))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82414"/>
            <a:ext cx="10868745" cy="544513"/>
          </a:xfrm>
          <a:prstGeom prst="rect">
            <a:avLst/>
          </a:prstGeom>
          <a:noFill/>
          <a:ln/>
        </p:spPr>
        <p:txBody>
          <a:bodyPr wrap="none" lIns="0" tIns="0" rIns="0" bIns="0" rtlCol="0" anchor="t"/>
          <a:lstStyle/>
          <a:p>
            <a:pPr algn="l" indent="0" marL="0">
              <a:lnSpc>
                <a:spcPct val="104000"/>
              </a:lnSpc>
              <a:buNone/>
            </a:pPr>
            <a:r>
              <a:rPr lang="en-US" sz="3400" b="1" dirty="0">
                <a:solidFill>
                  <a:srgbClr val="111111"/>
                </a:solidFill>
                <a:latin typeface="Orbitron Bold" pitchFamily="34" charset="0"/>
                <a:ea typeface="Orbitron Bold" pitchFamily="34" charset="-122"/>
                <a:cs typeface="Orbitron Bold" pitchFamily="34" charset="-120"/>
              </a:rPr>
              <a:t>Bias with no one deciding</a:t>
            </a:r>
            <a:endParaRPr lang="en-US" sz="3400" dirty="0"/>
          </a:p>
        </p:txBody>
      </p:sp>
      <p:sp>
        <p:nvSpPr>
          <p:cNvPr id="3" name="Shape 1"/>
          <p:cNvSpPr/>
          <p:nvPr/>
        </p:nvSpPr>
        <p:spPr>
          <a:xfrm>
            <a:off x="661475" y="1548507"/>
            <a:ext cx="5221851" cy="627162"/>
          </a:xfrm>
          <a:prstGeom prst="roundRect">
            <a:avLst>
              <a:gd name="adj" fmla="val 11669"/>
            </a:avLst>
          </a:prstGeom>
          <a:solidFill>
            <a:srgbClr val="F2F2F2"/>
          </a:solidFill>
          <a:ln/>
        </p:spPr>
      </p:sp>
      <p:sp>
        <p:nvSpPr>
          <p:cNvPr id="4" name="Text 2"/>
          <p:cNvSpPr/>
          <p:nvPr/>
        </p:nvSpPr>
        <p:spPr>
          <a:xfrm>
            <a:off x="870524" y="1722735"/>
            <a:ext cx="5413339" cy="278705"/>
          </a:xfrm>
          <a:prstGeom prst="rect">
            <a:avLst/>
          </a:prstGeom>
          <a:noFill/>
          <a:ln/>
        </p:spPr>
        <p:txBody>
          <a:bodyPr wrap="none" lIns="0" tIns="0" rIns="0" bIns="0" rtlCol="0" anchor="t"/>
          <a:lstStyle/>
          <a:p>
            <a:pPr algn="l" indent="0" marL="0">
              <a:lnSpc>
                <a:spcPct val="133000"/>
              </a:lnSpc>
              <a:buNone/>
            </a:pPr>
            <a:r>
              <a:rPr lang="en-US" sz="1350" dirty="0">
                <a:solidFill>
                  <a:srgbClr val="005CC5"/>
                </a:solidFill>
                <a:latin typeface="Consolas" pitchFamily="34" charset="0"/>
                <a:ea typeface="Consolas" pitchFamily="34" charset="-122"/>
                <a:cs typeface="Consolas" pitchFamily="34" charset="-120"/>
              </a:rPr>
              <a:t>Applicants reviewed: 3 of 5</a:t>
            </a:r>
            <a:endParaRPr lang="en-US" sz="13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14719" y="1548507"/>
            <a:ext cx="5221851" cy="1087140"/>
          </a:xfrm>
          <a:prstGeom prst="rect">
            <a:avLst/>
          </a:prstGeom>
        </p:spPr>
      </p:pic>
      <p:sp>
        <p:nvSpPr>
          <p:cNvPr id="6" name="Text 3"/>
          <p:cNvSpPr/>
          <p:nvPr/>
        </p:nvSpPr>
        <p:spPr>
          <a:xfrm>
            <a:off x="6584190" y="1741785"/>
            <a:ext cx="4759107" cy="272157"/>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Removed</a:t>
            </a:r>
            <a:endParaRPr lang="en-US" sz="1700" dirty="0"/>
          </a:p>
        </p:txBody>
      </p:sp>
      <p:sp>
        <p:nvSpPr>
          <p:cNvPr id="7" name="Text 4"/>
          <p:cNvSpPr/>
          <p:nvPr/>
        </p:nvSpPr>
        <p:spPr>
          <a:xfrm>
            <a:off x="6584190" y="2174577"/>
            <a:ext cx="4759107" cy="267791"/>
          </a:xfrm>
          <a:prstGeom prst="rect">
            <a:avLst/>
          </a:prstGeom>
          <a:noFill/>
          <a:ln/>
        </p:spPr>
        <p:txBody>
          <a:bodyPr wrap="none" lIns="0" tIns="0" rIns="0" bIns="0" rtlCol="0" anchor="t"/>
          <a:lstStyle/>
          <a:p>
            <a:pPr algn="l"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José Ramírez (score 9)</a:t>
            </a:r>
            <a:endParaRPr lang="en-US" sz="13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4719" y="2796282"/>
            <a:ext cx="5221851" cy="1087140"/>
          </a:xfrm>
          <a:prstGeom prst="rect">
            <a:avLst/>
          </a:prstGeom>
        </p:spPr>
      </p:pic>
      <p:sp>
        <p:nvSpPr>
          <p:cNvPr id="9" name="Text 5"/>
          <p:cNvSpPr/>
          <p:nvPr/>
        </p:nvSpPr>
        <p:spPr>
          <a:xfrm>
            <a:off x="6584190" y="2989560"/>
            <a:ext cx="4759107" cy="272157"/>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Removed</a:t>
            </a:r>
            <a:endParaRPr lang="en-US" sz="1700" dirty="0"/>
          </a:p>
        </p:txBody>
      </p:sp>
      <p:sp>
        <p:nvSpPr>
          <p:cNvPr id="10" name="Text 6"/>
          <p:cNvSpPr/>
          <p:nvPr/>
        </p:nvSpPr>
        <p:spPr>
          <a:xfrm>
            <a:off x="6584190" y="3422352"/>
            <a:ext cx="4759107" cy="267791"/>
          </a:xfrm>
          <a:prstGeom prst="rect">
            <a:avLst/>
          </a:prstGeom>
          <a:noFill/>
          <a:ln/>
        </p:spPr>
        <p:txBody>
          <a:bodyPr wrap="none" lIns="0" tIns="0" rIns="0" bIns="0" rtlCol="0" anchor="t"/>
          <a:lstStyle/>
          <a:p>
            <a:pPr algn="l"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Zoë Adams (score 9)</a:t>
            </a:r>
            <a:endParaRPr lang="en-US" sz="13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14719" y="4044057"/>
            <a:ext cx="5221851" cy="1087140"/>
          </a:xfrm>
          <a:prstGeom prst="rect">
            <a:avLst/>
          </a:prstGeom>
        </p:spPr>
      </p:pic>
      <p:sp>
        <p:nvSpPr>
          <p:cNvPr id="12" name="Text 7"/>
          <p:cNvSpPr/>
          <p:nvPr/>
        </p:nvSpPr>
        <p:spPr>
          <a:xfrm>
            <a:off x="6584190" y="4237335"/>
            <a:ext cx="4759107" cy="272157"/>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Cause</a:t>
            </a:r>
            <a:endParaRPr lang="en-US" sz="1700" dirty="0"/>
          </a:p>
        </p:txBody>
      </p:sp>
      <p:sp>
        <p:nvSpPr>
          <p:cNvPr id="13" name="Text 8"/>
          <p:cNvSpPr/>
          <p:nvPr/>
        </p:nvSpPr>
        <p:spPr>
          <a:xfrm>
            <a:off x="6584190" y="4670127"/>
            <a:ext cx="4759107" cy="267791"/>
          </a:xfrm>
          <a:prstGeom prst="rect">
            <a:avLst/>
          </a:prstGeom>
          <a:noFill/>
          <a:ln/>
        </p:spPr>
        <p:txBody>
          <a:bodyPr wrap="none" lIns="0" tIns="0" rIns="0" bIns="0" rtlCol="0" anchor="t"/>
          <a:lstStyle/>
          <a:p>
            <a:pPr algn="l"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Non-ASCII characters in name field</a:t>
            </a:r>
            <a:endParaRPr lang="en-US" sz="1350" dirty="0"/>
          </a:p>
        </p:txBody>
      </p:sp>
      <p:sp>
        <p:nvSpPr>
          <p:cNvPr id="14" name="Shape 9"/>
          <p:cNvSpPr/>
          <p:nvPr/>
        </p:nvSpPr>
        <p:spPr>
          <a:xfrm>
            <a:off x="661475" y="5492552"/>
            <a:ext cx="10868745" cy="660102"/>
          </a:xfrm>
          <a:prstGeom prst="roundRect">
            <a:avLst>
              <a:gd name="adj" fmla="val 11087"/>
            </a:avLst>
          </a:prstGeom>
          <a:solidFill>
            <a:srgbClr val="FFB3B4"/>
          </a:solidFill>
          <a:ln/>
        </p:spPr>
      </p:sp>
      <p:pic>
        <p:nvPicPr>
          <p:cNvPr id="15" name="Image 3" descr="preencoded.png">    </p:cNvPr>
          <p:cNvPicPr>
            <a:picLocks noChangeAspect="1"/>
          </p:cNvPicPr>
          <p:nvPr/>
        </p:nvPicPr>
        <p:blipFill>
          <a:blip r:embed="rId7"/>
          <a:stretch>
            <a:fillRect/>
          </a:stretch>
        </p:blipFill>
        <p:spPr>
          <a:xfrm>
            <a:off x="835699" y="5728395"/>
            <a:ext cx="217780" cy="174228"/>
          </a:xfrm>
          <a:prstGeom prst="rect">
            <a:avLst/>
          </a:prstGeom>
        </p:spPr>
      </p:pic>
      <p:sp>
        <p:nvSpPr>
          <p:cNvPr id="16" name="Text 10"/>
          <p:cNvSpPr/>
          <p:nvPr/>
        </p:nvSpPr>
        <p:spPr>
          <a:xfrm>
            <a:off x="1227702" y="5696744"/>
            <a:ext cx="10737879" cy="267791"/>
          </a:xfrm>
          <a:prstGeom prst="rect">
            <a:avLst/>
          </a:prstGeom>
          <a:noFill/>
          <a:ln/>
        </p:spPr>
        <p:txBody>
          <a:bodyPr wrap="none" lIns="0" tIns="0" rIns="0" bIns="0" rtlCol="0" anchor="t"/>
          <a:lstStyle/>
          <a:p>
            <a:pPr algn="l" indent="0" marL="0">
              <a:lnSpc>
                <a:spcPct val="128000"/>
              </a:lnSpc>
              <a:buNone/>
            </a:pPr>
            <a:r>
              <a:rPr lang="en-US" sz="1350" dirty="0">
                <a:solidFill>
                  <a:srgbClr val="000000"/>
                </a:solidFill>
                <a:latin typeface="Roboto Condensed" pitchFamily="34" charset="0"/>
                <a:ea typeface="Roboto Condensed" pitchFamily="34" charset="-122"/>
                <a:cs typeface="Roboto Condensed" pitchFamily="34" charset="-120"/>
              </a:rPr>
              <a:t>The two highest-scoring applicants were filtered out by a script. Nobody decided. Nobody noticed.</a:t>
            </a:r>
            <a:endParaRPr lang="en-US" sz="1350" dirty="0"/>
          </a:p>
        </p:txBody>
      </p:sp>
      <p:sp>
        <p:nvSpPr>
          <p:cNvPr id="17"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a multicultural team catches</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MONTHS = ["Jan", "Feb", "Mar", "Apr", "May", "Jun",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"Jul", "Aug", "Sep", "Oct", "Nov", "Dec"]</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typed = "03/04/2026"</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first, second, year = typed.split("/")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print("Month first:", MONTHS[int(first) - 1], int(second), year)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print("Day first:  ", MONTHS[int(second) - 1], int(first), year)</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19935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Do diverse teams perform better</a:t>
            </a:r>
            <a:endParaRPr lang="en-US" sz="3700" dirty="0"/>
          </a:p>
        </p:txBody>
      </p:sp>
      <p:sp>
        <p:nvSpPr>
          <p:cNvPr id="4" name="Shape 1"/>
          <p:cNvSpPr/>
          <p:nvPr/>
        </p:nvSpPr>
        <p:spPr>
          <a:xfrm>
            <a:off x="5233360" y="2876748"/>
            <a:ext cx="507491" cy="287139"/>
          </a:xfrm>
          <a:prstGeom prst="roundRect">
            <a:avLst>
              <a:gd name="adj" fmla="val 22118"/>
            </a:avLst>
          </a:prstGeom>
          <a:solidFill>
            <a:srgbClr val="D1E5FA"/>
          </a:solidFill>
          <a:ln/>
        </p:spPr>
      </p:sp>
      <p:sp>
        <p:nvSpPr>
          <p:cNvPr id="5" name="Text 2"/>
          <p:cNvSpPr/>
          <p:nvPr/>
        </p:nvSpPr>
        <p:spPr>
          <a:xfrm>
            <a:off x="5346765" y="2933402"/>
            <a:ext cx="890268" cy="173831"/>
          </a:xfrm>
          <a:prstGeom prst="rect">
            <a:avLst/>
          </a:prstGeom>
          <a:noFill/>
          <a:ln/>
        </p:spPr>
        <p:txBody>
          <a:bodyPr wrap="none" lIns="0" tIns="0" rIns="0" bIns="0" rtlCol="0" anchor="t"/>
          <a:lstStyle/>
          <a:p>
            <a:pPr algn="l" indent="0" marL="0">
              <a:lnSpc>
                <a:spcPct val="96000"/>
              </a:lnSpc>
              <a:buNone/>
            </a:pPr>
            <a:r>
              <a:rPr lang="en-US" sz="1150" dirty="0">
                <a:solidFill>
                  <a:srgbClr val="1C1C1C"/>
                </a:solidFill>
                <a:latin typeface="Roboto Condensed" pitchFamily="34" charset="0"/>
                <a:ea typeface="Roboto Condensed" pitchFamily="34" charset="-122"/>
                <a:cs typeface="Roboto Condensed" pitchFamily="34" charset="-120"/>
              </a:rPr>
              <a:t>FOR</a:t>
            </a:r>
            <a:endParaRPr lang="en-US" sz="1150" dirty="0"/>
          </a:p>
        </p:txBody>
      </p:sp>
      <p:sp>
        <p:nvSpPr>
          <p:cNvPr id="6" name="Text 3"/>
          <p:cNvSpPr/>
          <p:nvPr/>
        </p:nvSpPr>
        <p:spPr>
          <a:xfrm>
            <a:off x="5233360" y="3376513"/>
            <a:ext cx="2917851" cy="157817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More perspectives, more requirements, fewer blind spots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Global products need people who know other users</a:t>
            </a:r>
            <a:endParaRPr lang="en-US" sz="1450" dirty="0"/>
          </a:p>
        </p:txBody>
      </p:sp>
      <p:sp>
        <p:nvSpPr>
          <p:cNvPr id="7" name="Shape 4"/>
          <p:cNvSpPr/>
          <p:nvPr/>
        </p:nvSpPr>
        <p:spPr>
          <a:xfrm>
            <a:off x="8618719" y="2876748"/>
            <a:ext cx="863479" cy="287139"/>
          </a:xfrm>
          <a:prstGeom prst="roundRect">
            <a:avLst>
              <a:gd name="adj" fmla="val 22118"/>
            </a:avLst>
          </a:prstGeom>
          <a:noFill/>
          <a:ln w="12700">
            <a:solidFill>
              <a:srgbClr val="57A1EB"/>
            </a:solidFill>
            <a:prstDash val="solid"/>
          </a:ln>
        </p:spPr>
      </p:sp>
      <p:sp>
        <p:nvSpPr>
          <p:cNvPr id="8" name="Text 5"/>
          <p:cNvSpPr/>
          <p:nvPr/>
        </p:nvSpPr>
        <p:spPr>
          <a:xfrm>
            <a:off x="8732123" y="2933402"/>
            <a:ext cx="1246256" cy="173831"/>
          </a:xfrm>
          <a:prstGeom prst="rect">
            <a:avLst/>
          </a:prstGeom>
          <a:noFill/>
          <a:ln/>
        </p:spPr>
        <p:txBody>
          <a:bodyPr wrap="none" lIns="0" tIns="0" rIns="0" bIns="0" rtlCol="0" anchor="t"/>
          <a:lstStyle/>
          <a:p>
            <a:pPr algn="l" indent="0" marL="0">
              <a:lnSpc>
                <a:spcPct val="96000"/>
              </a:lnSpc>
              <a:buNone/>
            </a:pPr>
            <a:r>
              <a:rPr lang="en-US" sz="1150" dirty="0">
                <a:solidFill>
                  <a:srgbClr val="57A1EB"/>
                </a:solidFill>
                <a:latin typeface="Roboto Condensed" pitchFamily="34" charset="0"/>
                <a:ea typeface="Roboto Condensed" pitchFamily="34" charset="-122"/>
                <a:cs typeface="Roboto Condensed" pitchFamily="34" charset="-120"/>
              </a:rPr>
              <a:t>CAUTION</a:t>
            </a:r>
            <a:endParaRPr lang="en-US" sz="1150" dirty="0"/>
          </a:p>
        </p:txBody>
      </p:sp>
      <p:sp>
        <p:nvSpPr>
          <p:cNvPr id="9" name="Text 6"/>
          <p:cNvSpPr/>
          <p:nvPr/>
        </p:nvSpPr>
        <p:spPr>
          <a:xfrm>
            <a:off x="8618719" y="3376513"/>
            <a:ext cx="2917851" cy="1275755"/>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Diversity alone does not guarantee better results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Different norms can slow early decisions</a:t>
            </a:r>
            <a:endParaRPr lang="en-US" sz="1450" dirty="0"/>
          </a:p>
        </p:txBody>
      </p:sp>
      <p:sp>
        <p:nvSpPr>
          <p:cNvPr id="10" name="Text 7"/>
          <p:cNvSpPr/>
          <p:nvPr/>
        </p:nvSpPr>
        <p:spPr>
          <a:xfrm>
            <a:off x="5233360" y="5233392"/>
            <a:ext cx="690644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benefit depends on whether every voice is heard</a:t>
            </a:r>
            <a:endParaRPr lang="en-US" sz="1450" dirty="0"/>
          </a:p>
        </p:txBody>
      </p:sp>
      <p:sp>
        <p:nvSpPr>
          <p:cNvPr id="11" name="Text 8"/>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234404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Shape 1"/>
          <p:cNvSpPr/>
          <p:nvPr/>
        </p:nvSpPr>
        <p:spPr>
          <a:xfrm>
            <a:off x="661475" y="3312716"/>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732365" y="3348137"/>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5" name="Text 3"/>
          <p:cNvSpPr/>
          <p:nvPr/>
        </p:nvSpPr>
        <p:spPr>
          <a:xfrm>
            <a:off x="1275723" y="3377605"/>
            <a:ext cx="470195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1: Peer Code Review 2</a:t>
            </a:r>
            <a:endParaRPr lang="en-US" sz="1850" dirty="0"/>
          </a:p>
        </p:txBody>
      </p:sp>
      <p:sp>
        <p:nvSpPr>
          <p:cNvPr id="6" name="Text 4"/>
          <p:cNvSpPr/>
          <p:nvPr/>
        </p:nvSpPr>
        <p:spPr>
          <a:xfrm>
            <a:off x="1275723" y="3786287"/>
            <a:ext cx="4701958"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On another team's change branch. Merge only after the review, then tag v1.1</a:t>
            </a:r>
            <a:endParaRPr lang="en-US" sz="1450" dirty="0"/>
          </a:p>
        </p:txBody>
      </p:sp>
      <p:sp>
        <p:nvSpPr>
          <p:cNvPr id="7" name="Shape 5"/>
          <p:cNvSpPr/>
          <p:nvPr/>
        </p:nvSpPr>
        <p:spPr>
          <a:xfrm>
            <a:off x="6213915" y="3312716"/>
            <a:ext cx="425241" cy="425252"/>
          </a:xfrm>
          <a:prstGeom prst="roundRect">
            <a:avLst>
              <a:gd name="adj" fmla="val 18669"/>
            </a:avLst>
          </a:prstGeom>
          <a:solidFill>
            <a:srgbClr val="D1E5FA"/>
          </a:solidFill>
          <a:ln w="19050">
            <a:solidFill>
              <a:srgbClr val="B7CBE0"/>
            </a:solidFill>
            <a:prstDash val="solid"/>
          </a:ln>
        </p:spPr>
      </p:sp>
      <p:sp>
        <p:nvSpPr>
          <p:cNvPr id="8" name="Text 6"/>
          <p:cNvSpPr/>
          <p:nvPr/>
        </p:nvSpPr>
        <p:spPr>
          <a:xfrm>
            <a:off x="6284805" y="3348137"/>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9" name="Text 7"/>
          <p:cNvSpPr/>
          <p:nvPr/>
        </p:nvSpPr>
        <p:spPr>
          <a:xfrm>
            <a:off x="6828163" y="3377605"/>
            <a:ext cx="470205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2: Problem Drop 3</a:t>
            </a:r>
            <a:endParaRPr lang="en-US" sz="1850" dirty="0"/>
          </a:p>
        </p:txBody>
      </p:sp>
      <p:sp>
        <p:nvSpPr>
          <p:cNvPr id="10" name="Text 8"/>
          <p:cNvSpPr/>
          <p:nvPr/>
        </p:nvSpPr>
        <p:spPr>
          <a:xfrm>
            <a:off x="6828163" y="3786287"/>
            <a:ext cx="470205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On your own, 40 minutes. Push everything before you leave.</a:t>
            </a:r>
            <a:endParaRPr lang="en-US" sz="1450" dirty="0"/>
          </a:p>
        </p:txBody>
      </p:sp>
      <p:sp>
        <p:nvSpPr>
          <p:cNvPr id="11"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2026-09-15T17:11:32Z</dcterms:created>
  <dcterms:modified xsi:type="dcterms:W3CDTF">2026-09-15T17:11:32Z</dcterms:modified>
</cp:coreProperties>
</file>