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Your test file checks what your team thought to check, and nobody thinks of everything. That is not a flaw in you. It is what being the author means. Your eyes slide right past your own assumptions because they are yours. This afternoon another team reads your code and you read theirs. Before that, you learn the two kinds of review and exactly what each one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kinds of code review. In a peer walkthrough, people read the code while the author explains it, requirement by requirement. People are slow and they get tired, but they know what the code is for. Static analysis is a program reading your code without running it, looking for patterns that are usually mistakes. It is fast and tireless and has no idea what the code is for. You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ships with a static check you can run right now. py compile asks one question. Can Python read this file at all. door dot py is missing a colon, so it fails. greet dot py prints nothing, which means it passed. It runs and says good morning. But greet has a misspelled variable on a line that only runs in the afternoon. py compile cannot see that. It only checks that the file can be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static analysis tool and you can read every line of it. ast parse reads the file the same way Python does before running it and hands back a tree, the whole program as nested pieces. ast walk visits every piece. For each one we ask, is this an except block, and is its whole body the word pass. If so, that block makes failures disappear, and we print the line. The file being checked is never run. It is only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check dot py is the same idea with six checks, each tied to a review dimension. Here it is on the laptop cart program from your lab. Seven findings in under a second, across four dimensions. Now read the last line out loud with me. Not checked by this tool, requirements fit, and whether the logic is right. It cannot check requirements, because the requirements are not in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tools make mistakes both ways. A false alarm: the checker flags a variable named shopping list as a possible secret, because the word shopping contains p i n. You look at it for two seconds and dismiss it. That kind of mistake is cheap. The other direction is the dangerous one, and I am going to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concessions dot py from Lab U06-01 on Thursday. Zero findings. Before I say anything, what did your tests find in this file on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defects, the ones your acceptance tests caught. Zero findings from the checker. No error, no warning, a clean report on broken code. The wrong move is the conclusion, zero findings so it is clean. It is the same shape as a test that agrees with the bug. A tool says fine and a person stops looking. So the protocol order is tools first, then the walkthrough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find something this afternoon, write it with four parts. Where, the function and the line. Which dimension. The consequence for a real person, not the word inefficient. And the fix. And one rule above everything. Review the code, never the coder. If your sentence would still make sense with the author's name in it, rewrite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U06-03. You review the laptop cart program using the full protocol. Run py compile and the checker, then walk through it requirement by requirement and find what the checker could not. There are several. Build two is the real thing. Peer Code Review one, on another team's Sprint 1 code, while another team reviews yours. Authors, your only word during the review is noted. You respond in writing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Kinds of Review</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Kinds of Review</a:t>
            </a:r>
            <a:endParaRPr lang="en-US" sz="3700" dirty="0"/>
          </a:p>
        </p:txBody>
      </p:sp>
      <p:sp>
        <p:nvSpPr>
          <p:cNvPr id="4" name="Text 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049363"/>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Your tests only check what you thought of</a:t>
            </a:r>
            <a:endParaRPr lang="en-US" sz="2950" dirty="0"/>
          </a:p>
        </p:txBody>
      </p:sp>
      <p:sp>
        <p:nvSpPr>
          <p:cNvPr id="4" name="Text 1"/>
          <p:cNvSpPr/>
          <p:nvPr/>
        </p:nvSpPr>
        <p:spPr>
          <a:xfrm>
            <a:off x="661475" y="3277791"/>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check in your file came from your head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defect you never imagined has no check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cannot see your own blind spot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Today, somebody else looks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821035"/>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People and programs miss different things</a:t>
            </a:r>
            <a:endParaRPr lang="en-US" sz="2950" dirty="0"/>
          </a:p>
        </p:txBody>
      </p:sp>
      <p:pic>
        <p:nvPicPr>
          <p:cNvPr id="3" name="Image 0" descr="preencoded.png">    </p:cNvPr>
          <p:cNvPicPr>
            <a:picLocks noChangeAspect="1"/>
          </p:cNvPicPr>
          <p:nvPr/>
        </p:nvPicPr>
        <p:blipFill>
          <a:blip r:embed="rId1"/>
          <a:stretch>
            <a:fillRect/>
          </a:stretch>
        </p:blipFill>
        <p:spPr>
          <a:xfrm>
            <a:off x="661475" y="1789609"/>
            <a:ext cx="6903269" cy="3911898"/>
          </a:xfrm>
          <a:prstGeom prst="rect">
            <a:avLst/>
          </a:prstGeom>
        </p:spPr>
      </p:pic>
      <p:sp>
        <p:nvSpPr>
          <p:cNvPr id="4" name="Text 1"/>
          <p:cNvSpPr/>
          <p:nvPr/>
        </p:nvSpPr>
        <p:spPr>
          <a:xfrm>
            <a:off x="8032251" y="2488704"/>
            <a:ext cx="3504219" cy="2617589"/>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Peer walkthrough: people read it with the author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People understand purpose, and get tired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Static analysis: a program reads it, never runs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Programs are fast, and have no idea of purpose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392436"/>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 check that ships with Python</a:t>
            </a:r>
            <a:endParaRPr lang="en-US" sz="2950" dirty="0"/>
          </a:p>
        </p:txBody>
      </p:sp>
      <p:sp>
        <p:nvSpPr>
          <p:cNvPr id="3" name="Shape 1"/>
          <p:cNvSpPr/>
          <p:nvPr/>
        </p:nvSpPr>
        <p:spPr>
          <a:xfrm>
            <a:off x="661475" y="2242939"/>
            <a:ext cx="10868745" cy="3099792"/>
          </a:xfrm>
          <a:prstGeom prst="roundRect">
            <a:avLst>
              <a:gd name="adj" fmla="val 2561"/>
            </a:avLst>
          </a:prstGeom>
          <a:solidFill>
            <a:srgbClr val="F2F2F2"/>
          </a:solidFill>
          <a:ln/>
        </p:spPr>
      </p:sp>
      <p:sp>
        <p:nvSpPr>
          <p:cNvPr id="4" name="Text 2"/>
          <p:cNvSpPr/>
          <p:nvPr/>
        </p:nvSpPr>
        <p:spPr>
          <a:xfrm>
            <a:off x="888283" y="2431951"/>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python -m py_compile door.py</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File "door.py", line 2</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if door_open</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SyntaxError: expected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python -m py_compile greet.py</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python greet.py</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Good morning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241227"/>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Build a checker in eight lines</a:t>
            </a:r>
            <a:endParaRPr lang="en-US" sz="2950" dirty="0"/>
          </a:p>
        </p:txBody>
      </p:sp>
      <p:sp>
        <p:nvSpPr>
          <p:cNvPr id="3" name="Shape 1"/>
          <p:cNvSpPr/>
          <p:nvPr/>
        </p:nvSpPr>
        <p:spPr>
          <a:xfrm>
            <a:off x="661475" y="2091730"/>
            <a:ext cx="10868745" cy="3402211"/>
          </a:xfrm>
          <a:prstGeom prst="roundRect">
            <a:avLst>
              <a:gd name="adj" fmla="val 2333"/>
            </a:avLst>
          </a:prstGeom>
          <a:solidFill>
            <a:srgbClr val="F2F2F2"/>
          </a:solidFill>
          <a:ln/>
        </p:spPr>
      </p:sp>
      <p:sp>
        <p:nvSpPr>
          <p:cNvPr id="4" name="Text 2"/>
          <p:cNvSpPr/>
          <p:nvPr/>
        </p:nvSpPr>
        <p:spPr>
          <a:xfrm>
            <a:off x="888283" y="2280741"/>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import ast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import sys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with open(sys.argv[1], encoding="utf-8") as file: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tree = ast.parse(file.read())</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for node in ast.walk(tree):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isinstance(node, ast.ExceptHandler):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len(node.body) == 1 and isinstance(node.body[0], ast.Pass):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print(f"line {node.lineno}: this except block hides the failure")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938808"/>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 full checker on a peer's code</a:t>
            </a:r>
            <a:endParaRPr lang="en-US" sz="2950" dirty="0"/>
          </a:p>
        </p:txBody>
      </p:sp>
      <p:sp>
        <p:nvSpPr>
          <p:cNvPr id="3" name="Shape 1"/>
          <p:cNvSpPr/>
          <p:nvPr/>
        </p:nvSpPr>
        <p:spPr>
          <a:xfrm>
            <a:off x="661475" y="1789311"/>
            <a:ext cx="10868745" cy="4007048"/>
          </a:xfrm>
          <a:prstGeom prst="roundRect">
            <a:avLst>
              <a:gd name="adj" fmla="val 1981"/>
            </a:avLst>
          </a:prstGeom>
          <a:solidFill>
            <a:srgbClr val="F2F2F2"/>
          </a:solidFill>
          <a:ln/>
        </p:spPr>
      </p:sp>
      <p:sp>
        <p:nvSpPr>
          <p:cNvPr id="4" name="Text 2"/>
          <p:cNvSpPr/>
          <p:nvPr/>
        </p:nvSpPr>
        <p:spPr>
          <a:xfrm>
            <a:off x="888283" y="1978323"/>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Static review of cart_checkout.py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line 19   Security     'RESET_PIN' looks like a secret written into the code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line 44   Correctness  bare except catches every error, including your own typos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line 44   Correctness  except block only says pass, so the failure disappears silently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line 48   Readability  function 'chk' has no docstring</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line 48   Readability  one-letter name 'c'</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line 48   Readability  one-letter name 'n'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line 82   Performance  open() inside a loop reads or writes the file on every pass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7 finding(s)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Not checked by this tool: Requirements Fit, and whether the logic is right.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049363"/>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Tools are wrong in both directions</a:t>
            </a:r>
            <a:endParaRPr lang="en-US" sz="2950" dirty="0"/>
          </a:p>
        </p:txBody>
      </p:sp>
      <p:sp>
        <p:nvSpPr>
          <p:cNvPr id="4" name="Text 1"/>
          <p:cNvSpPr/>
          <p:nvPr/>
        </p:nvSpPr>
        <p:spPr>
          <a:xfrm>
            <a:off x="5233360" y="3277791"/>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False alarm: shopping_list flagged as a secret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Because shopping contains the letters p, i, 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person dismisses it in two seconds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Silent miss: a clean report on broken code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846064"/>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Watch this</a:t>
            </a:r>
            <a:endParaRPr lang="en-US" sz="2950" dirty="0"/>
          </a:p>
        </p:txBody>
      </p:sp>
      <p:sp>
        <p:nvSpPr>
          <p:cNvPr id="3" name="Shape 1"/>
          <p:cNvSpPr/>
          <p:nvPr/>
        </p:nvSpPr>
        <p:spPr>
          <a:xfrm>
            <a:off x="661475" y="2696567"/>
            <a:ext cx="10868745" cy="2192536"/>
          </a:xfrm>
          <a:prstGeom prst="roundRect">
            <a:avLst>
              <a:gd name="adj" fmla="val 3621"/>
            </a:avLst>
          </a:prstGeom>
          <a:solidFill>
            <a:srgbClr val="F2F2F2"/>
          </a:solidFill>
          <a:ln/>
        </p:spPr>
      </p:sp>
      <p:sp>
        <p:nvSpPr>
          <p:cNvPr id="4" name="Text 2"/>
          <p:cNvSpPr/>
          <p:nvPr/>
        </p:nvSpPr>
        <p:spPr>
          <a:xfrm>
            <a:off x="888283" y="2885579"/>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python review_check.py concessions.py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Static review of concessions.py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0 finding(s)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Not checked by this tool: Requirements Fit, and whether the logic is right.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821035"/>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Zero findings, three real defects</a:t>
            </a:r>
            <a:endParaRPr lang="en-US" sz="2950" dirty="0"/>
          </a:p>
        </p:txBody>
      </p:sp>
      <p:pic>
        <p:nvPicPr>
          <p:cNvPr id="3" name="Image 0" descr="preencoded.png">    </p:cNvPr>
          <p:cNvPicPr>
            <a:picLocks noChangeAspect="1"/>
          </p:cNvPicPr>
          <p:nvPr/>
        </p:nvPicPr>
        <p:blipFill>
          <a:blip r:embed="rId1"/>
          <a:stretch>
            <a:fillRect/>
          </a:stretch>
        </p:blipFill>
        <p:spPr>
          <a:xfrm>
            <a:off x="661475" y="1789609"/>
            <a:ext cx="6903269" cy="3911898"/>
          </a:xfrm>
          <a:prstGeom prst="rect">
            <a:avLst/>
          </a:prstGeom>
        </p:spPr>
      </p:pic>
      <p:sp>
        <p:nvSpPr>
          <p:cNvPr id="4" name="Text 1"/>
          <p:cNvSpPr/>
          <p:nvPr/>
        </p:nvSpPr>
        <p:spPr>
          <a:xfrm>
            <a:off x="8032251" y="2639913"/>
            <a:ext cx="3504219" cy="2315170"/>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Refuses a legal order of 20 hot dogs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Ignores sports drinks when counting combos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Applies the member discount in the wrong order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defect is about purpose. Tools cannot see purpose.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60778"/>
          </a:xfrm>
          <a:prstGeom prst="rect">
            <a:avLst/>
          </a:prstGeom>
        </p:spPr>
      </p:pic>
      <p:sp>
        <p:nvSpPr>
          <p:cNvPr id="3" name="Text 0"/>
          <p:cNvSpPr/>
          <p:nvPr/>
        </p:nvSpPr>
        <p:spPr>
          <a:xfrm>
            <a:off x="661475" y="519807"/>
            <a:ext cx="6296860" cy="435670"/>
          </a:xfrm>
          <a:prstGeom prst="rect">
            <a:avLst/>
          </a:prstGeom>
          <a:noFill/>
          <a:ln/>
        </p:spPr>
        <p:txBody>
          <a:bodyPr wrap="none" lIns="0" tIns="0" rIns="0" bIns="0" rtlCol="0" anchor="t"/>
          <a:lstStyle/>
          <a:p>
            <a:pPr algn="l" indent="0" marL="0">
              <a:lnSpc>
                <a:spcPct val="104000"/>
              </a:lnSpc>
              <a:buNone/>
            </a:pPr>
            <a:r>
              <a:rPr lang="en-US" sz="2700" b="1" dirty="0">
                <a:solidFill>
                  <a:srgbClr val="111111"/>
                </a:solidFill>
                <a:latin typeface="Orbitron Bold" pitchFamily="34" charset="0"/>
                <a:ea typeface="Orbitron Bold" pitchFamily="34" charset="-122"/>
                <a:cs typeface="Orbitron Bold" pitchFamily="34" charset="-120"/>
              </a:rPr>
              <a:t>A finding has four parts</a:t>
            </a:r>
            <a:endParaRPr lang="en-US" sz="2700" dirty="0"/>
          </a:p>
        </p:txBody>
      </p:sp>
      <p:sp>
        <p:nvSpPr>
          <p:cNvPr id="4" name="Shape 1"/>
          <p:cNvSpPr/>
          <p:nvPr/>
        </p:nvSpPr>
        <p:spPr>
          <a:xfrm>
            <a:off x="661475" y="1196380"/>
            <a:ext cx="6296860" cy="1022846"/>
          </a:xfrm>
          <a:prstGeom prst="roundRect">
            <a:avLst>
              <a:gd name="adj" fmla="val 7155"/>
            </a:avLst>
          </a:prstGeom>
          <a:solidFill>
            <a:srgbClr val="FFFFFF"/>
          </a:solidFill>
          <a:ln w="19050">
            <a:solidFill>
              <a:srgbClr val="B7CBE0"/>
            </a:solidFill>
            <a:prstDash val="solid"/>
          </a:ln>
        </p:spPr>
      </p:sp>
      <p:sp>
        <p:nvSpPr>
          <p:cNvPr id="5" name="Text 2"/>
          <p:cNvSpPr/>
          <p:nvPr/>
        </p:nvSpPr>
        <p:spPr>
          <a:xfrm>
            <a:off x="854748" y="1389658"/>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Where</a:t>
            </a:r>
            <a:endParaRPr lang="en-US" sz="1700" dirty="0"/>
          </a:p>
        </p:txBody>
      </p:sp>
      <p:sp>
        <p:nvSpPr>
          <p:cNvPr id="6" name="Text 3"/>
          <p:cNvSpPr/>
          <p:nvPr/>
        </p:nvSpPr>
        <p:spPr>
          <a:xfrm>
            <a:off x="854748" y="1758156"/>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Function and line number</a:t>
            </a:r>
            <a:endParaRPr lang="en-US" sz="1350" dirty="0"/>
          </a:p>
        </p:txBody>
      </p:sp>
      <p:sp>
        <p:nvSpPr>
          <p:cNvPr id="7" name="Shape 4"/>
          <p:cNvSpPr/>
          <p:nvPr/>
        </p:nvSpPr>
        <p:spPr>
          <a:xfrm>
            <a:off x="661475" y="2379861"/>
            <a:ext cx="6296860" cy="1022846"/>
          </a:xfrm>
          <a:prstGeom prst="roundRect">
            <a:avLst>
              <a:gd name="adj" fmla="val 7155"/>
            </a:avLst>
          </a:prstGeom>
          <a:solidFill>
            <a:srgbClr val="FFFFFF"/>
          </a:solidFill>
          <a:ln w="19050">
            <a:solidFill>
              <a:srgbClr val="B7CBE0"/>
            </a:solidFill>
            <a:prstDash val="solid"/>
          </a:ln>
        </p:spPr>
      </p:sp>
      <p:sp>
        <p:nvSpPr>
          <p:cNvPr id="8" name="Text 5"/>
          <p:cNvSpPr/>
          <p:nvPr/>
        </p:nvSpPr>
        <p:spPr>
          <a:xfrm>
            <a:off x="854748" y="2573139"/>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Dimension</a:t>
            </a:r>
            <a:endParaRPr lang="en-US" sz="1700" dirty="0"/>
          </a:p>
        </p:txBody>
      </p:sp>
      <p:sp>
        <p:nvSpPr>
          <p:cNvPr id="9" name="Text 6"/>
          <p:cNvSpPr/>
          <p:nvPr/>
        </p:nvSpPr>
        <p:spPr>
          <a:xfrm>
            <a:off x="854748" y="2941638"/>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One of the five</a:t>
            </a:r>
            <a:endParaRPr lang="en-US" sz="1350" dirty="0"/>
          </a:p>
        </p:txBody>
      </p:sp>
      <p:sp>
        <p:nvSpPr>
          <p:cNvPr id="10" name="Shape 7"/>
          <p:cNvSpPr/>
          <p:nvPr/>
        </p:nvSpPr>
        <p:spPr>
          <a:xfrm>
            <a:off x="661475" y="3563342"/>
            <a:ext cx="6296860" cy="1022846"/>
          </a:xfrm>
          <a:prstGeom prst="roundRect">
            <a:avLst>
              <a:gd name="adj" fmla="val 7155"/>
            </a:avLst>
          </a:prstGeom>
          <a:solidFill>
            <a:srgbClr val="FFFFFF"/>
          </a:solidFill>
          <a:ln w="19050">
            <a:solidFill>
              <a:srgbClr val="B7CBE0"/>
            </a:solidFill>
            <a:prstDash val="solid"/>
          </a:ln>
        </p:spPr>
      </p:sp>
      <p:sp>
        <p:nvSpPr>
          <p:cNvPr id="11" name="Text 8"/>
          <p:cNvSpPr/>
          <p:nvPr/>
        </p:nvSpPr>
        <p:spPr>
          <a:xfrm>
            <a:off x="854748" y="3756620"/>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Consequence</a:t>
            </a:r>
            <a:endParaRPr lang="en-US" sz="1700" dirty="0"/>
          </a:p>
        </p:txBody>
      </p:sp>
      <p:sp>
        <p:nvSpPr>
          <p:cNvPr id="12" name="Text 9"/>
          <p:cNvSpPr/>
          <p:nvPr/>
        </p:nvSpPr>
        <p:spPr>
          <a:xfrm>
            <a:off x="854748" y="4125119"/>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What goes wrong for a real person</a:t>
            </a:r>
            <a:endParaRPr lang="en-US" sz="1350" dirty="0"/>
          </a:p>
        </p:txBody>
      </p:sp>
      <p:sp>
        <p:nvSpPr>
          <p:cNvPr id="13" name="Shape 10"/>
          <p:cNvSpPr/>
          <p:nvPr/>
        </p:nvSpPr>
        <p:spPr>
          <a:xfrm>
            <a:off x="661475" y="4746823"/>
            <a:ext cx="6296860" cy="1022846"/>
          </a:xfrm>
          <a:prstGeom prst="roundRect">
            <a:avLst>
              <a:gd name="adj" fmla="val 7155"/>
            </a:avLst>
          </a:prstGeom>
          <a:solidFill>
            <a:srgbClr val="FFFFFF"/>
          </a:solidFill>
          <a:ln w="19050">
            <a:solidFill>
              <a:srgbClr val="B7CBE0"/>
            </a:solidFill>
            <a:prstDash val="solid"/>
          </a:ln>
        </p:spPr>
      </p:sp>
      <p:sp>
        <p:nvSpPr>
          <p:cNvPr id="14" name="Text 11"/>
          <p:cNvSpPr/>
          <p:nvPr/>
        </p:nvSpPr>
        <p:spPr>
          <a:xfrm>
            <a:off x="854748" y="4940102"/>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Fix</a:t>
            </a:r>
            <a:endParaRPr lang="en-US" sz="1700" dirty="0"/>
          </a:p>
        </p:txBody>
      </p:sp>
      <p:sp>
        <p:nvSpPr>
          <p:cNvPr id="15" name="Text 12"/>
          <p:cNvSpPr/>
          <p:nvPr/>
        </p:nvSpPr>
        <p:spPr>
          <a:xfrm>
            <a:off x="854748" y="5308600"/>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What to change</a:t>
            </a:r>
            <a:endParaRPr lang="en-US" sz="1350" dirty="0"/>
          </a:p>
        </p:txBody>
      </p:sp>
      <p:sp>
        <p:nvSpPr>
          <p:cNvPr id="16" name="Text 13"/>
          <p:cNvSpPr/>
          <p:nvPr/>
        </p:nvSpPr>
        <p:spPr>
          <a:xfrm>
            <a:off x="661475" y="5950347"/>
            <a:ext cx="6906444"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Review the code, never the coder.</a:t>
            </a:r>
            <a:endParaRPr lang="en-US" sz="1350" dirty="0"/>
          </a:p>
        </p:txBody>
      </p:sp>
      <p:sp>
        <p:nvSpPr>
          <p:cNvPr id="17" name="Text 14"/>
          <p:cNvSpPr/>
          <p:nvPr/>
        </p:nvSpPr>
        <p:spPr>
          <a:xfrm>
            <a:off x="132255" y="6460034"/>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2026-09-14T18:37:23Z</dcterms:created>
  <dcterms:modified xsi:type="dcterms:W3CDTF">2026-09-14T18:37:23Z</dcterms:modified>
</cp:coreProperties>
</file>