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you saw that a class bundles data and behaviour. Today the missing piece: how does an object get its data in the first place. A brand new gear needs a tag and a condition. That starting state is set in one special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method is called init, with two underscores on each side. It runs once, the moment you write Gear with parentheses. You never call it directly. Its job is to set up every attribute the object will ever have, so every object has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self dot something equals value line creates one attribute on the new object. Condition has a default of good, so it is optional. Borrower and times_loaned are not passed in at all, they get sensible starting values. Now every gear has all five attributes,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filled in for condition. Borrower started as None, meaning it is in the cabinet. Times_loaned started at zero. None of that was passed in. Init set it up so the rest of the program can count on it being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init is code, it can guard against nonsense. If someone passes a condition that is not good, worn, or broken, raise a ValueError and the object is never created. A dictionary would happily store sticky. The class protects its own rules. That is why we use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looks fine. Every locker starts with an empty dictionary, right. Watch what happens when I make two lockers and add to only one of them. Predict the result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I added to a, and b has it too. The dictionary was made once, when the class was defined, so every locker points at the same one. This is the two-names-one-list bug from Unit 1, now with two objects sharing one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one line. Put self dot items equals empty dictionary inside init. Now it runs once per object, so each locker gets its own. The rule to carry forever: any attribute that is a list, dictionary, or set goes in init, always. Numbers and strings hide the bug. Collections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is tempting because items equals empty dictionary at the top reads exactly like what you want, every locker starts empty. But Python runs the class body one time, not once per object, so all of them share it. Put it in init and each object gets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writing the Gear class init with all five attributes and the guard against a bad condition. Build two proves two gear objects do not share attributes, which is the trap you watched. Run the Part 1 tests until they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5.png"/><Relationship Id="rId8" Type="http://schemas.openxmlformats.org/officeDocument/2006/relationships/image" Target="../media/image-10-6.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Building an Object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does a new object get its stuff</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wrote a Gear class yesterday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But how does a gear get its tag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its condition, and its borrower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object needs a starting state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590179"/>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C1C1C"/>
                </a:solidFill>
                <a:highlight>
                  <a:srgbClr val="F2F2F2"/>
                </a:highlight>
                <a:latin typeface="Consolas" pitchFamily="34" charset="0"/>
                <a:ea typeface="Consolas" pitchFamily="34" charset="-122"/>
                <a:cs typeface="Consolas" pitchFamily="34" charset="-120"/>
              </a:rPr>
              <a:t>__init__</a:t>
            </a:r>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 runs automatically</a:t>
            </a:r>
            <a:endParaRPr lang="en-US" sz="3700" dirty="0"/>
          </a:p>
        </p:txBody>
      </p:sp>
      <p:sp>
        <p:nvSpPr>
          <p:cNvPr id="4" name="Text 1"/>
          <p:cNvSpPr/>
          <p:nvPr/>
        </p:nvSpPr>
        <p:spPr>
          <a:xfrm>
            <a:off x="8032251" y="3551138"/>
            <a:ext cx="3504219" cy="171668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runs once, when you make the object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never call it yourself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Writing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Gear(...)</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calls it for you</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attribute is created here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Attaching attributes to </a:t>
            </a:r>
            <a:pPr algn="l" indent="0" marL="0">
              <a:lnSpc>
                <a:spcPct val="104000"/>
              </a:lnSpc>
              <a:buNone/>
            </a:pPr>
            <a:r>
              <a:rPr lang="en-US" sz="3700" b="1" dirty="0">
                <a:solidFill>
                  <a:srgbClr val="1C1C1C"/>
                </a:solidFill>
                <a:highlight>
                  <a:srgbClr val="F2F2F2"/>
                </a:highlight>
                <a:latin typeface="Consolas" pitchFamily="34" charset="0"/>
                <a:ea typeface="Consolas" pitchFamily="34" charset="-122"/>
                <a:cs typeface="Consolas" pitchFamily="34" charset="-120"/>
              </a:rPr>
              <a:t>self</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class Gear: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__init__(self, tag, kind, condition="good"):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self.tag = 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self.kind = kind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self.condition = condition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self.borrower = None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self.times_loaned = 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Reading them back</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pad = Gear("CTRL-01", "controller")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print(pad.tag)             # CTRL-01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print(pad.condition)       # good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print(pad.borrower)        # 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print(pad.times_loaned)    # 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738213"/>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class can refuse a bad value</a:t>
            </a:r>
            <a:endParaRPr lang="en-US" sz="3700" dirty="0"/>
          </a:p>
        </p:txBody>
      </p:sp>
      <p:sp>
        <p:nvSpPr>
          <p:cNvPr id="4" name="Text 1"/>
          <p:cNvSpPr/>
          <p:nvPr/>
        </p:nvSpPr>
        <p:spPr>
          <a:xfrm>
            <a:off x="8032251" y="3699173"/>
            <a:ext cx="3504219" cy="14206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the value inside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__init__</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Raise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ValueError</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if it is wrong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object is never built badly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dictionary could not do this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60506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deepest trap of the week</a:t>
            </a:r>
            <a:endParaRPr lang="en-US" sz="3700" dirty="0"/>
          </a:p>
        </p:txBody>
      </p:sp>
      <p:sp>
        <p:nvSpPr>
          <p:cNvPr id="3" name="Shape 1"/>
          <p:cNvSpPr/>
          <p:nvPr/>
        </p:nvSpPr>
        <p:spPr>
          <a:xfrm>
            <a:off x="661475" y="2573734"/>
            <a:ext cx="10868745" cy="1587698"/>
          </a:xfrm>
          <a:prstGeom prst="roundRect">
            <a:avLst>
              <a:gd name="adj" fmla="val 5000"/>
            </a:avLst>
          </a:prstGeom>
          <a:solidFill>
            <a:srgbClr val="F2F2F2"/>
          </a:solidFill>
          <a:ln/>
        </p:spPr>
      </p:sp>
      <p:sp>
        <p:nvSpPr>
          <p:cNvPr id="4" name="Text 2"/>
          <p:cNvSpPr/>
          <p:nvPr/>
        </p:nvSpPr>
        <p:spPr>
          <a:xfrm>
            <a:off x="888283" y="2762746"/>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class GearLocker: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items = {}                 # WRONG: on the class body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add(self, gear):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self.items[gear.tag] = gear</a:t>
            </a:r>
            <a:endParaRPr lang="en-US" sz="1450" dirty="0"/>
          </a:p>
        </p:txBody>
      </p:sp>
      <p:sp>
        <p:nvSpPr>
          <p:cNvPr id="5" name="Shape 3"/>
          <p:cNvSpPr/>
          <p:nvPr/>
        </p:nvSpPr>
        <p:spPr>
          <a:xfrm>
            <a:off x="661475" y="4374059"/>
            <a:ext cx="10868745" cy="755948"/>
          </a:xfrm>
          <a:prstGeom prst="roundRect">
            <a:avLst>
              <a:gd name="adj" fmla="val 10502"/>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4641751"/>
            <a:ext cx="236234" cy="189012"/>
          </a:xfrm>
          <a:prstGeom prst="rect">
            <a:avLst/>
          </a:prstGeom>
        </p:spPr>
      </p:pic>
      <p:sp>
        <p:nvSpPr>
          <p:cNvPr id="7" name="Text 4"/>
          <p:cNvSpPr/>
          <p:nvPr/>
        </p:nvSpPr>
        <p:spPr>
          <a:xfrm>
            <a:off x="1275723" y="4610298"/>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Placing mutable objects in the class body means all instances share them.</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lockers, one shared dictionary</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a = GearLocker()</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b = GearLocker()</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a.add(Gear("CTRL-01", "controller"))</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print(len(a.items), len(b.items))   # 1 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2030313"/>
            <a:ext cx="3504219"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fix, and the rule</a:t>
            </a:r>
            <a:endParaRPr lang="en-US" sz="3700" dirty="0"/>
          </a:p>
        </p:txBody>
      </p:sp>
      <p:sp>
        <p:nvSpPr>
          <p:cNvPr id="4" name="Text 1"/>
          <p:cNvSpPr/>
          <p:nvPr/>
        </p:nvSpPr>
        <p:spPr>
          <a:xfrm>
            <a:off x="8032251" y="3400623"/>
            <a:ext cx="3504219" cy="142696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Create it inside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__init__</a:t>
            </a:r>
            <a:endParaRPr lang="en-US" sz="1450" dirty="0"/>
          </a:p>
          <a:p>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self.items = {}</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gives each its 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Runs once per object, not once ever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Lists, dicts, sets always go in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__init__</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4564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 trap is tempting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14315"/>
            <a:ext cx="5339820" cy="1146274"/>
          </a:xfrm>
          <a:prstGeom prst="rect">
            <a:avLst/>
          </a:prstGeom>
        </p:spPr>
      </p:pic>
      <p:sp>
        <p:nvSpPr>
          <p:cNvPr id="4" name="Text 1"/>
          <p:cNvSpPr/>
          <p:nvPr/>
        </p:nvSpPr>
        <p:spPr>
          <a:xfrm>
            <a:off x="977479" y="2828727"/>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Looks right</a:t>
            </a:r>
            <a:endParaRPr lang="en-US" sz="1850" dirty="0"/>
          </a:p>
        </p:txBody>
      </p:sp>
      <p:sp>
        <p:nvSpPr>
          <p:cNvPr id="5" name="Text 2"/>
          <p:cNvSpPr/>
          <p:nvPr/>
        </p:nvSpPr>
        <p:spPr>
          <a:xfrm>
            <a:off x="977479" y="3237409"/>
            <a:ext cx="4809409"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items = {}</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reads like "each starts empty"</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614315"/>
            <a:ext cx="5339919" cy="1146274"/>
          </a:xfrm>
          <a:prstGeom prst="rect">
            <a:avLst/>
          </a:prstGeom>
        </p:spPr>
      </p:pic>
      <p:sp>
        <p:nvSpPr>
          <p:cNvPr id="7" name="Text 3"/>
          <p:cNvSpPr/>
          <p:nvPr/>
        </p:nvSpPr>
        <p:spPr>
          <a:xfrm>
            <a:off x="6506305" y="2828727"/>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Looks tidy</a:t>
            </a:r>
            <a:endParaRPr lang="en-US" sz="1850" dirty="0"/>
          </a:p>
        </p:txBody>
      </p:sp>
      <p:sp>
        <p:nvSpPr>
          <p:cNvPr id="8" name="Text 4"/>
          <p:cNvSpPr/>
          <p:nvPr/>
        </p:nvSpPr>
        <p:spPr>
          <a:xfrm>
            <a:off x="6506305" y="3237409"/>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even looks tidier up top</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9601"/>
            <a:ext cx="5339820" cy="1139924"/>
          </a:xfrm>
          <a:prstGeom prst="rect">
            <a:avLst/>
          </a:prstGeom>
        </p:spPr>
      </p:pic>
      <p:sp>
        <p:nvSpPr>
          <p:cNvPr id="10" name="Text 5"/>
          <p:cNvSpPr/>
          <p:nvPr/>
        </p:nvSpPr>
        <p:spPr>
          <a:xfrm>
            <a:off x="977479" y="4164013"/>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Runs once</a:t>
            </a:r>
            <a:endParaRPr lang="en-US" sz="1850" dirty="0"/>
          </a:p>
        </p:txBody>
      </p:sp>
      <p:sp>
        <p:nvSpPr>
          <p:cNvPr id="11" name="Text 6"/>
          <p:cNvSpPr/>
          <p:nvPr/>
        </p:nvSpPr>
        <p:spPr>
          <a:xfrm>
            <a:off x="977479" y="4572695"/>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Python runs the class body once</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9601"/>
            <a:ext cx="5339919" cy="1139924"/>
          </a:xfrm>
          <a:prstGeom prst="rect">
            <a:avLst/>
          </a:prstGeom>
        </p:spPr>
      </p:pic>
      <p:sp>
        <p:nvSpPr>
          <p:cNvPr id="13" name="Text 7"/>
          <p:cNvSpPr/>
          <p:nvPr/>
        </p:nvSpPr>
        <p:spPr>
          <a:xfrm>
            <a:off x="6506305" y="4164013"/>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Shared result</a:t>
            </a:r>
            <a:endParaRPr lang="en-US" sz="1850" dirty="0"/>
          </a:p>
        </p:txBody>
      </p:sp>
      <p:sp>
        <p:nvSpPr>
          <p:cNvPr id="14" name="Text 8"/>
          <p:cNvSpPr/>
          <p:nvPr/>
        </p:nvSpPr>
        <p:spPr>
          <a:xfrm>
            <a:off x="6506305" y="4572695"/>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So that one dictionary is shared</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2484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89610"/>
            <a:ext cx="6296860" cy="14206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the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Gear</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class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__init__</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Give it all five attributes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 the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ValueError</a:t>
            </a:r>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 guard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Prove two gears do not share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2026-09-14T20:04:17Z</dcterms:created>
  <dcterms:modified xsi:type="dcterms:W3CDTF">2026-09-14T20:04:17Z</dcterms:modified>
</cp:coreProperties>
</file>