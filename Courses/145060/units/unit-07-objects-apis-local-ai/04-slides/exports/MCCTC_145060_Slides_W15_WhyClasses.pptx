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your text adventure from Unit 5. A room is a dictionary, and describe_room is a function somewhere else that has to be handed the room every time. The room does not know anything about itself. Today we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your phone. It knows its battery level and whether it is locked. It can ring and take a photo. The knowing is attributes. The doing is methods. A class puts both in one place, so the thing carries its own data and its own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old way. A dictionary of values, and a separate function that has to be handed the dictionary. The gear does not know its own rule for being available. Some other code holds it. Watch what changes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answer, True. The difference is not length. Now the gear carries its own rule. Nothing else has to remember it or be handed the data. The gear knows how to answer a question about itself. That is the whole idea of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Gear class can make a hundred gear objects, each with its own tag and condition. You write the template once. Every object fills it in differently and carries its own state. That payoff grows with every object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put everything in a class. A one-line settings blob is fine as a dictionary. Reach for a class when the thing has rules, when you have many of them, or when you want behaviour to live with data. The gear locker has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know if this gear is available. I call the method. Predict what prints before I press enter. It is not True and it is not False.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and no answer. Without the parentheses I printed the method itself, not its result. Python is telling me is_available is a method sitting on pad, waiting to be called. The fix is pad dot is_available with parentheses. This is our running thread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habit that prevents the trap. When you want a thing the object knows, use no parentheses. When you want the object to do something, add the parentheses. Knowing is pad dot tag. Doing is pad dot is_available with parentheses.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reading your own version 3 and naming the gap a class would close. Build two is opening the Gear Locker lab, running the starter, and finding the bug it already ships with. Tomorrow you write the class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Classes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room does not know how to describe itself</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 Unit 5 a room was a dictionary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function far away did the describing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rules live apart from the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gap is where bugs move in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9849"/>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An object knows things and can do things</a:t>
            </a:r>
            <a:endParaRPr lang="en-US" sz="3300" dirty="0"/>
          </a:p>
        </p:txBody>
      </p:sp>
      <p:sp>
        <p:nvSpPr>
          <p:cNvPr id="4" name="Shape 1"/>
          <p:cNvSpPr/>
          <p:nvPr/>
        </p:nvSpPr>
        <p:spPr>
          <a:xfrm>
            <a:off x="5233360" y="1816795"/>
            <a:ext cx="6296860" cy="982166"/>
          </a:xfrm>
          <a:prstGeom prst="roundRect">
            <a:avLst>
              <a:gd name="adj" fmla="val 7199"/>
            </a:avLst>
          </a:prstGeom>
          <a:solidFill>
            <a:srgbClr val="D1E5FA"/>
          </a:solidFill>
          <a:ln w="19050">
            <a:solidFill>
              <a:srgbClr val="B7CBE0"/>
            </a:solidFill>
            <a:prstDash val="solid"/>
          </a:ln>
        </p:spPr>
      </p:sp>
      <p:sp>
        <p:nvSpPr>
          <p:cNvPr id="5" name="Text 2"/>
          <p:cNvSpPr/>
          <p:nvPr/>
        </p:nvSpPr>
        <p:spPr>
          <a:xfrm>
            <a:off x="5420681" y="2004120"/>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Attributes</a:t>
            </a:r>
            <a:endParaRPr lang="en-US" sz="1650" dirty="0"/>
          </a:p>
        </p:txBody>
      </p:sp>
      <p:sp>
        <p:nvSpPr>
          <p:cNvPr id="6" name="Text 3"/>
          <p:cNvSpPr/>
          <p:nvPr/>
        </p:nvSpPr>
        <p:spPr>
          <a:xfrm>
            <a:off x="5420681" y="2357041"/>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What it knows</a:t>
            </a:r>
            <a:endParaRPr lang="en-US" sz="1300" dirty="0"/>
          </a:p>
        </p:txBody>
      </p:sp>
      <p:sp>
        <p:nvSpPr>
          <p:cNvPr id="7" name="Shape 4"/>
          <p:cNvSpPr/>
          <p:nvPr/>
        </p:nvSpPr>
        <p:spPr>
          <a:xfrm>
            <a:off x="5233360" y="2948880"/>
            <a:ext cx="6296860" cy="982166"/>
          </a:xfrm>
          <a:prstGeom prst="roundRect">
            <a:avLst>
              <a:gd name="adj" fmla="val 7199"/>
            </a:avLst>
          </a:prstGeom>
          <a:solidFill>
            <a:srgbClr val="D1E5FA"/>
          </a:solidFill>
          <a:ln w="19050">
            <a:solidFill>
              <a:srgbClr val="B7CBE0"/>
            </a:solidFill>
            <a:prstDash val="solid"/>
          </a:ln>
        </p:spPr>
      </p:sp>
      <p:sp>
        <p:nvSpPr>
          <p:cNvPr id="8" name="Text 5"/>
          <p:cNvSpPr/>
          <p:nvPr/>
        </p:nvSpPr>
        <p:spPr>
          <a:xfrm>
            <a:off x="5420681" y="3136205"/>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Methods</a:t>
            </a:r>
            <a:endParaRPr lang="en-US" sz="1650" dirty="0"/>
          </a:p>
        </p:txBody>
      </p:sp>
      <p:sp>
        <p:nvSpPr>
          <p:cNvPr id="9" name="Text 6"/>
          <p:cNvSpPr/>
          <p:nvPr/>
        </p:nvSpPr>
        <p:spPr>
          <a:xfrm>
            <a:off x="5420681" y="3489127"/>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What it can do</a:t>
            </a:r>
            <a:endParaRPr lang="en-US" sz="1300" dirty="0"/>
          </a:p>
        </p:txBody>
      </p:sp>
      <p:sp>
        <p:nvSpPr>
          <p:cNvPr id="10" name="Shape 7"/>
          <p:cNvSpPr/>
          <p:nvPr/>
        </p:nvSpPr>
        <p:spPr>
          <a:xfrm>
            <a:off x="5233360" y="4080966"/>
            <a:ext cx="6296860" cy="982166"/>
          </a:xfrm>
          <a:prstGeom prst="roundRect">
            <a:avLst>
              <a:gd name="adj" fmla="val 7199"/>
            </a:avLst>
          </a:prstGeom>
          <a:solidFill>
            <a:srgbClr val="D1E5FA"/>
          </a:solidFill>
          <a:ln w="19050">
            <a:solidFill>
              <a:srgbClr val="B7CBE0"/>
            </a:solidFill>
            <a:prstDash val="solid"/>
          </a:ln>
        </p:spPr>
      </p:sp>
      <p:sp>
        <p:nvSpPr>
          <p:cNvPr id="11" name="Text 8"/>
          <p:cNvSpPr/>
          <p:nvPr/>
        </p:nvSpPr>
        <p:spPr>
          <a:xfrm>
            <a:off x="5420681" y="4268291"/>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Together</a:t>
            </a:r>
            <a:endParaRPr lang="en-US" sz="1650" dirty="0"/>
          </a:p>
        </p:txBody>
      </p:sp>
      <p:sp>
        <p:nvSpPr>
          <p:cNvPr id="12" name="Text 9"/>
          <p:cNvSpPr/>
          <p:nvPr/>
        </p:nvSpPr>
        <p:spPr>
          <a:xfrm>
            <a:off x="5420681" y="4621212"/>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Both live on the same object</a:t>
            </a:r>
            <a:endParaRPr lang="en-US" sz="1300" dirty="0"/>
          </a:p>
        </p:txBody>
      </p:sp>
      <p:sp>
        <p:nvSpPr>
          <p:cNvPr id="13" name="Shape 10"/>
          <p:cNvSpPr/>
          <p:nvPr/>
        </p:nvSpPr>
        <p:spPr>
          <a:xfrm>
            <a:off x="5233360" y="5213052"/>
            <a:ext cx="6296860" cy="982166"/>
          </a:xfrm>
          <a:prstGeom prst="roundRect">
            <a:avLst>
              <a:gd name="adj" fmla="val 7199"/>
            </a:avLst>
          </a:prstGeom>
          <a:solidFill>
            <a:srgbClr val="D1E5FA"/>
          </a:solidFill>
          <a:ln w="19050">
            <a:solidFill>
              <a:srgbClr val="B7CBE0"/>
            </a:solidFill>
            <a:prstDash val="solid"/>
          </a:ln>
        </p:spPr>
      </p:sp>
      <p:sp>
        <p:nvSpPr>
          <p:cNvPr id="14" name="Text 11"/>
          <p:cNvSpPr/>
          <p:nvPr/>
        </p:nvSpPr>
        <p:spPr>
          <a:xfrm>
            <a:off x="5420681" y="5400377"/>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Example</a:t>
            </a:r>
            <a:endParaRPr lang="en-US" sz="1650" dirty="0"/>
          </a:p>
        </p:txBody>
      </p:sp>
      <p:sp>
        <p:nvSpPr>
          <p:cNvPr id="15" name="Text 12"/>
          <p:cNvSpPr/>
          <p:nvPr/>
        </p:nvSpPr>
        <p:spPr>
          <a:xfrm>
            <a:off x="5420681" y="5753298"/>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Your phone is one already</a:t>
            </a:r>
            <a:endParaRPr lang="en-US" sz="13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Unit 5 way</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pad = {"tag": "CTRL-01", "condition": "good", "borrower": None}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is_available(gear):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gear["borrower"] is None and gear["condition"] in ("good", "worn")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print(is_available(pad))    #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Unit 7 way</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class Gear: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__init__(self, tag, condition="good"):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self.tag =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self.condition = condition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self.borrower = None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is_available(self):</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self.borrower is None and self.condition in ("good", "worn")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print(Gear("CTRL-01").is_available())   #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template, many objects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class is a template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object is one filled-in copy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Each object remembers its own values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the rule once, reuse it everywhere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a class earns its keep</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3152577"/>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thing has rules about itself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many of the 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want the rules next to the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Otherwise a dictionary is fine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074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watch closely</a:t>
            </a:r>
            <a:endParaRPr lang="en-US" sz="3700" dirty="0"/>
          </a:p>
        </p:txBody>
      </p:sp>
      <p:sp>
        <p:nvSpPr>
          <p:cNvPr id="3" name="Shape 1"/>
          <p:cNvSpPr/>
          <p:nvPr/>
        </p:nvSpPr>
        <p:spPr>
          <a:xfrm>
            <a:off x="661475" y="2876153"/>
            <a:ext cx="10868745" cy="982861"/>
          </a:xfrm>
          <a:prstGeom prst="roundRect">
            <a:avLst>
              <a:gd name="adj" fmla="val 8077"/>
            </a:avLst>
          </a:prstGeom>
          <a:solidFill>
            <a:srgbClr val="F2F2F2"/>
          </a:solidFill>
          <a:ln/>
        </p:spPr>
      </p:sp>
      <p:sp>
        <p:nvSpPr>
          <p:cNvPr id="4" name="Text 2"/>
          <p:cNvSpPr/>
          <p:nvPr/>
        </p:nvSpPr>
        <p:spPr>
          <a:xfrm>
            <a:off x="888283" y="306516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pad = Gear("CTRL-01")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print(pad.is_available)</a:t>
            </a:r>
            <a:endParaRPr lang="en-US" sz="1450" dirty="0"/>
          </a:p>
        </p:txBody>
      </p:sp>
      <p:sp>
        <p:nvSpPr>
          <p:cNvPr id="5" name="Shape 3"/>
          <p:cNvSpPr/>
          <p:nvPr/>
        </p:nvSpPr>
        <p:spPr>
          <a:xfrm>
            <a:off x="661475" y="4071640"/>
            <a:ext cx="10868745" cy="755948"/>
          </a:xfrm>
          <a:prstGeom prst="roundRect">
            <a:avLst>
              <a:gd name="adj" fmla="val 10502"/>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339332"/>
            <a:ext cx="236234" cy="189012"/>
          </a:xfrm>
          <a:prstGeom prst="rect">
            <a:avLst/>
          </a:prstGeom>
        </p:spPr>
      </p:pic>
      <p:sp>
        <p:nvSpPr>
          <p:cNvPr id="7" name="Text 4"/>
          <p:cNvSpPr/>
          <p:nvPr/>
        </p:nvSpPr>
        <p:spPr>
          <a:xfrm>
            <a:off x="1275723" y="4307880"/>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Missing parentheses -- this is a common trap.</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5429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method without parentheses is a thing</a:t>
            </a:r>
            <a:endParaRPr lang="en-US" sz="3700" dirty="0"/>
          </a:p>
        </p:txBody>
      </p:sp>
      <p:sp>
        <p:nvSpPr>
          <p:cNvPr id="3" name="Shape 1"/>
          <p:cNvSpPr/>
          <p:nvPr/>
        </p:nvSpPr>
        <p:spPr>
          <a:xfrm>
            <a:off x="661475" y="3511649"/>
            <a:ext cx="10868745" cy="680442"/>
          </a:xfrm>
          <a:prstGeom prst="roundRect">
            <a:avLst>
              <a:gd name="adj" fmla="val 11667"/>
            </a:avLst>
          </a:prstGeom>
          <a:solidFill>
            <a:srgbClr val="F2F2F2"/>
          </a:solidFill>
          <a:ln/>
        </p:spPr>
      </p:sp>
      <p:sp>
        <p:nvSpPr>
          <p:cNvPr id="4" name="Text 2"/>
          <p:cNvSpPr/>
          <p:nvPr/>
        </p:nvSpPr>
        <p:spPr>
          <a:xfrm>
            <a:off x="888283" y="370066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&lt;bound method Gear.is_available of &lt;__main__.Gear object at 0x000001F2A3B7C4D0&gt;&gt;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45902"/>
            <a:ext cx="6296860"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Knowing versus doing</a:t>
            </a:r>
            <a:endParaRPr lang="en-US" sz="35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366540"/>
            <a:ext cx="6296860" cy="1076920"/>
          </a:xfrm>
          <a:prstGeom prst="rect">
            <a:avLst/>
          </a:prstGeom>
        </p:spPr>
      </p:pic>
      <p:sp>
        <p:nvSpPr>
          <p:cNvPr id="5" name="Text 1"/>
          <p:cNvSpPr/>
          <p:nvPr/>
        </p:nvSpPr>
        <p:spPr>
          <a:xfrm>
            <a:off x="5540435" y="1572022"/>
            <a:ext cx="5784308"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No parentheses</a:t>
            </a:r>
            <a:endParaRPr lang="en-US" sz="1750" dirty="0"/>
          </a:p>
        </p:txBody>
      </p:sp>
      <p:sp>
        <p:nvSpPr>
          <p:cNvPr id="6" name="Text 2"/>
          <p:cNvSpPr/>
          <p:nvPr/>
        </p:nvSpPr>
        <p:spPr>
          <a:xfrm>
            <a:off x="5540435" y="1956495"/>
            <a:ext cx="5784308"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For a value it knows</a:t>
            </a:r>
            <a:endParaRPr lang="en-US" sz="14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615109"/>
            <a:ext cx="6296860" cy="1076920"/>
          </a:xfrm>
          <a:prstGeom prst="rect">
            <a:avLst/>
          </a:prstGeom>
        </p:spPr>
      </p:pic>
      <p:sp>
        <p:nvSpPr>
          <p:cNvPr id="8" name="Text 3"/>
          <p:cNvSpPr/>
          <p:nvPr/>
        </p:nvSpPr>
        <p:spPr>
          <a:xfrm>
            <a:off x="5540435" y="2820591"/>
            <a:ext cx="5784308"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Parentheses</a:t>
            </a:r>
            <a:endParaRPr lang="en-US" sz="1750" dirty="0"/>
          </a:p>
        </p:txBody>
      </p:sp>
      <p:sp>
        <p:nvSpPr>
          <p:cNvPr id="9" name="Text 4"/>
          <p:cNvSpPr/>
          <p:nvPr/>
        </p:nvSpPr>
        <p:spPr>
          <a:xfrm>
            <a:off x="5540435" y="3205063"/>
            <a:ext cx="5784308"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To make it do something</a:t>
            </a:r>
            <a:endParaRPr lang="en-US" sz="14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63677"/>
            <a:ext cx="6296860" cy="1076920"/>
          </a:xfrm>
          <a:prstGeom prst="rect">
            <a:avLst/>
          </a:prstGeom>
        </p:spPr>
      </p:pic>
      <p:sp>
        <p:nvSpPr>
          <p:cNvPr id="11" name="Text 5"/>
          <p:cNvSpPr/>
          <p:nvPr/>
        </p:nvSpPr>
        <p:spPr>
          <a:xfrm>
            <a:off x="5540435" y="4069159"/>
            <a:ext cx="5784308"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pad.tag</a:t>
            </a:r>
            <a:endParaRPr lang="en-US" sz="1750" dirty="0"/>
          </a:p>
        </p:txBody>
      </p:sp>
      <p:sp>
        <p:nvSpPr>
          <p:cNvPr id="12" name="Text 6"/>
          <p:cNvSpPr/>
          <p:nvPr/>
        </p:nvSpPr>
        <p:spPr>
          <a:xfrm>
            <a:off x="5540435" y="4453632"/>
            <a:ext cx="5784308"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Is knowing</a:t>
            </a:r>
            <a:endParaRPr lang="en-US" sz="14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12246"/>
            <a:ext cx="6296860" cy="1076920"/>
          </a:xfrm>
          <a:prstGeom prst="rect">
            <a:avLst/>
          </a:prstGeom>
        </p:spPr>
      </p:pic>
      <p:sp>
        <p:nvSpPr>
          <p:cNvPr id="14" name="Text 7"/>
          <p:cNvSpPr/>
          <p:nvPr/>
        </p:nvSpPr>
        <p:spPr>
          <a:xfrm>
            <a:off x="5540435" y="5317728"/>
            <a:ext cx="5784308"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pad.is_available()</a:t>
            </a:r>
            <a:endParaRPr lang="en-US" sz="1750" dirty="0"/>
          </a:p>
        </p:txBody>
      </p:sp>
      <p:sp>
        <p:nvSpPr>
          <p:cNvPr id="15" name="Text 8"/>
          <p:cNvSpPr/>
          <p:nvPr/>
        </p:nvSpPr>
        <p:spPr>
          <a:xfrm>
            <a:off x="5540435" y="5702201"/>
            <a:ext cx="5784308"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Is doing</a:t>
            </a:r>
            <a:endParaRPr lang="en-US" sz="1400" dirty="0"/>
          </a:p>
        </p:txBody>
      </p:sp>
      <p:sp>
        <p:nvSpPr>
          <p:cNvPr id="16"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your Unit 5 describe_room and name the seam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open the Gear Locker lab</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Run the starter and find its shipped bug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Tomorrow you write the Gear class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2026-09-14T20:03:33Z</dcterms:created>
  <dcterms:modified xsi:type="dcterms:W3CDTF">2026-09-14T20:03:33Z</dcterms:modified>
</cp:coreProperties>
</file>