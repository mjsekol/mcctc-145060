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found and fixed a pile of vulnerabilities. Leaks, fakes, and freezes. What do they have in common. Security protects three things about information, and the three spell CIA. Once you can name which one a problem breaks, you can talk about security clearly and answer the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is who can read it, broken when someone sees what they should not. Integrity is whether it is true, broken when data is changed or faked. Availability is whether it is there when you need it, broken when a system is down or frozen. Every vulnerability breaks at least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security lab you finished. The moderator code in the file is confidentiality, anyone reading it could see it. The negative thank is integrity, the saved file said something false. The missing timeout is availability, a hung model froze the app for everyone. One codebase, all three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you wrote were not only conveniences. No key means nothing to leak, that is confidentiality. The keep-phrase check means the game never shows a false, unwinnable room, that is integrity. The timeouts mean a dead server never freezes the program, that is availability. You were protecting CIA without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the move. A stolen password that reads private messages is confidentiality. A save file edited to add lives is integrity. A site taken offline is availability. The test for each, did someone read what they should not, did the data become false, or is the thing not there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common mistake. A leaked password feels serious, so people call it an integrity problem. But a leaked password did not change any data. It exposed it. Nothing became false, something became readable. That is confidentiality. Feeling bad is not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letter right is not pedantry. It tells you what to fix. A confidentiality fix is stop exposing it. An integrity fix is stop it being changed. An availability fix is keep it running. Name the wrong letter and you reach for the wrong fix. Name the right one and the fix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vulnerability can matter a lot or a little depending on which letter it breaks and what the program is for. A game losing availability for a second is minor. A gradebook losing integrity is serious. That judgment, not only a list, is what a real security review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CIA ties the whole unit together. The API app's timeouts protect availability. The model code's checks protect integrity. The no-key rule protects confidentiality. Objects, APIs, and security were not three separate topics. They were three angles on building something you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completes the CIA column of your review template, every defect mapped to a letter with a one-line reason. Build two is a timed review set weighted to outcome 5.3, the heaviest on the WebXam, to start getting ready for the post-test. Name the letters, then sharpen the 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Words for What Security Protects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fixed a pile of bugs, now name them</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found leaks, fakes, and freezes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 do all of those have in common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Security protects three things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spell CIA</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74105"/>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three, one line each</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648222"/>
            <a:ext cx="6296860" cy="1139924"/>
          </a:xfrm>
          <a:prstGeom prst="rect">
            <a:avLst/>
          </a:prstGeom>
        </p:spPr>
      </p:pic>
      <p:sp>
        <p:nvSpPr>
          <p:cNvPr id="5" name="Text 1"/>
          <p:cNvSpPr/>
          <p:nvPr/>
        </p:nvSpPr>
        <p:spPr>
          <a:xfrm>
            <a:off x="5549364" y="186263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Confidentiality</a:t>
            </a:r>
            <a:endParaRPr lang="en-US" sz="1850" dirty="0"/>
          </a:p>
        </p:txBody>
      </p:sp>
      <p:sp>
        <p:nvSpPr>
          <p:cNvPr id="6" name="Text 2"/>
          <p:cNvSpPr/>
          <p:nvPr/>
        </p:nvSpPr>
        <p:spPr>
          <a:xfrm>
            <a:off x="5549364" y="2271316"/>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Who can read it</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977158"/>
            <a:ext cx="6296860" cy="1139924"/>
          </a:xfrm>
          <a:prstGeom prst="rect">
            <a:avLst/>
          </a:prstGeom>
        </p:spPr>
      </p:pic>
      <p:sp>
        <p:nvSpPr>
          <p:cNvPr id="8" name="Text 3"/>
          <p:cNvSpPr/>
          <p:nvPr/>
        </p:nvSpPr>
        <p:spPr>
          <a:xfrm>
            <a:off x="5549364" y="319157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Integrity</a:t>
            </a:r>
            <a:endParaRPr lang="en-US" sz="1850" dirty="0"/>
          </a:p>
        </p:txBody>
      </p:sp>
      <p:sp>
        <p:nvSpPr>
          <p:cNvPr id="9" name="Text 4"/>
          <p:cNvSpPr/>
          <p:nvPr/>
        </p:nvSpPr>
        <p:spPr>
          <a:xfrm>
            <a:off x="5549364" y="3600252"/>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Whether it is true</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306094"/>
            <a:ext cx="6296860" cy="1139924"/>
          </a:xfrm>
          <a:prstGeom prst="rect">
            <a:avLst/>
          </a:prstGeom>
        </p:spPr>
      </p:pic>
      <p:sp>
        <p:nvSpPr>
          <p:cNvPr id="11" name="Text 5"/>
          <p:cNvSpPr/>
          <p:nvPr/>
        </p:nvSpPr>
        <p:spPr>
          <a:xfrm>
            <a:off x="5549364" y="452050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Availability</a:t>
            </a:r>
            <a:endParaRPr lang="en-US" sz="1850" dirty="0"/>
          </a:p>
        </p:txBody>
      </p:sp>
      <p:sp>
        <p:nvSpPr>
          <p:cNvPr id="12" name="Text 6"/>
          <p:cNvSpPr/>
          <p:nvPr/>
        </p:nvSpPr>
        <p:spPr>
          <a:xfrm>
            <a:off x="5549364" y="4929188"/>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Whether it is there</a:t>
            </a:r>
            <a:endParaRPr lang="en-US" sz="1450" dirty="0"/>
          </a:p>
        </p:txBody>
      </p:sp>
      <p:sp>
        <p:nvSpPr>
          <p:cNvPr id="13" name="Text 7"/>
          <p:cNvSpPr/>
          <p:nvPr/>
        </p:nvSpPr>
        <p:spPr>
          <a:xfrm>
            <a:off x="5233360" y="5658644"/>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vulnerability breaks at least one</a:t>
            </a:r>
            <a:endParaRPr lang="en-US" sz="1450" dirty="0"/>
          </a:p>
        </p:txBody>
      </p:sp>
      <p:sp>
        <p:nvSpPr>
          <p:cNvPr id="14" name="Text 8"/>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All three in one codebase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Confidentiality  The moderator code and a key sat in the file and the prompt.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Integrity        thank() accepted a negative number, so points could be pulled.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Availability     The model call had no timeout, so it froze the whole app.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own projects protect all three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Confidentiality  No key anywhere. A local model needs none. A test enforces 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Integrity        The keep-phrase check rejects a reply that dropped a needed fact.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Availability     Every call has a timeout; the game stops asking after two failures.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Name the letter, fast</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stolen password reads private messages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save file edited to add lives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site taken offline by an attack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Which letter for each</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298079"/>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everything feels like integrity</a:t>
            </a:r>
            <a:endParaRPr lang="en-US" sz="3700" dirty="0"/>
          </a:p>
        </p:txBody>
      </p:sp>
      <p:sp>
        <p:nvSpPr>
          <p:cNvPr id="4" name="Text 1"/>
          <p:cNvSpPr/>
          <p:nvPr/>
        </p:nvSpPr>
        <p:spPr>
          <a:xfrm>
            <a:off x="8032251" y="3849688"/>
            <a:ext cx="3504219" cy="171033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leaked password feels serious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students call it integrity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But nothing was changed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Something was read, that is confidentiality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5589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right letter matters</a:t>
            </a:r>
            <a:endParaRPr lang="en-US" sz="3700" dirty="0"/>
          </a:p>
        </p:txBody>
      </p:sp>
      <p:sp>
        <p:nvSpPr>
          <p:cNvPr id="4" name="Shape 1"/>
          <p:cNvSpPr/>
          <p:nvPr/>
        </p:nvSpPr>
        <p:spPr>
          <a:xfrm>
            <a:off x="5233360" y="2620665"/>
            <a:ext cx="3053877" cy="1127224"/>
          </a:xfrm>
          <a:prstGeom prst="roundRect">
            <a:avLst>
              <a:gd name="adj" fmla="val 7043"/>
            </a:avLst>
          </a:prstGeom>
          <a:solidFill>
            <a:srgbClr val="D1E5FA"/>
          </a:solidFill>
          <a:ln w="19050">
            <a:solidFill>
              <a:srgbClr val="B7CBE0"/>
            </a:solidFill>
            <a:prstDash val="solid"/>
          </a:ln>
        </p:spPr>
      </p:sp>
      <p:sp>
        <p:nvSpPr>
          <p:cNvPr id="5" name="Text 2"/>
          <p:cNvSpPr/>
          <p:nvPr/>
        </p:nvSpPr>
        <p:spPr>
          <a:xfrm>
            <a:off x="5441417" y="2828727"/>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57A1EB"/>
                </a:solidFill>
                <a:latin typeface="Orbitron Bold" pitchFamily="34" charset="0"/>
                <a:ea typeface="Orbitron Bold" pitchFamily="34" charset="-122"/>
                <a:cs typeface="Orbitron Bold" pitchFamily="34" charset="-120"/>
              </a:rPr>
              <a:t>C</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Confidentiality</a:t>
            </a:r>
            <a:endParaRPr lang="en-US" sz="1850" dirty="0"/>
          </a:p>
        </p:txBody>
      </p:sp>
      <p:sp>
        <p:nvSpPr>
          <p:cNvPr id="6" name="Text 3"/>
          <p:cNvSpPr/>
          <p:nvPr/>
        </p:nvSpPr>
        <p:spPr>
          <a:xfrm>
            <a:off x="5441417" y="3237409"/>
            <a:ext cx="2637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Stop exposing it</a:t>
            </a:r>
            <a:endParaRPr lang="en-US" sz="1450" dirty="0"/>
          </a:p>
        </p:txBody>
      </p:sp>
      <p:sp>
        <p:nvSpPr>
          <p:cNvPr id="7" name="Shape 4"/>
          <p:cNvSpPr/>
          <p:nvPr/>
        </p:nvSpPr>
        <p:spPr>
          <a:xfrm>
            <a:off x="8476244" y="2620665"/>
            <a:ext cx="3053976" cy="1127224"/>
          </a:xfrm>
          <a:prstGeom prst="roundRect">
            <a:avLst>
              <a:gd name="adj" fmla="val 7043"/>
            </a:avLst>
          </a:prstGeom>
          <a:solidFill>
            <a:srgbClr val="D1E5FA"/>
          </a:solidFill>
          <a:ln w="19050">
            <a:solidFill>
              <a:srgbClr val="B7CBE0"/>
            </a:solidFill>
            <a:prstDash val="solid"/>
          </a:ln>
        </p:spPr>
      </p:sp>
      <p:sp>
        <p:nvSpPr>
          <p:cNvPr id="8" name="Text 5"/>
          <p:cNvSpPr/>
          <p:nvPr/>
        </p:nvSpPr>
        <p:spPr>
          <a:xfrm>
            <a:off x="8684301" y="2828727"/>
            <a:ext cx="2637863" cy="295275"/>
          </a:xfrm>
          <a:prstGeom prst="rect">
            <a:avLst/>
          </a:prstGeom>
          <a:noFill/>
          <a:ln/>
        </p:spPr>
        <p:txBody>
          <a:bodyPr wrap="none" lIns="0" tIns="0" rIns="0" bIns="0" rtlCol="0" anchor="t"/>
          <a:lstStyle/>
          <a:p>
            <a:pPr algn="l" indent="0" marL="0">
              <a:lnSpc>
                <a:spcPct val="104000"/>
              </a:lnSpc>
              <a:buNone/>
            </a:pPr>
            <a:r>
              <a:rPr lang="en-US" sz="1850" b="1" dirty="0">
                <a:solidFill>
                  <a:srgbClr val="57A1EB"/>
                </a:solidFill>
                <a:latin typeface="Orbitron Bold" pitchFamily="34" charset="0"/>
                <a:ea typeface="Orbitron Bold" pitchFamily="34" charset="-122"/>
                <a:cs typeface="Orbitron Bold" pitchFamily="34" charset="-120"/>
              </a:rPr>
              <a:t>I</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Integrity</a:t>
            </a:r>
            <a:endParaRPr lang="en-US" sz="1850" dirty="0"/>
          </a:p>
        </p:txBody>
      </p:sp>
      <p:sp>
        <p:nvSpPr>
          <p:cNvPr id="9" name="Text 6"/>
          <p:cNvSpPr/>
          <p:nvPr/>
        </p:nvSpPr>
        <p:spPr>
          <a:xfrm>
            <a:off x="8684301" y="3237409"/>
            <a:ext cx="263786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Stop it being changed</a:t>
            </a:r>
            <a:endParaRPr lang="en-US" sz="1450" dirty="0"/>
          </a:p>
        </p:txBody>
      </p:sp>
      <p:sp>
        <p:nvSpPr>
          <p:cNvPr id="10" name="Shape 7"/>
          <p:cNvSpPr/>
          <p:nvPr/>
        </p:nvSpPr>
        <p:spPr>
          <a:xfrm>
            <a:off x="5233360" y="3936901"/>
            <a:ext cx="6296860" cy="1127224"/>
          </a:xfrm>
          <a:prstGeom prst="roundRect">
            <a:avLst>
              <a:gd name="adj" fmla="val 7043"/>
            </a:avLst>
          </a:prstGeom>
          <a:solidFill>
            <a:srgbClr val="D1E5FA"/>
          </a:solidFill>
          <a:ln w="19050">
            <a:solidFill>
              <a:srgbClr val="B7CBE0"/>
            </a:solidFill>
            <a:prstDash val="solid"/>
          </a:ln>
        </p:spPr>
      </p:sp>
      <p:sp>
        <p:nvSpPr>
          <p:cNvPr id="11" name="Text 8"/>
          <p:cNvSpPr/>
          <p:nvPr/>
        </p:nvSpPr>
        <p:spPr>
          <a:xfrm>
            <a:off x="5441417" y="4144963"/>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57A1EB"/>
                </a:solidFill>
                <a:latin typeface="Orbitron Bold" pitchFamily="34" charset="0"/>
                <a:ea typeface="Orbitron Bold" pitchFamily="34" charset="-122"/>
                <a:cs typeface="Orbitron Bold" pitchFamily="34" charset="-120"/>
              </a:rPr>
              <a:t>A</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Availability</a:t>
            </a:r>
            <a:endParaRPr lang="en-US" sz="1850" dirty="0"/>
          </a:p>
        </p:txBody>
      </p:sp>
      <p:sp>
        <p:nvSpPr>
          <p:cNvPr id="12" name="Text 9"/>
          <p:cNvSpPr/>
          <p:nvPr/>
        </p:nvSpPr>
        <p:spPr>
          <a:xfrm>
            <a:off x="5441417" y="4553645"/>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Keep it running</a:t>
            </a:r>
            <a:endParaRPr lang="en-US" sz="1450" dirty="0"/>
          </a:p>
        </p:txBody>
      </p:sp>
      <p:sp>
        <p:nvSpPr>
          <p:cNvPr id="13" name="Text 10"/>
          <p:cNvSpPr/>
          <p:nvPr/>
        </p:nvSpPr>
        <p:spPr>
          <a:xfrm>
            <a:off x="5233360" y="5276751"/>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fix depends on the letter</a:t>
            </a:r>
            <a:endParaRPr lang="en-US" sz="1450" dirty="0"/>
          </a:p>
        </p:txBody>
      </p:sp>
      <p:sp>
        <p:nvSpPr>
          <p:cNvPr id="14" name="Text 11"/>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44563"/>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bug can matter a lot or a little</a:t>
            </a:r>
            <a:endParaRPr lang="en-US" sz="3700" dirty="0"/>
          </a:p>
        </p:txBody>
      </p:sp>
      <p:sp>
        <p:nvSpPr>
          <p:cNvPr id="3" name="Text 1"/>
          <p:cNvSpPr/>
          <p:nvPr/>
        </p:nvSpPr>
        <p:spPr>
          <a:xfrm>
            <a:off x="661475" y="3705523"/>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game frozen for a second, minor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gradebook made false, serious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Depends on the letter and the program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judgment is the review</a:t>
            </a:r>
            <a:endParaRPr lang="en-US" sz="1450" dirty="0"/>
          </a:p>
        </p:txBody>
      </p:sp>
      <p:pic>
        <p:nvPicPr>
          <p:cNvPr id="4" name="Image 0" descr="preencoded.png">    </p:cNvPr>
          <p:cNvPicPr>
            <a:picLocks noChangeAspect="1"/>
          </p:cNvPicPr>
          <p:nvPr/>
        </p:nvPicPr>
        <p:blipFill>
          <a:blip r:embed="rId1"/>
          <a:stretch>
            <a:fillRect/>
          </a:stretch>
        </p:blipFill>
        <p:spPr>
          <a:xfrm>
            <a:off x="6332776" y="765572"/>
            <a:ext cx="5203794" cy="5203924"/>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3562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CIA connects to the whole unit</a:t>
            </a:r>
            <a:endParaRPr lang="en-US" sz="3700" dirty="0"/>
          </a:p>
        </p:txBody>
      </p:sp>
      <p:sp>
        <p:nvSpPr>
          <p:cNvPr id="4" name="Shape 1"/>
          <p:cNvSpPr/>
          <p:nvPr/>
        </p:nvSpPr>
        <p:spPr>
          <a:xfrm>
            <a:off x="661475" y="2300387"/>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36527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Availability</a:t>
            </a:r>
            <a:endParaRPr lang="en-US" sz="1850" dirty="0"/>
          </a:p>
        </p:txBody>
      </p:sp>
      <p:sp>
        <p:nvSpPr>
          <p:cNvPr id="6" name="Text 3"/>
          <p:cNvSpPr/>
          <p:nvPr/>
        </p:nvSpPr>
        <p:spPr>
          <a:xfrm>
            <a:off x="1275723" y="2773958"/>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API app protects availability with timeouts</a:t>
            </a:r>
            <a:endParaRPr lang="en-US" sz="1450" dirty="0"/>
          </a:p>
        </p:txBody>
      </p:sp>
      <p:sp>
        <p:nvSpPr>
          <p:cNvPr id="7" name="Shape 4"/>
          <p:cNvSpPr/>
          <p:nvPr/>
        </p:nvSpPr>
        <p:spPr>
          <a:xfrm>
            <a:off x="661475" y="3454400"/>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1275723" y="351928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Integrity</a:t>
            </a:r>
            <a:endParaRPr lang="en-US" sz="1850" dirty="0"/>
          </a:p>
        </p:txBody>
      </p:sp>
      <p:sp>
        <p:nvSpPr>
          <p:cNvPr id="9" name="Text 6"/>
          <p:cNvSpPr/>
          <p:nvPr/>
        </p:nvSpPr>
        <p:spPr>
          <a:xfrm>
            <a:off x="1275723" y="3927971"/>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model code protects integrity with checks</a:t>
            </a:r>
            <a:endParaRPr lang="en-US" sz="1450" dirty="0"/>
          </a:p>
        </p:txBody>
      </p:sp>
      <p:sp>
        <p:nvSpPr>
          <p:cNvPr id="10" name="Shape 7"/>
          <p:cNvSpPr/>
          <p:nvPr/>
        </p:nvSpPr>
        <p:spPr>
          <a:xfrm>
            <a:off x="661475" y="4608413"/>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467330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Confidentiality</a:t>
            </a:r>
            <a:endParaRPr lang="en-US" sz="1850" dirty="0"/>
          </a:p>
        </p:txBody>
      </p:sp>
      <p:sp>
        <p:nvSpPr>
          <p:cNvPr id="12" name="Text 9"/>
          <p:cNvSpPr/>
          <p:nvPr/>
        </p:nvSpPr>
        <p:spPr>
          <a:xfrm>
            <a:off x="1275723" y="5081984"/>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no-key rule protects confidentiality</a:t>
            </a:r>
            <a:endParaRPr lang="en-US" sz="1450" dirty="0"/>
          </a:p>
        </p:txBody>
      </p:sp>
      <p:sp>
        <p:nvSpPr>
          <p:cNvPr id="13" name="Text 10"/>
          <p:cNvSpPr/>
          <p:nvPr/>
        </p:nvSpPr>
        <p:spPr>
          <a:xfrm>
            <a:off x="661475" y="5597029"/>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Three weeks, one idea</a:t>
            </a:r>
            <a:endParaRPr lang="en-US" sz="1450" dirty="0"/>
          </a:p>
        </p:txBody>
      </p:sp>
      <p:sp>
        <p:nvSpPr>
          <p:cNvPr id="14"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Map every lab defect to a CIA letter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a one-line reason for 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a timed 5.3 review set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heaviest outcome on the exam</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2026-09-14T21:19:34Z</dcterms:created>
  <dcterms:modified xsi:type="dcterms:W3CDTF">2026-09-14T21:19:34Z</dcterms:modified>
</cp:coreProperties>
</file>