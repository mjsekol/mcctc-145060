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calculator someone built with eval. Type 2 plus 2 and get 4. It works perfectly, they say. But eval runs whatever you type as code, so a worse input runs too. It works and it is dangerous at the same time, and that combination is what makes it a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vulnerability is a bug an attacker can use to do something they should not. Not every bug is one. And most do not crash. They do exactly what the code says, for an attacker instead of for you. That is why they hide. They look like working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calc_bad runs the input as Python. Someone can read files or run programs through it. calc_ok parses the input itself and does only the four operations. Same feature, one is a door for an attacker and one is not. The fix is never a bigger eval. It is a specific safe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asks for a note by name, and the code joins the name to a folder. A name of dot dot slash dot dot slash settings dot py climbs out and reads a file of secrets. No crash. The fix is one function, safe_name, that rejects any dot or slash, run before every path is built. It closes the whole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 category names. Arbitrary code execution, usually from running input as code. Path traversal, using dot dot to climb folders. Secrets in code, a key written in a file. Verbose error leakage, and missing input validation, and missing timeouts. These are on the Ohio competency list you are tested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looks helpful. When something breaks, it prints the error, the full traceback, and the config. Predict who this helps most. A real user cannot act on any of it. Watch what an attacker gets from an error message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trace hands out file paths, function names, and internal structure. A config dump hands out keys and server names. A real user cannot use any of that. An attacker uses all of it. Show the user one calm sentence, and keep the details in a private log only you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fixes rhyme. Do not run input as code. Reject names that can climb folders. Read secrets from the environment, never a file. Show plain errors. Check values before you use them. Bound every network call with a timeout. One habit underneath all of it, validate before you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mistake is the shortest path to a working feature. eval is the fastest calculator. Dumping config is the fastest debugging. The shortcut works on the inputs you tried, so it feels done. The cost is a door you left open, and the door only matters when someone looks for it. Assume someone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finds the remaining planted vulnerabilities in the Study Hall lab and reproduces each. Build two fixes at least four across four categories and reruns the app to confirm each fix holds and nothing else broke. Finding and mapping is the graded skill. Fixing four proves you can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Bugs an Attacker Can Use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calculator that runs anything you type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quick calc command uses eval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Type 2 plus 2, get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Type something worse, and it runs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works, and it is dangerous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53914"/>
            <a:ext cx="3504219" cy="2953246"/>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vulnerability is a bug an attacker can use</a:t>
            </a:r>
            <a:endParaRPr lang="en-US" sz="3700" dirty="0"/>
          </a:p>
        </p:txBody>
      </p:sp>
      <p:sp>
        <p:nvSpPr>
          <p:cNvPr id="4" name="Text 1"/>
          <p:cNvSpPr/>
          <p:nvPr/>
        </p:nvSpPr>
        <p:spPr>
          <a:xfrm>
            <a:off x="8032251" y="4296172"/>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every bug is a vulnerability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Most vulnerabilities do not crash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do exactly what the code says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 an attacker instead of for you</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eval is arbitrary code execution</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def calc_bad(expression):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return eval(expression)       # runs the input as code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OPERATORS = {"+": lambda a, b: a + b, "-": lambda a, b: a - b,</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 lambda a, b: a * b, "/": lambda a, b: a / b}</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def calc_ok(expression):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left, op, right = expression.split()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return OPERATORS[op](float(left), float(right))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Path traversal, and the one-function fix</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SAFE = set("abcdefghijklmnopqrstuvwxyzABCDEFGHIJKLMNOPQRSTUVWXYZ0123456789_-")</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safe_name(name):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name == "" or len(name) &gt; 40: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raise ValueError("bad 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character in 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character not in SAFE: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raise ValueError("bad 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name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71302"/>
            <a:ext cx="6296860"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category names</a:t>
            </a:r>
            <a:endParaRPr lang="en-US" sz="3500" dirty="0"/>
          </a:p>
        </p:txBody>
      </p:sp>
      <p:sp>
        <p:nvSpPr>
          <p:cNvPr id="4" name="Shape 1"/>
          <p:cNvSpPr/>
          <p:nvPr/>
        </p:nvSpPr>
        <p:spPr>
          <a:xfrm>
            <a:off x="661475" y="1391940"/>
            <a:ext cx="6296860" cy="1064220"/>
          </a:xfrm>
          <a:prstGeom prst="roundRect">
            <a:avLst>
              <a:gd name="adj" fmla="val 7110"/>
            </a:avLst>
          </a:prstGeom>
          <a:solidFill>
            <a:srgbClr val="D1E5FA"/>
          </a:solidFill>
          <a:ln w="19050">
            <a:solidFill>
              <a:srgbClr val="B7CBE0"/>
            </a:solidFill>
            <a:prstDash val="solid"/>
          </a:ln>
        </p:spPr>
      </p:sp>
      <p:sp>
        <p:nvSpPr>
          <p:cNvPr id="5" name="Text 2"/>
          <p:cNvSpPr/>
          <p:nvPr/>
        </p:nvSpPr>
        <p:spPr>
          <a:xfrm>
            <a:off x="860602" y="1591072"/>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Arbitrary code execution</a:t>
            </a:r>
            <a:endParaRPr lang="en-US" sz="1750" dirty="0"/>
          </a:p>
        </p:txBody>
      </p:sp>
      <p:sp>
        <p:nvSpPr>
          <p:cNvPr id="6" name="Text 3"/>
          <p:cNvSpPr/>
          <p:nvPr/>
        </p:nvSpPr>
        <p:spPr>
          <a:xfrm>
            <a:off x="860602" y="1975545"/>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From eval</a:t>
            </a:r>
            <a:endParaRPr lang="en-US" sz="1400" dirty="0"/>
          </a:p>
        </p:txBody>
      </p:sp>
      <p:sp>
        <p:nvSpPr>
          <p:cNvPr id="7" name="Shape 4"/>
          <p:cNvSpPr/>
          <p:nvPr/>
        </p:nvSpPr>
        <p:spPr>
          <a:xfrm>
            <a:off x="661475" y="2627809"/>
            <a:ext cx="6296860" cy="1064220"/>
          </a:xfrm>
          <a:prstGeom prst="roundRect">
            <a:avLst>
              <a:gd name="adj" fmla="val 7110"/>
            </a:avLst>
          </a:prstGeom>
          <a:solidFill>
            <a:srgbClr val="D1E5FA"/>
          </a:solidFill>
          <a:ln w="19050">
            <a:solidFill>
              <a:srgbClr val="B7CBE0"/>
            </a:solidFill>
            <a:prstDash val="solid"/>
          </a:ln>
        </p:spPr>
      </p:sp>
      <p:sp>
        <p:nvSpPr>
          <p:cNvPr id="8" name="Text 5"/>
          <p:cNvSpPr/>
          <p:nvPr/>
        </p:nvSpPr>
        <p:spPr>
          <a:xfrm>
            <a:off x="860602" y="2826941"/>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Path traversal</a:t>
            </a:r>
            <a:endParaRPr lang="en-US" sz="1750" dirty="0"/>
          </a:p>
        </p:txBody>
      </p:sp>
      <p:sp>
        <p:nvSpPr>
          <p:cNvPr id="9" name="Text 6"/>
          <p:cNvSpPr/>
          <p:nvPr/>
        </p:nvSpPr>
        <p:spPr>
          <a:xfrm>
            <a:off x="860602" y="3211413"/>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From dot dot</a:t>
            </a:r>
            <a:endParaRPr lang="en-US" sz="1400" dirty="0"/>
          </a:p>
        </p:txBody>
      </p:sp>
      <p:sp>
        <p:nvSpPr>
          <p:cNvPr id="10" name="Shape 7"/>
          <p:cNvSpPr/>
          <p:nvPr/>
        </p:nvSpPr>
        <p:spPr>
          <a:xfrm>
            <a:off x="661475" y="3863677"/>
            <a:ext cx="6296860" cy="1064220"/>
          </a:xfrm>
          <a:prstGeom prst="roundRect">
            <a:avLst>
              <a:gd name="adj" fmla="val 7110"/>
            </a:avLst>
          </a:prstGeom>
          <a:solidFill>
            <a:srgbClr val="D1E5FA"/>
          </a:solidFill>
          <a:ln w="19050">
            <a:solidFill>
              <a:srgbClr val="B7CBE0"/>
            </a:solidFill>
            <a:prstDash val="solid"/>
          </a:ln>
        </p:spPr>
      </p:sp>
      <p:sp>
        <p:nvSpPr>
          <p:cNvPr id="11" name="Text 8"/>
          <p:cNvSpPr/>
          <p:nvPr/>
        </p:nvSpPr>
        <p:spPr>
          <a:xfrm>
            <a:off x="860602" y="4062809"/>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Secrets in code</a:t>
            </a:r>
            <a:endParaRPr lang="en-US" sz="1750" dirty="0"/>
          </a:p>
        </p:txBody>
      </p:sp>
      <p:sp>
        <p:nvSpPr>
          <p:cNvPr id="12" name="Text 9"/>
          <p:cNvSpPr/>
          <p:nvPr/>
        </p:nvSpPr>
        <p:spPr>
          <a:xfrm>
            <a:off x="860602" y="4447282"/>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A key in a file</a:t>
            </a:r>
            <a:endParaRPr lang="en-US" sz="1400" dirty="0"/>
          </a:p>
        </p:txBody>
      </p:sp>
      <p:sp>
        <p:nvSpPr>
          <p:cNvPr id="13" name="Shape 10"/>
          <p:cNvSpPr/>
          <p:nvPr/>
        </p:nvSpPr>
        <p:spPr>
          <a:xfrm>
            <a:off x="661475" y="5099546"/>
            <a:ext cx="6296860" cy="1064220"/>
          </a:xfrm>
          <a:prstGeom prst="roundRect">
            <a:avLst>
              <a:gd name="adj" fmla="val 7110"/>
            </a:avLst>
          </a:prstGeom>
          <a:solidFill>
            <a:srgbClr val="D1E5FA"/>
          </a:solidFill>
          <a:ln w="19050">
            <a:solidFill>
              <a:srgbClr val="B7CBE0"/>
            </a:solidFill>
            <a:prstDash val="solid"/>
          </a:ln>
        </p:spPr>
      </p:sp>
      <p:sp>
        <p:nvSpPr>
          <p:cNvPr id="14" name="Text 11"/>
          <p:cNvSpPr/>
          <p:nvPr/>
        </p:nvSpPr>
        <p:spPr>
          <a:xfrm>
            <a:off x="860602" y="5298678"/>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Missing timeouts</a:t>
            </a:r>
            <a:endParaRPr lang="en-US" sz="1750" dirty="0"/>
          </a:p>
        </p:txBody>
      </p:sp>
      <p:sp>
        <p:nvSpPr>
          <p:cNvPr id="15" name="Text 12"/>
          <p:cNvSpPr/>
          <p:nvPr/>
        </p:nvSpPr>
        <p:spPr>
          <a:xfrm>
            <a:off x="860602" y="5683151"/>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A call that hangs</a:t>
            </a:r>
            <a:endParaRPr lang="en-US" sz="14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a helpful error message</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except Exception as 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print(f"Error: {error}")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traceback.print_exc()</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print("Config:", {"API_KEY": "NOT-A-REAL-KEY-abc", "DB": "internal-db-01"})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744563"/>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That is a gift to an attacker</a:t>
            </a:r>
            <a:endParaRPr lang="en-US" sz="3700" dirty="0"/>
          </a:p>
        </p:txBody>
      </p:sp>
      <p:sp>
        <p:nvSpPr>
          <p:cNvPr id="4" name="Text 1"/>
          <p:cNvSpPr/>
          <p:nvPr/>
        </p:nvSpPr>
        <p:spPr>
          <a:xfrm>
            <a:off x="8032251" y="3705523"/>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File paths, variable names, secrets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user cannot use any of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attacker uses all of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Show one plain sentence instead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7964"/>
            <a:ext cx="6296860"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fixes rhyme</a:t>
            </a:r>
            <a:endParaRPr lang="en-US" sz="35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358602"/>
            <a:ext cx="6296860" cy="1080889"/>
          </a:xfrm>
          <a:prstGeom prst="rect">
            <a:avLst/>
          </a:prstGeom>
        </p:spPr>
      </p:pic>
      <p:sp>
        <p:nvSpPr>
          <p:cNvPr id="5" name="Text 1"/>
          <p:cNvSpPr/>
          <p:nvPr/>
        </p:nvSpPr>
        <p:spPr>
          <a:xfrm>
            <a:off x="5474456" y="1730177"/>
            <a:ext cx="270166" cy="337741"/>
          </a:xfrm>
          <a:prstGeom prst="rect">
            <a:avLst/>
          </a:prstGeom>
          <a:noFill/>
          <a:ln/>
        </p:spPr>
        <p:txBody>
          <a:bodyPr wrap="none" lIns="0" tIns="0" rIns="0" bIns="0" rtlCol="0" anchor="ctr"/>
          <a:lstStyle/>
          <a:p>
            <a:pPr algn="ctr" indent="0" marL="0">
              <a:lnSpc>
                <a:spcPct val="100000"/>
              </a:lnSpc>
              <a:buNone/>
            </a:pPr>
            <a:r>
              <a:rPr lang="en-US" sz="2100" b="1" dirty="0">
                <a:solidFill>
                  <a:srgbClr val="1C1C1C"/>
                </a:solidFill>
                <a:latin typeface="Orbitron Bold" pitchFamily="34" charset="0"/>
                <a:ea typeface="Orbitron Bold" pitchFamily="34" charset="-122"/>
                <a:cs typeface="Orbitron Bold" pitchFamily="34" charset="-120"/>
              </a:rPr>
              <a:t>1</a:t>
            </a:r>
            <a:endParaRPr lang="en-US" sz="2100" dirty="0"/>
          </a:p>
        </p:txBody>
      </p:sp>
      <p:sp>
        <p:nvSpPr>
          <p:cNvPr id="6" name="Text 2"/>
          <p:cNvSpPr/>
          <p:nvPr/>
        </p:nvSpPr>
        <p:spPr>
          <a:xfrm>
            <a:off x="6151012" y="1564084"/>
            <a:ext cx="5173732"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Do not run input as code</a:t>
            </a:r>
            <a:endParaRPr lang="en-US" sz="17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611140"/>
            <a:ext cx="6296860" cy="1080889"/>
          </a:xfrm>
          <a:prstGeom prst="rect">
            <a:avLst/>
          </a:prstGeom>
        </p:spPr>
      </p:pic>
      <p:sp>
        <p:nvSpPr>
          <p:cNvPr id="8" name="Text 3"/>
          <p:cNvSpPr/>
          <p:nvPr/>
        </p:nvSpPr>
        <p:spPr>
          <a:xfrm>
            <a:off x="5474456" y="2982714"/>
            <a:ext cx="270166" cy="337741"/>
          </a:xfrm>
          <a:prstGeom prst="rect">
            <a:avLst/>
          </a:prstGeom>
          <a:noFill/>
          <a:ln/>
        </p:spPr>
        <p:txBody>
          <a:bodyPr wrap="none" lIns="0" tIns="0" rIns="0" bIns="0" rtlCol="0" anchor="ctr"/>
          <a:lstStyle/>
          <a:p>
            <a:pPr algn="ctr" indent="0" marL="0">
              <a:lnSpc>
                <a:spcPct val="100000"/>
              </a:lnSpc>
              <a:buNone/>
            </a:pPr>
            <a:r>
              <a:rPr lang="en-US" sz="2100" b="1" dirty="0">
                <a:solidFill>
                  <a:srgbClr val="1C1C1C"/>
                </a:solidFill>
                <a:latin typeface="Orbitron Bold" pitchFamily="34" charset="0"/>
                <a:ea typeface="Orbitron Bold" pitchFamily="34" charset="-122"/>
                <a:cs typeface="Orbitron Bold" pitchFamily="34" charset="-120"/>
              </a:rPr>
              <a:t>2</a:t>
            </a:r>
            <a:endParaRPr lang="en-US" sz="2100" dirty="0"/>
          </a:p>
        </p:txBody>
      </p:sp>
      <p:sp>
        <p:nvSpPr>
          <p:cNvPr id="9" name="Text 4"/>
          <p:cNvSpPr/>
          <p:nvPr/>
        </p:nvSpPr>
        <p:spPr>
          <a:xfrm>
            <a:off x="6151012" y="2816622"/>
            <a:ext cx="5173732"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Reject names that can climb folders</a:t>
            </a:r>
            <a:endParaRPr lang="en-US" sz="17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63677"/>
            <a:ext cx="6296860" cy="1080889"/>
          </a:xfrm>
          <a:prstGeom prst="rect">
            <a:avLst/>
          </a:prstGeom>
        </p:spPr>
      </p:pic>
      <p:sp>
        <p:nvSpPr>
          <p:cNvPr id="11" name="Text 5"/>
          <p:cNvSpPr/>
          <p:nvPr/>
        </p:nvSpPr>
        <p:spPr>
          <a:xfrm>
            <a:off x="5474456" y="4235252"/>
            <a:ext cx="270166" cy="337741"/>
          </a:xfrm>
          <a:prstGeom prst="rect">
            <a:avLst/>
          </a:prstGeom>
          <a:noFill/>
          <a:ln/>
        </p:spPr>
        <p:txBody>
          <a:bodyPr wrap="none" lIns="0" tIns="0" rIns="0" bIns="0" rtlCol="0" anchor="ctr"/>
          <a:lstStyle/>
          <a:p>
            <a:pPr algn="ctr" indent="0" marL="0">
              <a:lnSpc>
                <a:spcPct val="100000"/>
              </a:lnSpc>
              <a:buNone/>
            </a:pPr>
            <a:r>
              <a:rPr lang="en-US" sz="2100" b="1" dirty="0">
                <a:solidFill>
                  <a:srgbClr val="1C1C1C"/>
                </a:solidFill>
                <a:latin typeface="Orbitron Bold" pitchFamily="34" charset="0"/>
                <a:ea typeface="Orbitron Bold" pitchFamily="34" charset="-122"/>
                <a:cs typeface="Orbitron Bold" pitchFamily="34" charset="-120"/>
              </a:rPr>
              <a:t>3</a:t>
            </a:r>
            <a:endParaRPr lang="en-US" sz="2100" dirty="0"/>
          </a:p>
        </p:txBody>
      </p:sp>
      <p:sp>
        <p:nvSpPr>
          <p:cNvPr id="12" name="Text 6"/>
          <p:cNvSpPr/>
          <p:nvPr/>
        </p:nvSpPr>
        <p:spPr>
          <a:xfrm>
            <a:off x="6151012" y="4069159"/>
            <a:ext cx="5173732"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Read secrets from the environment</a:t>
            </a:r>
            <a:endParaRPr lang="en-US" sz="17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16215"/>
            <a:ext cx="6296860" cy="1080889"/>
          </a:xfrm>
          <a:prstGeom prst="rect">
            <a:avLst/>
          </a:prstGeom>
        </p:spPr>
      </p:pic>
      <p:sp>
        <p:nvSpPr>
          <p:cNvPr id="14" name="Text 7"/>
          <p:cNvSpPr/>
          <p:nvPr/>
        </p:nvSpPr>
        <p:spPr>
          <a:xfrm>
            <a:off x="5474456" y="5487789"/>
            <a:ext cx="270166" cy="337741"/>
          </a:xfrm>
          <a:prstGeom prst="rect">
            <a:avLst/>
          </a:prstGeom>
          <a:noFill/>
          <a:ln/>
        </p:spPr>
        <p:txBody>
          <a:bodyPr wrap="none" lIns="0" tIns="0" rIns="0" bIns="0" rtlCol="0" anchor="ctr"/>
          <a:lstStyle/>
          <a:p>
            <a:pPr algn="ctr" indent="0" marL="0">
              <a:lnSpc>
                <a:spcPct val="100000"/>
              </a:lnSpc>
              <a:buNone/>
            </a:pPr>
            <a:r>
              <a:rPr lang="en-US" sz="2100" b="1" dirty="0">
                <a:solidFill>
                  <a:srgbClr val="1C1C1C"/>
                </a:solidFill>
                <a:latin typeface="Orbitron Bold" pitchFamily="34" charset="0"/>
                <a:ea typeface="Orbitron Bold" pitchFamily="34" charset="-122"/>
                <a:cs typeface="Orbitron Bold" pitchFamily="34" charset="-120"/>
              </a:rPr>
              <a:t>4</a:t>
            </a:r>
            <a:endParaRPr lang="en-US" sz="2100" dirty="0"/>
          </a:p>
        </p:txBody>
      </p:sp>
      <p:sp>
        <p:nvSpPr>
          <p:cNvPr id="15" name="Text 8"/>
          <p:cNvSpPr/>
          <p:nvPr/>
        </p:nvSpPr>
        <p:spPr>
          <a:xfrm>
            <a:off x="6151012" y="5321697"/>
            <a:ext cx="5173732"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Bound every call with a timeout</a:t>
            </a:r>
            <a:endParaRPr lang="en-US" sz="175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593354"/>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shortcuts are tempting</a:t>
            </a:r>
            <a:endParaRPr lang="en-US" sz="3700" dirty="0"/>
          </a:p>
        </p:txBody>
      </p:sp>
      <p:sp>
        <p:nvSpPr>
          <p:cNvPr id="4" name="Text 1"/>
          <p:cNvSpPr/>
          <p:nvPr/>
        </p:nvSpPr>
        <p:spPr>
          <a:xfrm>
            <a:off x="8032251" y="3554313"/>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is the shortest path to working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eval is the fastest calculator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shortcut works on inputs you tried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cost is a door you did not see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Find the rest of the planted defects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Secrets, verbose errors, missing timeout, traversal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Fix at least four across four categories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Rerun and confirm each fix holds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2026-09-14T21:18:33Z</dcterms:created>
  <dcterms:modified xsi:type="dcterms:W3CDTF">2026-09-14T21:18:33Z</dcterms:modified>
</cp:coreProperties>
</file>