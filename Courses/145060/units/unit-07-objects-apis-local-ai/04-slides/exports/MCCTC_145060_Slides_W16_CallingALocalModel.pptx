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language model on lab hardware can turn dry facts into readable prose. A room's stored facts into a narrated scene. You call it the same way you called the weather feed, because it speaks HTTP. The new part is that its reply is text a model invented, so you cannot trust it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 model generates plausible text. Plausible is not correct. It can reword a number, drop a fact, or stop mid-sentence, and it does not know anything. Your program has to treat every reply as untrusted until it has checked it. That is the whole lesson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POST, because you are sending data, the prompt. stream false asks for one whole reply instead of a stream of pieces. Otherwise it is the same urllib and json you already know. The reply comes back as JSON with two fields you care about, response and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200 is not enough. Check done is exactly True. Check response is a string and not empty. Only then return the text. Each bad reply returns None, which tells the caller to fall back. This is the running thread on the model, in one small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reply fails a check, you do not show nothing. You fall back to the stored description or the plain template your own code holds. The person reading the announcements still gets a correct, complete sentence. A missing or broken model only means they see the plain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reply from a model that got cut off. done is False, but nothing checked it. Predict what prints. The JSON is valid, the status was 200, and the response field has text in it. Every sign says it worked.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A half-sentence printed as if it were finished. In the text adventure, a description that loses broadcast on 1470 could make the game unwinnable. The reply was valid JSON with status 200, so no exception fired. Only your own done check catches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trap inside the trap. Do not check done with plain truthiness. The string false, spelled f a l s e, is truthy, so if reply dot get done would pass a reply that is not done. Write is not True to require the actual boolean. This exact thing bites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reply can pass every check and still be wrong for you, because a model rewords things. If it turns 1470 into fourteen seventy, the player cannot win, with no error to warn anyone. After the other checks, confirm the required fact still appears in the text, and reject the reply if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writes parse_reply with the done, type, and empty checks, and strips control characters from the reply. Build two wires write_announcement to use the model when the reply is good and the template when it is not. Run the tests, and try the stub in not_done mode to see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Putting a Model Inside Your Program</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233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model can write the boring part for you</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392958"/>
            <a:ext cx="283461" cy="283468"/>
          </a:xfrm>
          <a:prstGeom prst="rect">
            <a:avLst/>
          </a:prstGeom>
        </p:spPr>
      </p:pic>
      <p:sp>
        <p:nvSpPr>
          <p:cNvPr id="5" name="Text 1"/>
          <p:cNvSpPr/>
          <p:nvPr/>
        </p:nvSpPr>
        <p:spPr>
          <a:xfrm>
            <a:off x="5847608" y="238710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room has dry stored facts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343870"/>
            <a:ext cx="283461" cy="283468"/>
          </a:xfrm>
          <a:prstGeom prst="rect">
            <a:avLst/>
          </a:prstGeom>
        </p:spPr>
      </p:pic>
      <p:sp>
        <p:nvSpPr>
          <p:cNvPr id="7" name="Text 2"/>
          <p:cNvSpPr/>
          <p:nvPr/>
        </p:nvSpPr>
        <p:spPr>
          <a:xfrm>
            <a:off x="5847608" y="33380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model can turn them into a scene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294783"/>
            <a:ext cx="283461" cy="283468"/>
          </a:xfrm>
          <a:prstGeom prst="rect">
            <a:avLst/>
          </a:prstGeom>
        </p:spPr>
      </p:pic>
      <p:sp>
        <p:nvSpPr>
          <p:cNvPr id="9" name="Text 3"/>
          <p:cNvSpPr/>
          <p:nvPr/>
        </p:nvSpPr>
        <p:spPr>
          <a:xfrm>
            <a:off x="5847608" y="428892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speaks HTTP, like the weather feed</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245695"/>
            <a:ext cx="283461" cy="283468"/>
          </a:xfrm>
          <a:prstGeom prst="rect">
            <a:avLst/>
          </a:prstGeom>
        </p:spPr>
      </p:pic>
      <p:sp>
        <p:nvSpPr>
          <p:cNvPr id="11" name="Text 4"/>
          <p:cNvSpPr/>
          <p:nvPr/>
        </p:nvSpPr>
        <p:spPr>
          <a:xfrm>
            <a:off x="5847608" y="523984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But its reply is text it made up</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Be honest about what a model is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368252"/>
            <a:ext cx="6296860" cy="724098"/>
          </a:xfrm>
          <a:prstGeom prst="rect">
            <a:avLst/>
          </a:prstGeom>
        </p:spPr>
      </p:pic>
      <p:sp>
        <p:nvSpPr>
          <p:cNvPr id="5" name="Text 1"/>
          <p:cNvSpPr/>
          <p:nvPr/>
        </p:nvSpPr>
        <p:spPr>
          <a:xfrm>
            <a:off x="977479"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generates plausible text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281362"/>
            <a:ext cx="6296860" cy="724098"/>
          </a:xfrm>
          <a:prstGeom prst="rect">
            <a:avLst/>
          </a:prstGeom>
        </p:spPr>
      </p:pic>
      <p:sp>
        <p:nvSpPr>
          <p:cNvPr id="7" name="Text 2"/>
          <p:cNvSpPr/>
          <p:nvPr/>
        </p:nvSpPr>
        <p:spPr>
          <a:xfrm>
            <a:off x="977479"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Plausible is not the same as correct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194473"/>
            <a:ext cx="6296860" cy="724098"/>
          </a:xfrm>
          <a:prstGeom prst="rect">
            <a:avLst/>
          </a:prstGeom>
        </p:spPr>
      </p:pic>
      <p:sp>
        <p:nvSpPr>
          <p:cNvPr id="9" name="Text 3"/>
          <p:cNvSpPr/>
          <p:nvPr/>
        </p:nvSpPr>
        <p:spPr>
          <a:xfrm>
            <a:off x="977479"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can drop facts and stop early</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107583"/>
            <a:ext cx="6296860" cy="724098"/>
          </a:xfrm>
          <a:prstGeom prst="rect">
            <a:avLst/>
          </a:prstGeom>
        </p:spPr>
      </p:pic>
      <p:sp>
        <p:nvSpPr>
          <p:cNvPr id="11" name="Text 4"/>
          <p:cNvSpPr/>
          <p:nvPr/>
        </p:nvSpPr>
        <p:spPr>
          <a:xfrm>
            <a:off x="977479"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does not know anything</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request is a POST</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payload = json.dumps({"model": "llama3.2", "prompt": "Say hello.", "stream": 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request = urllib.request.Request(base + "/api/generate",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data=payload.encode("utf-8"),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headers={"Content-Type": "application/json"},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method="POST")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with opener.open(request, timeout=20) as response: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reply = json.loads(response.read().decode("utf-8"))</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Check before you trust</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usable_text(reply):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reply.get("done") is not True: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text = reply.get("response")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not isinstance(text, str) or text.strip() == "":</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text.strip()</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Fall back to something you control</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bad reply is not a dead end</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Use the description or template you wrote</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person always gets something correct</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bad model never breaks the feature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skip the done check</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reply = {"response": "The dials glow amber. Type broadcast to", "done": 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print(reply["response"])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0097"/>
            <a:ext cx="6908330" cy="3914775"/>
          </a:xfrm>
          <a:prstGeom prst="rect">
            <a:avLst/>
          </a:prstGeom>
        </p:spPr>
      </p:pic>
      <p:sp>
        <p:nvSpPr>
          <p:cNvPr id="3" name="Text 0"/>
          <p:cNvSpPr/>
          <p:nvPr/>
        </p:nvSpPr>
        <p:spPr>
          <a:xfrm>
            <a:off x="8022826" y="892076"/>
            <a:ext cx="3513645" cy="2288778"/>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A half sentence, printed as truth</a:t>
            </a:r>
            <a:endParaRPr lang="en-US" sz="3600" dirty="0"/>
          </a:p>
        </p:txBody>
      </p:sp>
      <p:sp>
        <p:nvSpPr>
          <p:cNvPr id="4" name="Shape 1"/>
          <p:cNvSpPr/>
          <p:nvPr/>
        </p:nvSpPr>
        <p:spPr>
          <a:xfrm>
            <a:off x="8022826" y="3380383"/>
            <a:ext cx="3513645" cy="952103"/>
          </a:xfrm>
          <a:prstGeom prst="roundRect">
            <a:avLst>
              <a:gd name="adj" fmla="val 8078"/>
            </a:avLst>
          </a:prstGeom>
          <a:solidFill>
            <a:srgbClr val="F2F2F2"/>
          </a:solidFill>
          <a:ln/>
        </p:spPr>
      </p:sp>
      <p:sp>
        <p:nvSpPr>
          <p:cNvPr id="5" name="Text 2"/>
          <p:cNvSpPr/>
          <p:nvPr/>
        </p:nvSpPr>
        <p:spPr>
          <a:xfrm>
            <a:off x="8242491" y="3563441"/>
            <a:ext cx="3074315" cy="585986"/>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The dials glow amber. Type broadcast to</a:t>
            </a:r>
            <a:endParaRPr lang="en-US" sz="1400" dirty="0"/>
          </a:p>
        </p:txBody>
      </p:sp>
      <p:sp>
        <p:nvSpPr>
          <p:cNvPr id="6" name="Shape 3"/>
          <p:cNvSpPr/>
          <p:nvPr/>
        </p:nvSpPr>
        <p:spPr>
          <a:xfrm>
            <a:off x="8022826" y="4532015"/>
            <a:ext cx="3513645" cy="1288752"/>
          </a:xfrm>
          <a:prstGeom prst="roundRect">
            <a:avLst>
              <a:gd name="adj" fmla="val 5968"/>
            </a:avLst>
          </a:prstGeom>
          <a:solidFill>
            <a:srgbClr val="FFB3B4"/>
          </a:solidFill>
          <a:ln/>
        </p:spPr>
      </p:sp>
      <p:pic>
        <p:nvPicPr>
          <p:cNvPr id="7" name="Image 1" descr="preencoded.png">    </p:cNvPr>
          <p:cNvPicPr>
            <a:picLocks noChangeAspect="1"/>
          </p:cNvPicPr>
          <p:nvPr/>
        </p:nvPicPr>
        <p:blipFill>
          <a:blip r:embed="rId2"/>
          <a:stretch>
            <a:fillRect/>
          </a:stretch>
        </p:blipFill>
        <p:spPr>
          <a:xfrm>
            <a:off x="8205880" y="4798020"/>
            <a:ext cx="228793" cy="183059"/>
          </a:xfrm>
          <a:prstGeom prst="rect">
            <a:avLst/>
          </a:prstGeom>
        </p:spPr>
      </p:pic>
      <p:sp>
        <p:nvSpPr>
          <p:cNvPr id="8" name="Text 4"/>
          <p:cNvSpPr/>
          <p:nvPr/>
        </p:nvSpPr>
        <p:spPr>
          <a:xfrm>
            <a:off x="8617727" y="4737398"/>
            <a:ext cx="2735690" cy="877987"/>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000000"/>
                </a:solidFill>
                <a:latin typeface="Roboto Condensed" pitchFamily="34" charset="0"/>
                <a:ea typeface="Roboto Condensed" pitchFamily="34" charset="-122"/>
                <a:cs typeface="Roboto Condensed" pitchFamily="34" charset="-120"/>
              </a:rPr>
              <a:t>This incomplete reply was printed as if it were correct because the </a:t>
            </a:r>
            <a:pPr algn="l" indent="0" marL="0">
              <a:lnSpc>
                <a:spcPct val="131000"/>
              </a:lnSpc>
              <a:buNone/>
            </a:pPr>
            <a:r>
              <a:rPr lang="en-US" sz="1400" dirty="0">
                <a:solidFill>
                  <a:srgbClr val="000000"/>
                </a:solidFill>
                <a:highlight>
                  <a:srgbClr val="F2F2F2"/>
                </a:highlight>
                <a:latin typeface="Consolas" pitchFamily="34" charset="0"/>
                <a:ea typeface="Consolas" pitchFamily="34" charset="-122"/>
                <a:cs typeface="Consolas" pitchFamily="34" charset="-120"/>
              </a:rPr>
              <a:t>done</a:t>
            </a:r>
            <a:pPr algn="l" indent="0" marL="0">
              <a:lnSpc>
                <a:spcPct val="131000"/>
              </a:lnSpc>
              <a:buNone/>
            </a:pPr>
            <a:r>
              <a:rPr lang="en-US" sz="1400" dirty="0">
                <a:solidFill>
                  <a:srgbClr val="000000"/>
                </a:solidFill>
                <a:latin typeface="Roboto Condensed" pitchFamily="34" charset="0"/>
                <a:ea typeface="Roboto Condensed" pitchFamily="34" charset="-122"/>
                <a:cs typeface="Roboto Condensed" pitchFamily="34" charset="-120"/>
              </a:rPr>
              <a:t> check was skipped.</a:t>
            </a:r>
            <a:endParaRPr lang="en-US" sz="1400" dirty="0"/>
          </a:p>
        </p:txBody>
      </p:sp>
      <p:sp>
        <p:nvSpPr>
          <p:cNvPr id="9"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Check done with is not True</a:t>
            </a:r>
            <a:endParaRPr lang="en-US" sz="3700" dirty="0"/>
          </a:p>
        </p:txBody>
      </p:sp>
      <p:sp>
        <p:nvSpPr>
          <p:cNvPr id="4" name="Shape 1"/>
          <p:cNvSpPr/>
          <p:nvPr/>
        </p:nvSpPr>
        <p:spPr>
          <a:xfrm>
            <a:off x="5233360"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304251" y="271780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 not write </a:t>
            </a:r>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if reply.get("done")</a:t>
            </a:r>
            <a:endParaRPr lang="en-US" sz="1850" dirty="0"/>
          </a:p>
        </p:txBody>
      </p:sp>
      <p:sp>
        <p:nvSpPr>
          <p:cNvPr id="7" name="Shape 4"/>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5304251" y="35210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string </a:t>
            </a:r>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"false"</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is truthy</a:t>
            </a:r>
            <a:endParaRPr lang="en-US" sz="1850" dirty="0"/>
          </a:p>
        </p:txBody>
      </p:sp>
      <p:sp>
        <p:nvSpPr>
          <p:cNvPr id="10" name="Shape 7"/>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304251" y="432435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lazy check passes a bad reply</a:t>
            </a:r>
            <a:endParaRPr lang="en-US" sz="1850" dirty="0"/>
          </a:p>
        </p:txBody>
      </p:sp>
      <p:sp>
        <p:nvSpPr>
          <p:cNvPr id="13" name="Shape 10"/>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5304251" y="51276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Require the real boolean, </a:t>
            </a:r>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is not True</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442145"/>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Keep the facts you need</a:t>
            </a:r>
            <a:endParaRPr lang="en-US" sz="3700" dirty="0"/>
          </a:p>
        </p:txBody>
      </p:sp>
      <p:sp>
        <p:nvSpPr>
          <p:cNvPr id="4" name="Text 1"/>
          <p:cNvSpPr/>
          <p:nvPr/>
        </p:nvSpPr>
        <p:spPr>
          <a:xfrm>
            <a:off x="8032251" y="3403104"/>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reply can be done and still wrong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might reword 1470 as fourteen seventy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After the other checks, confirm the fact appears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If it dropped it, throw it away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356148"/>
            <a:ext cx="6296860" cy="25400"/>
          </a:xfrm>
          <a:prstGeom prst="rect">
            <a:avLst/>
          </a:prstGeom>
          <a:solidFill>
            <a:srgbClr val="57A1EB"/>
          </a:solidFill>
          <a:ln/>
        </p:spPr>
      </p:sp>
      <p:sp>
        <p:nvSpPr>
          <p:cNvPr id="6" name="Text 3"/>
          <p:cNvSpPr/>
          <p:nvPr/>
        </p:nvSpPr>
        <p:spPr>
          <a:xfrm>
            <a:off x="661475"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a:t>
            </a:r>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parse_reply</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with the three checks</a:t>
            </a:r>
            <a:endParaRPr lang="en-US" sz="1850" dirty="0"/>
          </a:p>
        </p:txBody>
      </p:sp>
      <p:sp>
        <p:nvSpPr>
          <p:cNvPr id="7" name="Text 4"/>
          <p:cNvSpPr/>
          <p:nvPr/>
        </p:nvSpPr>
        <p:spPr>
          <a:xfrm>
            <a:off x="661475"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423245"/>
            <a:ext cx="6296860" cy="25400"/>
          </a:xfrm>
          <a:prstGeom prst="rect">
            <a:avLst/>
          </a:prstGeom>
          <a:solidFill>
            <a:srgbClr val="57A1EB"/>
          </a:solidFill>
          <a:ln/>
        </p:spPr>
      </p:sp>
      <p:sp>
        <p:nvSpPr>
          <p:cNvPr id="9" name="Text 6"/>
          <p:cNvSpPr/>
          <p:nvPr/>
        </p:nvSpPr>
        <p:spPr>
          <a:xfrm>
            <a:off x="661475"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Strip control characters from the reply</a:t>
            </a:r>
            <a:endParaRPr lang="en-US" sz="1850" dirty="0"/>
          </a:p>
        </p:txBody>
      </p:sp>
      <p:sp>
        <p:nvSpPr>
          <p:cNvPr id="10" name="Text 7"/>
          <p:cNvSpPr/>
          <p:nvPr/>
        </p:nvSpPr>
        <p:spPr>
          <a:xfrm>
            <a:off x="661475"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490343"/>
            <a:ext cx="6296860" cy="25400"/>
          </a:xfrm>
          <a:prstGeom prst="rect">
            <a:avLst/>
          </a:prstGeom>
          <a:solidFill>
            <a:srgbClr val="57A1EB"/>
          </a:solidFill>
          <a:ln/>
        </p:spPr>
      </p:sp>
      <p:sp>
        <p:nvSpPr>
          <p:cNvPr id="12" name="Text 9"/>
          <p:cNvSpPr/>
          <p:nvPr/>
        </p:nvSpPr>
        <p:spPr>
          <a:xfrm>
            <a:off x="661475"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Fall back to the template on any failure</a:t>
            </a:r>
            <a:endParaRPr lang="en-US" sz="1850" dirty="0"/>
          </a:p>
        </p:txBody>
      </p:sp>
      <p:sp>
        <p:nvSpPr>
          <p:cNvPr id="13" name="Text 10"/>
          <p:cNvSpPr/>
          <p:nvPr/>
        </p:nvSpPr>
        <p:spPr>
          <a:xfrm>
            <a:off x="661475"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557441"/>
            <a:ext cx="6296860" cy="25400"/>
          </a:xfrm>
          <a:prstGeom prst="rect">
            <a:avLst/>
          </a:prstGeom>
          <a:solidFill>
            <a:srgbClr val="57A1EB"/>
          </a:solidFill>
          <a:ln/>
        </p:spPr>
      </p:sp>
      <p:sp>
        <p:nvSpPr>
          <p:cNvPr id="15" name="Text 12"/>
          <p:cNvSpPr/>
          <p:nvPr/>
        </p:nvSpPr>
        <p:spPr>
          <a:xfrm>
            <a:off x="661475"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Pass the announcement tests</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2026-09-14T21:16:57Z</dcterms:created>
  <dcterms:modified xsi:type="dcterms:W3CDTF">2026-09-14T21:16:57Z</dcterms:modified>
</cp:coreProperties>
</file>