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open a bus app and see the next arrival, your phone did not know that. It asked a transit server and got the number back. Today your program becomes the one asking. It sends a request to another program and gets data in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steps between asking and having data you can use. Open the URL and get a response. Read the body and get raw bytes. Decode the bytes to text, then parse the text as JSON, which gives you a dictionary or a list. Watch the type change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to bottom. We skip proxies, because a school proxy cannot reach 127.0.0.1. We open with a timeout, always. Read gives bytes. Decode gives text. json dot loads gives a dictionary. Miss a step and you get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it is a dictionary, it is data you already know how to handle from Unit 5. A JSON object becomes a dictionary. A JSON array becomes a list. You reach in with keys and indexes, exactly like a save file. The network part is over. The rest is Unit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timeout is not optional. Without it, a slow or dead server can freeze your program with no way out, and a person waiting on it is stuck. That is an availability problem, a term you will name next week. Set a timeout on every request,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old address returns an HTML page for old bookmarks, not JSON. The request succeeds. Read returns something. It feels like it worked. Predict what json dot loads does with an HTML page before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reply started with a less-than sign, the start of HTML, and json dot loads cannot read that. Column one, character zero, the very first character. The request succeeded and the data was still wrong. Getting a reply is not the same as getting the data you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running thread wearing a network costume. The server answered, but a wrong address, a redirect, or an old endpoint all return a real response that is not your data. The crash here is the friendly case. Next week you handle the quiet failures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today is in Python already. urllib dot request for the request, json for the reply. No packages, no install, nothing that can be missing on a lab machine. The same two modules carry you through the whole week, including talking to the local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starts the fixture server in one terminal and writes get_json to read the station list. Build two writes decide, the rule that says whether practice is on. Run the Part 1 tests until they pass. Tomorrow you handle everything that can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image" Target="../media/image-6-2.png"/><Relationship Id="rId9" Type="http://schemas.openxmlformats.org/officeDocument/2006/relationships/image" Target="../media/image-6-3.sv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Asking Another Program for Data</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2176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Where does a bus app get the next arrival</a:t>
            </a:r>
            <a:endParaRPr lang="en-US" sz="3700" dirty="0"/>
          </a:p>
        </p:txBody>
      </p:sp>
      <p:sp>
        <p:nvSpPr>
          <p:cNvPr id="4" name="Shape 1"/>
          <p:cNvSpPr/>
          <p:nvPr/>
        </p:nvSpPr>
        <p:spPr>
          <a:xfrm>
            <a:off x="661475" y="268237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747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open the app, a number appears</a:t>
            </a:r>
            <a:endParaRPr lang="en-US" sz="1850" dirty="0"/>
          </a:p>
        </p:txBody>
      </p:sp>
      <p:sp>
        <p:nvSpPr>
          <p:cNvPr id="6" name="Shape 3"/>
          <p:cNvSpPr/>
          <p:nvPr/>
        </p:nvSpPr>
        <p:spPr>
          <a:xfrm>
            <a:off x="661475" y="348565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550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phone did not know that number</a:t>
            </a:r>
            <a:endParaRPr lang="en-US" sz="1850" dirty="0"/>
          </a:p>
        </p:txBody>
      </p:sp>
      <p:sp>
        <p:nvSpPr>
          <p:cNvPr id="8" name="Shape 5"/>
          <p:cNvSpPr/>
          <p:nvPr/>
        </p:nvSpPr>
        <p:spPr>
          <a:xfrm>
            <a:off x="661475" y="428892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asked a server, over the network</a:t>
            </a:r>
            <a:endParaRPr lang="en-US" sz="1850" dirty="0"/>
          </a:p>
        </p:txBody>
      </p:sp>
      <p:sp>
        <p:nvSpPr>
          <p:cNvPr id="10" name="Shape 7"/>
          <p:cNvSpPr/>
          <p:nvPr/>
        </p:nvSpPr>
        <p:spPr>
          <a:xfrm>
            <a:off x="661475" y="5092204"/>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51570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Today your program does the asking</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94902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steps, three types</a:t>
            </a:r>
            <a:endParaRPr lang="en-US" sz="3700" dirty="0"/>
          </a:p>
        </p:txBody>
      </p:sp>
      <p:pic>
        <p:nvPicPr>
          <p:cNvPr id="3" name="Image 0" descr="preencoded.png">    </p:cNvPr>
          <p:cNvPicPr>
            <a:picLocks noChangeAspect="1"/>
          </p:cNvPicPr>
          <p:nvPr/>
        </p:nvPicPr>
        <p:blipFill>
          <a:blip r:embed="rId1"/>
          <a:stretch>
            <a:fillRect/>
          </a:stretch>
        </p:blipFill>
        <p:spPr>
          <a:xfrm>
            <a:off x="1869830" y="1917700"/>
            <a:ext cx="8452035" cy="3868341"/>
          </a:xfrm>
          <a:prstGeom prst="rect">
            <a:avLst/>
          </a:prstGeom>
        </p:spPr>
      </p:pic>
      <p:sp>
        <p:nvSpPr>
          <p:cNvPr id="4" name="Text 1"/>
          <p:cNvSpPr/>
          <p:nvPr/>
        </p:nvSpPr>
        <p:spPr>
          <a:xfrm>
            <a:off x="8341606" y="4714587"/>
            <a:ext cx="1586817" cy="611375"/>
          </a:xfrm>
          <a:prstGeom prst="rect">
            <a:avLst/>
          </a:prstGeom>
          <a:noFill/>
          <a:ln/>
        </p:spPr>
        <p:txBody>
          <a:bodyPr wrap="square" lIns="0" tIns="0" rIns="0" bIns="0" rtlCol="0" anchor="t">
            <a:normAutofit/>
          </a:bodyPr>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Parse JSON</a:t>
            </a:r>
            <a:endParaRPr lang="en-US" sz="1900" dirty="0"/>
          </a:p>
        </p:txBody>
      </p:sp>
      <p:sp>
        <p:nvSpPr>
          <p:cNvPr id="5" name="Text 2"/>
          <p:cNvSpPr/>
          <p:nvPr/>
        </p:nvSpPr>
        <p:spPr>
          <a:xfrm>
            <a:off x="6341783" y="4867432"/>
            <a:ext cx="1586817" cy="305687"/>
          </a:xfrm>
          <a:prstGeom prst="rect">
            <a:avLst/>
          </a:prstGeom>
          <a:noFill/>
          <a:ln/>
        </p:spPr>
        <p:txBody>
          <a:bodyPr wrap="none" lIns="0" tIns="0" rIns="0" bIns="0" rtlCol="0" anchor="t"/>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Decode</a:t>
            </a:r>
            <a:endParaRPr lang="en-US" sz="1900" dirty="0"/>
          </a:p>
        </p:txBody>
      </p:sp>
      <p:sp>
        <p:nvSpPr>
          <p:cNvPr id="6" name="Text 3"/>
          <p:cNvSpPr/>
          <p:nvPr/>
        </p:nvSpPr>
        <p:spPr>
          <a:xfrm>
            <a:off x="4352827" y="4867432"/>
            <a:ext cx="1586817" cy="305687"/>
          </a:xfrm>
          <a:prstGeom prst="rect">
            <a:avLst/>
          </a:prstGeom>
          <a:noFill/>
          <a:ln/>
        </p:spPr>
        <p:txBody>
          <a:bodyPr wrap="none" lIns="0" tIns="0" rIns="0" bIns="0" rtlCol="0" anchor="t"/>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Read Body</a:t>
            </a:r>
            <a:endParaRPr lang="en-US" sz="1900" dirty="0"/>
          </a:p>
        </p:txBody>
      </p:sp>
      <p:sp>
        <p:nvSpPr>
          <p:cNvPr id="7" name="Text 4"/>
          <p:cNvSpPr/>
          <p:nvPr/>
        </p:nvSpPr>
        <p:spPr>
          <a:xfrm>
            <a:off x="2320397" y="4867432"/>
            <a:ext cx="1586817" cy="305687"/>
          </a:xfrm>
          <a:prstGeom prst="rect">
            <a:avLst/>
          </a:prstGeom>
          <a:noFill/>
          <a:ln/>
        </p:spPr>
        <p:txBody>
          <a:bodyPr wrap="none" lIns="0" tIns="0" rIns="0" bIns="0" rtlCol="0" anchor="t"/>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Open URL</a:t>
            </a:r>
            <a:endParaRPr lang="en-US" sz="190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three steps in code</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import json, urllib.request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opener = urllib.request.build_opener(urllib.request.ProxyHandler({}))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with opener.open("http://127.0.0.1:8070/api/v1/stations", timeout=5) as response: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raw = response.read()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print(type(raw))                      # &lt;class 'bytes'&gt;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data = json.loads(raw.decode("utf-8"))</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print(type(data))                     # &lt;class 'dict'&gt;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Now it is ordinary Python</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with opener.open(url + "/stations/north-field/observations", timeout=5) as response: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data = json.loads(response.read().decode("utf-8"))</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print(data["name"])                          # North Practice Field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print(data["observations"][0]["gust_mph"])   # 19</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198761"/>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Always set a timeout</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072878"/>
            <a:ext cx="6296860" cy="724098"/>
          </a:xfrm>
          <a:prstGeom prst="rect">
            <a:avLst/>
          </a:prstGeom>
        </p:spPr>
      </p:pic>
      <p:sp>
        <p:nvSpPr>
          <p:cNvPr id="5" name="Text 1"/>
          <p:cNvSpPr/>
          <p:nvPr/>
        </p:nvSpPr>
        <p:spPr>
          <a:xfrm>
            <a:off x="977479" y="228729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dead server can hang forever</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985988"/>
            <a:ext cx="6296860" cy="724098"/>
          </a:xfrm>
          <a:prstGeom prst="rect">
            <a:avLst/>
          </a:prstGeom>
        </p:spPr>
      </p:pic>
      <p:sp>
        <p:nvSpPr>
          <p:cNvPr id="7" name="Text 2"/>
          <p:cNvSpPr/>
          <p:nvPr/>
        </p:nvSpPr>
        <p:spPr>
          <a:xfrm>
            <a:off x="977479" y="320040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missing timeout freezes your program</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899098"/>
            <a:ext cx="6296860" cy="724098"/>
          </a:xfrm>
          <a:prstGeom prst="rect">
            <a:avLst/>
          </a:prstGeom>
        </p:spPr>
      </p:pic>
      <p:sp>
        <p:nvSpPr>
          <p:cNvPr id="9" name="Text 3"/>
          <p:cNvSpPr/>
          <p:nvPr/>
        </p:nvSpPr>
        <p:spPr>
          <a:xfrm>
            <a:off x="977479" y="411351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timeout=5 means give up after five seconds</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4812209"/>
            <a:ext cx="6296860" cy="724098"/>
          </a:xfrm>
          <a:prstGeom prst="rect">
            <a:avLst/>
          </a:prstGeom>
        </p:spPr>
      </p:pic>
      <p:sp>
        <p:nvSpPr>
          <p:cNvPr id="11" name="Text 4"/>
          <p:cNvSpPr/>
          <p:nvPr/>
        </p:nvSpPr>
        <p:spPr>
          <a:xfrm>
            <a:off x="977479" y="502662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This is an availability problem</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trap, a page that is not JSON</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with opener.open("http://127.0.0.1:8070/api/stations", timeout=5) as response: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data = json.loads(response.read().decode("utf-8"))</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34293"/>
            <a:ext cx="10868745" cy="489148"/>
          </a:xfrm>
          <a:prstGeom prst="rect">
            <a:avLst/>
          </a:prstGeom>
          <a:noFill/>
          <a:ln/>
        </p:spPr>
        <p:txBody>
          <a:bodyPr wrap="none" lIns="0" tIns="0" rIns="0" bIns="0" rtlCol="0" anchor="t"/>
          <a:lstStyle/>
          <a:p>
            <a:pPr algn="l" indent="0" marL="0">
              <a:lnSpc>
                <a:spcPct val="104000"/>
              </a:lnSpc>
              <a:buNone/>
            </a:pPr>
            <a:r>
              <a:rPr lang="en-US" sz="3050" b="1" dirty="0">
                <a:solidFill>
                  <a:srgbClr val="111111"/>
                </a:solidFill>
                <a:latin typeface="Orbitron Bold" pitchFamily="34" charset="0"/>
                <a:ea typeface="Orbitron Bold" pitchFamily="34" charset="-122"/>
                <a:cs typeface="Orbitron Bold" pitchFamily="34" charset="-120"/>
              </a:rPr>
              <a:t>Expecting value, column 1</a:t>
            </a:r>
            <a:endParaRPr lang="en-US" sz="3050" dirty="0"/>
          </a:p>
        </p:txBody>
      </p:sp>
      <p:sp>
        <p:nvSpPr>
          <p:cNvPr id="3" name="Shape 1"/>
          <p:cNvSpPr/>
          <p:nvPr/>
        </p:nvSpPr>
        <p:spPr>
          <a:xfrm>
            <a:off x="661475" y="1282700"/>
            <a:ext cx="10868745" cy="553244"/>
          </a:xfrm>
          <a:prstGeom prst="roundRect">
            <a:avLst>
              <a:gd name="adj" fmla="val 11883"/>
            </a:avLst>
          </a:prstGeom>
          <a:solidFill>
            <a:srgbClr val="FFB3B4"/>
          </a:solidFill>
          <a:ln/>
        </p:spPr>
      </p:sp>
      <p:pic>
        <p:nvPicPr>
          <p:cNvPr id="4" name="Image 0" descr="preencoded.png">    </p:cNvPr>
          <p:cNvPicPr>
            <a:picLocks noChangeAspect="1"/>
          </p:cNvPicPr>
          <p:nvPr/>
        </p:nvPicPr>
        <p:blipFill>
          <a:blip r:embed="rId1"/>
          <a:stretch>
            <a:fillRect/>
          </a:stretch>
        </p:blipFill>
        <p:spPr>
          <a:xfrm>
            <a:off x="817939" y="1466850"/>
            <a:ext cx="195654" cy="156468"/>
          </a:xfrm>
          <a:prstGeom prst="rect">
            <a:avLst/>
          </a:prstGeom>
        </p:spPr>
      </p:pic>
      <p:sp>
        <p:nvSpPr>
          <p:cNvPr id="5" name="Text 2"/>
          <p:cNvSpPr/>
          <p:nvPr/>
        </p:nvSpPr>
        <p:spPr>
          <a:xfrm>
            <a:off x="1170057" y="1451372"/>
            <a:ext cx="10813283" cy="228898"/>
          </a:xfrm>
          <a:prstGeom prst="rect">
            <a:avLst/>
          </a:prstGeom>
          <a:noFill/>
          <a:ln/>
        </p:spPr>
        <p:txBody>
          <a:bodyPr wrap="none" lIns="0" tIns="0" rIns="0" bIns="0" rtlCol="0" anchor="t"/>
          <a:lstStyle/>
          <a:p>
            <a:pPr algn="l" indent="0" marL="0">
              <a:lnSpc>
                <a:spcPct val="122000"/>
              </a:lnSpc>
              <a:buNone/>
            </a:pPr>
            <a:r>
              <a:rPr lang="en-US" sz="1200" dirty="0">
                <a:solidFill>
                  <a:srgbClr val="000000"/>
                </a:solidFill>
                <a:latin typeface="Roboto Condensed" pitchFamily="34" charset="0"/>
                <a:ea typeface="Roboto Condensed" pitchFamily="34" charset="-122"/>
                <a:cs typeface="Roboto Condensed" pitchFamily="34" charset="-120"/>
              </a:rPr>
              <a:t>json.decoder.JSONDecodeError: Expecting value: line 1 column 1 (char 0)</a:t>
            </a:r>
            <a:endParaRPr lang="en-US" sz="1200" dirty="0"/>
          </a:p>
        </p:txBody>
      </p:sp>
      <p:pic>
        <p:nvPicPr>
          <p:cNvPr id="6" name="Image 1" descr="preencoded.png">    </p:cNvPr>
          <p:cNvPicPr>
            <a:picLocks noChangeAspect="1"/>
          </p:cNvPicPr>
          <p:nvPr/>
        </p:nvPicPr>
        <p:blipFill>
          <a:blip r:embed="rId2"/>
          <a:stretch>
            <a:fillRect/>
          </a:stretch>
        </p:blipFill>
        <p:spPr>
          <a:xfrm>
            <a:off x="661475" y="2127448"/>
            <a:ext cx="6931050" cy="3927673"/>
          </a:xfrm>
          <a:prstGeom prst="rect">
            <a:avLst/>
          </a:prstGeom>
        </p:spPr>
      </p:pic>
      <p:sp>
        <p:nvSpPr>
          <p:cNvPr id="7" name="Text 3"/>
          <p:cNvSpPr/>
          <p:nvPr/>
        </p:nvSpPr>
        <p:spPr>
          <a:xfrm>
            <a:off x="7980659" y="3457575"/>
            <a:ext cx="3555812" cy="1267420"/>
          </a:xfrm>
          <a:prstGeom prst="rect">
            <a:avLst/>
          </a:prstGeom>
          <a:noFill/>
          <a:ln/>
        </p:spPr>
        <p:txBody>
          <a:bodyPr wrap="square" lIns="0" tIns="0" rIns="0" bIns="0" rtlCol="0" anchor="t">
            <a:normAutofit/>
          </a:bodyPr>
          <a:lstStyle/>
          <a:p>
            <a:pPr algn="l" indent="0" marL="0">
              <a:lnSpc>
                <a:spcPct val="122000"/>
              </a:lnSpc>
              <a:spcAft>
                <a:spcPts val="900"/>
              </a:spcAft>
              <a:buNone/>
            </a:pPr>
            <a:r>
              <a:rPr lang="en-US" sz="1200" dirty="0">
                <a:solidFill>
                  <a:srgbClr val="1C1C1C"/>
                </a:solidFill>
                <a:latin typeface="Roboto Condensed" pitchFamily="34" charset="0"/>
                <a:ea typeface="Roboto Condensed" pitchFamily="34" charset="-122"/>
                <a:cs typeface="Roboto Condensed" pitchFamily="34" charset="-120"/>
              </a:rPr>
              <a:t>This error appears when </a:t>
            </a:r>
            <a:pPr algn="l" indent="0" marL="0">
              <a:lnSpc>
                <a:spcPct val="122000"/>
              </a:lnSpc>
              <a:spcAft>
                <a:spcPts val="900"/>
              </a:spcAft>
              <a:buNone/>
            </a:pPr>
            <a:r>
              <a:rPr lang="en-US" sz="1200" dirty="0">
                <a:solidFill>
                  <a:srgbClr val="1C1C1C"/>
                </a:solidFill>
                <a:highlight>
                  <a:srgbClr val="F2F2F2"/>
                </a:highlight>
                <a:latin typeface="Consolas" pitchFamily="34" charset="0"/>
                <a:ea typeface="Consolas" pitchFamily="34" charset="-122"/>
                <a:cs typeface="Consolas" pitchFamily="34" charset="-120"/>
              </a:rPr>
              <a:t>json.loads</a:t>
            </a:r>
            <a:pPr algn="l" indent="0" marL="0">
              <a:lnSpc>
                <a:spcPct val="122000"/>
              </a:lnSpc>
              <a:spcAft>
                <a:spcPts val="900"/>
              </a:spcAft>
              <a:buNone/>
            </a:pPr>
            <a:r>
              <a:rPr lang="en-US" sz="1200" dirty="0">
                <a:solidFill>
                  <a:srgbClr val="1C1C1C"/>
                </a:solidFill>
                <a:latin typeface="Roboto Condensed" pitchFamily="34" charset="0"/>
                <a:ea typeface="Roboto Condensed" pitchFamily="34" charset="-122"/>
                <a:cs typeface="Roboto Condensed" pitchFamily="34" charset="-120"/>
              </a:rPr>
              <a:t> receives content that is not valid JSON.</a:t>
            </a:r>
            <a:endParaRPr lang="en-US" sz="1200" dirty="0"/>
          </a:p>
          <a:p>
            <a:pPr algn="l" indent="0" marL="0">
              <a:lnSpc>
                <a:spcPct val="122000"/>
              </a:lnSpc>
              <a:buNone/>
            </a:pPr>
            <a:r>
              <a:rPr lang="en-US" sz="1200" dirty="0">
                <a:solidFill>
                  <a:srgbClr val="1C1C1C"/>
                </a:solidFill>
                <a:latin typeface="Roboto Condensed" pitchFamily="34" charset="0"/>
                <a:ea typeface="Roboto Condensed" pitchFamily="34" charset="-122"/>
                <a:cs typeface="Roboto Condensed" pitchFamily="34" charset="-120"/>
              </a:rPr>
              <a:t>A wrong URL may return an HTML error page. The decoder sees angle brackets, not JSON, and fails immediately at character zero.</a:t>
            </a:r>
            <a:endParaRPr lang="en-US" sz="1200" dirty="0"/>
          </a:p>
        </p:txBody>
      </p:sp>
      <p:sp>
        <p:nvSpPr>
          <p:cNvPr id="8"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288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Reply is not the same as data</a:t>
            </a:r>
            <a:endParaRPr lang="en-US" sz="3700" dirty="0"/>
          </a:p>
        </p:txBody>
      </p:sp>
      <p:sp>
        <p:nvSpPr>
          <p:cNvPr id="4" name="Shape 1"/>
          <p:cNvSpPr/>
          <p:nvPr/>
        </p:nvSpPr>
        <p:spPr>
          <a:xfrm>
            <a:off x="5233360" y="2393652"/>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5441417" y="260171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Getting a reply is not getting your data</a:t>
            </a:r>
            <a:endParaRPr lang="en-US" sz="1850" dirty="0"/>
          </a:p>
        </p:txBody>
      </p:sp>
      <p:sp>
        <p:nvSpPr>
          <p:cNvPr id="6" name="Shape 3"/>
          <p:cNvSpPr/>
          <p:nvPr/>
        </p:nvSpPr>
        <p:spPr>
          <a:xfrm>
            <a:off x="5233360" y="3294063"/>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5441417" y="350212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wrong address returns a real reply</a:t>
            </a:r>
            <a:endParaRPr lang="en-US" sz="1850" dirty="0"/>
          </a:p>
        </p:txBody>
      </p:sp>
      <p:sp>
        <p:nvSpPr>
          <p:cNvPr id="8" name="Shape 5"/>
          <p:cNvSpPr/>
          <p:nvPr/>
        </p:nvSpPr>
        <p:spPr>
          <a:xfrm>
            <a:off x="5233360" y="4194473"/>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5441417" y="440253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login page returns a real reply</a:t>
            </a:r>
            <a:endParaRPr lang="en-US" sz="1850" dirty="0"/>
          </a:p>
        </p:txBody>
      </p:sp>
      <p:sp>
        <p:nvSpPr>
          <p:cNvPr id="10" name="Shape 7"/>
          <p:cNvSpPr/>
          <p:nvPr/>
        </p:nvSpPr>
        <p:spPr>
          <a:xfrm>
            <a:off x="5233360" y="5094883"/>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5441417" y="530294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Check what you got, do not assume</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27436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Standard library only</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243038"/>
            <a:ext cx="472468" cy="472480"/>
          </a:xfrm>
          <a:prstGeom prst="rect">
            <a:avLst/>
          </a:prstGeom>
        </p:spPr>
      </p:pic>
      <p:sp>
        <p:nvSpPr>
          <p:cNvPr id="4" name="Text 1"/>
          <p:cNvSpPr/>
          <p:nvPr/>
        </p:nvSpPr>
        <p:spPr>
          <a:xfrm>
            <a:off x="661475" y="2951758"/>
            <a:ext cx="53162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urllib.request</a:t>
            </a:r>
            <a:endParaRPr lang="en-US" sz="1850" dirty="0"/>
          </a:p>
        </p:txBody>
      </p:sp>
      <p:sp>
        <p:nvSpPr>
          <p:cNvPr id="5" name="Text 2"/>
          <p:cNvSpPr/>
          <p:nvPr/>
        </p:nvSpPr>
        <p:spPr>
          <a:xfrm>
            <a:off x="661475" y="3360440"/>
            <a:ext cx="53162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Sends the request</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13915" y="2243038"/>
            <a:ext cx="472468" cy="472480"/>
          </a:xfrm>
          <a:prstGeom prst="rect">
            <a:avLst/>
          </a:prstGeom>
        </p:spPr>
      </p:pic>
      <p:sp>
        <p:nvSpPr>
          <p:cNvPr id="7" name="Text 3"/>
          <p:cNvSpPr/>
          <p:nvPr/>
        </p:nvSpPr>
        <p:spPr>
          <a:xfrm>
            <a:off x="6213915" y="2951758"/>
            <a:ext cx="531630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json</a:t>
            </a:r>
            <a:endParaRPr lang="en-US" sz="1850" dirty="0"/>
          </a:p>
        </p:txBody>
      </p:sp>
      <p:sp>
        <p:nvSpPr>
          <p:cNvPr id="8" name="Text 4"/>
          <p:cNvSpPr/>
          <p:nvPr/>
        </p:nvSpPr>
        <p:spPr>
          <a:xfrm>
            <a:off x="6213915" y="3360440"/>
            <a:ext cx="5316305"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Parses the reply</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040882"/>
            <a:ext cx="472468" cy="472480"/>
          </a:xfrm>
          <a:prstGeom prst="rect">
            <a:avLst/>
          </a:prstGeom>
        </p:spPr>
      </p:pic>
      <p:sp>
        <p:nvSpPr>
          <p:cNvPr id="10" name="Text 5"/>
          <p:cNvSpPr/>
          <p:nvPr/>
        </p:nvSpPr>
        <p:spPr>
          <a:xfrm>
            <a:off x="661475" y="4749602"/>
            <a:ext cx="53162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Nothing to install</a:t>
            </a:r>
            <a:endParaRPr lang="en-US" sz="1850" dirty="0"/>
          </a:p>
        </p:txBody>
      </p:sp>
      <p:sp>
        <p:nvSpPr>
          <p:cNvPr id="11" name="Text 6"/>
          <p:cNvSpPr/>
          <p:nvPr/>
        </p:nvSpPr>
        <p:spPr>
          <a:xfrm>
            <a:off x="661475" y="5158284"/>
            <a:ext cx="53162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 extra packages needed</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13915" y="4040882"/>
            <a:ext cx="472468" cy="472480"/>
          </a:xfrm>
          <a:prstGeom prst="rect">
            <a:avLst/>
          </a:prstGeom>
        </p:spPr>
      </p:pic>
      <p:sp>
        <p:nvSpPr>
          <p:cNvPr id="13" name="Text 7"/>
          <p:cNvSpPr/>
          <p:nvPr/>
        </p:nvSpPr>
        <p:spPr>
          <a:xfrm>
            <a:off x="6213915" y="4749602"/>
            <a:ext cx="5316305"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Works on any lab machine</a:t>
            </a:r>
            <a:endParaRPr lang="en-US" sz="1850" dirty="0"/>
          </a:p>
        </p:txBody>
      </p:sp>
      <p:sp>
        <p:nvSpPr>
          <p:cNvPr id="14" name="Text 8"/>
          <p:cNvSpPr/>
          <p:nvPr/>
        </p:nvSpPr>
        <p:spPr>
          <a:xfrm>
            <a:off x="6213915" y="5158284"/>
            <a:ext cx="5316305"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Available everywhere Python is</a:t>
            </a:r>
            <a:endParaRPr lang="en-US" sz="1450" dirty="0"/>
          </a:p>
        </p:txBody>
      </p:sp>
      <p:sp>
        <p:nvSpPr>
          <p:cNvPr id="15"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9551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2060277"/>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661475" y="2356148"/>
            <a:ext cx="6296860" cy="25400"/>
          </a:xfrm>
          <a:prstGeom prst="rect">
            <a:avLst/>
          </a:prstGeom>
          <a:solidFill>
            <a:srgbClr val="57A1EB"/>
          </a:solidFill>
          <a:ln/>
        </p:spPr>
      </p:sp>
      <p:sp>
        <p:nvSpPr>
          <p:cNvPr id="6" name="Text 3"/>
          <p:cNvSpPr/>
          <p:nvPr/>
        </p:nvSpPr>
        <p:spPr>
          <a:xfrm>
            <a:off x="661475" y="2501404"/>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Start the weather station fixture</a:t>
            </a:r>
            <a:endParaRPr lang="en-US" sz="1850" dirty="0"/>
          </a:p>
        </p:txBody>
      </p:sp>
      <p:sp>
        <p:nvSpPr>
          <p:cNvPr id="7" name="Text 4"/>
          <p:cNvSpPr/>
          <p:nvPr/>
        </p:nvSpPr>
        <p:spPr>
          <a:xfrm>
            <a:off x="661475" y="312737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661475" y="3423245"/>
            <a:ext cx="6296860" cy="25400"/>
          </a:xfrm>
          <a:prstGeom prst="rect">
            <a:avLst/>
          </a:prstGeom>
          <a:solidFill>
            <a:srgbClr val="57A1EB"/>
          </a:solidFill>
          <a:ln/>
        </p:spPr>
      </p:sp>
      <p:sp>
        <p:nvSpPr>
          <p:cNvPr id="9" name="Text 6"/>
          <p:cNvSpPr/>
          <p:nvPr/>
        </p:nvSpPr>
        <p:spPr>
          <a:xfrm>
            <a:off x="661475" y="3568502"/>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get_json and read the stations</a:t>
            </a:r>
            <a:endParaRPr lang="en-US" sz="1850" dirty="0"/>
          </a:p>
        </p:txBody>
      </p:sp>
      <p:sp>
        <p:nvSpPr>
          <p:cNvPr id="10" name="Text 7"/>
          <p:cNvSpPr/>
          <p:nvPr/>
        </p:nvSpPr>
        <p:spPr>
          <a:xfrm>
            <a:off x="661475" y="419447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661475" y="4490343"/>
            <a:ext cx="6296860" cy="25400"/>
          </a:xfrm>
          <a:prstGeom prst="rect">
            <a:avLst/>
          </a:prstGeom>
          <a:solidFill>
            <a:srgbClr val="57A1EB"/>
          </a:solidFill>
          <a:ln/>
        </p:spPr>
      </p:sp>
      <p:sp>
        <p:nvSpPr>
          <p:cNvPr id="12" name="Text 9"/>
          <p:cNvSpPr/>
          <p:nvPr/>
        </p:nvSpPr>
        <p:spPr>
          <a:xfrm>
            <a:off x="661475" y="4635599"/>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decide for a calm and a windy reading</a:t>
            </a:r>
            <a:endParaRPr lang="en-US" sz="1850" dirty="0"/>
          </a:p>
        </p:txBody>
      </p:sp>
      <p:sp>
        <p:nvSpPr>
          <p:cNvPr id="13" name="Text 10"/>
          <p:cNvSpPr/>
          <p:nvPr/>
        </p:nvSpPr>
        <p:spPr>
          <a:xfrm>
            <a:off x="661475" y="526157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4" name="Shape 11"/>
          <p:cNvSpPr/>
          <p:nvPr/>
        </p:nvSpPr>
        <p:spPr>
          <a:xfrm>
            <a:off x="661475" y="5557441"/>
            <a:ext cx="6296860" cy="25400"/>
          </a:xfrm>
          <a:prstGeom prst="rect">
            <a:avLst/>
          </a:prstGeom>
          <a:solidFill>
            <a:srgbClr val="57A1EB"/>
          </a:solidFill>
          <a:ln/>
        </p:spPr>
      </p:sp>
      <p:sp>
        <p:nvSpPr>
          <p:cNvPr id="15" name="Text 12"/>
          <p:cNvSpPr/>
          <p:nvPr/>
        </p:nvSpPr>
        <p:spPr>
          <a:xfrm>
            <a:off x="661475" y="5702697"/>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Pass the Part 1 tests</a:t>
            </a:r>
            <a:endParaRPr lang="en-US" sz="185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2026-09-14T20:08:05Z</dcterms:created>
  <dcterms:modified xsi:type="dcterms:W3CDTF">2026-09-14T20:08:05Z</dcterms:modified>
</cp:coreProperties>
</file>