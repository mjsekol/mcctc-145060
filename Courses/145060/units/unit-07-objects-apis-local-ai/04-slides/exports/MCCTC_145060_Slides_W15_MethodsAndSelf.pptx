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today's puzzle. You have two gear objects. You call check_out on one. Somehow it changes that one and leaves the other alone. How does the method know which object it belongs to. The answer is self, and by the end of class it will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is a function that lives on a class. Its first parameter is self. When you call pad dot check_out, Python takes pad, the object before the dot, and hands it to the method as self. You never type it yourself. Python fills it in from whatever is before the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method. It reads self dot borrower to check the rule, then writes self dot borrower to record the loan. Everything about the object is reached through self. The rule about being already loaned lives right here, next to the data it protects.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that makes self click. I called check_out on first, so self was first, so only first changed. Second was never touched. The same method on second would change second instead. That is the entire meaning of self, the specific object before the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do not have to change anything. is_available only reads the object's own state and returns True or False. It still takes self, because it needs to see the object's own data. Two objects, two different answers, from one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method does not use the object, so it feels like it should not need self. Watch what Python says when I call it. The error is going to talk about arguments, and the number will be confusing until you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argument I supposedly gave is the object itself. Python always hands the object to the method, and label had no parameter to catch it because I left out self. The fix is def label with self in the parentheses. Every method's first parameter is self, even when the method ignores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is tempting because label never touches the object, so self looks like clutter. But Python does not know that. It passes the object to every method, used or not, so every definition needs self first. A method that ignores its object still has to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reading a call. Locker dot check_out with two strings. Self is locker, the object before the dot. The two strings become tag and borrower, the parameters after self. Being able to say this for any call is the whole skill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writing the four methods on Gear. Build two proves self with two objects and finishes the broken-gear and already-out cases. Run the Part 2 tests until all six pass. Tomorrow the locker holds these gears.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Methods and self</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does a method know which object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two gear objects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call check_out on one of them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How does it change that one, not both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answer is one small word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48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method is a function on a class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17490"/>
            <a:ext cx="5339820" cy="1139924"/>
          </a:xfrm>
          <a:prstGeom prst="rect">
            <a:avLst/>
          </a:prstGeom>
        </p:spPr>
      </p:pic>
      <p:sp>
        <p:nvSpPr>
          <p:cNvPr id="4" name="Text 1"/>
          <p:cNvSpPr/>
          <p:nvPr/>
        </p:nvSpPr>
        <p:spPr>
          <a:xfrm>
            <a:off x="977479" y="283190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First parameter</a:t>
            </a:r>
            <a:endParaRPr lang="en-US" sz="1850" dirty="0"/>
          </a:p>
        </p:txBody>
      </p:sp>
      <p:sp>
        <p:nvSpPr>
          <p:cNvPr id="5" name="Text 2"/>
          <p:cNvSpPr/>
          <p:nvPr/>
        </p:nvSpPr>
        <p:spPr>
          <a:xfrm>
            <a:off x="977479" y="3240584"/>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Its first parameter is always self</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617490"/>
            <a:ext cx="5339919" cy="1139924"/>
          </a:xfrm>
          <a:prstGeom prst="rect">
            <a:avLst/>
          </a:prstGeom>
        </p:spPr>
      </p:pic>
      <p:sp>
        <p:nvSpPr>
          <p:cNvPr id="7" name="Text 3"/>
          <p:cNvSpPr/>
          <p:nvPr/>
        </p:nvSpPr>
        <p:spPr>
          <a:xfrm>
            <a:off x="6506305" y="283190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self is</a:t>
            </a:r>
            <a:endParaRPr lang="en-US" sz="1850" dirty="0"/>
          </a:p>
        </p:txBody>
      </p:sp>
      <p:sp>
        <p:nvSpPr>
          <p:cNvPr id="8" name="Text 4"/>
          <p:cNvSpPr/>
          <p:nvPr/>
        </p:nvSpPr>
        <p:spPr>
          <a:xfrm>
            <a:off x="6506305" y="3240584"/>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self is the object it was called on</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139924"/>
          </a:xfrm>
          <a:prstGeom prst="rect">
            <a:avLst/>
          </a:prstGeom>
        </p:spPr>
      </p:pic>
      <p:sp>
        <p:nvSpPr>
          <p:cNvPr id="10" name="Text 5"/>
          <p:cNvSpPr/>
          <p:nvPr/>
        </p:nvSpPr>
        <p:spPr>
          <a:xfrm>
            <a:off x="977479" y="4160838"/>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At the call</a:t>
            </a:r>
            <a:endParaRPr lang="en-US" sz="1850" dirty="0"/>
          </a:p>
        </p:txBody>
      </p:sp>
      <p:sp>
        <p:nvSpPr>
          <p:cNvPr id="11" name="Text 6"/>
          <p:cNvSpPr/>
          <p:nvPr/>
        </p:nvSpPr>
        <p:spPr>
          <a:xfrm>
            <a:off x="977479" y="4569520"/>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never type self at the call</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139924"/>
          </a:xfrm>
          <a:prstGeom prst="rect">
            <a:avLst/>
          </a:prstGeom>
        </p:spPr>
      </p:pic>
      <p:sp>
        <p:nvSpPr>
          <p:cNvPr id="13" name="Text 7"/>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Python fills it in</a:t>
            </a:r>
            <a:endParaRPr lang="en-US" sz="1850" dirty="0"/>
          </a:p>
        </p:txBody>
      </p:sp>
      <p:sp>
        <p:nvSpPr>
          <p:cNvPr id="14" name="Text 8"/>
          <p:cNvSpPr/>
          <p:nvPr/>
        </p:nvSpPr>
        <p:spPr>
          <a:xfrm>
            <a:off x="6506305" y="4569520"/>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Python fills it in from before the dot</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method that changes its object</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__init__(self,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self.tag =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self.borrower = None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check_out(self, borrower):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self.borrower is not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f"{self.tag} is already out with {self.borrower}."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self.borrower = borrower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f"{self.tag} is now out with {borrower}."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objects prove what self is</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 = Gear("CTRL-01")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second = Gear("CTRL-02")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first.check_out("NovaFox")</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print(first.borrower)     # NovaFox</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print(second.borrower)    # None</a:t>
            </a:r>
            <a:endParaRPr lang="en-US" sz="1450" dirty="0"/>
          </a:p>
        </p:txBody>
      </p:sp>
      <p:sp>
        <p:nvSpPr>
          <p:cNvPr id="5" name="Text 3"/>
          <p:cNvSpPr/>
          <p:nvPr/>
        </p:nvSpPr>
        <p:spPr>
          <a:xfrm>
            <a:off x="6332776" y="2835970"/>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What this shows</a:t>
            </a:r>
            <a:endParaRPr lang="en-US" sz="1850" dirty="0"/>
          </a:p>
        </p:txBody>
      </p:sp>
      <p:sp>
        <p:nvSpPr>
          <p:cNvPr id="6" name="Text 4"/>
          <p:cNvSpPr/>
          <p:nvPr/>
        </p:nvSpPr>
        <p:spPr>
          <a:xfrm>
            <a:off x="6332776" y="3320256"/>
            <a:ext cx="5203794" cy="1096367"/>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Calling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check_out</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on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first</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sets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first.borrower</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 to </a:t>
            </a:r>
            <a:pPr algn="l" indent="0" marL="0">
              <a:lnSpc>
                <a:spcPct val="133000"/>
              </a:lnSpc>
              <a:spcAft>
                <a:spcPts val="130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NovaFox</a:t>
            </a:r>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a:t>
            </a:r>
            <a:endParaRPr lang="en-US" sz="1450" dirty="0"/>
          </a:p>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second.borrower</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remains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None</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because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self</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pointed only at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first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 methods only report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every method changes the object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 only answer a question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is_available reads, does not write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Still takes self, to see its own data</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forget self</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__init__(self,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self.tag =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label():               # WRONG: no self</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"gear"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Gear("CTRL-01").label()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5551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takes 0 but got 1</a:t>
            </a:r>
            <a:endParaRPr lang="en-US" sz="3700" dirty="0"/>
          </a:p>
        </p:txBody>
      </p:sp>
      <p:sp>
        <p:nvSpPr>
          <p:cNvPr id="3" name="Shape 1"/>
          <p:cNvSpPr/>
          <p:nvPr/>
        </p:nvSpPr>
        <p:spPr>
          <a:xfrm>
            <a:off x="661475" y="3024188"/>
            <a:ext cx="10868745" cy="680442"/>
          </a:xfrm>
          <a:prstGeom prst="roundRect">
            <a:avLst>
              <a:gd name="adj" fmla="val 11667"/>
            </a:avLst>
          </a:prstGeom>
          <a:solidFill>
            <a:srgbClr val="F2F2F2"/>
          </a:solidFill>
          <a:ln/>
        </p:spPr>
      </p:sp>
      <p:sp>
        <p:nvSpPr>
          <p:cNvPr id="4" name="Text 2"/>
          <p:cNvSpPr/>
          <p:nvPr/>
        </p:nvSpPr>
        <p:spPr>
          <a:xfrm>
            <a:off x="888283" y="3213199"/>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6F42C1"/>
                </a:solidFill>
                <a:latin typeface="Consolas" pitchFamily="34" charset="0"/>
                <a:ea typeface="Consolas" pitchFamily="34" charset="-122"/>
                <a:cs typeface="Consolas" pitchFamily="34" charset="-120"/>
              </a:rPr>
              <a:t>TypeError: Gear.label() takes 0 positional arguments but 1 was given</a:t>
            </a:r>
            <a:endParaRPr lang="en-US" sz="1450" dirty="0"/>
          </a:p>
        </p:txBody>
      </p:sp>
      <p:sp>
        <p:nvSpPr>
          <p:cNvPr id="5" name="Shape 3"/>
          <p:cNvSpPr/>
          <p:nvPr/>
        </p:nvSpPr>
        <p:spPr>
          <a:xfrm>
            <a:off x="661475" y="3917255"/>
            <a:ext cx="10868745" cy="762298"/>
          </a:xfrm>
          <a:prstGeom prst="roundRect">
            <a:avLst>
              <a:gd name="adj" fmla="val 10414"/>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184948"/>
            <a:ext cx="236234" cy="189012"/>
          </a:xfrm>
          <a:prstGeom prst="rect">
            <a:avLst/>
          </a:prstGeom>
        </p:spPr>
      </p:pic>
      <p:sp>
        <p:nvSpPr>
          <p:cNvPr id="7" name="Text 4"/>
          <p:cNvSpPr/>
          <p:nvPr/>
        </p:nvSpPr>
        <p:spPr>
          <a:xfrm>
            <a:off x="1275723" y="4153495"/>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This error always means a method is missing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self</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as its first parameter.</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forgetting self is tempting</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label does not use the object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self feels unnecessary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But Python passes it anyway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method must accept it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9991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a call out loud</a:t>
            </a:r>
            <a:endParaRPr lang="en-US" sz="3700" dirty="0"/>
          </a:p>
        </p:txBody>
      </p:sp>
      <p:pic>
        <p:nvPicPr>
          <p:cNvPr id="3" name="Image 0" descr="preencoded.png">    </p:cNvPr>
          <p:cNvPicPr>
            <a:picLocks noChangeAspect="1"/>
          </p:cNvPicPr>
          <p:nvPr/>
        </p:nvPicPr>
        <p:blipFill>
          <a:blip r:embed="rId1"/>
          <a:stretch>
            <a:fillRect/>
          </a:stretch>
        </p:blipFill>
        <p:spPr>
          <a:xfrm>
            <a:off x="661475" y="2668588"/>
            <a:ext cx="3622882" cy="756047"/>
          </a:xfrm>
          <a:prstGeom prst="rect">
            <a:avLst/>
          </a:prstGeom>
        </p:spPr>
      </p:pic>
      <p:sp>
        <p:nvSpPr>
          <p:cNvPr id="4" name="Text 1"/>
          <p:cNvSpPr/>
          <p:nvPr/>
        </p:nvSpPr>
        <p:spPr>
          <a:xfrm>
            <a:off x="850482" y="3613646"/>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locker</a:t>
            </a:r>
            <a:endParaRPr lang="en-US" sz="1850" dirty="0"/>
          </a:p>
        </p:txBody>
      </p:sp>
      <p:sp>
        <p:nvSpPr>
          <p:cNvPr id="5" name="Text 2"/>
          <p:cNvSpPr/>
          <p:nvPr/>
        </p:nvSpPr>
        <p:spPr>
          <a:xfrm>
            <a:off x="850482" y="4022328"/>
            <a:ext cx="324486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self is locker, before the dot</a:t>
            </a:r>
            <a:endParaRPr lang="en-US" sz="1450" dirty="0"/>
          </a:p>
        </p:txBody>
      </p:sp>
      <p:pic>
        <p:nvPicPr>
          <p:cNvPr id="6" name="Image 1" descr="preencoded.png">    </p:cNvPr>
          <p:cNvPicPr>
            <a:picLocks noChangeAspect="1"/>
          </p:cNvPicPr>
          <p:nvPr/>
        </p:nvPicPr>
        <p:blipFill>
          <a:blip r:embed="rId2"/>
          <a:stretch>
            <a:fillRect/>
          </a:stretch>
        </p:blipFill>
        <p:spPr>
          <a:xfrm>
            <a:off x="4284357" y="2668588"/>
            <a:ext cx="3622882" cy="756047"/>
          </a:xfrm>
          <a:prstGeom prst="rect">
            <a:avLst/>
          </a:prstGeom>
        </p:spPr>
      </p:pic>
      <p:sp>
        <p:nvSpPr>
          <p:cNvPr id="7" name="Text 3"/>
          <p:cNvSpPr/>
          <p:nvPr/>
        </p:nvSpPr>
        <p:spPr>
          <a:xfrm>
            <a:off x="4473364" y="3613646"/>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"CTRL-01"</a:t>
            </a:r>
            <a:endParaRPr lang="en-US" sz="1850" dirty="0"/>
          </a:p>
        </p:txBody>
      </p:sp>
      <p:sp>
        <p:nvSpPr>
          <p:cNvPr id="8" name="Text 4"/>
          <p:cNvSpPr/>
          <p:nvPr/>
        </p:nvSpPr>
        <p:spPr>
          <a:xfrm>
            <a:off x="4473364" y="4022328"/>
            <a:ext cx="324486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tag is "CTRL-01"</a:t>
            </a:r>
            <a:endParaRPr lang="en-US" sz="1450" dirty="0"/>
          </a:p>
        </p:txBody>
      </p:sp>
      <p:pic>
        <p:nvPicPr>
          <p:cNvPr id="9" name="Image 2" descr="preencoded.png">    </p:cNvPr>
          <p:cNvPicPr>
            <a:picLocks noChangeAspect="1"/>
          </p:cNvPicPr>
          <p:nvPr/>
        </p:nvPicPr>
        <p:blipFill>
          <a:blip r:embed="rId3"/>
          <a:stretch>
            <a:fillRect/>
          </a:stretch>
        </p:blipFill>
        <p:spPr>
          <a:xfrm>
            <a:off x="7907239" y="2668588"/>
            <a:ext cx="3622882" cy="756047"/>
          </a:xfrm>
          <a:prstGeom prst="rect">
            <a:avLst/>
          </a:prstGeom>
        </p:spPr>
      </p:pic>
      <p:sp>
        <p:nvSpPr>
          <p:cNvPr id="10" name="Text 5"/>
          <p:cNvSpPr/>
          <p:nvPr/>
        </p:nvSpPr>
        <p:spPr>
          <a:xfrm>
            <a:off x="8096246" y="3613646"/>
            <a:ext cx="324486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"NovaFox"</a:t>
            </a:r>
            <a:endParaRPr lang="en-US" sz="1850" dirty="0"/>
          </a:p>
        </p:txBody>
      </p:sp>
      <p:sp>
        <p:nvSpPr>
          <p:cNvPr id="11" name="Text 6"/>
          <p:cNvSpPr/>
          <p:nvPr/>
        </p:nvSpPr>
        <p:spPr>
          <a:xfrm>
            <a:off x="8096246" y="4022328"/>
            <a:ext cx="3244868"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borrower is "NovaFox"</a:t>
            </a:r>
            <a:endParaRPr lang="en-US" sz="1450" dirty="0"/>
          </a:p>
        </p:txBody>
      </p:sp>
      <p:sp>
        <p:nvSpPr>
          <p:cNvPr id="12" name="Text 7"/>
          <p:cNvSpPr/>
          <p:nvPr/>
        </p:nvSpPr>
        <p:spPr>
          <a:xfrm>
            <a:off x="661475" y="4726384"/>
            <a:ext cx="11478330"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locker.check_out("CTRL-01", "NovaFox")</a:t>
            </a:r>
            <a:endParaRPr lang="en-US" sz="1450" dirty="0"/>
          </a:p>
        </p:txBody>
      </p:sp>
      <p:sp>
        <p:nvSpPr>
          <p:cNvPr id="13"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is_available and check_out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check_in and label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Prove self with two objects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Pass the Part 2 tests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2026-09-14T20:05:04Z</dcterms:created>
  <dcterms:modified xsi:type="dcterms:W3CDTF">2026-09-14T20:05:04Z</dcterms:modified>
</cp:coreProperties>
</file>