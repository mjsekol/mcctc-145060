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embeddedFontLst>
    <p:embeddedFont>
      <p:font typeface="Orbitron Bold"/>
      <p:regular r:id="rId201314"/>
    </p:embeddedFont>
    <p:embeddedFont>
      <p:font typeface="Roboto Condensed Bold"/>
      <p:regular r:id="rId201315"/>
    </p:embeddedFont>
    <p:embeddedFont>
      <p:font typeface="Roboto Condensed"/>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two weeks you have written decisions. Every question your Decision Engine asks, you chose. Every cutoff, you typed. Now think about the app that picks your next song. Nobody at that company wrote an if statement about you. Today is not about which one is smarter. It is about a mechanism you can check. Where do the rules come from, and what happens when they are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kind of program you have been writing. Why is the cutoff 120? Because I picked 120. If I am wrong about what makes a workout song, the program is wrong in exactly the same way every time, and you can point at the line. A loud slow rock song at 100 beats per minute with energy 9 goes to Chill, because my rule said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machine learning, a person does not write the rules. Somebody collects songs a listener already labeled workout or chill. A training process adjusts the model until its answers match those labels as often as it can. Here is the honest complication. A training process can build a decision tree too. So the difference is not the shape. The difference is who chose the questions and the cutoffs, a person or a process working from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neural network has no questions in it at all. It is made of small units like this one. Multiply each input by a weight, add them up, compare to a threshold. Tempo weight is 0.05, energy weight is 0.2, threshold is 8. There is no rule about 120 beats per minute anywhere. This neuron is untrained, which is why it put a fast energetic song in Chill.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at what is missing. There is no line that says fast songs are workout songs. The inputs are blended, so a calm fast song and a wild slow song can land on the same score. And the weights are not meaningful to a person. A real neural network has many of these units in layers. The reason for any single answer is spread across all of those numbers at once, which is exactly why it is hard to say why it decided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training, one step, by hand. The loud slow song was labeled workout, which we write as 1. The neuron said 0. The error is 1. Nudge each weight a little in the direction that would have helped. Now that song scores above 8 and becomes workout, and the slow quiet song we already had right is still under 8. Nobody typed a rule. Two numbers moved. Real training repeats this over many examples, which needs loops, and loops are Thursday.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changed one number, the learning rate, from 0.0005 to 0.001. No error. The slow quiet song is now a workout song. The step was too big, so the neuron fixed the example it was shown and broke one it already had right. Tenth time you have seen a program run cleanly and be wrong. And this time there is no line to point at. The only way to catch it is to test the model on examples it was never trained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Training sounds objective. The computer figured it out from the data. But a model can only learn what the examples contain. If one person with unusual taste labeled every song, the model learned that person. If the examples left out a whole kind of music, the model has never met it. You used the AI evaluation rubric in Week 2. Potential bias is exactly this, and now you know the mechanism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real disagreement and both sides are strong. Hand-written rules can be read, explained to the person affected, and fixed on a specific line, and they need no data. Learned models can handle problems nobody can write rules for, like recognizing a face, and can be retrained when the world changes. Knowing which situation you are in is the skill. Your quiz today will not ask which is better. It will ask how they differ.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1 is the Unit 2 quiz. Build 2 is the last block for the Decision Engine. Finish, push, and demo in your circle. One addition to your README before you push. Write a paragraph called How this differs from machine learning. Say who chose your rules, what a training process would need instead, and one thing your engine can do that a trained model would struggle with. That paragraph is part of your Documentation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3072209"/>
            <a:ext cx="6296860"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Who Wrote the Rules</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Your music app never asked you a question</a:t>
            </a:r>
            <a:endParaRPr lang="en-US" sz="3700" dirty="0"/>
          </a:p>
        </p:txBody>
      </p:sp>
      <p:sp>
        <p:nvSpPr>
          <p:cNvPr id="4" name="Text 1"/>
          <p:cNvSpPr/>
          <p:nvPr/>
        </p:nvSpPr>
        <p:spPr>
          <a:xfrm>
            <a:off x="661475"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Your Decision Engine asks questions you chose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music app guesses what you want next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Nobody wrote an if statement about your taste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So where did its rules come from</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879673"/>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 tree a person wrote</a:t>
            </a:r>
            <a:endParaRPr lang="en-US" sz="3700" dirty="0"/>
          </a:p>
        </p:txBody>
      </p:sp>
      <p:sp>
        <p:nvSpPr>
          <p:cNvPr id="3" name="Shape 1"/>
          <p:cNvSpPr/>
          <p:nvPr/>
        </p:nvSpPr>
        <p:spPr>
          <a:xfrm>
            <a:off x="661475" y="1848346"/>
            <a:ext cx="10868745" cy="4007048"/>
          </a:xfrm>
          <a:prstGeom prst="roundRect">
            <a:avLst>
              <a:gd name="adj" fmla="val 1981"/>
            </a:avLst>
          </a:prstGeom>
          <a:solidFill>
            <a:srgbClr val="F2F2F2"/>
          </a:solidFill>
          <a:ln/>
        </p:spPr>
      </p:sp>
      <p:sp>
        <p:nvSpPr>
          <p:cNvPr id="4" name="Text 2"/>
          <p:cNvSpPr/>
          <p:nvPr/>
        </p:nvSpPr>
        <p:spPr>
          <a:xfrm>
            <a:off x="888283" y="2037358"/>
            <a:ext cx="10415129" cy="362902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tempo = int(input("Tempo in beats per minute: "))</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energy = int(input("Energy, 1 to 10: "))</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if tempo &gt;= 120:</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if energy &gt;= 6:</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playlist = "Workout"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else: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playlist = "Chill"</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else: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playlist = "Chill"</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print("Playlist:", playlist)</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Machine learning flips who writes the rules</a:t>
            </a:r>
            <a:endParaRPr lang="en-US" sz="3700" dirty="0"/>
          </a:p>
        </p:txBody>
      </p:sp>
      <p:sp>
        <p:nvSpPr>
          <p:cNvPr id="4" name="Text 1"/>
          <p:cNvSpPr/>
          <p:nvPr/>
        </p:nvSpPr>
        <p:spPr>
          <a:xfrm>
            <a:off x="661475"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Collect examples with known answers: labeled data</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training process adjusts the model to match</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rules are an output, not something typed</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decision tree can also be learned this way</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886817"/>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One artificial neuron</a:t>
            </a:r>
            <a:endParaRPr lang="en-US" sz="3700" dirty="0"/>
          </a:p>
        </p:txBody>
      </p:sp>
      <p:sp>
        <p:nvSpPr>
          <p:cNvPr id="3" name="Shape 1"/>
          <p:cNvSpPr/>
          <p:nvPr/>
        </p:nvSpPr>
        <p:spPr>
          <a:xfrm>
            <a:off x="661475" y="1855490"/>
            <a:ext cx="10868745" cy="2192536"/>
          </a:xfrm>
          <a:prstGeom prst="roundRect">
            <a:avLst>
              <a:gd name="adj" fmla="val 3621"/>
            </a:avLst>
          </a:prstGeom>
          <a:solidFill>
            <a:srgbClr val="F2F2F2"/>
          </a:solidFill>
          <a:ln/>
        </p:spPr>
      </p:sp>
      <p:sp>
        <p:nvSpPr>
          <p:cNvPr id="4" name="Text 2"/>
          <p:cNvSpPr/>
          <p:nvPr/>
        </p:nvSpPr>
        <p:spPr>
          <a:xfrm>
            <a:off x="888283" y="2044502"/>
            <a:ext cx="10415129" cy="1814513"/>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score = tempo * tempo_weight + energy * energy_weight</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if score &gt;= threshold:</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playlist = "Workout"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else: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playlist = "Chill"</a:t>
            </a:r>
            <a:endParaRPr lang="en-US" sz="1450" dirty="0"/>
          </a:p>
        </p:txBody>
      </p:sp>
      <p:sp>
        <p:nvSpPr>
          <p:cNvPr id="5" name="Shape 3"/>
          <p:cNvSpPr/>
          <p:nvPr/>
        </p:nvSpPr>
        <p:spPr>
          <a:xfrm>
            <a:off x="661475" y="4260652"/>
            <a:ext cx="10868745" cy="1587698"/>
          </a:xfrm>
          <a:prstGeom prst="roundRect">
            <a:avLst>
              <a:gd name="adj" fmla="val 5000"/>
            </a:avLst>
          </a:prstGeom>
          <a:solidFill>
            <a:srgbClr val="F2F2F2"/>
          </a:solidFill>
          <a:ln/>
        </p:spPr>
      </p:sp>
      <p:sp>
        <p:nvSpPr>
          <p:cNvPr id="6" name="Text 4"/>
          <p:cNvSpPr/>
          <p:nvPr/>
        </p:nvSpPr>
        <p:spPr>
          <a:xfrm>
            <a:off x="888283" y="4449663"/>
            <a:ext cx="10415129" cy="120967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Tempo in beats per minute: 128</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Energy, 1 to 10: 7</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Score: 7.80</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Playlist: Chill</a:t>
            </a:r>
            <a:endParaRPr lang="en-US" sz="1450" dirty="0"/>
          </a:p>
        </p:txBody>
      </p:sp>
      <p:sp>
        <p:nvSpPr>
          <p:cNvPr id="7"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746945"/>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Where the knowledge lives</a:t>
            </a:r>
            <a:endParaRPr lang="en-US" sz="3700" dirty="0"/>
          </a:p>
        </p:txBody>
      </p:sp>
      <p:sp>
        <p:nvSpPr>
          <p:cNvPr id="4" name="Text 1"/>
          <p:cNvSpPr/>
          <p:nvPr/>
        </p:nvSpPr>
        <p:spPr>
          <a:xfrm>
            <a:off x="5233360" y="3211711"/>
            <a:ext cx="6296860" cy="1776413"/>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No readable rule about tempo</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Inputs are blended into one score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weights mean nothing to a person</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Real networks: many units, many weights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That is why they are hard to explain</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1189236"/>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One training step</a:t>
            </a:r>
            <a:endParaRPr lang="en-US" sz="3700" dirty="0"/>
          </a:p>
        </p:txBody>
      </p:sp>
      <p:sp>
        <p:nvSpPr>
          <p:cNvPr id="3" name="Shape 1"/>
          <p:cNvSpPr/>
          <p:nvPr/>
        </p:nvSpPr>
        <p:spPr>
          <a:xfrm>
            <a:off x="661475" y="2157909"/>
            <a:ext cx="10868745" cy="1587698"/>
          </a:xfrm>
          <a:prstGeom prst="roundRect">
            <a:avLst>
              <a:gd name="adj" fmla="val 5000"/>
            </a:avLst>
          </a:prstGeom>
          <a:solidFill>
            <a:srgbClr val="F2F2F2"/>
          </a:solidFill>
          <a:ln/>
        </p:spPr>
      </p:sp>
      <p:sp>
        <p:nvSpPr>
          <p:cNvPr id="4" name="Text 2"/>
          <p:cNvSpPr/>
          <p:nvPr/>
        </p:nvSpPr>
        <p:spPr>
          <a:xfrm>
            <a:off x="888283" y="2346920"/>
            <a:ext cx="10415129" cy="120967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error = label - prediction</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tempo_weight = tempo_weight + learning_rate * error * tempo</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energy_weight = energy_weight + learning_rate * error * energy</a:t>
            </a:r>
            <a:endParaRPr lang="en-US" sz="1450" dirty="0"/>
          </a:p>
        </p:txBody>
      </p:sp>
      <p:sp>
        <p:nvSpPr>
          <p:cNvPr id="5" name="Shape 3"/>
          <p:cNvSpPr/>
          <p:nvPr/>
        </p:nvSpPr>
        <p:spPr>
          <a:xfrm>
            <a:off x="661475" y="3958233"/>
            <a:ext cx="10868745" cy="1587698"/>
          </a:xfrm>
          <a:prstGeom prst="roundRect">
            <a:avLst>
              <a:gd name="adj" fmla="val 5000"/>
            </a:avLst>
          </a:prstGeom>
          <a:solidFill>
            <a:srgbClr val="F2F2F2"/>
          </a:solidFill>
          <a:ln/>
        </p:spPr>
      </p:sp>
      <p:sp>
        <p:nvSpPr>
          <p:cNvPr id="6" name="Text 4"/>
          <p:cNvSpPr/>
          <p:nvPr/>
        </p:nvSpPr>
        <p:spPr>
          <a:xfrm>
            <a:off x="888283" y="4147245"/>
            <a:ext cx="10415129" cy="120967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Before: score 6.80, prediction 0, label 1</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New weights: tempo 0.1000, energy 0.2045</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After: score 11.84</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Slow quiet song now scores 7.41 against threshold 8.0</a:t>
            </a:r>
            <a:endParaRPr lang="en-US" sz="1450" dirty="0"/>
          </a:p>
        </p:txBody>
      </p:sp>
      <p:sp>
        <p:nvSpPr>
          <p:cNvPr id="7"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1786930"/>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wrong way, and no error</a:t>
            </a:r>
            <a:endParaRPr lang="en-US" sz="3700" dirty="0"/>
          </a:p>
        </p:txBody>
      </p:sp>
      <p:sp>
        <p:nvSpPr>
          <p:cNvPr id="3" name="Shape 1"/>
          <p:cNvSpPr/>
          <p:nvPr/>
        </p:nvSpPr>
        <p:spPr>
          <a:xfrm>
            <a:off x="661475" y="2755602"/>
            <a:ext cx="10868745" cy="2192536"/>
          </a:xfrm>
          <a:prstGeom prst="roundRect">
            <a:avLst>
              <a:gd name="adj" fmla="val 3621"/>
            </a:avLst>
          </a:prstGeom>
          <a:solidFill>
            <a:srgbClr val="F2F2F2"/>
          </a:solidFill>
          <a:ln/>
        </p:spPr>
      </p:sp>
      <p:sp>
        <p:nvSpPr>
          <p:cNvPr id="4" name="Text 2"/>
          <p:cNvSpPr/>
          <p:nvPr/>
        </p:nvSpPr>
        <p:spPr>
          <a:xfrm>
            <a:off x="888283" y="2944614"/>
            <a:ext cx="10415129" cy="1814513"/>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learning_rate = 0.001</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Before: score 6.80, prediction 0, label 1</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New weights: tempo 0.1500, energy 0.2090</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After: score 16.88</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Slow quiet song now scores 10.92 against threshold 8.0</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Learned does not mean right</a:t>
            </a:r>
            <a:endParaRPr lang="en-US" sz="3700" dirty="0"/>
          </a:p>
        </p:txBody>
      </p:sp>
      <p:sp>
        <p:nvSpPr>
          <p:cNvPr id="4" name="Text 1"/>
          <p:cNvSpPr/>
          <p:nvPr/>
        </p:nvSpPr>
        <p:spPr>
          <a:xfrm>
            <a:off x="5233360"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model learns what is in the examples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One labeler's taste becomes the model's taste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Unfair patterns in data become patterns in the model</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That is potential bias from your AI rubric</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2225377"/>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When to write rules, when to learn them</a:t>
            </a:r>
            <a:endParaRPr lang="en-US" sz="3700" dirty="0"/>
          </a:p>
        </p:txBody>
      </p:sp>
      <p:sp>
        <p:nvSpPr>
          <p:cNvPr id="3" name="Shape 1"/>
          <p:cNvSpPr/>
          <p:nvPr/>
        </p:nvSpPr>
        <p:spPr>
          <a:xfrm>
            <a:off x="525350" y="3099495"/>
            <a:ext cx="5476043" cy="1410295"/>
          </a:xfrm>
          <a:prstGeom prst="roundRect">
            <a:avLst>
              <a:gd name="adj" fmla="val 9650"/>
            </a:avLst>
          </a:prstGeom>
          <a:solidFill>
            <a:srgbClr val="57A1EB"/>
          </a:solidFill>
          <a:ln/>
        </p:spPr>
      </p:sp>
      <p:sp>
        <p:nvSpPr>
          <p:cNvPr id="4" name="Text 2"/>
          <p:cNvSpPr/>
          <p:nvPr/>
        </p:nvSpPr>
        <p:spPr>
          <a:xfrm>
            <a:off x="714357" y="3288506"/>
            <a:ext cx="5098029" cy="295275"/>
          </a:xfrm>
          <a:prstGeom prst="rect">
            <a:avLst/>
          </a:prstGeom>
          <a:noFill/>
          <a:ln/>
        </p:spPr>
        <p:txBody>
          <a:bodyPr wrap="none" lIns="0" tIns="0" rIns="0" bIns="0" rtlCol="0" anchor="t"/>
          <a:lstStyle/>
          <a:p>
            <a:pPr algn="l" indent="0" marL="0">
              <a:lnSpc>
                <a:spcPct val="104000"/>
              </a:lnSpc>
              <a:buNone/>
            </a:pPr>
            <a:r>
              <a:rPr lang="en-US" sz="1850" b="1" dirty="0">
                <a:solidFill>
                  <a:srgbClr val="111111"/>
                </a:solidFill>
                <a:latin typeface="Orbitron Bold" pitchFamily="34" charset="0"/>
                <a:ea typeface="Orbitron Bold" pitchFamily="34" charset="-122"/>
                <a:cs typeface="Orbitron Bold" pitchFamily="34" charset="-120"/>
              </a:rPr>
              <a:t>Write rules</a:t>
            </a:r>
            <a:endParaRPr lang="en-US" sz="1850" dirty="0"/>
          </a:p>
        </p:txBody>
      </p:sp>
      <p:sp>
        <p:nvSpPr>
          <p:cNvPr id="5" name="Text 3"/>
          <p:cNvSpPr/>
          <p:nvPr/>
        </p:nvSpPr>
        <p:spPr>
          <a:xfrm>
            <a:off x="714357" y="3772793"/>
            <a:ext cx="5098029" cy="670917"/>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Decisions must be explained and audited</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You have no labeled examples</a:t>
            </a:r>
            <a:endParaRPr lang="en-US" sz="1450" dirty="0"/>
          </a:p>
        </p:txBody>
      </p:sp>
      <p:sp>
        <p:nvSpPr>
          <p:cNvPr id="6" name="Text 4"/>
          <p:cNvSpPr/>
          <p:nvPr/>
        </p:nvSpPr>
        <p:spPr>
          <a:xfrm>
            <a:off x="6332776" y="3288506"/>
            <a:ext cx="5203794" cy="295275"/>
          </a:xfrm>
          <a:prstGeom prst="rect">
            <a:avLst/>
          </a:prstGeom>
          <a:noFill/>
          <a:ln/>
        </p:spPr>
        <p:txBody>
          <a:bodyPr wrap="none" lIns="0" tIns="0" rIns="0" bIns="0" rtlCol="0" anchor="t"/>
          <a:lstStyle/>
          <a:p>
            <a:pPr algn="l" indent="0" marL="0">
              <a:lnSpc>
                <a:spcPct val="104000"/>
              </a:lnSpc>
              <a:buNone/>
            </a:pPr>
            <a:r>
              <a:rPr lang="en-US" sz="1850" b="1" dirty="0">
                <a:solidFill>
                  <a:srgbClr val="111111"/>
                </a:solidFill>
                <a:latin typeface="Orbitron Bold" pitchFamily="34" charset="0"/>
                <a:ea typeface="Orbitron Bold" pitchFamily="34" charset="-122"/>
                <a:cs typeface="Orbitron Bold" pitchFamily="34" charset="-120"/>
              </a:rPr>
              <a:t>Learn</a:t>
            </a:r>
            <a:endParaRPr lang="en-US" sz="1850" dirty="0"/>
          </a:p>
        </p:txBody>
      </p:sp>
      <p:sp>
        <p:nvSpPr>
          <p:cNvPr id="7" name="Text 5"/>
          <p:cNvSpPr/>
          <p:nvPr/>
        </p:nvSpPr>
        <p:spPr>
          <a:xfrm>
            <a:off x="6332776" y="3772793"/>
            <a:ext cx="5203794" cy="670917"/>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Nobody can write the rule down</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Good labeled examples exist</a:t>
            </a:r>
            <a:endParaRPr lang="en-US" sz="1450" dirty="0"/>
          </a:p>
        </p:txBody>
      </p:sp>
      <p:sp>
        <p:nvSpPr>
          <p:cNvPr id="8" name="Text 6"/>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sp>
        <p:nvSpPr>
          <p:cNvPr id="4" name="Text 1"/>
          <p:cNvSpPr/>
          <p:nvPr/>
        </p:nvSpPr>
        <p:spPr>
          <a:xfrm>
            <a:off x="5233360"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Build 1: the Unit 2 quiz, 30 minutes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Build 2: Decision Engine, final build and demos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Add one README paragraph to your engine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Explain why your engine is not machine learning</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2026-09-14T18:16:20Z</dcterms:created>
  <dcterms:modified xsi:type="dcterms:W3CDTF">2026-09-14T18:16:20Z</dcterms:modified>
</cp:coreProperties>
</file>