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program that passed every test its author ran. Saturday, sleep in. Sunday, sleep in. Then Monday came and it said sleep in again, and somebody missed first period. The author did not skip testing. They tested the wrong values. Today you learn the three words that join conditions together, and the one English habit that turns them into this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rules are rarely one question. You can go to the concert if you have a ticket and a ride. You sleep in if it is Saturday or Sunday. No video games if your homework is not done. Python gives you those exact three words. They are called logical operators, which is the term the WebXam uses. Multiplication happens before addition, and in the same way not happens first, then and, then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ticket and no ride. And needs both, so it is False, and you are not going. Or needs one, so it is True. Not flips False to True. Notice I did not write has ticket double equals True. When a variable is already a bool, the variable is the condition. Write if has ticket, and read it as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both sides of the or. Day double equals saturday is one complete question. Day double equals sunday is another complete question. Or joins two questions. It does not join two words. I am going to delete one piece of this line, the piece that English lets you skip, and run it with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Monday is the weekend. Python split this into two things. Day double equals saturday, which is False on Monday. And the word sunday standing alone, which is not a question at all. When an if needs True or False and gets a string, an empty string counts as False and every other string counts as True. So the right side is always True, and the whole thing is True every day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sixth time this course has shown you a bug that does not crash. What makes this one sneaky is that it passes the two most natural tests. If you only test values that should make the condition True, you will never see it. So here is the rule for every condition you write. Test at least one value that should make it False, and watch it be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reads and from left to right and stops the moment it knows the answer. If people is zero, people greater than zero is False, and False and anything is False. So Python never runs the division. That is called short circuiting. Watch what happens if I put the division first and type zero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conditions, opposite order, and now the division runs before the check. Dividing by zero crashes. Put the check that protects something on the left. The same trick protects string indexing. Checking that a nickname is not empty before you look at its first character is the difference between Okay and an index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gives a discount to members or people with a coupon, but only on totals over twenty dollars. If you write is member or has coupon and total greater than 20, a member gets the discount on an eighteen dollar order, because and grabs its neighbors first. No error. Put parentheses around the or part and it means what the store meant. Whenever a condition mixes and with or, use parentheses.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finishes the ticket lab. You add the day and the student ID, and step nine asks for a surcharge on Friday or Saturday for adult and student tickets. That condition needs both and and or, so it needs parentheses, and If it breaks item four is today's Monday bug waiting for you. Build 2 is the Decision Engine Analyze phase. Write every rule your engine follows as a sentence, and underline every and, or, and not you find in those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And, Or, Not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alarm thinks Monday is Sunday</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wrote a sleep-in program for weekends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tested Saturday. It worked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tested Sunday. It worked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Monday morning, it let you sleep</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words that join conditions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a:t>
            </a:r>
            <a:endParaRPr lang="en-US" sz="1850" dirty="0"/>
          </a:p>
        </p:txBody>
      </p:sp>
      <p:sp>
        <p:nvSpPr>
          <p:cNvPr id="5" name="Text 2"/>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True only when both sides are True</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7" name="Text 3"/>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a:t>
            </a:r>
            <a:endParaRPr lang="en-US" sz="1850" dirty="0"/>
          </a:p>
        </p:txBody>
      </p:sp>
      <p:sp>
        <p:nvSpPr>
          <p:cNvPr id="8" name="Text 4"/>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True when at least one side is True</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0" name="Text 5"/>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a:t>
            </a:r>
            <a:endParaRPr lang="en-US" sz="1850" dirty="0"/>
          </a:p>
        </p:txBody>
      </p:sp>
      <p:sp>
        <p:nvSpPr>
          <p:cNvPr id="11" name="Text 6"/>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Flips True to False, False to True</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3" name="Text 7"/>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Order</a:t>
            </a:r>
            <a:endParaRPr lang="en-US" sz="1850" dirty="0"/>
          </a:p>
        </p:txBody>
      </p:sp>
      <p:sp>
        <p:nvSpPr>
          <p:cNvPr id="14" name="Text 8"/>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first, then and, then or</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6558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ticket and a ride</a:t>
            </a:r>
            <a:endParaRPr lang="en-US" sz="3700" dirty="0"/>
          </a:p>
        </p:txBody>
      </p:sp>
      <p:sp>
        <p:nvSpPr>
          <p:cNvPr id="3" name="Shape 1"/>
          <p:cNvSpPr/>
          <p:nvPr/>
        </p:nvSpPr>
        <p:spPr>
          <a:xfrm>
            <a:off x="661475" y="1952327"/>
            <a:ext cx="5203794" cy="3704630"/>
          </a:xfrm>
          <a:prstGeom prst="roundRect">
            <a:avLst>
              <a:gd name="adj" fmla="val 2143"/>
            </a:avLst>
          </a:prstGeom>
          <a:solidFill>
            <a:srgbClr val="F2F2F2"/>
          </a:solidFill>
          <a:ln/>
        </p:spPr>
      </p:sp>
      <p:sp>
        <p:nvSpPr>
          <p:cNvPr id="4" name="Text 2"/>
          <p:cNvSpPr/>
          <p:nvPr/>
        </p:nvSpPr>
        <p:spPr>
          <a:xfrm>
            <a:off x="888283" y="2141339"/>
            <a:ext cx="4750177"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has_ticket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has_ride =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print(has_ticket and has_ride)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print(has_ticket or has_ride)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print(not has_ride)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has_ticket and has_ride: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 are going to the concert.")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print("Not tonight.")</a:t>
            </a:r>
            <a:endParaRPr lang="en-US" sz="1450" dirty="0"/>
          </a:p>
        </p:txBody>
      </p:sp>
      <p:sp>
        <p:nvSpPr>
          <p:cNvPr id="5" name="Shape 3"/>
          <p:cNvSpPr/>
          <p:nvPr/>
        </p:nvSpPr>
        <p:spPr>
          <a:xfrm>
            <a:off x="6332776" y="1952327"/>
            <a:ext cx="5203794" cy="1587698"/>
          </a:xfrm>
          <a:prstGeom prst="roundRect">
            <a:avLst>
              <a:gd name="adj" fmla="val 5000"/>
            </a:avLst>
          </a:prstGeom>
          <a:solidFill>
            <a:srgbClr val="F2F2F2"/>
          </a:solidFill>
          <a:ln/>
        </p:spPr>
      </p:sp>
      <p:sp>
        <p:nvSpPr>
          <p:cNvPr id="6" name="Text 4"/>
          <p:cNvSpPr/>
          <p:nvPr/>
        </p:nvSpPr>
        <p:spPr>
          <a:xfrm>
            <a:off x="6559584" y="2141339"/>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Not tonight.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right way to say weekend</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 = input("What day is it? ").strip().lower()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day == "saturday" or day == "sunday":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print("Sleep 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print("Alarm is set for 6:45.")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22646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3313212"/>
            <a:ext cx="5203794" cy="982861"/>
          </a:xfrm>
          <a:prstGeom prst="roundRect">
            <a:avLst>
              <a:gd name="adj" fmla="val 8077"/>
            </a:avLst>
          </a:prstGeom>
          <a:solidFill>
            <a:srgbClr val="F2F2F2"/>
          </a:solidFill>
          <a:ln/>
        </p:spPr>
      </p:sp>
      <p:sp>
        <p:nvSpPr>
          <p:cNvPr id="4" name="Text 2"/>
          <p:cNvSpPr/>
          <p:nvPr/>
        </p:nvSpPr>
        <p:spPr>
          <a:xfrm>
            <a:off x="888283" y="3502223"/>
            <a:ext cx="47501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day == "saturday" or "sunday":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print("Sleep in.")</a:t>
            </a:r>
            <a:endParaRPr lang="en-US" sz="1450" dirty="0"/>
          </a:p>
        </p:txBody>
      </p:sp>
      <p:sp>
        <p:nvSpPr>
          <p:cNvPr id="5" name="Shape 3"/>
          <p:cNvSpPr/>
          <p:nvPr/>
        </p:nvSpPr>
        <p:spPr>
          <a:xfrm>
            <a:off x="6332776" y="3313212"/>
            <a:ext cx="5203794" cy="982861"/>
          </a:xfrm>
          <a:prstGeom prst="roundRect">
            <a:avLst>
              <a:gd name="adj" fmla="val 8077"/>
            </a:avLst>
          </a:prstGeom>
          <a:solidFill>
            <a:srgbClr val="F2F2F2"/>
          </a:solidFill>
          <a:ln/>
        </p:spPr>
      </p:sp>
      <p:sp>
        <p:nvSpPr>
          <p:cNvPr id="6" name="Text 4"/>
          <p:cNvSpPr/>
          <p:nvPr/>
        </p:nvSpPr>
        <p:spPr>
          <a:xfrm>
            <a:off x="6559584" y="3502223"/>
            <a:ext cx="47501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day is it? monday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Sleep in.</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Sixth time, same shape</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passed the Saturday test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passed the Sunday test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fails the five days nobody tried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Always test a value that should be False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Python stops early</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bill = float(input("Pizza bill: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people = int(input("How many people are paying?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people &gt; 0 and bill / people &lt;= 10: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print("Everyone pays ten dollars or less.")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print("Either nobody is paying or it costs more than ten each.")</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89021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Swap the sides and it crashes</a:t>
            </a:r>
            <a:endParaRPr lang="en-US" sz="3700" dirty="0"/>
          </a:p>
        </p:txBody>
      </p:sp>
      <p:sp>
        <p:nvSpPr>
          <p:cNvPr id="3" name="Shape 1"/>
          <p:cNvSpPr/>
          <p:nvPr/>
        </p:nvSpPr>
        <p:spPr>
          <a:xfrm>
            <a:off x="661475" y="2976959"/>
            <a:ext cx="5203794" cy="680442"/>
          </a:xfrm>
          <a:prstGeom prst="roundRect">
            <a:avLst>
              <a:gd name="adj" fmla="val 11667"/>
            </a:avLst>
          </a:prstGeom>
          <a:solidFill>
            <a:srgbClr val="F2F2F2"/>
          </a:solidFill>
          <a:ln/>
        </p:spPr>
      </p:sp>
      <p:sp>
        <p:nvSpPr>
          <p:cNvPr id="4" name="Text 2"/>
          <p:cNvSpPr/>
          <p:nvPr/>
        </p:nvSpPr>
        <p:spPr>
          <a:xfrm>
            <a:off x="888283" y="3165971"/>
            <a:ext cx="5359762" cy="302419"/>
          </a:xfrm>
          <a:prstGeom prst="rect">
            <a:avLst/>
          </a:prstGeom>
          <a:noFill/>
          <a:ln/>
        </p:spPr>
        <p:txBody>
          <a:bodyPr wrap="none" lIns="0" tIns="0" rIns="0" bIns="0" rtlCol="0" anchor="t"/>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if bill / people &lt;= 10 and people &gt; 0:</a:t>
            </a:r>
            <a:endParaRPr lang="en-US" sz="1450" dirty="0"/>
          </a:p>
        </p:txBody>
      </p:sp>
      <p:sp>
        <p:nvSpPr>
          <p:cNvPr id="5" name="Shape 3"/>
          <p:cNvSpPr/>
          <p:nvPr/>
        </p:nvSpPr>
        <p:spPr>
          <a:xfrm>
            <a:off x="6332776" y="2976959"/>
            <a:ext cx="5203794" cy="680442"/>
          </a:xfrm>
          <a:prstGeom prst="roundRect">
            <a:avLst>
              <a:gd name="adj" fmla="val 11667"/>
            </a:avLst>
          </a:prstGeom>
          <a:solidFill>
            <a:srgbClr val="F2F2F2"/>
          </a:solidFill>
          <a:ln/>
        </p:spPr>
      </p:sp>
      <p:sp>
        <p:nvSpPr>
          <p:cNvPr id="6" name="Text 4"/>
          <p:cNvSpPr/>
          <p:nvPr/>
        </p:nvSpPr>
        <p:spPr>
          <a:xfrm>
            <a:off x="6559584" y="3165971"/>
            <a:ext cx="5359762"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ZeroDivisionError: float division by zero</a:t>
            </a:r>
            <a:endParaRPr lang="en-US" sz="1450" dirty="0"/>
          </a:p>
        </p:txBody>
      </p:sp>
      <p:sp>
        <p:nvSpPr>
          <p:cNvPr id="7" name="Shape 5"/>
          <p:cNvSpPr/>
          <p:nvPr/>
        </p:nvSpPr>
        <p:spPr>
          <a:xfrm>
            <a:off x="661475" y="4082653"/>
            <a:ext cx="10868745" cy="762298"/>
          </a:xfrm>
          <a:prstGeom prst="roundRect">
            <a:avLst>
              <a:gd name="adj" fmla="val 10414"/>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850482" y="4350345"/>
            <a:ext cx="236234" cy="189012"/>
          </a:xfrm>
          <a:prstGeom prst="rect">
            <a:avLst/>
          </a:prstGeom>
        </p:spPr>
      </p:pic>
      <p:sp>
        <p:nvSpPr>
          <p:cNvPr id="9" name="Text 6"/>
          <p:cNvSpPr/>
          <p:nvPr/>
        </p:nvSpPr>
        <p:spPr>
          <a:xfrm>
            <a:off x="1275723" y="4318893"/>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Order matters: check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people &gt; 0</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before dividing by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people</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Mixing and with or</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295154"/>
            <a:ext cx="5319083" cy="632916"/>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Members or coupon holders get a discount</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Only on totals over 20 dollars</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and happens before or</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Without parentheses, members skip the total check</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Parentheses make your grouping visible</a:t>
            </a:r>
            <a:endParaRPr lang="en-US" sz="700" dirty="0"/>
          </a:p>
        </p:txBody>
      </p:sp>
      <p:sp>
        <p:nvSpPr>
          <p:cNvPr id="5" name="Text 2"/>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U02-01 Ticket Pricing, Part 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Tuesday, student ID, and the weekend surcharge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9 needs both and and 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Decision Engine, Analyze phase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2026-09-14T18:11:16Z</dcterms:created>
  <dcterms:modified xsi:type="dcterms:W3CDTF">2026-09-14T18:11:16Z</dcterms:modified>
</cp:coreProperties>
</file>