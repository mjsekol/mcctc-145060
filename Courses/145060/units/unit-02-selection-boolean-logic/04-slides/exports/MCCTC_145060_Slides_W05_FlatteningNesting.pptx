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embeddedFontLst>
    <p:embeddedFont>
      <p:font typeface="Orbitron Bold"/>
      <p:regular r:id="rId201314"/>
    </p:embeddedFont>
    <p:embeddedFont>
      <p:font typeface="Orbitron"/>
      <p:regular r:id="rId201315"/>
    </p:embeddedFont>
    <p:embeddedFont>
      <p:font typeface="Roboto Condensed Bold"/>
      <p:regular r:id="rId201316"/>
    </p:embeddedFont>
    <p:embeddedFont>
      <p:font typeface="Roboto Condensed"/>
      <p:regular r:id="rId2013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have probably already written an if inside an if inside an if. It works. Then you come back a week later to change one rule, and you cannot tell which else belongs to which if without counting spaces. Today is not new syntax. Today is a judgment call. When should a decision be nested, and when should you flatten it. It is the hardest lesson of the week because the answer depends on the shape of the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robotics team road trip. Four requirements, each with its own message. This code is correct. Now, without counting spaces, tell me which if the permission slip message belongs to. Its else is nine lines below its if. The happy path is buried in the middle four levels deep. This shape has a nickname, the pyramid, and it is correct right up until somebody edits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Turn it inside out. Check every reason to say no, one at a time, and say yes last. Every rule now sits right next to its message. Adding a fifth rule is one elif. I ran both versions on all 48 combinations of answers and they printed the same thing every time. That is the standard for a refactor. Same inputs, same outputs, every row of the truth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nobody needs a separate message for each rule, the whole pyramid is one compound condition. The parentheses around the or are not decoration. Without them a student who is not on the team but has a fee waiver gets on the bus. The bottom line is a Python shortcut. Thirteen less than or equal to age less than or equal to nineteen means age is at least 13 and age is at most 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Flat is not always better. Here the question you ask next depends on the answer you got a moment ago. On a rainy day we never ask whether your friends are free. On a clear day we never ask about a ride. That shape is a decision tree, and nesting is the honest way to write it. Your Decision Engine is built from exactly this shape.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rule, in order. If an inner if has no else, it only adds a requirement, so join it with and. If every level is a requirement with its own failure message, flatten to an elif chain with the no answers first. If the next question depends on the answer to this one, keep the nesting, because that is a tree. And if you are more than three levels deep, it is almost always one of the first two cases wearing a disguise.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error. Someone who is not on the team and already has a slip is told to get a slip. And a team member without a slip gets no message at all, only silence. The else lines up with if on team, so it belongs to on team. The author meant it for the inner if and was off by four spaces. Python did exactly what the indentation said. The flat elif version cannot have this bug.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appearances now. Every one of them ran without a single error. Here is what is different about today. For the first time, the fix is not a better test. It is a better shape. When every message sits on the same level as its own rule, there is no else that can drift to the wrong if. Sometimes the best defense against a silent bug is writing code where that bug has nowhere to hide.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Indentation has to mean something. Four extra spaces that do not start a new block are an error, and Python stops before running anything. This is the friendly version of today's bug. The unfriendly version is the one on the last slide, where the spaces were legal and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1 is your Decision Engine. Before you add anything, look at every place you nested. For each one, name which of the four cases it is. If your nesting is a tree, keep it and say so in a comment. If it is a pyramid of requirements, flatten it and prove the outputs did not change. Build 2 is still your engine. Run it once for every row of your decision table, typing exactly what the row says, and mark each row match or no match. Fix a mismatch, run the row again, and commit. Tomorrow is Gate 2. An AI wrote a program that checks whether someone is eligible for something. It is well formatted and confident, and one of its five defects sits exactly on a boundary.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image" Target="../media/image-7-2.png"/><Relationship Id="rId3" Type="http://schemas.openxmlformats.org/officeDocument/2006/relationships/image" Target="../media/image-7-3.svg"/><Relationship Id="rId4" Type="http://schemas.openxmlformats.org/officeDocument/2006/relationships/image" Target="../media/image-7-4.png"/><Relationship Id="rId5" Type="http://schemas.openxmlformats.org/officeDocument/2006/relationships/image" Target="../media/image-7-5.svg"/><Relationship Id="rId6" Type="http://schemas.openxmlformats.org/officeDocument/2006/relationships/image" Target="../media/image-7-4.png"/><Relationship Id="rId7" Type="http://schemas.openxmlformats.org/officeDocument/2006/relationships/image" Target="../media/image-7-5.svg"/><Relationship Id="rId8" Type="http://schemas.openxmlformats.org/officeDocument/2006/relationships/image" Target="../media/image-7-4.png"/><Relationship Id="rId9" Type="http://schemas.openxmlformats.org/officeDocument/2006/relationships/image" Target="../media/image-7-5.svg"/><Relationship Id="rId10" Type="http://schemas.openxmlformats.org/officeDocument/2006/relationships/slideLayout" Target="../slideLayouts/slideLayout2.xml"/><Relationship Id="rId11"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svg"/><Relationship Id="rId3" Type="http://schemas.openxmlformats.org/officeDocument/2006/relationships/image" Target="../media/image-9-1.png"/><Relationship Id="rId4" Type="http://schemas.openxmlformats.org/officeDocument/2006/relationships/image" Target="../media/image-9-2.svg"/><Relationship Id="rId5" Type="http://schemas.openxmlformats.org/officeDocument/2006/relationships/image" Target="../media/image-9-1.png"/><Relationship Id="rId6" Type="http://schemas.openxmlformats.org/officeDocument/2006/relationships/image" Target="../media/image-9-2.svg"/><Relationship Id="rId7" Type="http://schemas.openxmlformats.org/officeDocument/2006/relationships/image" Target="../media/image-9-1.png"/><Relationship Id="rId8" Type="http://schemas.openxmlformats.org/officeDocument/2006/relationships/image" Target="../media/image-9-2.svg"/><Relationship Id="rId9" Type="http://schemas.openxmlformats.org/officeDocument/2006/relationships/image" Target="../media/image-9-1.png"/><Relationship Id="rId10" Type="http://schemas.openxmlformats.org/officeDocument/2006/relationships/image" Target="../media/image-9-2.svg"/><Relationship Id="rId11" Type="http://schemas.openxmlformats.org/officeDocument/2006/relationships/slideLayout" Target="../slideLayouts/slideLayout2.xml"/><Relationship Id="rId1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3072209"/>
            <a:ext cx="6296860"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Flatten the Pyramid</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217613"/>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Which if does this else belong to</a:t>
            </a:r>
            <a:endParaRPr lang="en-US" sz="3700" dirty="0"/>
          </a:p>
        </p:txBody>
      </p:sp>
      <p:sp>
        <p:nvSpPr>
          <p:cNvPr id="4" name="Shape 1"/>
          <p:cNvSpPr/>
          <p:nvPr/>
        </p:nvSpPr>
        <p:spPr>
          <a:xfrm>
            <a:off x="5233360" y="2682379"/>
            <a:ext cx="425241" cy="425252"/>
          </a:xfrm>
          <a:prstGeom prst="roundRect">
            <a:avLst>
              <a:gd name="adj" fmla="val 18669"/>
            </a:avLst>
          </a:prstGeom>
          <a:solidFill>
            <a:srgbClr val="D1E5FA"/>
          </a:solidFill>
          <a:ln w="19050">
            <a:solidFill>
              <a:srgbClr val="B7CBE0"/>
            </a:solidFill>
            <a:prstDash val="solid"/>
          </a:ln>
        </p:spPr>
      </p:sp>
      <p:sp>
        <p:nvSpPr>
          <p:cNvPr id="5" name="Text 2"/>
          <p:cNvSpPr/>
          <p:nvPr/>
        </p:nvSpPr>
        <p:spPr>
          <a:xfrm>
            <a:off x="5847608" y="2747268"/>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Your code has drifted to the right edge</a:t>
            </a:r>
            <a:endParaRPr lang="en-US" sz="1850" dirty="0"/>
          </a:p>
        </p:txBody>
      </p:sp>
      <p:sp>
        <p:nvSpPr>
          <p:cNvPr id="6" name="Shape 3"/>
          <p:cNvSpPr/>
          <p:nvPr/>
        </p:nvSpPr>
        <p:spPr>
          <a:xfrm>
            <a:off x="5233360" y="3485654"/>
            <a:ext cx="425241" cy="425252"/>
          </a:xfrm>
          <a:prstGeom prst="roundRect">
            <a:avLst>
              <a:gd name="adj" fmla="val 18669"/>
            </a:avLst>
          </a:prstGeom>
          <a:solidFill>
            <a:srgbClr val="D1E5FA"/>
          </a:solidFill>
          <a:ln w="19050">
            <a:solidFill>
              <a:srgbClr val="B7CBE0"/>
            </a:solidFill>
            <a:prstDash val="solid"/>
          </a:ln>
        </p:spPr>
      </p:sp>
      <p:sp>
        <p:nvSpPr>
          <p:cNvPr id="7" name="Text 4"/>
          <p:cNvSpPr/>
          <p:nvPr/>
        </p:nvSpPr>
        <p:spPr>
          <a:xfrm>
            <a:off x="5847608" y="3550543"/>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An else sits nine lines below its if</a:t>
            </a:r>
            <a:endParaRPr lang="en-US" sz="1850" dirty="0"/>
          </a:p>
        </p:txBody>
      </p:sp>
      <p:sp>
        <p:nvSpPr>
          <p:cNvPr id="8" name="Shape 5"/>
          <p:cNvSpPr/>
          <p:nvPr/>
        </p:nvSpPr>
        <p:spPr>
          <a:xfrm>
            <a:off x="5233360" y="4288929"/>
            <a:ext cx="425241" cy="425252"/>
          </a:xfrm>
          <a:prstGeom prst="roundRect">
            <a:avLst>
              <a:gd name="adj" fmla="val 18669"/>
            </a:avLst>
          </a:prstGeom>
          <a:solidFill>
            <a:srgbClr val="D1E5FA"/>
          </a:solidFill>
          <a:ln w="19050">
            <a:solidFill>
              <a:srgbClr val="B7CBE0"/>
            </a:solidFill>
            <a:prstDash val="solid"/>
          </a:ln>
        </p:spPr>
      </p:sp>
      <p:sp>
        <p:nvSpPr>
          <p:cNvPr id="9" name="Text 6"/>
          <p:cNvSpPr/>
          <p:nvPr/>
        </p:nvSpPr>
        <p:spPr>
          <a:xfrm>
            <a:off x="5847608" y="4353818"/>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You changed one rule last week</a:t>
            </a:r>
            <a:endParaRPr lang="en-US" sz="1850" dirty="0"/>
          </a:p>
        </p:txBody>
      </p:sp>
      <p:sp>
        <p:nvSpPr>
          <p:cNvPr id="10" name="Shape 7"/>
          <p:cNvSpPr/>
          <p:nvPr/>
        </p:nvSpPr>
        <p:spPr>
          <a:xfrm>
            <a:off x="5233360" y="5092204"/>
            <a:ext cx="425241" cy="425252"/>
          </a:xfrm>
          <a:prstGeom prst="roundRect">
            <a:avLst>
              <a:gd name="adj" fmla="val 18669"/>
            </a:avLst>
          </a:prstGeom>
          <a:solidFill>
            <a:srgbClr val="D1E5FA"/>
          </a:solidFill>
          <a:ln w="19050">
            <a:solidFill>
              <a:srgbClr val="B7CBE0"/>
            </a:solidFill>
            <a:prstDash val="solid"/>
          </a:ln>
        </p:spPr>
      </p:sp>
      <p:sp>
        <p:nvSpPr>
          <p:cNvPr id="11" name="Text 8"/>
          <p:cNvSpPr/>
          <p:nvPr/>
        </p:nvSpPr>
        <p:spPr>
          <a:xfrm>
            <a:off x="5847608" y="5157093"/>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Now the wrong person gets the message</a:t>
            </a:r>
            <a:endParaRPr lang="en-US" sz="1850" dirty="0"/>
          </a:p>
        </p:txBody>
      </p:sp>
      <p:sp>
        <p:nvSpPr>
          <p:cNvPr id="12" name="Text 9"/>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728464"/>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pyramid</a:t>
            </a:r>
            <a:endParaRPr lang="en-US" sz="3700" dirty="0"/>
          </a:p>
        </p:txBody>
      </p:sp>
      <p:sp>
        <p:nvSpPr>
          <p:cNvPr id="3" name="Shape 1"/>
          <p:cNvSpPr/>
          <p:nvPr/>
        </p:nvSpPr>
        <p:spPr>
          <a:xfrm>
            <a:off x="661475" y="1697137"/>
            <a:ext cx="10868745" cy="4309467"/>
          </a:xfrm>
          <a:prstGeom prst="roundRect">
            <a:avLst>
              <a:gd name="adj" fmla="val 1842"/>
            </a:avLst>
          </a:prstGeom>
          <a:solidFill>
            <a:srgbClr val="F2F2F2"/>
          </a:solidFill>
          <a:ln/>
        </p:spPr>
      </p:sp>
      <p:sp>
        <p:nvSpPr>
          <p:cNvPr id="4" name="Text 2"/>
          <p:cNvSpPr/>
          <p:nvPr/>
        </p:nvSpPr>
        <p:spPr>
          <a:xfrm>
            <a:off x="888283" y="1886148"/>
            <a:ext cx="10415129" cy="3931444"/>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if on_team:</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if has_slip:</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if fee_paid or has_waiver:</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if gpa &gt;= 2.0:</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print("You are on the bus.")</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else:</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print("You need a 2.0 GPA to travel.")</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else:</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print("Pay the fee or ask about a waiver.")</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else:</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print("Get your permission slip signed.")</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else:</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print("This trip is for team members.")</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1182092"/>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Same rules, flattened</a:t>
            </a:r>
            <a:endParaRPr lang="en-US" sz="3700" dirty="0"/>
          </a:p>
        </p:txBody>
      </p:sp>
      <p:sp>
        <p:nvSpPr>
          <p:cNvPr id="3" name="Shape 1"/>
          <p:cNvSpPr/>
          <p:nvPr/>
        </p:nvSpPr>
        <p:spPr>
          <a:xfrm>
            <a:off x="661475" y="2150765"/>
            <a:ext cx="10868745" cy="3402211"/>
          </a:xfrm>
          <a:prstGeom prst="roundRect">
            <a:avLst>
              <a:gd name="adj" fmla="val 2333"/>
            </a:avLst>
          </a:prstGeom>
          <a:solidFill>
            <a:srgbClr val="F2F2F2"/>
          </a:solidFill>
          <a:ln/>
        </p:spPr>
      </p:sp>
      <p:sp>
        <p:nvSpPr>
          <p:cNvPr id="4" name="Text 2"/>
          <p:cNvSpPr/>
          <p:nvPr/>
        </p:nvSpPr>
        <p:spPr>
          <a:xfrm>
            <a:off x="888283" y="2339777"/>
            <a:ext cx="10415129" cy="302418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if not on_team:</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print("This trip is for team members.")</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elif not has_slip:</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print("Get your permission slip signed.")</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elif not (fee_paid or has_waiver):</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print("Pay the fee or ask about a waiver.")</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elif gpa &lt; 2.0:</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print("You need a 2.0 GPA to travel.")</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else:</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print("You are on the bus.")</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1938139"/>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When you only need yes or no</a:t>
            </a:r>
            <a:endParaRPr lang="en-US" sz="3700" dirty="0"/>
          </a:p>
        </p:txBody>
      </p:sp>
      <p:sp>
        <p:nvSpPr>
          <p:cNvPr id="3" name="Shape 1"/>
          <p:cNvSpPr/>
          <p:nvPr/>
        </p:nvSpPr>
        <p:spPr>
          <a:xfrm>
            <a:off x="661475" y="2906812"/>
            <a:ext cx="10868745" cy="1890117"/>
          </a:xfrm>
          <a:prstGeom prst="roundRect">
            <a:avLst>
              <a:gd name="adj" fmla="val 4200"/>
            </a:avLst>
          </a:prstGeom>
          <a:solidFill>
            <a:srgbClr val="F2F2F2"/>
          </a:solidFill>
          <a:ln/>
        </p:spPr>
      </p:sp>
      <p:sp>
        <p:nvSpPr>
          <p:cNvPr id="4" name="Text 2"/>
          <p:cNvSpPr/>
          <p:nvPr/>
        </p:nvSpPr>
        <p:spPr>
          <a:xfrm>
            <a:off x="888283" y="3095823"/>
            <a:ext cx="10415129" cy="1512094"/>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can_travel = on_team and has_slip and (fee_paid or has_waiver) and gpa &gt;= 2.0</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print("Can travel:", can_travel)</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age = 15</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print(13 &lt;= age &lt;= 19)</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879673"/>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Nesting that is correct</a:t>
            </a:r>
            <a:endParaRPr lang="en-US" sz="3700" dirty="0"/>
          </a:p>
        </p:txBody>
      </p:sp>
      <p:sp>
        <p:nvSpPr>
          <p:cNvPr id="3" name="Shape 1"/>
          <p:cNvSpPr/>
          <p:nvPr/>
        </p:nvSpPr>
        <p:spPr>
          <a:xfrm>
            <a:off x="661475" y="1848346"/>
            <a:ext cx="10868745" cy="4007048"/>
          </a:xfrm>
          <a:prstGeom prst="roundRect">
            <a:avLst>
              <a:gd name="adj" fmla="val 1981"/>
            </a:avLst>
          </a:prstGeom>
          <a:solidFill>
            <a:srgbClr val="F2F2F2"/>
          </a:solidFill>
          <a:ln/>
        </p:spPr>
      </p:sp>
      <p:sp>
        <p:nvSpPr>
          <p:cNvPr id="4" name="Text 2"/>
          <p:cNvSpPr/>
          <p:nvPr/>
        </p:nvSpPr>
        <p:spPr>
          <a:xfrm>
            <a:off x="888283" y="2037358"/>
            <a:ext cx="10415129" cy="3629025"/>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if weather == "rain":</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has_ride = input("Can someone drive you? (y/n): ").strip().lower() == "y"</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if has_ride:</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print("Movie theater.")</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else:</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print("Board games at home.")</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else:</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friends_free = input("Are your friends free? (y/n): ").strip().lower() == "y"</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if friends_free:</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print("Meet at the park.")</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else:</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print("Shoot hoops in the driveway.")</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755848"/>
            <a:ext cx="6296860"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decision rule</a:t>
            </a:r>
            <a:endParaRPr lang="en-US" sz="3700" dirty="0"/>
          </a:p>
        </p:txBody>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61475" y="1629966"/>
            <a:ext cx="6296860" cy="724098"/>
          </a:xfrm>
          <a:prstGeom prst="rect">
            <a:avLst/>
          </a:prstGeom>
        </p:spPr>
      </p:pic>
      <p:sp>
        <p:nvSpPr>
          <p:cNvPr id="5" name="Text 1"/>
          <p:cNvSpPr/>
          <p:nvPr/>
        </p:nvSpPr>
        <p:spPr>
          <a:xfrm>
            <a:off x="977479" y="1844377"/>
            <a:ext cx="576644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Inner if with no else: combine with and</a:t>
            </a:r>
            <a:endParaRPr lang="en-US" sz="1850" dirty="0"/>
          </a:p>
        </p:txBody>
      </p:sp>
      <p:pic>
        <p:nvPicPr>
          <p:cNvPr id="6"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61475" y="2543076"/>
            <a:ext cx="6296860" cy="1019373"/>
          </a:xfrm>
          <a:prstGeom prst="rect">
            <a:avLst/>
          </a:prstGeom>
        </p:spPr>
      </p:pic>
      <p:sp>
        <p:nvSpPr>
          <p:cNvPr id="7" name="Text 2"/>
          <p:cNvSpPr/>
          <p:nvPr/>
        </p:nvSpPr>
        <p:spPr>
          <a:xfrm>
            <a:off x="977479" y="2757488"/>
            <a:ext cx="5766449"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Each level has its own no message: elif chain</a:t>
            </a:r>
            <a:endParaRPr lang="en-US" sz="1850" dirty="0"/>
          </a:p>
        </p:txBody>
      </p:sp>
      <p:pic>
        <p:nvPicPr>
          <p:cNvPr id="8"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61475" y="3751461"/>
            <a:ext cx="6296860" cy="1019373"/>
          </a:xfrm>
          <a:prstGeom prst="rect">
            <a:avLst/>
          </a:prstGeom>
        </p:spPr>
      </p:pic>
      <p:sp>
        <p:nvSpPr>
          <p:cNvPr id="9" name="Text 3"/>
          <p:cNvSpPr/>
          <p:nvPr/>
        </p:nvSpPr>
        <p:spPr>
          <a:xfrm>
            <a:off x="977479" y="3965873"/>
            <a:ext cx="5766449"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Next question depends on this answer: keep nesting</a:t>
            </a:r>
            <a:endParaRPr lang="en-US" sz="1850" dirty="0"/>
          </a:p>
        </p:txBody>
      </p:sp>
      <p:pic>
        <p:nvPicPr>
          <p:cNvPr id="10"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61475" y="4959846"/>
            <a:ext cx="6296860" cy="1019373"/>
          </a:xfrm>
          <a:prstGeom prst="rect">
            <a:avLst/>
          </a:prstGeom>
        </p:spPr>
      </p:pic>
      <p:sp>
        <p:nvSpPr>
          <p:cNvPr id="11" name="Text 4"/>
          <p:cNvSpPr/>
          <p:nvPr/>
        </p:nvSpPr>
        <p:spPr>
          <a:xfrm>
            <a:off x="977479" y="5174258"/>
            <a:ext cx="5766449"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Deeper than three levels: stop and look again</a:t>
            </a:r>
            <a:endParaRPr lang="en-US" sz="1850" dirty="0"/>
          </a:p>
        </p:txBody>
      </p:sp>
      <p:sp>
        <p:nvSpPr>
          <p:cNvPr id="12"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1772841"/>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wrong way, and no error</a:t>
            </a:r>
            <a:endParaRPr lang="en-US" sz="3700" dirty="0"/>
          </a:p>
        </p:txBody>
      </p:sp>
      <p:sp>
        <p:nvSpPr>
          <p:cNvPr id="3" name="Shape 1"/>
          <p:cNvSpPr/>
          <p:nvPr/>
        </p:nvSpPr>
        <p:spPr>
          <a:xfrm>
            <a:off x="661475" y="2859584"/>
            <a:ext cx="5203794" cy="1890117"/>
          </a:xfrm>
          <a:prstGeom prst="roundRect">
            <a:avLst>
              <a:gd name="adj" fmla="val 4200"/>
            </a:avLst>
          </a:prstGeom>
          <a:solidFill>
            <a:srgbClr val="F2F2F2"/>
          </a:solidFill>
          <a:ln/>
        </p:spPr>
      </p:sp>
      <p:sp>
        <p:nvSpPr>
          <p:cNvPr id="4" name="Text 2"/>
          <p:cNvSpPr/>
          <p:nvPr/>
        </p:nvSpPr>
        <p:spPr>
          <a:xfrm>
            <a:off x="888283" y="3048595"/>
            <a:ext cx="4750177" cy="1512094"/>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if on_team:</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if has_slip:</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print("You are on the bus.")</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else:</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print("Get your permission slip signed.")</a:t>
            </a:r>
            <a:endParaRPr lang="en-US" sz="1450" dirty="0"/>
          </a:p>
        </p:txBody>
      </p:sp>
      <p:sp>
        <p:nvSpPr>
          <p:cNvPr id="5" name="Shape 3"/>
          <p:cNvSpPr/>
          <p:nvPr/>
        </p:nvSpPr>
        <p:spPr>
          <a:xfrm>
            <a:off x="6332776" y="2859584"/>
            <a:ext cx="5203794" cy="1285280"/>
          </a:xfrm>
          <a:prstGeom prst="roundRect">
            <a:avLst>
              <a:gd name="adj" fmla="val 6177"/>
            </a:avLst>
          </a:prstGeom>
          <a:solidFill>
            <a:srgbClr val="F2F2F2"/>
          </a:solidFill>
          <a:ln/>
        </p:spPr>
      </p:sp>
      <p:sp>
        <p:nvSpPr>
          <p:cNvPr id="6" name="Text 4"/>
          <p:cNvSpPr/>
          <p:nvPr/>
        </p:nvSpPr>
        <p:spPr>
          <a:xfrm>
            <a:off x="6559584" y="3048595"/>
            <a:ext cx="4750177" cy="907256"/>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On the robotics team? (y/n): n</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Permission slip signed? (y/n): y</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Get your permission slip signed.</a:t>
            </a:r>
            <a:endParaRPr lang="en-US" sz="1450" dirty="0"/>
          </a:p>
        </p:txBody>
      </p:sp>
      <p:sp>
        <p:nvSpPr>
          <p:cNvPr id="7"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694928"/>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Eighth time, same shape</a:t>
            </a:r>
            <a:endParaRPr lang="en-US" sz="370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32315" y="1669455"/>
            <a:ext cx="283461" cy="283468"/>
          </a:xfrm>
          <a:prstGeom prst="rect">
            <a:avLst/>
          </a:prstGeom>
        </p:spPr>
      </p:pic>
      <p:sp>
        <p:nvSpPr>
          <p:cNvPr id="4" name="Text 1"/>
          <p:cNvSpPr/>
          <p:nvPr/>
        </p:nvSpPr>
        <p:spPr>
          <a:xfrm>
            <a:off x="1275723" y="1663601"/>
            <a:ext cx="1025449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121212, 2.5 people, 202</a:t>
            </a:r>
            <a:endParaRPr lang="en-US" sz="1850" dirty="0"/>
          </a:p>
        </p:txBody>
      </p:sp>
      <p:pic>
        <p:nvPicPr>
          <p:cNvPr id="5"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32315" y="2620367"/>
            <a:ext cx="283461" cy="283468"/>
          </a:xfrm>
          <a:prstGeom prst="rect">
            <a:avLst/>
          </a:prstGeom>
        </p:spPr>
      </p:pic>
      <p:sp>
        <p:nvSpPr>
          <p:cNvPr id="6" name="Text 2"/>
          <p:cNvSpPr/>
          <p:nvPr/>
        </p:nvSpPr>
        <p:spPr>
          <a:xfrm>
            <a:off x="1275723" y="2614513"/>
            <a:ext cx="1025449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Nine beats ten, a 95 earns a D</a:t>
            </a:r>
            <a:endParaRPr lang="en-US" sz="1850" dirty="0"/>
          </a:p>
        </p:txBody>
      </p:sp>
      <p:pic>
        <p:nvPicPr>
          <p:cNvPr id="7"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32315" y="3571280"/>
            <a:ext cx="283461" cy="283468"/>
          </a:xfrm>
          <a:prstGeom prst="rect">
            <a:avLst/>
          </a:prstGeom>
        </p:spPr>
      </p:pic>
      <p:sp>
        <p:nvSpPr>
          <p:cNvPr id="8" name="Text 3"/>
          <p:cNvSpPr/>
          <p:nvPr/>
        </p:nvSpPr>
        <p:spPr>
          <a:xfrm>
            <a:off x="1275723" y="3565426"/>
            <a:ext cx="1025449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Monday is the weekend, practice in the rain</a:t>
            </a:r>
            <a:endParaRPr lang="en-US" sz="1850" dirty="0"/>
          </a:p>
        </p:txBody>
      </p:sp>
      <p:pic>
        <p:nvPicPr>
          <p:cNvPr id="9"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32315" y="4522192"/>
            <a:ext cx="283461" cy="283468"/>
          </a:xfrm>
          <a:prstGeom prst="rect">
            <a:avLst/>
          </a:prstGeom>
        </p:spPr>
      </p:pic>
      <p:sp>
        <p:nvSpPr>
          <p:cNvPr id="10" name="Text 4"/>
          <p:cNvSpPr/>
          <p:nvPr/>
        </p:nvSpPr>
        <p:spPr>
          <a:xfrm>
            <a:off x="1275723" y="4516338"/>
            <a:ext cx="1025449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Today: the wrong person gets the message</a:t>
            </a:r>
            <a:endParaRPr lang="en-US" sz="1850" dirty="0"/>
          </a:p>
        </p:txBody>
      </p:sp>
      <p:pic>
        <p:nvPicPr>
          <p:cNvPr id="11"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32315" y="5473105"/>
            <a:ext cx="283461" cy="283468"/>
          </a:xfrm>
          <a:prstGeom prst="rect">
            <a:avLst/>
          </a:prstGeom>
        </p:spPr>
      </p:pic>
      <p:sp>
        <p:nvSpPr>
          <p:cNvPr id="12" name="Text 5"/>
          <p:cNvSpPr/>
          <p:nvPr/>
        </p:nvSpPr>
        <p:spPr>
          <a:xfrm>
            <a:off x="1275723" y="5467251"/>
            <a:ext cx="1025449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 flat version makes this bug impossible</a:t>
            </a:r>
            <a:endParaRPr lang="en-US" sz="1850" dirty="0"/>
          </a:p>
        </p:txBody>
      </p:sp>
      <p:sp>
        <p:nvSpPr>
          <p:cNvPr id="13" name="Text 6"/>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475" y="1751608"/>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one that crashes</a:t>
            </a:r>
            <a:endParaRPr lang="en-US" sz="3700" dirty="0"/>
          </a:p>
        </p:txBody>
      </p:sp>
      <p:sp>
        <p:nvSpPr>
          <p:cNvPr id="3" name="Shape 1"/>
          <p:cNvSpPr/>
          <p:nvPr/>
        </p:nvSpPr>
        <p:spPr>
          <a:xfrm>
            <a:off x="661475" y="2838351"/>
            <a:ext cx="5203794" cy="1587698"/>
          </a:xfrm>
          <a:prstGeom prst="roundRect">
            <a:avLst>
              <a:gd name="adj" fmla="val 5000"/>
            </a:avLst>
          </a:prstGeom>
          <a:solidFill>
            <a:srgbClr val="F2F2F2"/>
          </a:solidFill>
          <a:ln/>
        </p:spPr>
      </p:sp>
      <p:sp>
        <p:nvSpPr>
          <p:cNvPr id="4" name="Text 2"/>
          <p:cNvSpPr/>
          <p:nvPr/>
        </p:nvSpPr>
        <p:spPr>
          <a:xfrm>
            <a:off x="888283" y="3027363"/>
            <a:ext cx="4750177" cy="1209675"/>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age = 16</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if age &gt;= 16:</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print("Old enough.")</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print("Book the test.")</a:t>
            </a:r>
            <a:endParaRPr lang="en-US" sz="1450" dirty="0"/>
          </a:p>
        </p:txBody>
      </p:sp>
      <p:sp>
        <p:nvSpPr>
          <p:cNvPr id="5" name="Shape 3"/>
          <p:cNvSpPr/>
          <p:nvPr/>
        </p:nvSpPr>
        <p:spPr>
          <a:xfrm>
            <a:off x="6332776" y="2838351"/>
            <a:ext cx="5203794" cy="680442"/>
          </a:xfrm>
          <a:prstGeom prst="roundRect">
            <a:avLst>
              <a:gd name="adj" fmla="val 11667"/>
            </a:avLst>
          </a:prstGeom>
          <a:solidFill>
            <a:srgbClr val="F2F2F2"/>
          </a:solidFill>
          <a:ln/>
        </p:spPr>
      </p:sp>
      <p:sp>
        <p:nvSpPr>
          <p:cNvPr id="6" name="Text 4"/>
          <p:cNvSpPr/>
          <p:nvPr/>
        </p:nvSpPr>
        <p:spPr>
          <a:xfrm>
            <a:off x="6559584" y="3027363"/>
            <a:ext cx="5359762" cy="302419"/>
          </a:xfrm>
          <a:prstGeom prst="rect">
            <a:avLst/>
          </a:prstGeom>
          <a:noFill/>
          <a:ln/>
        </p:spPr>
        <p:txBody>
          <a:bodyPr wrap="none" lIns="0" tIns="0" rIns="0" bIns="0" rtlCol="0" anchor="t"/>
          <a:lstStyle/>
          <a:p>
            <a:pPr algn="l" indent="0" marL="0">
              <a:lnSpc>
                <a:spcPct val="133000"/>
              </a:lnSpc>
              <a:buNone/>
            </a:pPr>
            <a:r>
              <a:rPr lang="en-US" sz="1450" b="1" dirty="0">
                <a:solidFill>
                  <a:srgbClr val="005CC5"/>
                </a:solidFill>
                <a:latin typeface="Consolas" pitchFamily="34" charset="0"/>
                <a:ea typeface="Consolas" pitchFamily="34" charset="-122"/>
                <a:cs typeface="Consolas" pitchFamily="34" charset="-120"/>
              </a:rPr>
              <a:t>IndentationError: unexpected indent</a:t>
            </a:r>
            <a:endParaRPr lang="en-US" sz="1450" dirty="0"/>
          </a:p>
        </p:txBody>
      </p:sp>
      <p:sp>
        <p:nvSpPr>
          <p:cNvPr id="7" name="Shape 5"/>
          <p:cNvSpPr/>
          <p:nvPr/>
        </p:nvSpPr>
        <p:spPr>
          <a:xfrm>
            <a:off x="6332776" y="3731419"/>
            <a:ext cx="5203794" cy="1039416"/>
          </a:xfrm>
          <a:prstGeom prst="roundRect">
            <a:avLst>
              <a:gd name="adj" fmla="val 7638"/>
            </a:avLst>
          </a:prstGeom>
          <a:solidFill>
            <a:srgbClr val="FFB3B4"/>
          </a:solidFill>
          <a:ln/>
        </p:spPr>
      </p:sp>
      <p:pic>
        <p:nvPicPr>
          <p:cNvPr id="8" name="Image 0" descr="preencoded.png">    </p:cNvPr>
          <p:cNvPicPr>
            <a:picLocks noChangeAspect="1"/>
          </p:cNvPicPr>
          <p:nvPr/>
        </p:nvPicPr>
        <p:blipFill>
          <a:blip r:embed="rId1"/>
          <a:stretch>
            <a:fillRect/>
          </a:stretch>
        </p:blipFill>
        <p:spPr>
          <a:xfrm>
            <a:off x="6521783" y="4018161"/>
            <a:ext cx="236234" cy="189012"/>
          </a:xfrm>
          <a:prstGeom prst="rect">
            <a:avLst/>
          </a:prstGeom>
        </p:spPr>
      </p:pic>
      <p:sp>
        <p:nvSpPr>
          <p:cNvPr id="9" name="Text 6"/>
          <p:cNvSpPr/>
          <p:nvPr/>
        </p:nvSpPr>
        <p:spPr>
          <a:xfrm>
            <a:off x="6947024" y="3948708"/>
            <a:ext cx="4400539"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000000"/>
                </a:solidFill>
                <a:latin typeface="Roboto Condensed" pitchFamily="34" charset="0"/>
                <a:ea typeface="Roboto Condensed" pitchFamily="34" charset="-122"/>
                <a:cs typeface="Roboto Condensed" pitchFamily="34" charset="-120"/>
              </a:rPr>
              <a:t>An unexpected indent produces an error before your program runs.</a:t>
            </a:r>
            <a:endParaRPr lang="en-US" sz="1450" dirty="0"/>
          </a:p>
        </p:txBody>
      </p:sp>
      <p:sp>
        <p:nvSpPr>
          <p:cNvPr id="10" name="Text 7"/>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550565"/>
            <a:ext cx="6296860" cy="1144389"/>
          </a:xfrm>
          <a:prstGeom prst="rect">
            <a:avLst/>
          </a:prstGeom>
          <a:noFill/>
          <a:ln/>
        </p:spPr>
        <p:txBody>
          <a:bodyPr wrap="square" lIns="0" tIns="0" rIns="0" bIns="0" rtlCol="0" anchor="t">
            <a:normAutofit/>
          </a:bodyPr>
          <a:lstStyle/>
          <a:p>
            <a:pPr algn="l" indent="0" marL="0">
              <a:lnSpc>
                <a:spcPct val="104000"/>
              </a:lnSpc>
              <a:buNone/>
            </a:pPr>
            <a:r>
              <a:rPr lang="en-US" sz="3600" b="1" dirty="0">
                <a:solidFill>
                  <a:srgbClr val="111111"/>
                </a:solidFill>
                <a:latin typeface="Orbitron Bold" pitchFamily="34" charset="0"/>
                <a:ea typeface="Orbitron Bold" pitchFamily="34" charset="-122"/>
                <a:cs typeface="Orbitron Bold" pitchFamily="34" charset="-120"/>
              </a:rPr>
              <a:t>What you are about to build</a:t>
            </a:r>
            <a:endParaRPr lang="en-US" sz="3600" dirty="0"/>
          </a:p>
        </p:txBody>
      </p:sp>
      <p:sp>
        <p:nvSpPr>
          <p:cNvPr id="4" name="Text 1"/>
          <p:cNvSpPr/>
          <p:nvPr/>
        </p:nvSpPr>
        <p:spPr>
          <a:xfrm>
            <a:off x="661475" y="1960959"/>
            <a:ext cx="366207" cy="228798"/>
          </a:xfrm>
          <a:prstGeom prst="rect">
            <a:avLst/>
          </a:prstGeom>
          <a:noFill/>
          <a:ln/>
        </p:spPr>
        <p:txBody>
          <a:bodyPr wrap="none" lIns="0" tIns="0" rIns="0" bIns="0" rtlCol="0" anchor="ctr"/>
          <a:lstStyle/>
          <a:p>
            <a:pPr algn="l" indent="0" marL="0">
              <a:lnSpc>
                <a:spcPct val="100000"/>
              </a:lnSpc>
              <a:buNone/>
            </a:pPr>
            <a:r>
              <a:rPr lang="en-US" sz="1400" dirty="0">
                <a:solidFill>
                  <a:srgbClr val="1C1C1C"/>
                </a:solidFill>
                <a:latin typeface="Orbitron" pitchFamily="34" charset="0"/>
                <a:ea typeface="Orbitron" pitchFamily="34" charset="-122"/>
                <a:cs typeface="Orbitron" pitchFamily="34" charset="-120"/>
              </a:rPr>
              <a:t>01</a:t>
            </a:r>
            <a:endParaRPr lang="en-US" sz="1400" dirty="0"/>
          </a:p>
        </p:txBody>
      </p:sp>
      <p:sp>
        <p:nvSpPr>
          <p:cNvPr id="5" name="Shape 2"/>
          <p:cNvSpPr/>
          <p:nvPr/>
        </p:nvSpPr>
        <p:spPr>
          <a:xfrm>
            <a:off x="661475" y="2246709"/>
            <a:ext cx="6296860" cy="25400"/>
          </a:xfrm>
          <a:prstGeom prst="rect">
            <a:avLst/>
          </a:prstGeom>
          <a:solidFill>
            <a:srgbClr val="57A1EB"/>
          </a:solidFill>
          <a:ln/>
        </p:spPr>
      </p:sp>
      <p:sp>
        <p:nvSpPr>
          <p:cNvPr id="6" name="Text 3"/>
          <p:cNvSpPr/>
          <p:nvPr/>
        </p:nvSpPr>
        <p:spPr>
          <a:xfrm>
            <a:off x="661475" y="2388989"/>
            <a:ext cx="6296860" cy="286048"/>
          </a:xfrm>
          <a:prstGeom prst="rect">
            <a:avLst/>
          </a:prstGeom>
          <a:noFill/>
          <a:ln/>
        </p:spPr>
        <p:txBody>
          <a:bodyPr wrap="none" lIns="0" tIns="0" rIns="0" bIns="0" rtlCol="0" anchor="t"/>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Build 1: Decision Engine, keep building</a:t>
            </a:r>
            <a:endParaRPr lang="en-US" sz="1800" dirty="0"/>
          </a:p>
        </p:txBody>
      </p:sp>
      <p:sp>
        <p:nvSpPr>
          <p:cNvPr id="7" name="Text 4"/>
          <p:cNvSpPr/>
          <p:nvPr/>
        </p:nvSpPr>
        <p:spPr>
          <a:xfrm>
            <a:off x="661475" y="2989659"/>
            <a:ext cx="366207" cy="228798"/>
          </a:xfrm>
          <a:prstGeom prst="rect">
            <a:avLst/>
          </a:prstGeom>
          <a:noFill/>
          <a:ln/>
        </p:spPr>
        <p:txBody>
          <a:bodyPr wrap="none" lIns="0" tIns="0" rIns="0" bIns="0" rtlCol="0" anchor="ctr"/>
          <a:lstStyle/>
          <a:p>
            <a:pPr algn="l" indent="0" marL="0">
              <a:lnSpc>
                <a:spcPct val="100000"/>
              </a:lnSpc>
              <a:buNone/>
            </a:pPr>
            <a:r>
              <a:rPr lang="en-US" sz="1400" dirty="0">
                <a:solidFill>
                  <a:srgbClr val="1C1C1C"/>
                </a:solidFill>
                <a:latin typeface="Orbitron" pitchFamily="34" charset="0"/>
                <a:ea typeface="Orbitron" pitchFamily="34" charset="-122"/>
                <a:cs typeface="Orbitron" pitchFamily="34" charset="-120"/>
              </a:rPr>
              <a:t>02</a:t>
            </a:r>
            <a:endParaRPr lang="en-US" sz="1400" dirty="0"/>
          </a:p>
        </p:txBody>
      </p:sp>
      <p:sp>
        <p:nvSpPr>
          <p:cNvPr id="8" name="Shape 5"/>
          <p:cNvSpPr/>
          <p:nvPr/>
        </p:nvSpPr>
        <p:spPr>
          <a:xfrm>
            <a:off x="661475" y="3275409"/>
            <a:ext cx="6296860" cy="25400"/>
          </a:xfrm>
          <a:prstGeom prst="rect">
            <a:avLst/>
          </a:prstGeom>
          <a:solidFill>
            <a:srgbClr val="57A1EB"/>
          </a:solidFill>
          <a:ln/>
        </p:spPr>
      </p:sp>
      <p:sp>
        <p:nvSpPr>
          <p:cNvPr id="9" name="Text 6"/>
          <p:cNvSpPr/>
          <p:nvPr/>
        </p:nvSpPr>
        <p:spPr>
          <a:xfrm>
            <a:off x="661475" y="3417689"/>
            <a:ext cx="6296860" cy="286048"/>
          </a:xfrm>
          <a:prstGeom prst="rect">
            <a:avLst/>
          </a:prstGeom>
          <a:noFill/>
          <a:ln/>
        </p:spPr>
        <p:txBody>
          <a:bodyPr wrap="none" lIns="0" tIns="0" rIns="0" bIns="0" rtlCol="0" anchor="t"/>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Apply the decision rule to your own nesting</a:t>
            </a:r>
            <a:endParaRPr lang="en-US" sz="1800" dirty="0"/>
          </a:p>
        </p:txBody>
      </p:sp>
      <p:sp>
        <p:nvSpPr>
          <p:cNvPr id="10" name="Text 7"/>
          <p:cNvSpPr/>
          <p:nvPr/>
        </p:nvSpPr>
        <p:spPr>
          <a:xfrm>
            <a:off x="661475" y="4018359"/>
            <a:ext cx="366207" cy="228798"/>
          </a:xfrm>
          <a:prstGeom prst="rect">
            <a:avLst/>
          </a:prstGeom>
          <a:noFill/>
          <a:ln/>
        </p:spPr>
        <p:txBody>
          <a:bodyPr wrap="none" lIns="0" tIns="0" rIns="0" bIns="0" rtlCol="0" anchor="ctr"/>
          <a:lstStyle/>
          <a:p>
            <a:pPr algn="l" indent="0" marL="0">
              <a:lnSpc>
                <a:spcPct val="100000"/>
              </a:lnSpc>
              <a:buNone/>
            </a:pPr>
            <a:r>
              <a:rPr lang="en-US" sz="1400" dirty="0">
                <a:solidFill>
                  <a:srgbClr val="1C1C1C"/>
                </a:solidFill>
                <a:latin typeface="Orbitron" pitchFamily="34" charset="0"/>
                <a:ea typeface="Orbitron" pitchFamily="34" charset="-122"/>
                <a:cs typeface="Orbitron" pitchFamily="34" charset="-120"/>
              </a:rPr>
              <a:t>03</a:t>
            </a:r>
            <a:endParaRPr lang="en-US" sz="1400" dirty="0"/>
          </a:p>
        </p:txBody>
      </p:sp>
      <p:sp>
        <p:nvSpPr>
          <p:cNvPr id="11" name="Shape 8"/>
          <p:cNvSpPr/>
          <p:nvPr/>
        </p:nvSpPr>
        <p:spPr>
          <a:xfrm>
            <a:off x="661475" y="4304109"/>
            <a:ext cx="6296860" cy="25400"/>
          </a:xfrm>
          <a:prstGeom prst="rect">
            <a:avLst/>
          </a:prstGeom>
          <a:solidFill>
            <a:srgbClr val="57A1EB"/>
          </a:solidFill>
          <a:ln/>
        </p:spPr>
      </p:sp>
      <p:sp>
        <p:nvSpPr>
          <p:cNvPr id="12" name="Text 9"/>
          <p:cNvSpPr/>
          <p:nvPr/>
        </p:nvSpPr>
        <p:spPr>
          <a:xfrm>
            <a:off x="661475" y="4446389"/>
            <a:ext cx="6296860" cy="572095"/>
          </a:xfrm>
          <a:prstGeom prst="rect">
            <a:avLst/>
          </a:prstGeom>
          <a:noFill/>
          <a:ln/>
        </p:spPr>
        <p:txBody>
          <a:bodyPr wrap="square" lIns="0" tIns="0" rIns="0" bIns="0" rtlCol="0" anchor="t">
            <a:normAutofit/>
          </a:bodyPr>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Build 2: run every decision table row against your engine</a:t>
            </a:r>
            <a:endParaRPr lang="en-US" sz="1800" dirty="0"/>
          </a:p>
        </p:txBody>
      </p:sp>
      <p:sp>
        <p:nvSpPr>
          <p:cNvPr id="13" name="Text 10"/>
          <p:cNvSpPr/>
          <p:nvPr/>
        </p:nvSpPr>
        <p:spPr>
          <a:xfrm>
            <a:off x="661475" y="5333107"/>
            <a:ext cx="366207" cy="228798"/>
          </a:xfrm>
          <a:prstGeom prst="rect">
            <a:avLst/>
          </a:prstGeom>
          <a:noFill/>
          <a:ln/>
        </p:spPr>
        <p:txBody>
          <a:bodyPr wrap="none" lIns="0" tIns="0" rIns="0" bIns="0" rtlCol="0" anchor="ctr"/>
          <a:lstStyle/>
          <a:p>
            <a:pPr algn="l" indent="0" marL="0">
              <a:lnSpc>
                <a:spcPct val="100000"/>
              </a:lnSpc>
              <a:buNone/>
            </a:pPr>
            <a:r>
              <a:rPr lang="en-US" sz="1400" dirty="0">
                <a:solidFill>
                  <a:srgbClr val="1C1C1C"/>
                </a:solidFill>
                <a:latin typeface="Orbitron" pitchFamily="34" charset="0"/>
                <a:ea typeface="Orbitron" pitchFamily="34" charset="-122"/>
                <a:cs typeface="Orbitron" pitchFamily="34" charset="-120"/>
              </a:rPr>
              <a:t>04</a:t>
            </a:r>
            <a:endParaRPr lang="en-US" sz="1400" dirty="0"/>
          </a:p>
        </p:txBody>
      </p:sp>
      <p:sp>
        <p:nvSpPr>
          <p:cNvPr id="14" name="Shape 11"/>
          <p:cNvSpPr/>
          <p:nvPr/>
        </p:nvSpPr>
        <p:spPr>
          <a:xfrm>
            <a:off x="661475" y="5618857"/>
            <a:ext cx="6296860" cy="25400"/>
          </a:xfrm>
          <a:prstGeom prst="rect">
            <a:avLst/>
          </a:prstGeom>
          <a:solidFill>
            <a:srgbClr val="57A1EB"/>
          </a:solidFill>
          <a:ln/>
        </p:spPr>
      </p:sp>
      <p:sp>
        <p:nvSpPr>
          <p:cNvPr id="15" name="Text 12"/>
          <p:cNvSpPr/>
          <p:nvPr/>
        </p:nvSpPr>
        <p:spPr>
          <a:xfrm>
            <a:off x="661475" y="5761137"/>
            <a:ext cx="6296860" cy="286048"/>
          </a:xfrm>
          <a:prstGeom prst="rect">
            <a:avLst/>
          </a:prstGeom>
          <a:noFill/>
          <a:ln/>
        </p:spPr>
        <p:txBody>
          <a:bodyPr wrap="none" lIns="0" tIns="0" rIns="0" bIns="0" rtlCol="0" anchor="t"/>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Tomorrow: Gate 2 review of AI code</a:t>
            </a:r>
            <a:endParaRPr lang="en-US" sz="1800" dirty="0"/>
          </a:p>
        </p:txBody>
      </p:sp>
      <p:sp>
        <p:nvSpPr>
          <p:cNvPr id="16" name="Text 1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2026-09-15T17:06:05Z</dcterms:created>
  <dcterms:modified xsi:type="dcterms:W3CDTF">2026-09-15T17:06:05Z</dcterms:modified>
</cp:coreProperties>
</file>