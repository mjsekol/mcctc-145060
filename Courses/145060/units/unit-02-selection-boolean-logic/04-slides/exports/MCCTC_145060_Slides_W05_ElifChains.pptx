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opening the grade portal and seeing a D next to a 95. You would be in the office in ten minutes. Here is the uncomfortable part. The person who wrote that portal did not write a single wrong condition. Every rule in their code is true. By the end of today you will be able to write that bug, see why it happens, and never ship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Thursday you had two roads. Most decisions have more than two. elif means else if, and it adds another condition to the same decision. I am going to run this with 95, 90, 89, and 59. Watch 90 and 89 in particular, because those two numbers sit on either side of the A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rule for the whole day. Python walks down the chain and stops at the first condition that is True. Trace 89 with me. Is 89 at least 90? No. Is 89 at least 80? Yes. Letter becomes B, and Python never even asks whether 89 is at least 70. Now the question that matters. Is 95 at least 60? Also yes. So why did 95 get an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going to keep every condition exactly as it was and only change the order. This is the order a lot of people think of grades in, bottom up. Every line on this slide is a true statement about the grading scale. Predict what 95 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A 95 is a D. Python asked whether 95 is at least 60, it is, so letter became D and the rest of the chain was skipped. The A line is still in the file and no score can ever reach it. That is called unreachable code. And notice this. If you tested with 45 and 65, you got F and D, both correct, and you would have called it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run any chain, ask one question. Could a single value make two of these conditions True? For grade bands the answer is always yes, because a 95 is at least 90 and at least 60. When the answer is yes, the narrowest band has to come first. If your conditions use greater than or equal, start at the top. If they use less than, start at the bottom. Either works as long as it is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other way this goes wrong. Four separate if statements are four separate decisions, and each one checks its own condition no matter what happened above it. A 95 passes all four and you get four letters. elif is the word that ties conditions together into one decision. If you want one outcome, you need one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mistakes do crash, which is the good news. People coming from other languages type else if or elseif, and Python says expected colon or invalid syntax. Putting an elif after else fails, because else ends the chain. And putting a condition on else fails, because else catches everything left over. If you need a condition, that is what elif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shape, fifth appearance. The program ran, printed something shaped like an answer, and was wrong. What the five have in common is that testing with one ordinary value would not have caught any of them. So here is the testing rule for every chain you write this unit. One value from every band, plus the exact boundary numbers. For grades that is 90 and 89, 80 and 79, and so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is the ticket pricing lab, part one. You price a movie ticket by age, which is a chain with four bands, and step five tells you to break the order on purpose and record what a senior pays. Do not skip that step. Then Build 2 opens the Unit 2 project, the Decision Engine. Today is Define and Measure, on paper. You pick the decision you are automating and list every input before you write a line of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2.png"/><Relationship Id="rId5" Type="http://schemas.openxmlformats.org/officeDocument/2006/relationships/image" Target="../media/image-4-3.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image" Target="../media/image-4-2.png"/><Relationship Id="rId9" Type="http://schemas.openxmlformats.org/officeDocument/2006/relationships/image" Target="../media/image-4-3.sv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2.png"/><Relationship Id="rId7" Type="http://schemas.openxmlformats.org/officeDocument/2006/relationships/image" Target="../media/image-7-3.svg"/><Relationship Id="rId8" Type="http://schemas.openxmlformats.org/officeDocument/2006/relationships/image" Target="../media/image-7-2.png"/><Relationship Id="rId9" Type="http://schemas.openxmlformats.org/officeDocument/2006/relationships/image" Target="../media/image-7-3.sv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svg"/><Relationship Id="rId4" Type="http://schemas.openxmlformats.org/officeDocument/2006/relationships/image" Target="../media/image-11-4.png"/><Relationship Id="rId5" Type="http://schemas.openxmlformats.org/officeDocument/2006/relationships/image" Target="../media/image-11-5.sv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More Than Two Roads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512987"/>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95 should not be a D</a:t>
            </a:r>
            <a:endParaRPr lang="en-US" sz="3700" dirty="0"/>
          </a:p>
        </p:txBody>
      </p:sp>
      <p:sp>
        <p:nvSpPr>
          <p:cNvPr id="4" name="Shape 1"/>
          <p:cNvSpPr/>
          <p:nvPr/>
        </p:nvSpPr>
        <p:spPr>
          <a:xfrm>
            <a:off x="5233360" y="2387104"/>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45199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got a 95 on the test</a:t>
            </a:r>
            <a:endParaRPr lang="en-US" sz="1850" dirty="0"/>
          </a:p>
        </p:txBody>
      </p:sp>
      <p:sp>
        <p:nvSpPr>
          <p:cNvPr id="6" name="Shape 3"/>
          <p:cNvSpPr/>
          <p:nvPr/>
        </p:nvSpPr>
        <p:spPr>
          <a:xfrm>
            <a:off x="5233360" y="3190379"/>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25526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grade portal says D</a:t>
            </a:r>
            <a:endParaRPr lang="en-US" sz="1850" dirty="0"/>
          </a:p>
        </p:txBody>
      </p:sp>
      <p:sp>
        <p:nvSpPr>
          <p:cNvPr id="8" name="Shape 5"/>
          <p:cNvSpPr/>
          <p:nvPr/>
        </p:nvSpPr>
        <p:spPr>
          <a:xfrm>
            <a:off x="5233360" y="3993654"/>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0585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Nothing crashed. No error anywhere</a:t>
            </a:r>
            <a:endParaRPr lang="en-US" sz="1850" dirty="0"/>
          </a:p>
        </p:txBody>
      </p:sp>
      <p:sp>
        <p:nvSpPr>
          <p:cNvPr id="10" name="Shape 7"/>
          <p:cNvSpPr/>
          <p:nvPr/>
        </p:nvSpPr>
        <p:spPr>
          <a:xfrm>
            <a:off x="5233360" y="4796929"/>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4861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Somebody wrote every condition correctly</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7725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decision, many outcomes</a:t>
            </a:r>
            <a:endParaRPr lang="en-US" sz="3700" dirty="0"/>
          </a:p>
        </p:txBody>
      </p:sp>
      <p:sp>
        <p:nvSpPr>
          <p:cNvPr id="3" name="Shape 1"/>
          <p:cNvSpPr/>
          <p:nvPr/>
        </p:nvSpPr>
        <p:spPr>
          <a:xfrm>
            <a:off x="661475" y="1545927"/>
            <a:ext cx="10868745" cy="4611886"/>
          </a:xfrm>
          <a:prstGeom prst="roundRect">
            <a:avLst>
              <a:gd name="adj" fmla="val 1721"/>
            </a:avLst>
          </a:prstGeom>
          <a:solidFill>
            <a:srgbClr val="F2F2F2"/>
          </a:solidFill>
          <a:ln/>
        </p:spPr>
      </p:sp>
      <p:sp>
        <p:nvSpPr>
          <p:cNvPr id="4" name="Text 2"/>
          <p:cNvSpPr/>
          <p:nvPr/>
        </p:nvSpPr>
        <p:spPr>
          <a:xfrm>
            <a:off x="888283" y="1734939"/>
            <a:ext cx="10415129" cy="423386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score = int(input("Test score: "))</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score &gt;= 90: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letter = "A"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elif score &gt;= 80: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letter = "B"</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elif score &gt;= 70: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letter = "C"</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elif score &gt;= 60: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letter = "D"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letter = "F"</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print(f"Score {score}: letter grade {letter}")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08881"/>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First True wins</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4201" y="2088852"/>
            <a:ext cx="283461" cy="283468"/>
          </a:xfrm>
          <a:prstGeom prst="rect">
            <a:avLst/>
          </a:prstGeom>
        </p:spPr>
      </p:pic>
      <p:sp>
        <p:nvSpPr>
          <p:cNvPr id="5" name="Text 1"/>
          <p:cNvSpPr/>
          <p:nvPr/>
        </p:nvSpPr>
        <p:spPr>
          <a:xfrm>
            <a:off x="5847608" y="2082998"/>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Python checks conditions from the top down</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4201" y="3057426"/>
            <a:ext cx="283461" cy="283468"/>
          </a:xfrm>
          <a:prstGeom prst="rect">
            <a:avLst/>
          </a:prstGeom>
        </p:spPr>
      </p:pic>
      <p:sp>
        <p:nvSpPr>
          <p:cNvPr id="7" name="Text 2"/>
          <p:cNvSpPr/>
          <p:nvPr/>
        </p:nvSpPr>
        <p:spPr>
          <a:xfrm>
            <a:off x="5847608" y="305157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runs the first True block</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4201" y="4008338"/>
            <a:ext cx="283461" cy="283468"/>
          </a:xfrm>
          <a:prstGeom prst="rect">
            <a:avLst/>
          </a:prstGeom>
        </p:spPr>
      </p:pic>
      <p:sp>
        <p:nvSpPr>
          <p:cNvPr id="9" name="Text 3"/>
          <p:cNvSpPr/>
          <p:nvPr/>
        </p:nvSpPr>
        <p:spPr>
          <a:xfrm>
            <a:off x="5847608" y="400248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it skips the rest of the chain</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04201" y="4959251"/>
            <a:ext cx="283461" cy="283468"/>
          </a:xfrm>
          <a:prstGeom prst="rect">
            <a:avLst/>
          </a:prstGeom>
        </p:spPr>
      </p:pic>
      <p:sp>
        <p:nvSpPr>
          <p:cNvPr id="11" name="Text 4"/>
          <p:cNvSpPr/>
          <p:nvPr/>
        </p:nvSpPr>
        <p:spPr>
          <a:xfrm>
            <a:off x="5847608" y="495339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Exactly one block runs. Never two</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18209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Same conditions, different order</a:t>
            </a:r>
            <a:endParaRPr lang="en-US" sz="3700" dirty="0"/>
          </a:p>
        </p:txBody>
      </p:sp>
      <p:sp>
        <p:nvSpPr>
          <p:cNvPr id="3" name="Shape 1"/>
          <p:cNvSpPr/>
          <p:nvPr/>
        </p:nvSpPr>
        <p:spPr>
          <a:xfrm>
            <a:off x="661475" y="2150765"/>
            <a:ext cx="10868745" cy="3402211"/>
          </a:xfrm>
          <a:prstGeom prst="roundRect">
            <a:avLst>
              <a:gd name="adj" fmla="val 2333"/>
            </a:avLst>
          </a:prstGeom>
          <a:solidFill>
            <a:srgbClr val="F2F2F2"/>
          </a:solidFill>
          <a:ln/>
        </p:spPr>
      </p:sp>
      <p:sp>
        <p:nvSpPr>
          <p:cNvPr id="4" name="Text 2"/>
          <p:cNvSpPr/>
          <p:nvPr/>
        </p:nvSpPr>
        <p:spPr>
          <a:xfrm>
            <a:off x="888283" y="2339777"/>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if score &gt;= 60:</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letter = "D"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elif score &gt;= 70:</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letter = "C"</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elif score &gt;= 80:</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letter = "B"</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elif score &gt;= 90:</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letter = "A"</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letter = "F"</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and no error</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Test score: 95</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Score 95: letter grade D</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Test score: 72</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Score 72: letter grade 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75584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ordering rule</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629966"/>
            <a:ext cx="6296860" cy="1019373"/>
          </a:xfrm>
          <a:prstGeom prst="rect">
            <a:avLst/>
          </a:prstGeom>
        </p:spPr>
      </p:pic>
      <p:sp>
        <p:nvSpPr>
          <p:cNvPr id="5" name="Text 1"/>
          <p:cNvSpPr/>
          <p:nvPr/>
        </p:nvSpPr>
        <p:spPr>
          <a:xfrm>
            <a:off x="977479" y="1844377"/>
            <a:ext cx="576644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Ask: can one value make two conditions True</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2838351"/>
            <a:ext cx="6296860" cy="724098"/>
          </a:xfrm>
          <a:prstGeom prst="rect">
            <a:avLst/>
          </a:prstGeom>
        </p:spPr>
      </p:pic>
      <p:sp>
        <p:nvSpPr>
          <p:cNvPr id="7" name="Text 2"/>
          <p:cNvSpPr/>
          <p:nvPr/>
        </p:nvSpPr>
        <p:spPr>
          <a:xfrm>
            <a:off x="977479" y="3052763"/>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If yes, the most specific condition goes first</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751461"/>
            <a:ext cx="6296860" cy="1019373"/>
          </a:xfrm>
          <a:prstGeom prst="rect">
            <a:avLst/>
          </a:prstGeom>
        </p:spPr>
      </p:pic>
      <p:sp>
        <p:nvSpPr>
          <p:cNvPr id="9" name="Text 3"/>
          <p:cNvSpPr/>
          <p:nvPr/>
        </p:nvSpPr>
        <p:spPr>
          <a:xfrm>
            <a:off x="977479" y="3965873"/>
            <a:ext cx="576644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With greater-than chains, start at the highest cutoff</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4959846"/>
            <a:ext cx="6296860" cy="1019373"/>
          </a:xfrm>
          <a:prstGeom prst="rect">
            <a:avLst/>
          </a:prstGeom>
        </p:spPr>
      </p:pic>
      <p:sp>
        <p:nvSpPr>
          <p:cNvPr id="11" name="Text 4"/>
          <p:cNvSpPr/>
          <p:nvPr/>
        </p:nvSpPr>
        <p:spPr>
          <a:xfrm>
            <a:off x="977479" y="5174258"/>
            <a:ext cx="576644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With less-than chains, start at the lowest cutoff</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01679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Separate ifs are separate decisions</a:t>
            </a:r>
            <a:endParaRPr lang="en-US" sz="3700" dirty="0"/>
          </a:p>
        </p:txBody>
      </p:sp>
      <p:sp>
        <p:nvSpPr>
          <p:cNvPr id="3" name="Shape 1"/>
          <p:cNvSpPr/>
          <p:nvPr/>
        </p:nvSpPr>
        <p:spPr>
          <a:xfrm>
            <a:off x="661475" y="2103537"/>
            <a:ext cx="5203794" cy="3402211"/>
          </a:xfrm>
          <a:prstGeom prst="roundRect">
            <a:avLst>
              <a:gd name="adj" fmla="val 2333"/>
            </a:avLst>
          </a:prstGeom>
          <a:solidFill>
            <a:srgbClr val="F2F2F2"/>
          </a:solidFill>
          <a:ln/>
        </p:spPr>
      </p:sp>
      <p:sp>
        <p:nvSpPr>
          <p:cNvPr id="4" name="Text 2"/>
          <p:cNvSpPr/>
          <p:nvPr/>
        </p:nvSpPr>
        <p:spPr>
          <a:xfrm>
            <a:off x="888283" y="2292548"/>
            <a:ext cx="4750177"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if score &gt;= 90:</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print("A")</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if score &gt;= 80:</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print("B")</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if score &gt;= 70:</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print("C")</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if score &gt;= 60:</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print("F")</a:t>
            </a:r>
            <a:endParaRPr lang="en-US" sz="1450" dirty="0"/>
          </a:p>
        </p:txBody>
      </p:sp>
      <p:sp>
        <p:nvSpPr>
          <p:cNvPr id="5" name="Shape 3"/>
          <p:cNvSpPr/>
          <p:nvPr/>
        </p:nvSpPr>
        <p:spPr>
          <a:xfrm>
            <a:off x="6332776" y="2103537"/>
            <a:ext cx="5203794" cy="1890117"/>
          </a:xfrm>
          <a:prstGeom prst="roundRect">
            <a:avLst>
              <a:gd name="adj" fmla="val 4200"/>
            </a:avLst>
          </a:prstGeom>
          <a:solidFill>
            <a:srgbClr val="F2F2F2"/>
          </a:solidFill>
          <a:ln/>
        </p:spPr>
      </p:sp>
      <p:sp>
        <p:nvSpPr>
          <p:cNvPr id="6" name="Text 4"/>
          <p:cNvSpPr/>
          <p:nvPr/>
        </p:nvSpPr>
        <p:spPr>
          <a:xfrm>
            <a:off x="6559584" y="2292548"/>
            <a:ext cx="4750177"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Test score: 95</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A</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B</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C</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D</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24161"/>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Mistakes that do crash</a:t>
            </a:r>
            <a:endParaRPr lang="en-US" sz="3700" dirty="0"/>
          </a:p>
        </p:txBody>
      </p:sp>
      <p:sp>
        <p:nvSpPr>
          <p:cNvPr id="4" name="Shape 1"/>
          <p:cNvSpPr/>
          <p:nvPr/>
        </p:nvSpPr>
        <p:spPr>
          <a:xfrm>
            <a:off x="5233360" y="2098278"/>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5441417" y="2306340"/>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else if and elseif are not Python</a:t>
            </a:r>
            <a:endParaRPr lang="en-US" sz="1850" dirty="0"/>
          </a:p>
        </p:txBody>
      </p:sp>
      <p:sp>
        <p:nvSpPr>
          <p:cNvPr id="6" name="Shape 3"/>
          <p:cNvSpPr/>
          <p:nvPr/>
        </p:nvSpPr>
        <p:spPr>
          <a:xfrm>
            <a:off x="5233360" y="2998688"/>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5441417" y="3206750"/>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elif after else is invalid syntax</a:t>
            </a:r>
            <a:endParaRPr lang="en-US" sz="1850" dirty="0"/>
          </a:p>
        </p:txBody>
      </p:sp>
      <p:sp>
        <p:nvSpPr>
          <p:cNvPr id="8" name="Shape 5"/>
          <p:cNvSpPr/>
          <p:nvPr/>
        </p:nvSpPr>
        <p:spPr>
          <a:xfrm>
            <a:off x="5233360" y="3899098"/>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5441417" y="4107160"/>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else never takes a condition</a:t>
            </a:r>
            <a:endParaRPr lang="en-US" sz="1850" dirty="0"/>
          </a:p>
        </p:txBody>
      </p:sp>
      <p:sp>
        <p:nvSpPr>
          <p:cNvPr id="10" name="Shape 7"/>
          <p:cNvSpPr/>
          <p:nvPr/>
        </p:nvSpPr>
        <p:spPr>
          <a:xfrm>
            <a:off x="5233360" y="4799509"/>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5441417" y="5007570"/>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Read the last line of the error</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76301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Five times now</a:t>
            </a:r>
            <a:endParaRPr lang="en-US" sz="3700" dirty="0"/>
          </a:p>
        </p:txBody>
      </p:sp>
      <p:sp>
        <p:nvSpPr>
          <p:cNvPr id="3" name="Text 1"/>
          <p:cNvSpPr/>
          <p:nvPr/>
        </p:nvSpPr>
        <p:spPr>
          <a:xfrm>
            <a:off x="661475" y="273169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3027561"/>
            <a:ext cx="3496877" cy="25400"/>
          </a:xfrm>
          <a:prstGeom prst="rect">
            <a:avLst/>
          </a:prstGeom>
          <a:solidFill>
            <a:srgbClr val="57A1EB"/>
          </a:solidFill>
          <a:ln/>
        </p:spPr>
      </p:sp>
      <p:sp>
        <p:nvSpPr>
          <p:cNvPr id="5" name="Text 3"/>
          <p:cNvSpPr/>
          <p:nvPr/>
        </p:nvSpPr>
        <p:spPr>
          <a:xfrm>
            <a:off x="661475" y="3172817"/>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121212 from a missing conversion</a:t>
            </a:r>
            <a:endParaRPr lang="en-US" sz="1850" dirty="0"/>
          </a:p>
        </p:txBody>
      </p:sp>
      <p:sp>
        <p:nvSpPr>
          <p:cNvPr id="6" name="Text 4"/>
          <p:cNvSpPr/>
          <p:nvPr/>
        </p:nvSpPr>
        <p:spPr>
          <a:xfrm>
            <a:off x="4347359" y="273169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4347359" y="3027561"/>
            <a:ext cx="3496877" cy="25400"/>
          </a:xfrm>
          <a:prstGeom prst="rect">
            <a:avLst/>
          </a:prstGeom>
          <a:solidFill>
            <a:srgbClr val="57A1EB"/>
          </a:solidFill>
          <a:ln/>
        </p:spPr>
      </p:sp>
      <p:sp>
        <p:nvSpPr>
          <p:cNvPr id="8" name="Text 6"/>
          <p:cNvSpPr/>
          <p:nvPr/>
        </p:nvSpPr>
        <p:spPr>
          <a:xfrm>
            <a:off x="4347359" y="3172817"/>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Two and a half people accepted</a:t>
            </a:r>
            <a:endParaRPr lang="en-US" sz="1850" dirty="0"/>
          </a:p>
        </p:txBody>
      </p:sp>
      <p:sp>
        <p:nvSpPr>
          <p:cNvPr id="9" name="Text 7"/>
          <p:cNvSpPr/>
          <p:nvPr/>
        </p:nvSpPr>
        <p:spPr>
          <a:xfrm>
            <a:off x="8033244" y="273169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8033244" y="3027561"/>
            <a:ext cx="3496877" cy="25400"/>
          </a:xfrm>
          <a:prstGeom prst="rect">
            <a:avLst/>
          </a:prstGeom>
          <a:solidFill>
            <a:srgbClr val="57A1EB"/>
          </a:solidFill>
          <a:ln/>
        </p:spPr>
      </p:sp>
      <p:sp>
        <p:nvSpPr>
          <p:cNvPr id="11" name="Text 9"/>
          <p:cNvSpPr/>
          <p:nvPr/>
        </p:nvSpPr>
        <p:spPr>
          <a:xfrm>
            <a:off x="8033244" y="3172817"/>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year sliced to 202</a:t>
            </a:r>
            <a:endParaRPr lang="en-US" sz="1850" dirty="0"/>
          </a:p>
        </p:txBody>
      </p:sp>
      <p:sp>
        <p:nvSpPr>
          <p:cNvPr id="12" name="Text 10"/>
          <p:cNvSpPr/>
          <p:nvPr/>
        </p:nvSpPr>
        <p:spPr>
          <a:xfrm>
            <a:off x="661475" y="4094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61475" y="4389934"/>
            <a:ext cx="5339820" cy="25400"/>
          </a:xfrm>
          <a:prstGeom prst="rect">
            <a:avLst/>
          </a:prstGeom>
          <a:solidFill>
            <a:srgbClr val="57A1EB"/>
          </a:solidFill>
          <a:ln/>
        </p:spPr>
      </p:sp>
      <p:sp>
        <p:nvSpPr>
          <p:cNvPr id="14" name="Text 12"/>
          <p:cNvSpPr/>
          <p:nvPr/>
        </p:nvSpPr>
        <p:spPr>
          <a:xfrm>
            <a:off x="661475" y="4535190"/>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Nine beating ten</a:t>
            </a:r>
            <a:endParaRPr lang="en-US" sz="1850" dirty="0"/>
          </a:p>
        </p:txBody>
      </p:sp>
      <p:sp>
        <p:nvSpPr>
          <p:cNvPr id="15" name="Text 13"/>
          <p:cNvSpPr/>
          <p:nvPr/>
        </p:nvSpPr>
        <p:spPr>
          <a:xfrm>
            <a:off x="6190301" y="4094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05</a:t>
            </a:r>
            <a:endParaRPr lang="en-US" sz="1450" dirty="0"/>
          </a:p>
        </p:txBody>
      </p:sp>
      <p:sp>
        <p:nvSpPr>
          <p:cNvPr id="16" name="Shape 14"/>
          <p:cNvSpPr/>
          <p:nvPr/>
        </p:nvSpPr>
        <p:spPr>
          <a:xfrm>
            <a:off x="6190301" y="4389934"/>
            <a:ext cx="5339820" cy="25400"/>
          </a:xfrm>
          <a:prstGeom prst="rect">
            <a:avLst/>
          </a:prstGeom>
          <a:solidFill>
            <a:srgbClr val="57A1EB"/>
          </a:solidFill>
          <a:ln/>
        </p:spPr>
      </p:sp>
      <p:sp>
        <p:nvSpPr>
          <p:cNvPr id="17" name="Text 15"/>
          <p:cNvSpPr/>
          <p:nvPr/>
        </p:nvSpPr>
        <p:spPr>
          <a:xfrm>
            <a:off x="6190301" y="4535190"/>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95 that earns a D</a:t>
            </a:r>
            <a:endParaRPr lang="en-US" sz="18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048147"/>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512913"/>
            <a:ext cx="6296860" cy="1851025"/>
          </a:xfrm>
          <a:prstGeom prst="rect">
            <a:avLst/>
          </a:prstGeom>
        </p:spPr>
      </p:pic>
      <p:sp>
        <p:nvSpPr>
          <p:cNvPr id="5" name="Text 1"/>
          <p:cNvSpPr/>
          <p:nvPr/>
        </p:nvSpPr>
        <p:spPr>
          <a:xfrm>
            <a:off x="913583" y="326122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6" name="Text 2"/>
          <p:cNvSpPr/>
          <p:nvPr/>
        </p:nvSpPr>
        <p:spPr>
          <a:xfrm>
            <a:off x="1631909" y="2727325"/>
            <a:ext cx="511201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 Lab U02-01 Ticket Pricing, Part 1</a:t>
            </a:r>
            <a:endParaRPr lang="en-US" sz="1850" dirty="0"/>
          </a:p>
        </p:txBody>
      </p:sp>
      <p:sp>
        <p:nvSpPr>
          <p:cNvPr id="7" name="Text 3"/>
          <p:cNvSpPr/>
          <p:nvPr/>
        </p:nvSpPr>
        <p:spPr>
          <a:xfrm>
            <a:off x="1631909" y="3431282"/>
            <a:ext cx="5112019" cy="718245"/>
          </a:xfrm>
          <a:prstGeom prst="rect">
            <a:avLst/>
          </a:prstGeom>
          <a:noFill/>
          <a:ln/>
        </p:spPr>
        <p:txBody>
          <a:bodyPr wrap="square" lIns="0" tIns="0" rIns="0" bIns="0" rtlCol="0" anchor="t"/>
          <a:lstStyle/>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Price a movie ticket by age band</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Step 5 puts your bands in the wrong order</a:t>
            </a:r>
            <a:endParaRPr lang="en-US" sz="14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4552950"/>
            <a:ext cx="6296860" cy="1134070"/>
          </a:xfrm>
          <a:prstGeom prst="rect">
            <a:avLst/>
          </a:prstGeom>
        </p:spPr>
      </p:pic>
      <p:sp>
        <p:nvSpPr>
          <p:cNvPr id="9" name="Text 4"/>
          <p:cNvSpPr/>
          <p:nvPr/>
        </p:nvSpPr>
        <p:spPr>
          <a:xfrm>
            <a:off x="913583" y="4942780"/>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10" name="Text 5"/>
          <p:cNvSpPr/>
          <p:nvPr/>
        </p:nvSpPr>
        <p:spPr>
          <a:xfrm>
            <a:off x="1631909" y="4767362"/>
            <a:ext cx="511201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 Decision Engine opens. No code yet</a:t>
            </a:r>
            <a:endParaRPr lang="en-US" sz="1850" dirty="0"/>
          </a:p>
        </p:txBody>
      </p:sp>
      <p:sp>
        <p:nvSpPr>
          <p:cNvPr id="11"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2026-09-14T18:09:31Z</dcterms:created>
  <dcterms:modified xsi:type="dcterms:W3CDTF">2026-09-14T18:09:31Z</dcterms:modified>
</cp:coreProperties>
</file>