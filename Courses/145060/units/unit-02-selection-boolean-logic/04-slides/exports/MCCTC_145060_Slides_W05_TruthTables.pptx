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coach asked for a tiny program. Cancel practice unless it is warm and dry. A student wrote it, then tidied it up to make it simpler, and the simpler version sent the team outside in the rain. The student tested it on a cold rainy day and it worked. Today you learn the tool that would have caught it in two minutes, and it fits on an index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truth table lists every situation a condition can face and the answer in each one. Remember the eight light switches from last week that made 256 arrangements. Same counting. Every input you add doubles the rows. And here is the part that matters for your projects. Every row is a test case. If your program is right on every row, you have tested every combination that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to know cold. And is True in exactly one row, the row where both are True. Or is False in exactly one row, the row where both are False. Not flips. Fill the input columns by counting down in binary, true true, true false, false true, false false, and you will never skip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and not B. Each print is one row with the values typed in. You build the table on paper first, with a helper column for not B, and then you check each row here. The WebXam will ask you to build the table without a computer, so the paper is the skill and Python is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and raining. Practice happens only when warm and dry is True, so we cancel when it is not. The not goes around the whole parenthesized condition. This is right. Now watch the student tidy it up by pushing the not inside the parentheses, which looks like the algebra you learned in eighth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False. The team practices in the rain. This version only cancels when it is cold and wet at the same time. The student tested a cold rainy day and got the right answer, so they believed it. Seventh time now. The code ran, it printed an answer, and it was wrong. Let us build the table and find every row where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conditions side by side. The first is the honest one. The second is the student's version, and it is wrong in two of the four rows, warm and wet, and cold and dry. The third column matches the first in every row. When two columns match in every row, the conditions mean the same thing, and when a single row differs, they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When you push not inside parentheses, and becomes or, and or becomes and. It has a name, De Morgan's law, and you do not need the name. You need the habit. Any time you rewrite a condition to make it simpler, build a table of the old version and the new version side by side before you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mistake that does crash. On paper you might write T and F, or true and false in lowercase. In Python, True and False have capital letters. Lowercase true is a name nobody defined, and Python even suggests the fix. Read the suggestion, then check it, because a suggestion is a spelling match and not an understanding of what you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paper. Four tables, with helper columns, and then you check every row in Python. The last table compares two conditions and you decide whether they are the same. Build 2 is your Decision Engine. Take the rules you wrote as sentences yesterday and turn them into a table of inputs and the category each combination should get. That table is your test plan for next week, so every row you skip is a test you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Possible Answer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67705"/>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Practice in the rain</a:t>
            </a:r>
            <a:endParaRPr lang="en-US" sz="3700" dirty="0"/>
          </a:p>
        </p:txBody>
      </p:sp>
      <p:sp>
        <p:nvSpPr>
          <p:cNvPr id="4" name="Shape 1"/>
          <p:cNvSpPr/>
          <p:nvPr/>
        </p:nvSpPr>
        <p:spPr>
          <a:xfrm>
            <a:off x="5233360" y="2041823"/>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10671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coach wants a cancel-practice program</a:t>
            </a:r>
            <a:endParaRPr lang="en-US" sz="1850" dirty="0"/>
          </a:p>
        </p:txBody>
      </p:sp>
      <p:sp>
        <p:nvSpPr>
          <p:cNvPr id="6" name="Shape 3"/>
          <p:cNvSpPr/>
          <p:nvPr/>
        </p:nvSpPr>
        <p:spPr>
          <a:xfrm>
            <a:off x="5233360" y="3075285"/>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14017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Practice only happens when it is warm and dry</a:t>
            </a:r>
            <a:endParaRPr lang="en-US" sz="1850" dirty="0"/>
          </a:p>
        </p:txBody>
      </p:sp>
      <p:sp>
        <p:nvSpPr>
          <p:cNvPr id="8" name="Shape 5"/>
          <p:cNvSpPr/>
          <p:nvPr/>
        </p:nvSpPr>
        <p:spPr>
          <a:xfrm>
            <a:off x="5233360" y="4108748"/>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17363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student simplified the condition</a:t>
            </a:r>
            <a:endParaRPr lang="en-US" sz="1850" dirty="0"/>
          </a:p>
        </p:txBody>
      </p:sp>
      <p:sp>
        <p:nvSpPr>
          <p:cNvPr id="10" name="Shape 7"/>
          <p:cNvSpPr/>
          <p:nvPr/>
        </p:nvSpPr>
        <p:spPr>
          <a:xfrm>
            <a:off x="5233360" y="4912023"/>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497691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team practiced outside in a thunderstorm</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table of every situation</a:t>
            </a:r>
            <a:endParaRPr lang="en-US" sz="3700" dirty="0"/>
          </a:p>
        </p:txBody>
      </p:sp>
      <p:sp>
        <p:nvSpPr>
          <p:cNvPr id="4" name="Shape 1"/>
          <p:cNvSpPr/>
          <p:nvPr/>
        </p:nvSpPr>
        <p:spPr>
          <a:xfrm>
            <a:off x="661475" y="2368252"/>
            <a:ext cx="6296860"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875881" y="258266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column per input</a:t>
            </a:r>
            <a:endParaRPr lang="en-US" sz="1850" dirty="0"/>
          </a:p>
        </p:txBody>
      </p:sp>
      <p:sp>
        <p:nvSpPr>
          <p:cNvPr id="6" name="Shape 3"/>
          <p:cNvSpPr/>
          <p:nvPr/>
        </p:nvSpPr>
        <p:spPr>
          <a:xfrm>
            <a:off x="661475" y="3281362"/>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875881" y="349577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row per combination of True and False</a:t>
            </a:r>
            <a:endParaRPr lang="en-US" sz="1850" dirty="0"/>
          </a:p>
        </p:txBody>
      </p:sp>
      <p:sp>
        <p:nvSpPr>
          <p:cNvPr id="8" name="Shape 5"/>
          <p:cNvSpPr/>
          <p:nvPr/>
        </p:nvSpPr>
        <p:spPr>
          <a:xfrm>
            <a:off x="661475" y="4194473"/>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408884"/>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input doubles the number of rows</a:t>
            </a:r>
            <a:endParaRPr lang="en-US" sz="1850" dirty="0"/>
          </a:p>
        </p:txBody>
      </p:sp>
      <p:sp>
        <p:nvSpPr>
          <p:cNvPr id="10" name="Shape 7"/>
          <p:cNvSpPr/>
          <p:nvPr/>
        </p:nvSpPr>
        <p:spPr>
          <a:xfrm>
            <a:off x="661475" y="5107583"/>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875881" y="532199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inputs, 4 rows. Three inputs, 8 rows</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 basic tables</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B      | A and B | A or 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True   True   | True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True   False  | False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False  True   | False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False  False  | False   |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 not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True   |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False  |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2405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Checking a row in Python</a:t>
            </a:r>
            <a:endParaRPr lang="en-US" sz="3700" dirty="0"/>
          </a:p>
        </p:txBody>
      </p:sp>
      <p:sp>
        <p:nvSpPr>
          <p:cNvPr id="3" name="Shape 1"/>
          <p:cNvSpPr/>
          <p:nvPr/>
        </p:nvSpPr>
        <p:spPr>
          <a:xfrm>
            <a:off x="661475" y="3010793"/>
            <a:ext cx="5203794" cy="1587698"/>
          </a:xfrm>
          <a:prstGeom prst="roundRect">
            <a:avLst>
              <a:gd name="adj" fmla="val 5000"/>
            </a:avLst>
          </a:prstGeom>
          <a:solidFill>
            <a:srgbClr val="F2F2F2"/>
          </a:solidFill>
          <a:ln/>
        </p:spPr>
      </p:sp>
      <p:sp>
        <p:nvSpPr>
          <p:cNvPr id="4" name="Text 2"/>
          <p:cNvSpPr/>
          <p:nvPr/>
        </p:nvSpPr>
        <p:spPr>
          <a:xfrm>
            <a:off x="888283" y="3199805"/>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print(True and not True)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print(True and not False)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print(False and not True)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print(False and not False)</a:t>
            </a:r>
            <a:endParaRPr lang="en-US" sz="1450" dirty="0"/>
          </a:p>
        </p:txBody>
      </p:sp>
      <p:sp>
        <p:nvSpPr>
          <p:cNvPr id="5" name="Shape 3"/>
          <p:cNvSpPr/>
          <p:nvPr/>
        </p:nvSpPr>
        <p:spPr>
          <a:xfrm>
            <a:off x="6332776" y="3010793"/>
            <a:ext cx="5203794" cy="1587698"/>
          </a:xfrm>
          <a:prstGeom prst="roundRect">
            <a:avLst>
              <a:gd name="adj" fmla="val 5000"/>
            </a:avLst>
          </a:prstGeom>
          <a:solidFill>
            <a:srgbClr val="F2F2F2"/>
          </a:solidFill>
          <a:ln/>
        </p:spPr>
      </p:sp>
      <p:sp>
        <p:nvSpPr>
          <p:cNvPr id="6" name="Text 4"/>
          <p:cNvSpPr/>
          <p:nvPr/>
        </p:nvSpPr>
        <p:spPr>
          <a:xfrm>
            <a:off x="6559584" y="3199805"/>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916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Cancel practice, the honest version</a:t>
            </a:r>
            <a:endParaRPr lang="en-US" sz="3700" dirty="0"/>
          </a:p>
        </p:txBody>
      </p:sp>
      <p:sp>
        <p:nvSpPr>
          <p:cNvPr id="3" name="Shape 1"/>
          <p:cNvSpPr/>
          <p:nvPr/>
        </p:nvSpPr>
        <p:spPr>
          <a:xfrm>
            <a:off x="661475" y="2460327"/>
            <a:ext cx="10868745" cy="1890117"/>
          </a:xfrm>
          <a:prstGeom prst="roundRect">
            <a:avLst>
              <a:gd name="adj" fmla="val 4200"/>
            </a:avLst>
          </a:prstGeom>
          <a:solidFill>
            <a:srgbClr val="F2F2F2"/>
          </a:solidFill>
          <a:ln/>
        </p:spPr>
      </p:sp>
      <p:sp>
        <p:nvSpPr>
          <p:cNvPr id="4" name="Text 2"/>
          <p:cNvSpPr/>
          <p:nvPr/>
        </p:nvSpPr>
        <p:spPr>
          <a:xfrm>
            <a:off x="888283" y="2649339"/>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is_warm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is_dry =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cancel_practice = not (is_warm and is_dry)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print("Cancel practice:", cancel_practice)</a:t>
            </a:r>
            <a:endParaRPr lang="en-US" sz="1450" dirty="0"/>
          </a:p>
        </p:txBody>
      </p:sp>
      <p:sp>
        <p:nvSpPr>
          <p:cNvPr id="5" name="Shape 3"/>
          <p:cNvSpPr/>
          <p:nvPr/>
        </p:nvSpPr>
        <p:spPr>
          <a:xfrm>
            <a:off x="661475" y="4563070"/>
            <a:ext cx="10868745" cy="680442"/>
          </a:xfrm>
          <a:prstGeom prst="roundRect">
            <a:avLst>
              <a:gd name="adj" fmla="val 11667"/>
            </a:avLst>
          </a:prstGeom>
          <a:solidFill>
            <a:srgbClr val="F2F2F2"/>
          </a:solidFill>
          <a:ln/>
        </p:spPr>
      </p:sp>
      <p:sp>
        <p:nvSpPr>
          <p:cNvPr id="6" name="Text 4"/>
          <p:cNvSpPr/>
          <p:nvPr/>
        </p:nvSpPr>
        <p:spPr>
          <a:xfrm>
            <a:off x="888283" y="4752082"/>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Cancel practice: True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6099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2429669"/>
            <a:ext cx="10868745" cy="982861"/>
          </a:xfrm>
          <a:prstGeom prst="roundRect">
            <a:avLst>
              <a:gd name="adj" fmla="val 8077"/>
            </a:avLst>
          </a:prstGeom>
          <a:solidFill>
            <a:srgbClr val="F2F2F2"/>
          </a:solidFill>
          <a:ln/>
        </p:spPr>
      </p:sp>
      <p:sp>
        <p:nvSpPr>
          <p:cNvPr id="4" name="Text 2"/>
          <p:cNvSpPr/>
          <p:nvPr/>
        </p:nvSpPr>
        <p:spPr>
          <a:xfrm>
            <a:off x="888283" y="2618680"/>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cancel_practice = not is_warm and not is_dry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print("Cancel practice:", cancel_practice)</a:t>
            </a:r>
            <a:endParaRPr lang="en-US" sz="1450" dirty="0"/>
          </a:p>
        </p:txBody>
      </p:sp>
      <p:sp>
        <p:nvSpPr>
          <p:cNvPr id="5" name="Shape 3"/>
          <p:cNvSpPr/>
          <p:nvPr/>
        </p:nvSpPr>
        <p:spPr>
          <a:xfrm>
            <a:off x="661475" y="3625155"/>
            <a:ext cx="10868745" cy="680442"/>
          </a:xfrm>
          <a:prstGeom prst="roundRect">
            <a:avLst>
              <a:gd name="adj" fmla="val 11667"/>
            </a:avLst>
          </a:prstGeom>
          <a:solidFill>
            <a:srgbClr val="F2F2F2"/>
          </a:solidFill>
          <a:ln/>
        </p:spPr>
      </p:sp>
      <p:sp>
        <p:nvSpPr>
          <p:cNvPr id="6" name="Text 4"/>
          <p:cNvSpPr/>
          <p:nvPr/>
        </p:nvSpPr>
        <p:spPr>
          <a:xfrm>
            <a:off x="888283" y="381416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Cancel practice: False</a:t>
            </a:r>
            <a:endParaRPr lang="en-US" sz="1450" dirty="0"/>
          </a:p>
        </p:txBody>
      </p:sp>
      <p:sp>
        <p:nvSpPr>
          <p:cNvPr id="7" name="Shape 5"/>
          <p:cNvSpPr/>
          <p:nvPr/>
        </p:nvSpPr>
        <p:spPr>
          <a:xfrm>
            <a:off x="661475" y="4518223"/>
            <a:ext cx="10868745" cy="755948"/>
          </a:xfrm>
          <a:prstGeom prst="roundRect">
            <a:avLst>
              <a:gd name="adj" fmla="val 10502"/>
            </a:avLst>
          </a:prstGeom>
          <a:solidFill>
            <a:srgbClr val="FCF2B5"/>
          </a:solidFill>
          <a:ln/>
        </p:spPr>
      </p:sp>
      <p:pic>
        <p:nvPicPr>
          <p:cNvPr id="8" name="Image 0" descr="preencoded.png">    </p:cNvPr>
          <p:cNvPicPr>
            <a:picLocks noChangeAspect="1"/>
          </p:cNvPicPr>
          <p:nvPr/>
        </p:nvPicPr>
        <p:blipFill>
          <a:blip r:embed="rId1"/>
          <a:stretch>
            <a:fillRect/>
          </a:stretch>
        </p:blipFill>
        <p:spPr>
          <a:xfrm>
            <a:off x="850482" y="4785916"/>
            <a:ext cx="236234" cy="189012"/>
          </a:xfrm>
          <a:prstGeom prst="rect">
            <a:avLst/>
          </a:prstGeom>
        </p:spPr>
      </p:pic>
      <p:sp>
        <p:nvSpPr>
          <p:cNvPr id="9" name="Text 6"/>
          <p:cNvSpPr/>
          <p:nvPr/>
        </p:nvSpPr>
        <p:spPr>
          <a:xfrm>
            <a:off x="1275723" y="4754463"/>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No error is raised, but the result is wrong.</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table finds it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      D      | not (W and D) | not W and not D | not W or not 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True   True   | False         | False           |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True   False  | True          | False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False  True   | True          | False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False  False  | True          | True            |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not moves inside, the operator flips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(W and D) equals not W or not 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(W or D) equals not W and not D</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is called De Morgan's law</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Prove any rewrite with a table</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090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Lowercase true is not a thing</a:t>
            </a:r>
            <a:endParaRPr lang="en-US" sz="3700" dirty="0"/>
          </a:p>
        </p:txBody>
      </p:sp>
      <p:sp>
        <p:nvSpPr>
          <p:cNvPr id="3" name="Shape 1"/>
          <p:cNvSpPr/>
          <p:nvPr/>
        </p:nvSpPr>
        <p:spPr>
          <a:xfrm>
            <a:off x="661475" y="2577703"/>
            <a:ext cx="10868745" cy="680442"/>
          </a:xfrm>
          <a:prstGeom prst="roundRect">
            <a:avLst>
              <a:gd name="adj" fmla="val 11667"/>
            </a:avLst>
          </a:prstGeom>
          <a:solidFill>
            <a:srgbClr val="F2F2F2"/>
          </a:solidFill>
          <a:ln/>
        </p:spPr>
      </p:sp>
      <p:sp>
        <p:nvSpPr>
          <p:cNvPr id="4" name="Text 2"/>
          <p:cNvSpPr/>
          <p:nvPr/>
        </p:nvSpPr>
        <p:spPr>
          <a:xfrm>
            <a:off x="888283" y="276671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print(true and false)</a:t>
            </a:r>
            <a:endParaRPr lang="en-US" sz="1450" dirty="0"/>
          </a:p>
        </p:txBody>
      </p:sp>
      <p:sp>
        <p:nvSpPr>
          <p:cNvPr id="5" name="Shape 3"/>
          <p:cNvSpPr/>
          <p:nvPr/>
        </p:nvSpPr>
        <p:spPr>
          <a:xfrm>
            <a:off x="661475" y="3470771"/>
            <a:ext cx="10868745" cy="680442"/>
          </a:xfrm>
          <a:prstGeom prst="roundRect">
            <a:avLst>
              <a:gd name="adj" fmla="val 11667"/>
            </a:avLst>
          </a:prstGeom>
          <a:solidFill>
            <a:srgbClr val="F2F2F2"/>
          </a:solidFill>
          <a:ln/>
        </p:spPr>
      </p:sp>
      <p:sp>
        <p:nvSpPr>
          <p:cNvPr id="6" name="Text 4"/>
          <p:cNvSpPr/>
          <p:nvPr/>
        </p:nvSpPr>
        <p:spPr>
          <a:xfrm>
            <a:off x="888283" y="3659783"/>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NameError: name 'true' is not defined. Did you mean: 'True'?</a:t>
            </a:r>
            <a:endParaRPr lang="en-US" sz="1450" dirty="0"/>
          </a:p>
        </p:txBody>
      </p:sp>
      <p:sp>
        <p:nvSpPr>
          <p:cNvPr id="7" name="Shape 5"/>
          <p:cNvSpPr/>
          <p:nvPr/>
        </p:nvSpPr>
        <p:spPr>
          <a:xfrm>
            <a:off x="661475" y="4363839"/>
            <a:ext cx="10868745" cy="762298"/>
          </a:xfrm>
          <a:prstGeom prst="roundRect">
            <a:avLst>
              <a:gd name="adj" fmla="val 10414"/>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850482" y="4631531"/>
            <a:ext cx="236234" cy="189012"/>
          </a:xfrm>
          <a:prstGeom prst="rect">
            <a:avLst/>
          </a:prstGeom>
        </p:spPr>
      </p:pic>
      <p:sp>
        <p:nvSpPr>
          <p:cNvPr id="9" name="Text 6"/>
          <p:cNvSpPr/>
          <p:nvPr/>
        </p:nvSpPr>
        <p:spPr>
          <a:xfrm>
            <a:off x="1275723" y="4600079"/>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Python is case-sensitive. Use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and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False</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not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or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false</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356148"/>
            <a:ext cx="6296860" cy="25400"/>
          </a:xfrm>
          <a:prstGeom prst="rect">
            <a:avLst/>
          </a:prstGeom>
          <a:solidFill>
            <a:srgbClr val="57A1EB"/>
          </a:solidFill>
          <a:ln/>
        </p:spPr>
      </p:sp>
      <p:sp>
        <p:nvSpPr>
          <p:cNvPr id="6" name="Text 3"/>
          <p:cNvSpPr/>
          <p:nvPr/>
        </p:nvSpPr>
        <p:spPr>
          <a:xfrm>
            <a:off x="5233360"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four truth tables by hand, then checked</a:t>
            </a:r>
            <a:endParaRPr lang="en-US" sz="1850" dirty="0"/>
          </a:p>
        </p:txBody>
      </p:sp>
      <p:sp>
        <p:nvSpPr>
          <p:cNvPr id="7" name="Text 4"/>
          <p:cNvSpPr/>
          <p:nvPr/>
        </p:nvSpPr>
        <p:spPr>
          <a:xfrm>
            <a:off x="5233360"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423245"/>
            <a:ext cx="6296860" cy="25400"/>
          </a:xfrm>
          <a:prstGeom prst="rect">
            <a:avLst/>
          </a:prstGeom>
          <a:solidFill>
            <a:srgbClr val="57A1EB"/>
          </a:solidFill>
          <a:ln/>
        </p:spPr>
      </p:sp>
      <p:sp>
        <p:nvSpPr>
          <p:cNvPr id="9" name="Text 6"/>
          <p:cNvSpPr/>
          <p:nvPr/>
        </p:nvSpPr>
        <p:spPr>
          <a:xfrm>
            <a:off x="5233360"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last one compares two conditions</a:t>
            </a:r>
            <a:endParaRPr lang="en-US" sz="1850" dirty="0"/>
          </a:p>
        </p:txBody>
      </p:sp>
      <p:sp>
        <p:nvSpPr>
          <p:cNvPr id="10" name="Text 7"/>
          <p:cNvSpPr/>
          <p:nvPr/>
        </p:nvSpPr>
        <p:spPr>
          <a:xfrm>
            <a:off x="5233360"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490343"/>
            <a:ext cx="6296860" cy="25400"/>
          </a:xfrm>
          <a:prstGeom prst="rect">
            <a:avLst/>
          </a:prstGeom>
          <a:solidFill>
            <a:srgbClr val="57A1EB"/>
          </a:solidFill>
          <a:ln/>
        </p:spPr>
      </p:sp>
      <p:sp>
        <p:nvSpPr>
          <p:cNvPr id="12" name="Text 9"/>
          <p:cNvSpPr/>
          <p:nvPr/>
        </p:nvSpPr>
        <p:spPr>
          <a:xfrm>
            <a:off x="5233360"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Decision Engine, your decision table</a:t>
            </a:r>
            <a:endParaRPr lang="en-US" sz="1850" dirty="0"/>
          </a:p>
        </p:txBody>
      </p:sp>
      <p:sp>
        <p:nvSpPr>
          <p:cNvPr id="13" name="Text 10"/>
          <p:cNvSpPr/>
          <p:nvPr/>
        </p:nvSpPr>
        <p:spPr>
          <a:xfrm>
            <a:off x="5233360"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557441"/>
            <a:ext cx="6296860" cy="25400"/>
          </a:xfrm>
          <a:prstGeom prst="rect">
            <a:avLst/>
          </a:prstGeom>
          <a:solidFill>
            <a:srgbClr val="57A1EB"/>
          </a:solidFill>
          <a:ln/>
        </p:spPr>
      </p:sp>
      <p:sp>
        <p:nvSpPr>
          <p:cNvPr id="15" name="Text 12"/>
          <p:cNvSpPr/>
          <p:nvPr/>
        </p:nvSpPr>
        <p:spPr>
          <a:xfrm>
            <a:off x="5233360"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row of it becomes a test case</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2026-09-14T18:12:17Z</dcterms:created>
  <dcterms:modified xsi:type="dcterms:W3CDTF">2026-09-14T18:12:17Z</dcterms:modified>
</cp:coreProperties>
</file>