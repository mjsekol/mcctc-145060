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last two lines of most of your CLI Toolsmith output. You print a number, and then you print a sentence telling the reader how to judge it. That sentence is a confession. It says my program cannot make a decision, so you make it. Every program you have written so far is a straight line. Today it gets a fork in the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 all five lines before I run this. Each comparison asks a yes or no question about two values, and Python answers it with True or False. The last line matters most. The answer has a type, and the type is bool. You met bool in Week 2 and had nothing to do with it. Now it is the most important type in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answers, and every one is either True or False. Capital T, capital F, no quotes. Double equals asks whether two things are the same. Less than or equal and greater than or equal include the boundary, so 7 is less than or equal to 7. There is also a not-equal operator, and it is in your notes. Hold on to that word boundary, because it is where most of the bugs in this unit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rule and I am going to say it the same way every time. One equals assigns. Two equals asks. In math class the single equals sign was a question you checked. In Python it is an order. Your hands are going to type one equals sign for about three weeks after your head knows better, so let me show you what happens when they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typed one equals sign inside an if, which is the most common mistake anybody makes today. Python refuses to run the file and look at the message. It names the fix. Maybe you meant double equals. Ignore the colon equals part, that operator exists and it is not in this course. Read the last line of every error. Python is often telling you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as English. If battery is less than 20, do the indented lines. Otherwise do the other indented line. The colon says a block starts here. The indentation says which lines are inside it. The last line is not indented, so it runs every time no matter which path we took. I am going to run this three times, with 12, with 64, and with exactly 20. Predict the third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exactly 20 percent the program said you are fine, because 20 is not less than 20. That is a boundary decision, and you make it by choosing less than or less than or equal. Now watch what indentation does. If I add four spaces in front of battery check done, it moves inside the else, and it only prints when the battery is fine. No error. Python did exactly what the spaces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Nine beat ten. Both values came from input, so both are text, and text compares one character at a time like a dictionary. The first character of nine is 9, the first character of ten is 1, and 9 comes after 1, so Python stops there. Here is the part to remember. If I compared text to a number, Python would crash. Text to text is allowed, so it quietly gives a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and look at the list rather than the examples. Four times now a program has run, printed something that looks like an answer, and been wrong. The dangerous bugs are the ones that do not crash. The fix today is the Week 2 habit. Convert with int at the moment you ask. And clean text before you compare it, because Yes with a capital Y is not equal to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is the Unit 1 quiz. In Build 2 you finish the CLI Toolsmith, and it gets smarter. Find a line in your output that tells a human to judge a number, and replace it with a condition that judges the number itself. If the target is above 100, say it is out of reach. Then run it with the exact boundary value. If your condition flips at 100, run it with 100. That one run is the difference between a condition you wrote and a condition you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Fork in the Road</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049363"/>
            <a:ext cx="6296860" cy="94495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Your tool makes the reader do the thinking</a:t>
            </a:r>
            <a:endParaRPr lang="en-US" sz="2950" dirty="0"/>
          </a:p>
        </p:txBody>
      </p:sp>
      <p:sp>
        <p:nvSpPr>
          <p:cNvPr id="4" name="Text 1"/>
          <p:cNvSpPr/>
          <p:nvPr/>
        </p:nvSpPr>
        <p:spPr>
          <a:xfrm>
            <a:off x="661475" y="3277791"/>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CLI Toolsmith prints a number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it prints: above 100 means out of reach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person has to check that themselves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program already knows the number</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846064"/>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A comparison is a question</a:t>
            </a:r>
            <a:endParaRPr lang="en-US" sz="2950" dirty="0"/>
          </a:p>
        </p:txBody>
      </p:sp>
      <p:sp>
        <p:nvSpPr>
          <p:cNvPr id="3" name="Shape 1"/>
          <p:cNvSpPr/>
          <p:nvPr/>
        </p:nvSpPr>
        <p:spPr>
          <a:xfrm>
            <a:off x="661475" y="2696567"/>
            <a:ext cx="10868745" cy="2192536"/>
          </a:xfrm>
          <a:prstGeom prst="roundRect">
            <a:avLst>
              <a:gd name="adj" fmla="val 3621"/>
            </a:avLst>
          </a:prstGeom>
          <a:solidFill>
            <a:srgbClr val="F2F2F2"/>
          </a:solidFill>
          <a:ln/>
        </p:spPr>
      </p:sp>
      <p:sp>
        <p:nvSpPr>
          <p:cNvPr id="4" name="Text 2"/>
          <p:cNvSpPr/>
          <p:nvPr/>
        </p:nvSpPr>
        <p:spPr>
          <a:xfrm>
            <a:off x="888283" y="2885579"/>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score = 7</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print(score &gt; 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print(score == 10)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print(score &lt;= 7)</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print(score &gt;= 8)</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print(type(score &gt; 5))</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997273"/>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What came back</a:t>
            </a:r>
            <a:endParaRPr lang="en-US" sz="2950" dirty="0"/>
          </a:p>
        </p:txBody>
      </p:sp>
      <p:sp>
        <p:nvSpPr>
          <p:cNvPr id="3" name="Shape 1"/>
          <p:cNvSpPr/>
          <p:nvPr/>
        </p:nvSpPr>
        <p:spPr>
          <a:xfrm>
            <a:off x="661475" y="2847777"/>
            <a:ext cx="10868745" cy="1890117"/>
          </a:xfrm>
          <a:prstGeom prst="roundRect">
            <a:avLst>
              <a:gd name="adj" fmla="val 4200"/>
            </a:avLst>
          </a:prstGeom>
          <a:solidFill>
            <a:srgbClr val="F2F2F2"/>
          </a:solidFill>
          <a:ln/>
        </p:spPr>
      </p:sp>
      <p:sp>
        <p:nvSpPr>
          <p:cNvPr id="4" name="Text 2"/>
          <p:cNvSpPr/>
          <p:nvPr/>
        </p:nvSpPr>
        <p:spPr>
          <a:xfrm>
            <a:off x="888283" y="3036788"/>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True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False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True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False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&lt;class 'bool'&gt;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049363"/>
            <a:ext cx="6296860" cy="94495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One equals assigns, two equals asks</a:t>
            </a:r>
            <a:endParaRPr lang="en-US" sz="2950" dirty="0"/>
          </a:p>
        </p:txBody>
      </p:sp>
      <p:sp>
        <p:nvSpPr>
          <p:cNvPr id="4" name="Text 1"/>
          <p:cNvSpPr/>
          <p:nvPr/>
        </p:nvSpPr>
        <p:spPr>
          <a:xfrm>
            <a:off x="661475" y="3277791"/>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score = 7 stores 7 in score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score == 7 asks whether score is 7</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 if needs a question, not an order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Say it with me until it is automatic</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853109"/>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The wrong way</a:t>
            </a:r>
            <a:endParaRPr lang="en-US" sz="2950" dirty="0"/>
          </a:p>
        </p:txBody>
      </p:sp>
      <p:sp>
        <p:nvSpPr>
          <p:cNvPr id="3" name="Shape 1"/>
          <p:cNvSpPr/>
          <p:nvPr/>
        </p:nvSpPr>
        <p:spPr>
          <a:xfrm>
            <a:off x="661475" y="2703612"/>
            <a:ext cx="10868745" cy="1285280"/>
          </a:xfrm>
          <a:prstGeom prst="roundRect">
            <a:avLst>
              <a:gd name="adj" fmla="val 6177"/>
            </a:avLst>
          </a:prstGeom>
          <a:solidFill>
            <a:srgbClr val="F2F2F2"/>
          </a:solidFill>
          <a:ln/>
        </p:spPr>
      </p:sp>
      <p:sp>
        <p:nvSpPr>
          <p:cNvPr id="4" name="Text 2"/>
          <p:cNvSpPr/>
          <p:nvPr/>
        </p:nvSpPr>
        <p:spPr>
          <a:xfrm>
            <a:off x="888283" y="2892623"/>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score = 7</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if score = 7:</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print("yes")</a:t>
            </a:r>
            <a:endParaRPr lang="en-US" sz="1450" dirty="0"/>
          </a:p>
        </p:txBody>
      </p:sp>
      <p:sp>
        <p:nvSpPr>
          <p:cNvPr id="5" name="Shape 3"/>
          <p:cNvSpPr/>
          <p:nvPr/>
        </p:nvSpPr>
        <p:spPr>
          <a:xfrm>
            <a:off x="661475" y="4201517"/>
            <a:ext cx="10868745" cy="680442"/>
          </a:xfrm>
          <a:prstGeom prst="roundRect">
            <a:avLst>
              <a:gd name="adj" fmla="val 11667"/>
            </a:avLst>
          </a:prstGeom>
          <a:solidFill>
            <a:srgbClr val="F2F2F2"/>
          </a:solidFill>
          <a:ln/>
        </p:spPr>
      </p:sp>
      <p:sp>
        <p:nvSpPr>
          <p:cNvPr id="6" name="Text 4"/>
          <p:cNvSpPr/>
          <p:nvPr/>
        </p:nvSpPr>
        <p:spPr>
          <a:xfrm>
            <a:off x="888283" y="4390529"/>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6F42C1"/>
                </a:solidFill>
                <a:latin typeface="Consolas" pitchFamily="34" charset="0"/>
                <a:ea typeface="Consolas" pitchFamily="34" charset="-122"/>
                <a:cs typeface="Consolas" pitchFamily="34" charset="-120"/>
              </a:rPr>
              <a:t>SyntaxError: invalid syntax. Maybe you meant '==' or ':=' instead of '='?</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392436"/>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if and else</a:t>
            </a:r>
            <a:endParaRPr lang="en-US" sz="2950" dirty="0"/>
          </a:p>
        </p:txBody>
      </p:sp>
      <p:sp>
        <p:nvSpPr>
          <p:cNvPr id="3" name="Shape 1"/>
          <p:cNvSpPr/>
          <p:nvPr/>
        </p:nvSpPr>
        <p:spPr>
          <a:xfrm>
            <a:off x="661475" y="2242939"/>
            <a:ext cx="10868745" cy="3099792"/>
          </a:xfrm>
          <a:prstGeom prst="roundRect">
            <a:avLst>
              <a:gd name="adj" fmla="val 2561"/>
            </a:avLst>
          </a:prstGeom>
          <a:solidFill>
            <a:srgbClr val="F2F2F2"/>
          </a:solidFill>
          <a:ln/>
        </p:spPr>
      </p:sp>
      <p:sp>
        <p:nvSpPr>
          <p:cNvPr id="4" name="Text 2"/>
          <p:cNvSpPr/>
          <p:nvPr/>
        </p:nvSpPr>
        <p:spPr>
          <a:xfrm>
            <a:off x="888283" y="2431951"/>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battery = int(input("Battery percent: "))</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if battery &lt; 20: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print("Plug in your phone before practice.")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print("It will not survive the bus ride home.")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print("You are fine for now.")</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print("Battery check done.")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285603"/>
            <a:ext cx="6296860"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Indentation is meaning</a:t>
            </a:r>
            <a:endParaRPr lang="en-US" sz="2950" dirty="0"/>
          </a:p>
        </p:txBody>
      </p:sp>
      <p:sp>
        <p:nvSpPr>
          <p:cNvPr id="4" name="Text 1"/>
          <p:cNvSpPr/>
          <p:nvPr/>
        </p:nvSpPr>
        <p:spPr>
          <a:xfrm>
            <a:off x="5233360" y="3041551"/>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Indented lines belong to the if or else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first unindented line runs every time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Four spaces, which Tab gives you in VS Code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Move one line and the program changes</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945852"/>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Nine beats ten</a:t>
            </a:r>
            <a:endParaRPr lang="en-US" sz="2950" dirty="0"/>
          </a:p>
        </p:txBody>
      </p:sp>
      <p:sp>
        <p:nvSpPr>
          <p:cNvPr id="3" name="Shape 1"/>
          <p:cNvSpPr/>
          <p:nvPr/>
        </p:nvSpPr>
        <p:spPr>
          <a:xfrm>
            <a:off x="661475" y="1796355"/>
            <a:ext cx="10868745" cy="2494955"/>
          </a:xfrm>
          <a:prstGeom prst="roundRect">
            <a:avLst>
              <a:gd name="adj" fmla="val 3182"/>
            </a:avLst>
          </a:prstGeom>
          <a:solidFill>
            <a:srgbClr val="F2F2F2"/>
          </a:solidFill>
          <a:ln/>
        </p:spPr>
      </p:sp>
      <p:sp>
        <p:nvSpPr>
          <p:cNvPr id="4" name="Text 2"/>
          <p:cNvSpPr/>
          <p:nvPr/>
        </p:nvSpPr>
        <p:spPr>
          <a:xfrm>
            <a:off x="888283" y="1985367"/>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my_score = input("Your score: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best_score = input("Best score so far: ")</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if my_score &gt; best_score: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print("New high score.")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print("Not this time.")</a:t>
            </a:r>
            <a:endParaRPr lang="en-US" sz="1450" dirty="0"/>
          </a:p>
        </p:txBody>
      </p:sp>
      <p:sp>
        <p:nvSpPr>
          <p:cNvPr id="5" name="Shape 3"/>
          <p:cNvSpPr/>
          <p:nvPr/>
        </p:nvSpPr>
        <p:spPr>
          <a:xfrm>
            <a:off x="661475" y="4503936"/>
            <a:ext cx="10868745" cy="1285280"/>
          </a:xfrm>
          <a:prstGeom prst="roundRect">
            <a:avLst>
              <a:gd name="adj" fmla="val 6177"/>
            </a:avLst>
          </a:prstGeom>
          <a:solidFill>
            <a:srgbClr val="F2F2F2"/>
          </a:solidFill>
          <a:ln/>
        </p:spPr>
      </p:sp>
      <p:sp>
        <p:nvSpPr>
          <p:cNvPr id="6" name="Text 4"/>
          <p:cNvSpPr/>
          <p:nvPr/>
        </p:nvSpPr>
        <p:spPr>
          <a:xfrm>
            <a:off x="888283" y="4692948"/>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Your score: 9</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Best score so far: 10</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New high score.</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101354"/>
            <a:ext cx="6296860"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Fourth time, same shape</a:t>
            </a:r>
            <a:endParaRPr lang="en-US" sz="2950" dirty="0"/>
          </a:p>
        </p:txBody>
      </p:sp>
      <p:sp>
        <p:nvSpPr>
          <p:cNvPr id="4" name="Text 1"/>
          <p:cNvSpPr/>
          <p:nvPr/>
        </p:nvSpPr>
        <p:spPr>
          <a:xfrm>
            <a:off x="5233360" y="2857302"/>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Week 2: twelve times three gave 121212</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Week 2 Gate 2: two and a half people accepted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Week 3: a year sliced down to 202</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Today: nine beats ten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None of them crashed</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285603"/>
            <a:ext cx="6296860"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What you are about to build</a:t>
            </a:r>
            <a:endParaRPr lang="en-US" sz="2950" dirty="0"/>
          </a:p>
        </p:txBody>
      </p:sp>
      <p:sp>
        <p:nvSpPr>
          <p:cNvPr id="4" name="Text 1"/>
          <p:cNvSpPr/>
          <p:nvPr/>
        </p:nvSpPr>
        <p:spPr>
          <a:xfrm>
            <a:off x="5233360" y="3041551"/>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2: finish your CLI Toolsmith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Add at least one condition that judges your output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Replace a sentence telling the reader to check something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Test the exact boundary value, not only numbers far away</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2026-09-14T17:50:42Z</dcterms:created>
  <dcterms:modified xsi:type="dcterms:W3CDTF">2026-09-14T17:50:42Z</dcterms:modified>
</cp:coreProperties>
</file>