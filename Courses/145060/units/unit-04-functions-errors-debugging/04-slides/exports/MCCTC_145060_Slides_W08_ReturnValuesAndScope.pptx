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every function you wrote did its job by printing. That works for a heading. It does not work for a tip you need to add to a bill, or a check that decides whether a frequency is on the dial. Those functions need to hand an answer back to the line that called them. Today you learn return, and the bug of the day is a function that looks like it worked and handed back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does two things. It ends the function right there, and it sends a value back. The call expression is then replaced by that value, as if you had typed the number yourself. And here is the rule behind today's bug. A function that reaches its end without a return still returns something. It returns None, which means no value, and Python never mentions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prints nothing. The caller stores it, adds it, formats it, or uses the call directly inside a bigger expression like the last line. A printed value is finished. A returned value can keep being used. That is the whole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7's guard now has a name, and if is on dial reads like English. The early return False ends the call for loud, so int never touches it and it can never crash. An early return works like break for a function. And the function reads the two constants from the top of the file. Reading a global constant is fine. That is what constants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where a variable exists. Anything assigned inside a function, including every parameter, is local. It exists while that call runs and then it is gone. Print a local name from outside and you get a NameError. And a local called total does not touch a global called total. They are two variables that happen to share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assigns to moves, so Python treats moves as local for the whole body. On the right side of that same line, the local moves has no value yet. Reading MAX MOVES is fine because the body never assigns to it. The fix is the pattern for state in version two. Pass moves in, return the new value, and let the caller store it. Moves equals take step of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yesterday's functions were written. It works out the tip and prints it. Then the caller stores the result and uses it twice. Predict all three lines of output, and predict which line, if any,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looks perfect because the function printed. But there is no return, so the call handed back None, and None got tied to tip. The second line printed the word None and did not crash. Only arithmetic finally failed. If the program had never added anything, nothing would ever have told you. This is the bug that does not crash, newest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Forget the return on the dial check and it is worse. The comparison is computed and discarded, the function falls off the end and returns None, and the if treats None like False. Every correct frequency is refused, forever. In a game, the player can never win and nothing says why. The habit that catches it is cheap. The first time you call a new function, print what it gives back. If you see None, look for the missing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goes back to yesterday's practice file. Add two functions that return a value and one that returns True or False, and print what each one returns the first time you call it. If any of them prints None, you have found today's bug in your own code. Build two is a function called destination from, for your own map. It takes a room and a direction and returns the room you end up in, or an empty string. Call it once for every exit on your map and check every answer against the map you drew.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4.png"/><Relationship Id="rId5" Type="http://schemas.openxmlformats.org/officeDocument/2006/relationships/image" Target="../media/image-11-5.sv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Hand the Answer Back</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231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tip that says None</a:t>
            </a:r>
            <a:endParaRPr lang="en-US" sz="3700" dirty="0"/>
          </a:p>
        </p:txBody>
      </p:sp>
      <p:sp>
        <p:nvSpPr>
          <p:cNvPr id="4" name="Text 1"/>
          <p:cNvSpPr/>
          <p:nvPr/>
        </p:nvSpPr>
        <p:spPr>
          <a:xfrm>
            <a:off x="661475" y="2916436"/>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function works out an 18 percent tip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prints Tip: $7.20. Looks perfect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next line prints Tip saved for later: None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error on that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line after that finally crashes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999754"/>
            <a:ext cx="3504219"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return</a:t>
            </a:r>
            <a:endParaRPr lang="en-US" sz="3700" dirty="0"/>
          </a:p>
        </p:txBody>
      </p:sp>
      <p:sp>
        <p:nvSpPr>
          <p:cNvPr id="4" name="Text 1"/>
          <p:cNvSpPr/>
          <p:nvPr/>
        </p:nvSpPr>
        <p:spPr>
          <a:xfrm>
            <a:off x="8032251" y="2779415"/>
            <a:ext cx="3504219" cy="2078831"/>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return value ends the call immediately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sends the value back to the caller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call becomes that value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function with no return still returns None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does that silently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86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caller decides what to do</a:t>
            </a:r>
            <a:endParaRPr lang="en-US" sz="3700" dirty="0"/>
          </a:p>
        </p:txBody>
      </p:sp>
      <p:sp>
        <p:nvSpPr>
          <p:cNvPr id="3" name="Shape 1"/>
          <p:cNvSpPr/>
          <p:nvPr/>
        </p:nvSpPr>
        <p:spPr>
          <a:xfrm>
            <a:off x="661475" y="1855490"/>
            <a:ext cx="10868745" cy="2494955"/>
          </a:xfrm>
          <a:prstGeom prst="roundRect">
            <a:avLst>
              <a:gd name="adj" fmla="val 3182"/>
            </a:avLst>
          </a:prstGeom>
          <a:solidFill>
            <a:srgbClr val="F2F2F2"/>
          </a:solidFill>
          <a:ln/>
        </p:spPr>
      </p:sp>
      <p:sp>
        <p:nvSpPr>
          <p:cNvPr id="4" name="Text 2"/>
          <p:cNvSpPr/>
          <p:nvPr/>
        </p:nvSpPr>
        <p:spPr>
          <a:xfrm>
            <a:off x="888283" y="2044502"/>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tip_amount(bill, tip_percent):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bill * tip_percent / 100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tip = tip_amount(40, 18)</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print(f"Tip: ${tip:.2f}")</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print(f"Total: ${40 + tip:.2f}")</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print(f"Split four ways: ${(40 + tip_amount(40, 18)) / 4:.2f}")</a:t>
            </a:r>
            <a:endParaRPr lang="en-US" sz="1450" dirty="0"/>
          </a:p>
        </p:txBody>
      </p:sp>
      <p:sp>
        <p:nvSpPr>
          <p:cNvPr id="5" name="Shape 3"/>
          <p:cNvSpPr/>
          <p:nvPr/>
        </p:nvSpPr>
        <p:spPr>
          <a:xfrm>
            <a:off x="661475" y="4563070"/>
            <a:ext cx="10868745" cy="1285280"/>
          </a:xfrm>
          <a:prstGeom prst="roundRect">
            <a:avLst>
              <a:gd name="adj" fmla="val 6177"/>
            </a:avLst>
          </a:prstGeom>
          <a:solidFill>
            <a:srgbClr val="F2F2F2"/>
          </a:solidFill>
          <a:ln/>
        </p:spPr>
      </p:sp>
      <p:sp>
        <p:nvSpPr>
          <p:cNvPr id="6" name="Text 4"/>
          <p:cNvSpPr/>
          <p:nvPr/>
        </p:nvSpPr>
        <p:spPr>
          <a:xfrm>
            <a:off x="888283" y="475208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Tip: $7.20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Total: $47.20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Split four ways: $11.80</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1679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Returning True or False</a:t>
            </a:r>
            <a:endParaRPr lang="en-US" sz="3700" dirty="0"/>
          </a:p>
        </p:txBody>
      </p:sp>
      <p:sp>
        <p:nvSpPr>
          <p:cNvPr id="3" name="Shape 1"/>
          <p:cNvSpPr/>
          <p:nvPr/>
        </p:nvSpPr>
        <p:spPr>
          <a:xfrm>
            <a:off x="661475" y="2103537"/>
            <a:ext cx="5203794" cy="3402211"/>
          </a:xfrm>
          <a:prstGeom prst="roundRect">
            <a:avLst>
              <a:gd name="adj" fmla="val 2333"/>
            </a:avLst>
          </a:prstGeom>
          <a:solidFill>
            <a:srgbClr val="F2F2F2"/>
          </a:solidFill>
          <a:ln/>
        </p:spPr>
      </p:sp>
      <p:sp>
        <p:nvSpPr>
          <p:cNvPr id="4" name="Text 2"/>
          <p:cNvSpPr/>
          <p:nvPr/>
        </p:nvSpPr>
        <p:spPr>
          <a:xfrm>
            <a:off x="888283" y="2292548"/>
            <a:ext cx="4750177"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is_on_dial(text):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not text.isdecimal():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frequency = int(text)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frequency &gt;= LOWEST_FREQUENCY and frequency &lt;= HIGHEST_FREQUENCY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print(is_on_dial("880"))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print(is_on_dial("2000"))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print(is_on_dial("loud"))</a:t>
            </a:r>
            <a:endParaRPr lang="en-US" sz="1450" dirty="0"/>
          </a:p>
        </p:txBody>
      </p:sp>
      <p:sp>
        <p:nvSpPr>
          <p:cNvPr id="5" name="Shape 3"/>
          <p:cNvSpPr/>
          <p:nvPr/>
        </p:nvSpPr>
        <p:spPr>
          <a:xfrm>
            <a:off x="6332776" y="2103537"/>
            <a:ext cx="5203794" cy="1285280"/>
          </a:xfrm>
          <a:prstGeom prst="roundRect">
            <a:avLst>
              <a:gd name="adj" fmla="val 6177"/>
            </a:avLst>
          </a:prstGeom>
          <a:solidFill>
            <a:srgbClr val="F2F2F2"/>
          </a:solidFill>
          <a:ln/>
        </p:spPr>
      </p:sp>
      <p:sp>
        <p:nvSpPr>
          <p:cNvPr id="6" name="Text 4"/>
          <p:cNvSpPr/>
          <p:nvPr/>
        </p:nvSpPr>
        <p:spPr>
          <a:xfrm>
            <a:off x="6559584" y="2292548"/>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True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False</a:t>
            </a:r>
            <a:endParaRPr lang="en-US" sz="1450" dirty="0"/>
          </a:p>
        </p:txBody>
      </p:sp>
      <p:sp>
        <p:nvSpPr>
          <p:cNvPr id="7" name="Shape 5"/>
          <p:cNvSpPr/>
          <p:nvPr/>
        </p:nvSpPr>
        <p:spPr>
          <a:xfrm>
            <a:off x="6332776" y="3601442"/>
            <a:ext cx="2507394" cy="1800523"/>
          </a:xfrm>
          <a:prstGeom prst="roundRect">
            <a:avLst>
              <a:gd name="adj" fmla="val 4409"/>
            </a:avLst>
          </a:prstGeom>
          <a:solidFill>
            <a:srgbClr val="D1E5FA"/>
          </a:solidFill>
          <a:ln w="19050">
            <a:solidFill>
              <a:srgbClr val="B7CBE0"/>
            </a:solidFill>
            <a:prstDash val="solid"/>
          </a:ln>
        </p:spPr>
      </p:sp>
      <p:sp>
        <p:nvSpPr>
          <p:cNvPr id="8" name="Text 6"/>
          <p:cNvSpPr/>
          <p:nvPr/>
        </p:nvSpPr>
        <p:spPr>
          <a:xfrm>
            <a:off x="6540832" y="3809504"/>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Returns False</a:t>
            </a:r>
            <a:endParaRPr lang="en-US" sz="1850" dirty="0"/>
          </a:p>
        </p:txBody>
      </p:sp>
      <p:sp>
        <p:nvSpPr>
          <p:cNvPr id="9" name="Text 7"/>
          <p:cNvSpPr/>
          <p:nvPr/>
        </p:nvSpPr>
        <p:spPr>
          <a:xfrm>
            <a:off x="6540832" y="4293791"/>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Non-decimal input rejected immediately</a:t>
            </a:r>
            <a:endParaRPr lang="en-US" sz="1450" dirty="0"/>
          </a:p>
        </p:txBody>
      </p:sp>
      <p:sp>
        <p:nvSpPr>
          <p:cNvPr id="10" name="Shape 8"/>
          <p:cNvSpPr/>
          <p:nvPr/>
        </p:nvSpPr>
        <p:spPr>
          <a:xfrm>
            <a:off x="9029176" y="3601442"/>
            <a:ext cx="2507394" cy="1800523"/>
          </a:xfrm>
          <a:prstGeom prst="roundRect">
            <a:avLst>
              <a:gd name="adj" fmla="val 4409"/>
            </a:avLst>
          </a:prstGeom>
          <a:solidFill>
            <a:srgbClr val="D1E5FA"/>
          </a:solidFill>
          <a:ln w="19050">
            <a:solidFill>
              <a:srgbClr val="B7CBE0"/>
            </a:solidFill>
            <a:prstDash val="solid"/>
          </a:ln>
        </p:spPr>
      </p:sp>
      <p:sp>
        <p:nvSpPr>
          <p:cNvPr id="11" name="Text 9"/>
          <p:cNvSpPr/>
          <p:nvPr/>
        </p:nvSpPr>
        <p:spPr>
          <a:xfrm>
            <a:off x="9237233" y="3809504"/>
            <a:ext cx="209128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Returns True/False</a:t>
            </a:r>
            <a:endParaRPr lang="en-US" sz="1850" dirty="0"/>
          </a:p>
        </p:txBody>
      </p:sp>
      <p:sp>
        <p:nvSpPr>
          <p:cNvPr id="12" name="Text 10"/>
          <p:cNvSpPr/>
          <p:nvPr/>
        </p:nvSpPr>
        <p:spPr>
          <a:xfrm>
            <a:off x="9237233" y="4589066"/>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Frequency checked against valid range</a:t>
            </a:r>
            <a:endParaRPr lang="en-US" sz="14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Local variables live inside the call</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Variables assigned inside a function are local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Parameters are local too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disappear when the call returns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Only the returned value comes back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local can share a name with a global without touching it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42652"/>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scope error you will meet in version 2</a:t>
            </a:r>
            <a:endParaRPr lang="en-US" sz="3700" dirty="0"/>
          </a:p>
        </p:txBody>
      </p:sp>
      <p:sp>
        <p:nvSpPr>
          <p:cNvPr id="3" name="Shape 1"/>
          <p:cNvSpPr/>
          <p:nvPr/>
        </p:nvSpPr>
        <p:spPr>
          <a:xfrm>
            <a:off x="661475" y="2301974"/>
            <a:ext cx="10868745" cy="2797373"/>
          </a:xfrm>
          <a:prstGeom prst="roundRect">
            <a:avLst>
              <a:gd name="adj" fmla="val 2838"/>
            </a:avLst>
          </a:prstGeom>
          <a:solidFill>
            <a:srgbClr val="F2F2F2"/>
          </a:solidFill>
          <a:ln/>
        </p:spPr>
      </p:sp>
      <p:sp>
        <p:nvSpPr>
          <p:cNvPr id="4" name="Text 2"/>
          <p:cNvSpPr/>
          <p:nvPr/>
        </p:nvSpPr>
        <p:spPr>
          <a:xfrm>
            <a:off x="888283" y="2490986"/>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MAX_MOVES = 20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moves = 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take_step():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moves = moves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print(f"Moves left: {MAX_MOVES - moves}")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take_step()</a:t>
            </a:r>
            <a:endParaRPr lang="en-US" sz="1450" dirty="0"/>
          </a:p>
        </p:txBody>
      </p:sp>
      <p:sp>
        <p:nvSpPr>
          <p:cNvPr id="5" name="Shape 3"/>
          <p:cNvSpPr/>
          <p:nvPr/>
        </p:nvSpPr>
        <p:spPr>
          <a:xfrm>
            <a:off x="661475" y="5311973"/>
            <a:ext cx="10868745" cy="680442"/>
          </a:xfrm>
          <a:prstGeom prst="roundRect">
            <a:avLst>
              <a:gd name="adj" fmla="val 11667"/>
            </a:avLst>
          </a:prstGeom>
          <a:solidFill>
            <a:srgbClr val="F2F2F2"/>
          </a:solidFill>
          <a:ln/>
        </p:spPr>
      </p:sp>
      <p:sp>
        <p:nvSpPr>
          <p:cNvPr id="6" name="Text 4"/>
          <p:cNvSpPr/>
          <p:nvPr/>
        </p:nvSpPr>
        <p:spPr>
          <a:xfrm>
            <a:off x="888283" y="5500985"/>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UnboundLocalError: cannot access local variable 'moves' where it is not associated with a value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40445"/>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the tip, printed instead of returned</a:t>
            </a:r>
            <a:endParaRPr lang="en-US" sz="3700" dirty="0"/>
          </a:p>
        </p:txBody>
      </p:sp>
      <p:sp>
        <p:nvSpPr>
          <p:cNvPr id="3" name="Shape 1"/>
          <p:cNvSpPr/>
          <p:nvPr/>
        </p:nvSpPr>
        <p:spPr>
          <a:xfrm>
            <a:off x="661475" y="2899767"/>
            <a:ext cx="10868745" cy="2494955"/>
          </a:xfrm>
          <a:prstGeom prst="roundRect">
            <a:avLst>
              <a:gd name="adj" fmla="val 3182"/>
            </a:avLst>
          </a:prstGeom>
          <a:solidFill>
            <a:srgbClr val="F2F2F2"/>
          </a:solidFill>
          <a:ln/>
        </p:spPr>
      </p:sp>
      <p:sp>
        <p:nvSpPr>
          <p:cNvPr id="4" name="Text 2"/>
          <p:cNvSpPr/>
          <p:nvPr/>
        </p:nvSpPr>
        <p:spPr>
          <a:xfrm>
            <a:off x="888283" y="3088779"/>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tip_amount(bill, tip_percent):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tip = bill * tip_percent / 100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print(f"Tip: ${tip:.2f}")</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tip = tip_amount(40, 18)</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print(f"Tip saved for later: {tip}")</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print(f"Total: {40 + tip}")</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None, then a crash</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Tip: $7.20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Tip saved for later: 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Traceback (most recent call last):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File "...", line 7, in &lt;module&gt;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print(f"Total: {40 + tip}")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TypeError: unsupported operand type(s) for +: 'int' and 'NoneType'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804267"/>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version that never crashes</a:t>
            </a:r>
            <a:endParaRPr lang="en-US" sz="3700" dirty="0"/>
          </a:p>
        </p:txBody>
      </p:sp>
      <p:sp>
        <p:nvSpPr>
          <p:cNvPr id="4" name="Text 1"/>
          <p:cNvSpPr/>
          <p:nvPr/>
        </p:nvSpPr>
        <p:spPr>
          <a:xfrm>
            <a:off x="8032251" y="2765227"/>
            <a:ext cx="3504219" cy="328850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is_on_dial with the return left off the last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comparison is worked out, then thrown away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function returns None, and if treats None as False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1470 is refused. Every frequency is refused. No error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Habit: print what a new function returns, once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7698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241748"/>
            <a:ext cx="6296860" cy="1971576"/>
          </a:xfrm>
          <a:prstGeom prst="rect">
            <a:avLst/>
          </a:prstGeom>
        </p:spPr>
      </p:pic>
      <p:sp>
        <p:nvSpPr>
          <p:cNvPr id="5" name="Text 1"/>
          <p:cNvSpPr/>
          <p:nvPr/>
        </p:nvSpPr>
        <p:spPr>
          <a:xfrm>
            <a:off x="5485469" y="3050282"/>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2"/>
          <p:cNvSpPr/>
          <p:nvPr/>
        </p:nvSpPr>
        <p:spPr>
          <a:xfrm>
            <a:off x="6203795" y="2456160"/>
            <a:ext cx="51120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7" name="Text 3"/>
          <p:cNvSpPr/>
          <p:nvPr/>
        </p:nvSpPr>
        <p:spPr>
          <a:xfrm>
            <a:off x="6203795" y="2864842"/>
            <a:ext cx="5112019" cy="1134070"/>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return practice in functions_practice.py</a:t>
            </a:r>
            <a:endParaRPr lang="en-US" sz="1450" dirty="0"/>
          </a:p>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Two functions that return a value, one returns True or False</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Print every return value once. No None allowed</a:t>
            </a:r>
            <a:endParaRPr lang="en-US" sz="14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4402336"/>
            <a:ext cx="6296860" cy="1555750"/>
          </a:xfrm>
          <a:prstGeom prst="rect">
            <a:avLst/>
          </a:prstGeom>
        </p:spPr>
      </p:pic>
      <p:sp>
        <p:nvSpPr>
          <p:cNvPr id="9" name="Text 4"/>
          <p:cNvSpPr/>
          <p:nvPr/>
        </p:nvSpPr>
        <p:spPr>
          <a:xfrm>
            <a:off x="5485469" y="5003006"/>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10" name="Text 5"/>
          <p:cNvSpPr/>
          <p:nvPr/>
        </p:nvSpPr>
        <p:spPr>
          <a:xfrm>
            <a:off x="6203795" y="4616748"/>
            <a:ext cx="511201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1" name="Text 6"/>
          <p:cNvSpPr/>
          <p:nvPr/>
        </p:nvSpPr>
        <p:spPr>
          <a:xfrm>
            <a:off x="6203795" y="5025430"/>
            <a:ext cx="5112019" cy="71824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destination_from for your own map</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Call it for every exit and compare with your map</a:t>
            </a:r>
            <a:endParaRPr lang="en-US" sz="1450" dirty="0"/>
          </a:p>
        </p:txBody>
      </p:sp>
      <p:sp>
        <p:nvSpPr>
          <p:cNvPr id="12" name="Text 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2026-09-14T18:52:08Z</dcterms:created>
  <dcterms:modified xsi:type="dcterms:W3CDTF">2026-09-14T18:52:08Z</dcterms:modified>
</cp:coreProperties>
</file>