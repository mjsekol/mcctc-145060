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you learned to catch failures you can predict. The natural next thought is, why not catch everything, so the program never crashes at all? Today you see what that costs. A program that catches everything can refuse every correct answer, blame the user for it, and refuse to stop, all without a single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rules, and they are the whole lesson. Name the exception, so the except says what you have a plan for. Keep the try block small, so you cannot catch something by accident. Let the failures you did not predict crash, because a traceback is the most useful bug report you will ever get, and it is free. And when testing shows you a new failure, decide on purpose what should happen. Do not widen the except to make it go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kind of code you get when you ask for something robust. Everything is inside the try, and the except catches anything at all. There is a typo in it. Find it before I run it. Then predict what happens when I type twenty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JERSY is missing an E. That raises a NameError, the bare except catches it, and prints a message written for a completely different problem. The player types twenty three and is told to type a number like twenty three. Then Ctrl+C. A bare except catches KeyboardInterrupt too, so the program refuses to stop. The only way out is the trash can icon on the terminal. And at the end of a test script it catches EOFError on every pass and floods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function, narrowed. Only the conversion is inside the try, and the except names ValueError. The typo is still there, and now typing twenty three crashes. That crash is the good outcome. It names the line, points at the word, and suggests the fix. Correct the spelling and the function does exactly what it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try wraps the whole reader and the except catches Exception. The first file is fine. Then three files, three messages, and two are false. The blank log was found. Its blank line made int of an empty string raise ValueError. The empty log was found too. It made the program divide by zero. Both get reported as a missing file, and the function returns an average of zero for all three. A false zero never crashes. For a grade or a paycheck, that is a serious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Narrow it, and the missing file gets a true message while the blank line crashes with its exact line and value. Now you know about two failures you did not predict, so decide. A blank line is not a day, so skip it with an if. An empty file gets a message that says it has no days yet. Neither needed an except. When you can check for a condition cheaply, checking is often clearer than catching. Anything nobody has decided about still crashes, and that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your own function discovers the problem. It should not return a fake number like zero, because somebody will add a fake number to a total without checking it. It should raise an exception with a clear message. The caller catches it with except ValueError as error and prints the message. An exception cannot be ignored by accident. If nothing catches it, the program stops and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Ctrl+C and the end of input are not bugs. A player pressing Ctrl+C wants out. So handle both where input is read, each by its own name, and turn them into quit. One try can have several excepts, and Python runs the first one whose name matches. Nothing else is caught, so a typo anywhere else in your game still crashes loudly. This is the read command function your version two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part two of the car wash lab. You paste in a version an AI assistant would call robust, with a bare except, and you find out what it does to a typo and to Ctrl+C. Before that step, find the trash can icon on your terminal panel. Then you narrow every except, shrink every try block, and make Ctrl+C and the end of input print the totals instead of losing the day's money. Build two is error handling and the inventory command in your version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Let the Surprise Crash</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jersey number refused</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sign-up program asks for your jersey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type 23. It says: type a whole number, like 23</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type 7. Same message. You press Ctrl+C</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Same message again. Nothing stops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error anywhere on the screen</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8178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rules for except</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455"/>
            <a:ext cx="5339820" cy="1706959"/>
          </a:xfrm>
          <a:prstGeom prst="rect">
            <a:avLst/>
          </a:prstGeom>
        </p:spPr>
      </p:pic>
      <p:sp>
        <p:nvSpPr>
          <p:cNvPr id="4" name="Text 1"/>
          <p:cNvSpPr/>
          <p:nvPr/>
        </p:nvSpPr>
        <p:spPr>
          <a:xfrm>
            <a:off x="3189605"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2831902"/>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Name the exception</a:t>
            </a:r>
            <a:endParaRPr lang="en-US" sz="1850" dirty="0"/>
          </a:p>
        </p:txBody>
      </p:sp>
      <p:sp>
        <p:nvSpPr>
          <p:cNvPr id="6" name="Text 3"/>
          <p:cNvSpPr/>
          <p:nvPr/>
        </p:nvSpPr>
        <p:spPr>
          <a:xfrm>
            <a:off x="875881" y="3240584"/>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Never a bare except</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050455"/>
            <a:ext cx="5339919" cy="1706959"/>
          </a:xfrm>
          <a:prstGeom prst="rect">
            <a:avLst/>
          </a:prstGeom>
        </p:spPr>
      </p:pic>
      <p:sp>
        <p:nvSpPr>
          <p:cNvPr id="8" name="Text 4"/>
          <p:cNvSpPr/>
          <p:nvPr/>
        </p:nvSpPr>
        <p:spPr>
          <a:xfrm>
            <a:off x="8718530"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5"/>
          <p:cNvSpPr/>
          <p:nvPr/>
        </p:nvSpPr>
        <p:spPr>
          <a:xfrm>
            <a:off x="6404708" y="2831902"/>
            <a:ext cx="491110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Put only the line that can fail inside try</a:t>
            </a:r>
            <a:endParaRPr lang="en-US" sz="18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706959"/>
          </a:xfrm>
          <a:prstGeom prst="rect">
            <a:avLst/>
          </a:prstGeom>
        </p:spPr>
      </p:pic>
      <p:sp>
        <p:nvSpPr>
          <p:cNvPr id="11" name="Text 6"/>
          <p:cNvSpPr/>
          <p:nvPr/>
        </p:nvSpPr>
        <p:spPr>
          <a:xfrm>
            <a:off x="3189605"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7"/>
          <p:cNvSpPr/>
          <p:nvPr/>
        </p:nvSpPr>
        <p:spPr>
          <a:xfrm>
            <a:off x="875881" y="472787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Let failures you did not predict crash</a:t>
            </a:r>
            <a:endParaRPr lang="en-US" sz="18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706959"/>
          </a:xfrm>
          <a:prstGeom prst="rect">
            <a:avLst/>
          </a:prstGeom>
        </p:spPr>
      </p:pic>
      <p:sp>
        <p:nvSpPr>
          <p:cNvPr id="14" name="Text 8"/>
          <p:cNvSpPr/>
          <p:nvPr/>
        </p:nvSpPr>
        <p:spPr>
          <a:xfrm>
            <a:off x="8718530"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9"/>
          <p:cNvSpPr/>
          <p:nvPr/>
        </p:nvSpPr>
        <p:spPr>
          <a:xfrm>
            <a:off x="6404708" y="472787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Found a new failure?</a:t>
            </a:r>
            <a:endParaRPr lang="en-US" sz="1850" dirty="0"/>
          </a:p>
        </p:txBody>
      </p:sp>
      <p:sp>
        <p:nvSpPr>
          <p:cNvPr id="16" name="Text 10"/>
          <p:cNvSpPr/>
          <p:nvPr/>
        </p:nvSpPr>
        <p:spPr>
          <a:xfrm>
            <a:off x="6404708" y="513655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Decide on purpose</a:t>
            </a:r>
            <a:endParaRPr lang="en-US" sz="1450" dirty="0"/>
          </a:p>
        </p:txBody>
      </p:sp>
      <p:sp>
        <p:nvSpPr>
          <p:cNvPr id="17"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a robust jersey reader</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read_jersey_number():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"""Ask until a jersey number from 0 to 99 is typed. Return it."""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while True: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number = int(input("Jersey number: "))</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number &gt;= LOWEST_JERSEY and number &lt;= HIGHEST_JERSY: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number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print(f"Jersey numbers run from {LOWEST_JERSEY} to {HIGHEST_JERSEY}.")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except: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print("Type a whole number, like 23.")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62163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no error, no way out</a:t>
            </a:r>
            <a:endParaRPr lang="en-US" sz="3700" dirty="0"/>
          </a:p>
        </p:txBody>
      </p:sp>
      <p:sp>
        <p:nvSpPr>
          <p:cNvPr id="3" name="Shape 1"/>
          <p:cNvSpPr/>
          <p:nvPr/>
        </p:nvSpPr>
        <p:spPr>
          <a:xfrm>
            <a:off x="661475" y="2708374"/>
            <a:ext cx="5203794" cy="2192536"/>
          </a:xfrm>
          <a:prstGeom prst="roundRect">
            <a:avLst>
              <a:gd name="adj" fmla="val 3621"/>
            </a:avLst>
          </a:prstGeom>
          <a:solidFill>
            <a:srgbClr val="F2F2F2"/>
          </a:solidFill>
          <a:ln/>
        </p:spPr>
      </p:sp>
      <p:sp>
        <p:nvSpPr>
          <p:cNvPr id="4" name="Text 2"/>
          <p:cNvSpPr/>
          <p:nvPr/>
        </p:nvSpPr>
        <p:spPr>
          <a:xfrm>
            <a:off x="888283" y="2897386"/>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Jersey number: 23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 a whole number, like 23.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Jersey number: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 a whole number, like 23.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Jersey number: ^C</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 a whole number, like 23.</a:t>
            </a:r>
            <a:endParaRPr lang="en-US" sz="1450" dirty="0"/>
          </a:p>
        </p:txBody>
      </p:sp>
      <p:sp>
        <p:nvSpPr>
          <p:cNvPr id="5" name="Text 3"/>
          <p:cNvSpPr/>
          <p:nvPr/>
        </p:nvSpPr>
        <p:spPr>
          <a:xfrm>
            <a:off x="6332776" y="2665809"/>
            <a:ext cx="5203794" cy="9199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bare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except</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catches </a:t>
            </a:r>
            <a:pPr algn="l" indent="0" marL="0">
              <a:lnSpc>
                <a:spcPct val="133000"/>
              </a:lnSpc>
              <a:buNone/>
            </a:pPr>
            <a:r>
              <a:rPr lang="en-US" sz="1450" b="1" dirty="0">
                <a:solidFill>
                  <a:srgbClr val="1C1C1C"/>
                </a:solidFill>
                <a:latin typeface="Roboto Condensed Bold" pitchFamily="34" charset="0"/>
                <a:ea typeface="Roboto Condensed Bold" pitchFamily="34" charset="-122"/>
                <a:cs typeface="Roboto Condensed Bold" pitchFamily="34" charset="-120"/>
              </a:rPr>
              <a:t>everything</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including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KeyboardInterrupt</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There is no way to exit. The program traps the user forever, and no error surfaces to explain why.</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03802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Narrowed: the error it was hiding</a:t>
            </a:r>
            <a:endParaRPr lang="en-US" sz="3700" dirty="0"/>
          </a:p>
        </p:txBody>
      </p:sp>
      <p:sp>
        <p:nvSpPr>
          <p:cNvPr id="3" name="Shape 1"/>
          <p:cNvSpPr/>
          <p:nvPr/>
        </p:nvSpPr>
        <p:spPr>
          <a:xfrm>
            <a:off x="661475" y="2006699"/>
            <a:ext cx="10868745" cy="2192536"/>
          </a:xfrm>
          <a:prstGeom prst="roundRect">
            <a:avLst>
              <a:gd name="adj" fmla="val 3621"/>
            </a:avLst>
          </a:prstGeom>
          <a:solidFill>
            <a:srgbClr val="F2F2F2"/>
          </a:solidFill>
          <a:ln/>
        </p:spPr>
      </p:sp>
      <p:sp>
        <p:nvSpPr>
          <p:cNvPr id="4" name="Text 2"/>
          <p:cNvSpPr/>
          <p:nvPr/>
        </p:nvSpPr>
        <p:spPr>
          <a:xfrm>
            <a:off x="888283" y="2195711"/>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text = input("Jersey number: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number = int(text)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except ValueError: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print("Type a whole number, like 23.")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continue</a:t>
            </a:r>
            <a:endParaRPr lang="en-US" sz="1450" dirty="0"/>
          </a:p>
        </p:txBody>
      </p:sp>
      <p:sp>
        <p:nvSpPr>
          <p:cNvPr id="5" name="Shape 3"/>
          <p:cNvSpPr/>
          <p:nvPr/>
        </p:nvSpPr>
        <p:spPr>
          <a:xfrm>
            <a:off x="661475" y="4411861"/>
            <a:ext cx="10868745" cy="1285280"/>
          </a:xfrm>
          <a:prstGeom prst="roundRect">
            <a:avLst>
              <a:gd name="adj" fmla="val 6177"/>
            </a:avLst>
          </a:prstGeom>
          <a:solidFill>
            <a:srgbClr val="F2F2F2"/>
          </a:solidFill>
          <a:ln/>
        </p:spPr>
      </p:sp>
      <p:sp>
        <p:nvSpPr>
          <p:cNvPr id="6" name="Text 4"/>
          <p:cNvSpPr/>
          <p:nvPr/>
        </p:nvSpPr>
        <p:spPr>
          <a:xfrm>
            <a:off x="888283" y="4600873"/>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number &gt;= LOWEST_JERSEY and number &lt;= HIGHEST_JERSY: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NameError: name 'HIGHEST_JERSY' is not defined. Did you mean: 'HIGHEST_JERSEY'?</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44909"/>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A big try block whose message lies</a:t>
            </a:r>
            <a:endParaRPr lang="en-US" sz="3400" dirty="0"/>
          </a:p>
        </p:txBody>
      </p:sp>
      <p:sp>
        <p:nvSpPr>
          <p:cNvPr id="3" name="Shape 1"/>
          <p:cNvSpPr/>
          <p:nvPr/>
        </p:nvSpPr>
        <p:spPr>
          <a:xfrm>
            <a:off x="661475" y="1410692"/>
            <a:ext cx="10868745" cy="2299395"/>
          </a:xfrm>
          <a:prstGeom prst="roundRect">
            <a:avLst>
              <a:gd name="adj" fmla="val 3183"/>
            </a:avLst>
          </a:prstGeom>
          <a:solidFill>
            <a:srgbClr val="F2F2F2"/>
          </a:solidFill>
          <a:ln/>
        </p:spPr>
      </p:sp>
      <p:sp>
        <p:nvSpPr>
          <p:cNvPr id="4" name="Text 2"/>
          <p:cNvSpPr/>
          <p:nvPr/>
        </p:nvSpPr>
        <p:spPr>
          <a:xfrm>
            <a:off x="870524" y="1584920"/>
            <a:ext cx="10450648" cy="1950938"/>
          </a:xfrm>
          <a:prstGeom prst="rect">
            <a:avLst/>
          </a:prstGeom>
          <a:noFill/>
          <a:ln/>
        </p:spPr>
        <p:txBody>
          <a:bodyPr wrap="square" lIns="0" tIns="0" rIns="0" bIns="0" rtlCol="0" anchor="t">
            <a:normAutofit/>
          </a:bodyPr>
          <a:lstStyle/>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try:</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log = open(filename)</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 ... read every line, add int(line[7:10]) to total ...</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return total / days</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except Exception:</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print(f"Cannot find {filename}.")</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        return 0</a:t>
            </a:r>
            <a:endParaRPr lang="en-US" sz="1350" dirty="0"/>
          </a:p>
        </p:txBody>
      </p:sp>
      <p:sp>
        <p:nvSpPr>
          <p:cNvPr id="5" name="Shape 3"/>
          <p:cNvSpPr/>
          <p:nvPr/>
        </p:nvSpPr>
        <p:spPr>
          <a:xfrm>
            <a:off x="661475" y="3890764"/>
            <a:ext cx="10868745" cy="2299395"/>
          </a:xfrm>
          <a:prstGeom prst="roundRect">
            <a:avLst>
              <a:gd name="adj" fmla="val 3183"/>
            </a:avLst>
          </a:prstGeom>
          <a:solidFill>
            <a:srgbClr val="F2F2F2"/>
          </a:solidFill>
          <a:ln/>
        </p:spPr>
      </p:sp>
      <p:sp>
        <p:nvSpPr>
          <p:cNvPr id="6" name="Text 4"/>
          <p:cNvSpPr/>
          <p:nvPr/>
        </p:nvSpPr>
        <p:spPr>
          <a:xfrm>
            <a:off x="870524" y="4064992"/>
            <a:ext cx="10450648" cy="1950938"/>
          </a:xfrm>
          <a:prstGeom prst="rect">
            <a:avLst/>
          </a:prstGeom>
          <a:noFill/>
          <a:ln/>
        </p:spPr>
        <p:txBody>
          <a:bodyPr wrap="square" lIns="0" tIns="0" rIns="0" bIns="0" rtlCol="0" anchor="t">
            <a:normAutofit/>
          </a:bodyPr>
          <a:lstStyle/>
          <a:p>
            <a:pPr algn="l" indent="0" marL="0">
              <a:lnSpc>
                <a:spcPct val="133000"/>
              </a:lnSpc>
              <a:buNone/>
            </a:pPr>
            <a:r>
              <a:rPr lang="en-US" sz="1350" dirty="0">
                <a:solidFill>
                  <a:srgbClr val="005CC5"/>
                </a:solidFill>
                <a:latin typeface="Consolas" pitchFamily="34" charset="0"/>
                <a:ea typeface="Consolas" pitchFamily="34" charset="-122"/>
                <a:cs typeface="Consolas" pitchFamily="34" charset="-120"/>
              </a:rPr>
              <a:t>35.0</a:t>
            </a:r>
            <a:endParaRPr lang="en-US" sz="1350" dirty="0"/>
          </a:p>
          <a:p>
            <a:pPr algn="l" indent="0" marL="0">
              <a:lnSpc>
                <a:spcPct val="133000"/>
              </a:lnSpc>
              <a:buNone/>
            </a:pPr>
            <a:r>
              <a:rPr lang="en-US" sz="1350" dirty="0">
                <a:solidFill>
                  <a:srgbClr val="005CC5"/>
                </a:solidFill>
                <a:latin typeface="Consolas" pitchFamily="34" charset="0"/>
                <a:ea typeface="Consolas" pitchFamily="34" charset="-122"/>
                <a:cs typeface="Consolas" pitchFamily="34" charset="-120"/>
              </a:rPr>
              <a:t>Cannot find blank_log.txt.</a:t>
            </a:r>
            <a:endParaRPr lang="en-US" sz="1350" dirty="0"/>
          </a:p>
          <a:p>
            <a:pPr algn="l" indent="0" marL="0">
              <a:lnSpc>
                <a:spcPct val="133000"/>
              </a:lnSpc>
              <a:buNone/>
            </a:pPr>
            <a:r>
              <a:rPr lang="en-US" sz="1350" dirty="0">
                <a:solidFill>
                  <a:srgbClr val="005CC5"/>
                </a:solidFill>
                <a:latin typeface="Consolas" pitchFamily="34" charset="0"/>
                <a:ea typeface="Consolas" pitchFamily="34" charset="-122"/>
                <a:cs typeface="Consolas" pitchFamily="34" charset="-120"/>
              </a:rPr>
              <a:t>0</a:t>
            </a:r>
            <a:endParaRPr lang="en-US" sz="1350" dirty="0"/>
          </a:p>
          <a:p>
            <a:pPr algn="l" indent="0" marL="0">
              <a:lnSpc>
                <a:spcPct val="133000"/>
              </a:lnSpc>
              <a:buNone/>
            </a:pPr>
            <a:r>
              <a:rPr lang="en-US" sz="1350" dirty="0">
                <a:solidFill>
                  <a:srgbClr val="005CC5"/>
                </a:solidFill>
                <a:latin typeface="Consolas" pitchFamily="34" charset="0"/>
                <a:ea typeface="Consolas" pitchFamily="34" charset="-122"/>
                <a:cs typeface="Consolas" pitchFamily="34" charset="-120"/>
              </a:rPr>
              <a:t>Cannot find empty_log.txt.</a:t>
            </a:r>
            <a:endParaRPr lang="en-US" sz="1350" dirty="0"/>
          </a:p>
          <a:p>
            <a:pPr algn="l" indent="0" marL="0">
              <a:lnSpc>
                <a:spcPct val="133000"/>
              </a:lnSpc>
              <a:buNone/>
            </a:pPr>
            <a:r>
              <a:rPr lang="en-US" sz="1350" dirty="0">
                <a:solidFill>
                  <a:srgbClr val="005CC5"/>
                </a:solidFill>
                <a:latin typeface="Consolas" pitchFamily="34" charset="0"/>
                <a:ea typeface="Consolas" pitchFamily="34" charset="-122"/>
                <a:cs typeface="Consolas" pitchFamily="34" charset="-120"/>
              </a:rPr>
              <a:t>0</a:t>
            </a:r>
            <a:endParaRPr lang="en-US" sz="1350" dirty="0"/>
          </a:p>
          <a:p>
            <a:pPr algn="l" indent="0" marL="0">
              <a:lnSpc>
                <a:spcPct val="133000"/>
              </a:lnSpc>
              <a:buNone/>
            </a:pPr>
            <a:r>
              <a:rPr lang="en-US" sz="1350" dirty="0">
                <a:solidFill>
                  <a:srgbClr val="005CC5"/>
                </a:solidFill>
                <a:latin typeface="Consolas" pitchFamily="34" charset="0"/>
                <a:ea typeface="Consolas" pitchFamily="34" charset="-122"/>
                <a:cs typeface="Consolas" pitchFamily="34" charset="-120"/>
              </a:rPr>
              <a:t>Cannot find no_such_log.txt.</a:t>
            </a:r>
            <a:endParaRPr lang="en-US" sz="1350" dirty="0"/>
          </a:p>
          <a:p>
            <a:pPr algn="l" indent="0" marL="0">
              <a:lnSpc>
                <a:spcPct val="133000"/>
              </a:lnSpc>
              <a:buNone/>
            </a:pPr>
            <a:r>
              <a:rPr lang="en-US" sz="1350" dirty="0">
                <a:solidFill>
                  <a:srgbClr val="005CC5"/>
                </a:solidFill>
                <a:latin typeface="Consolas" pitchFamily="34" charset="0"/>
                <a:ea typeface="Consolas" pitchFamily="34" charset="-122"/>
                <a:cs typeface="Consolas" pitchFamily="34" charset="-120"/>
              </a:rPr>
              <a:t>0</a:t>
            </a:r>
            <a:endParaRPr lang="en-US" sz="13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04231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Decide on purpose</a:t>
            </a:r>
            <a:endParaRPr lang="en-US" sz="3700" dirty="0"/>
          </a:p>
        </p:txBody>
      </p:sp>
      <p:sp>
        <p:nvSpPr>
          <p:cNvPr id="4" name="Text 1"/>
          <p:cNvSpPr/>
          <p:nvPr/>
        </p:nvSpPr>
        <p:spPr>
          <a:xfrm>
            <a:off x="661475" y="2916436"/>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Only open goes inside try, with FileNotFoundError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Now the blank line crashes, on its exact 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Decide: a blank line is not a day, so skip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Decide: an empty file gets its own honest message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line nobody has decided about still crashes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33797"/>
            <a:ext cx="10868745" cy="572195"/>
          </a:xfrm>
          <a:prstGeom prst="rect">
            <a:avLst/>
          </a:prstGeom>
          <a:noFill/>
          <a:ln/>
        </p:spPr>
        <p:txBody>
          <a:bodyPr wrap="none" lIns="0" tIns="0" rIns="0" bIns="0" rtlCol="0" anchor="t"/>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Raise it, and let the caller decide</a:t>
            </a:r>
            <a:endParaRPr lang="en-US" sz="3600" dirty="0"/>
          </a:p>
        </p:txBody>
      </p:sp>
      <p:sp>
        <p:nvSpPr>
          <p:cNvPr id="3" name="Shape 1"/>
          <p:cNvSpPr/>
          <p:nvPr/>
        </p:nvSpPr>
        <p:spPr>
          <a:xfrm>
            <a:off x="661475" y="1460698"/>
            <a:ext cx="10868745" cy="3003054"/>
          </a:xfrm>
          <a:prstGeom prst="roundRect">
            <a:avLst>
              <a:gd name="adj" fmla="val 2561"/>
            </a:avLst>
          </a:prstGeom>
          <a:solidFill>
            <a:srgbClr val="F2F2F2"/>
          </a:solidFill>
          <a:ln/>
        </p:spPr>
      </p:sp>
      <p:sp>
        <p:nvSpPr>
          <p:cNvPr id="4" name="Text 2"/>
          <p:cNvSpPr/>
          <p:nvPr/>
        </p:nvSpPr>
        <p:spPr>
          <a:xfrm>
            <a:off x="881140" y="1643757"/>
            <a:ext cx="10429416" cy="2636937"/>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def parse_minutes(text):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"""Return typed text as practice minutes. Raise ValueError if it cannot be used."""</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try:</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minutes = int(text)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except ValueError:</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raise ValueError(f"'{text}' is not a whole number of minutes.")</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if minutes &lt; 0 or minutes &gt; MAX_MINUTES:</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raise ValueError(f"Minutes must be from 0 to {MAX_MINUTES}.")</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return minutes</a:t>
            </a:r>
            <a:endParaRPr lang="en-US" sz="1400" dirty="0"/>
          </a:p>
        </p:txBody>
      </p:sp>
      <p:sp>
        <p:nvSpPr>
          <p:cNvPr id="5" name="Shape 3"/>
          <p:cNvSpPr/>
          <p:nvPr/>
        </p:nvSpPr>
        <p:spPr>
          <a:xfrm>
            <a:off x="661475" y="4663281"/>
            <a:ext cx="10868745" cy="1538089"/>
          </a:xfrm>
          <a:prstGeom prst="roundRect">
            <a:avLst>
              <a:gd name="adj" fmla="val 5000"/>
            </a:avLst>
          </a:prstGeom>
          <a:solidFill>
            <a:srgbClr val="F2F2F2"/>
          </a:solidFill>
          <a:ln/>
        </p:spPr>
      </p:sp>
      <p:sp>
        <p:nvSpPr>
          <p:cNvPr id="6" name="Text 4"/>
          <p:cNvSpPr/>
          <p:nvPr/>
        </p:nvSpPr>
        <p:spPr>
          <a:xfrm>
            <a:off x="881140" y="4846340"/>
            <a:ext cx="10429416" cy="1171972"/>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Logged 45 minutes.</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Not logged. 'forty' is not a whole number of minutes.</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Not logged. Minutes must be from 0 to 600.</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Not logged. Minutes must be from 0 to 600.</a:t>
            </a:r>
            <a:endParaRPr lang="en-US" sz="140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86558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Ctrl+C and the end of input, on purpose</a:t>
            </a:r>
            <a:endParaRPr lang="en-US" sz="3700" dirty="0"/>
          </a:p>
        </p:txBody>
      </p:sp>
      <p:sp>
        <p:nvSpPr>
          <p:cNvPr id="3" name="Shape 1"/>
          <p:cNvSpPr/>
          <p:nvPr/>
        </p:nvSpPr>
        <p:spPr>
          <a:xfrm>
            <a:off x="661475" y="1952327"/>
            <a:ext cx="5203794" cy="3704630"/>
          </a:xfrm>
          <a:prstGeom prst="roundRect">
            <a:avLst>
              <a:gd name="adj" fmla="val 2143"/>
            </a:avLst>
          </a:prstGeom>
          <a:solidFill>
            <a:srgbClr val="F2F2F2"/>
          </a:solidFill>
          <a:ln/>
        </p:spPr>
      </p:sp>
      <p:sp>
        <p:nvSpPr>
          <p:cNvPr id="4" name="Text 2"/>
          <p:cNvSpPr/>
          <p:nvPr/>
        </p:nvSpPr>
        <p:spPr>
          <a:xfrm>
            <a:off x="888283" y="2141339"/>
            <a:ext cx="4750177"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read_command():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the next command, trimmed and lowercased, or "quit" if the player wants out."""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input("&gt; ").strip().lower()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except EOFError: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"quit"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except KeyboardInterrupt: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"quit"</a:t>
            </a:r>
            <a:endParaRPr lang="en-US" sz="1450" dirty="0"/>
          </a:p>
        </p:txBody>
      </p:sp>
      <p:sp>
        <p:nvSpPr>
          <p:cNvPr id="5" name="Shape 3"/>
          <p:cNvSpPr/>
          <p:nvPr/>
        </p:nvSpPr>
        <p:spPr>
          <a:xfrm>
            <a:off x="6332776" y="1952327"/>
            <a:ext cx="2507394" cy="1517948"/>
          </a:xfrm>
          <a:prstGeom prst="roundRect">
            <a:avLst>
              <a:gd name="adj" fmla="val 5230"/>
            </a:avLst>
          </a:prstGeom>
          <a:solidFill>
            <a:srgbClr val="FFFFFF"/>
          </a:solidFill>
          <a:ln w="25399">
            <a:solidFill>
              <a:srgbClr val="B7CBE0"/>
            </a:solidFill>
            <a:prstDash val="solid"/>
          </a:ln>
        </p:spPr>
      </p:sp>
      <p:sp>
        <p:nvSpPr>
          <p:cNvPr id="6" name="Text 4"/>
          <p:cNvSpPr/>
          <p:nvPr/>
        </p:nvSpPr>
        <p:spPr>
          <a:xfrm>
            <a:off x="6547182" y="2166739"/>
            <a:ext cx="2078581"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EOFError</a:t>
            </a:r>
            <a:endParaRPr lang="en-US" sz="1850" dirty="0"/>
          </a:p>
        </p:txBody>
      </p:sp>
      <p:sp>
        <p:nvSpPr>
          <p:cNvPr id="7" name="Text 5"/>
          <p:cNvSpPr/>
          <p:nvPr/>
        </p:nvSpPr>
        <p:spPr>
          <a:xfrm>
            <a:off x="6547182" y="2651026"/>
            <a:ext cx="2078581"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End of input stream reached</a:t>
            </a:r>
            <a:endParaRPr lang="en-US" sz="1450" dirty="0"/>
          </a:p>
        </p:txBody>
      </p:sp>
      <p:sp>
        <p:nvSpPr>
          <p:cNvPr id="8" name="Shape 6"/>
          <p:cNvSpPr/>
          <p:nvPr/>
        </p:nvSpPr>
        <p:spPr>
          <a:xfrm>
            <a:off x="9029176" y="1952327"/>
            <a:ext cx="2507394" cy="1517948"/>
          </a:xfrm>
          <a:prstGeom prst="roundRect">
            <a:avLst>
              <a:gd name="adj" fmla="val 5230"/>
            </a:avLst>
          </a:prstGeom>
          <a:solidFill>
            <a:srgbClr val="FFFFFF"/>
          </a:solidFill>
          <a:ln w="25399">
            <a:solidFill>
              <a:srgbClr val="B7CBE0"/>
            </a:solidFill>
            <a:prstDash val="solid"/>
          </a:ln>
        </p:spPr>
      </p:sp>
      <p:sp>
        <p:nvSpPr>
          <p:cNvPr id="9" name="Text 7"/>
          <p:cNvSpPr/>
          <p:nvPr/>
        </p:nvSpPr>
        <p:spPr>
          <a:xfrm>
            <a:off x="9243583" y="2166739"/>
            <a:ext cx="207858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KeyboardInterrupt</a:t>
            </a:r>
            <a:endParaRPr lang="en-US" sz="1850" dirty="0"/>
          </a:p>
        </p:txBody>
      </p:sp>
      <p:sp>
        <p:nvSpPr>
          <p:cNvPr id="10" name="Text 8"/>
          <p:cNvSpPr/>
          <p:nvPr/>
        </p:nvSpPr>
        <p:spPr>
          <a:xfrm>
            <a:off x="9243583" y="2946301"/>
            <a:ext cx="2078581"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User pressed Ctrl+C</a:t>
            </a:r>
            <a:endParaRPr lang="en-US" sz="1450" dirty="0"/>
          </a:p>
        </p:txBody>
      </p:sp>
      <p:sp>
        <p:nvSpPr>
          <p:cNvPr id="11" name="Shape 9"/>
          <p:cNvSpPr/>
          <p:nvPr/>
        </p:nvSpPr>
        <p:spPr>
          <a:xfrm>
            <a:off x="6332776" y="3659287"/>
            <a:ext cx="5203794" cy="1215529"/>
          </a:xfrm>
          <a:prstGeom prst="roundRect">
            <a:avLst>
              <a:gd name="adj" fmla="val 6531"/>
            </a:avLst>
          </a:prstGeom>
          <a:solidFill>
            <a:srgbClr val="FFFFFF"/>
          </a:solidFill>
          <a:ln w="25399">
            <a:solidFill>
              <a:srgbClr val="B7CBE0"/>
            </a:solidFill>
            <a:prstDash val="solid"/>
          </a:ln>
        </p:spPr>
      </p:sp>
      <p:sp>
        <p:nvSpPr>
          <p:cNvPr id="12" name="Text 10"/>
          <p:cNvSpPr/>
          <p:nvPr/>
        </p:nvSpPr>
        <p:spPr>
          <a:xfrm>
            <a:off x="6547182" y="3873698"/>
            <a:ext cx="4774981"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Both return "quit"</a:t>
            </a:r>
            <a:endParaRPr lang="en-US" sz="1850" dirty="0"/>
          </a:p>
        </p:txBody>
      </p:sp>
      <p:sp>
        <p:nvSpPr>
          <p:cNvPr id="13" name="Text 11"/>
          <p:cNvSpPr/>
          <p:nvPr/>
        </p:nvSpPr>
        <p:spPr>
          <a:xfrm>
            <a:off x="6547182" y="4357985"/>
            <a:ext cx="4774981"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Decided on purpose</a:t>
            </a:r>
            <a:endParaRPr lang="en-US" sz="1450" dirty="0"/>
          </a:p>
        </p:txBody>
      </p:sp>
      <p:sp>
        <p:nvSpPr>
          <p:cNvPr id="14" name="Text 1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9701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5233360" y="216177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304251" y="2197199"/>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5847608" y="222666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Lab U4-02 Part 2</a:t>
            </a:r>
            <a:endParaRPr lang="en-US" sz="1850" dirty="0"/>
          </a:p>
        </p:txBody>
      </p:sp>
      <p:sp>
        <p:nvSpPr>
          <p:cNvPr id="7" name="Text 4"/>
          <p:cNvSpPr/>
          <p:nvPr/>
        </p:nvSpPr>
        <p:spPr>
          <a:xfrm>
            <a:off x="5847608" y="2635349"/>
            <a:ext cx="5682612"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Paste an AI version with a bare except. Break it</a:t>
            </a:r>
            <a:endParaRPr lang="en-US" sz="1450" dirty="0"/>
          </a:p>
        </p:txBody>
      </p:sp>
      <p:sp>
        <p:nvSpPr>
          <p:cNvPr id="8" name="Shape 5"/>
          <p:cNvSpPr/>
          <p:nvPr/>
        </p:nvSpPr>
        <p:spPr>
          <a:xfrm>
            <a:off x="5233360" y="3315791"/>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304251" y="335121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10" name="Text 7"/>
          <p:cNvSpPr/>
          <p:nvPr/>
        </p:nvSpPr>
        <p:spPr>
          <a:xfrm>
            <a:off x="5847608" y="3380680"/>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Narrow every except. Shrink every try block</a:t>
            </a:r>
            <a:endParaRPr lang="en-US" sz="1850" dirty="0"/>
          </a:p>
        </p:txBody>
      </p:sp>
      <p:sp>
        <p:nvSpPr>
          <p:cNvPr id="11" name="Shape 8"/>
          <p:cNvSpPr/>
          <p:nvPr/>
        </p:nvSpPr>
        <p:spPr>
          <a:xfrm>
            <a:off x="5233360" y="4349254"/>
            <a:ext cx="425241" cy="425252"/>
          </a:xfrm>
          <a:prstGeom prst="roundRect">
            <a:avLst>
              <a:gd name="adj" fmla="val 18669"/>
            </a:avLst>
          </a:prstGeom>
          <a:solidFill>
            <a:srgbClr val="D1E5FA"/>
          </a:solidFill>
          <a:ln w="19050">
            <a:solidFill>
              <a:srgbClr val="B7CBE0"/>
            </a:solidFill>
            <a:prstDash val="solid"/>
          </a:ln>
        </p:spPr>
      </p:sp>
      <p:sp>
        <p:nvSpPr>
          <p:cNvPr id="12" name="Text 9"/>
          <p:cNvSpPr/>
          <p:nvPr/>
        </p:nvSpPr>
        <p:spPr>
          <a:xfrm>
            <a:off x="5304251" y="438467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10"/>
          <p:cNvSpPr/>
          <p:nvPr/>
        </p:nvSpPr>
        <p:spPr>
          <a:xfrm>
            <a:off x="5847608" y="441414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Ctrl+C and end of input end with totals printed</a:t>
            </a:r>
            <a:endParaRPr lang="en-US" sz="1850" dirty="0"/>
          </a:p>
        </p:txBody>
      </p:sp>
      <p:sp>
        <p:nvSpPr>
          <p:cNvPr id="14" name="Shape 11"/>
          <p:cNvSpPr/>
          <p:nvPr/>
        </p:nvSpPr>
        <p:spPr>
          <a:xfrm>
            <a:off x="5233360" y="5382716"/>
            <a:ext cx="425241" cy="425252"/>
          </a:xfrm>
          <a:prstGeom prst="roundRect">
            <a:avLst>
              <a:gd name="adj" fmla="val 18669"/>
            </a:avLst>
          </a:prstGeom>
          <a:solidFill>
            <a:srgbClr val="D1E5FA"/>
          </a:solidFill>
          <a:ln w="19050">
            <a:solidFill>
              <a:srgbClr val="B7CBE0"/>
            </a:solidFill>
            <a:prstDash val="solid"/>
          </a:ln>
        </p:spPr>
      </p:sp>
      <p:sp>
        <p:nvSpPr>
          <p:cNvPr id="15" name="Text 12"/>
          <p:cNvSpPr/>
          <p:nvPr/>
        </p:nvSpPr>
        <p:spPr>
          <a:xfrm>
            <a:off x="5304251" y="5418138"/>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6" name="Text 13"/>
          <p:cNvSpPr/>
          <p:nvPr/>
        </p:nvSpPr>
        <p:spPr>
          <a:xfrm>
            <a:off x="5847608" y="544760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v2 error handling and your inventory command</a:t>
            </a:r>
            <a:endParaRPr lang="en-US" sz="1850" dirty="0"/>
          </a:p>
        </p:txBody>
      </p:sp>
      <p:sp>
        <p:nvSpPr>
          <p:cNvPr id="17" name="Text 14"/>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2026-09-14T20:06:06Z</dcterms:created>
  <dcterms:modified xsi:type="dcterms:W3CDTF">2026-09-14T20:06:06Z</dcterms:modified>
</cp:coreProperties>
</file>