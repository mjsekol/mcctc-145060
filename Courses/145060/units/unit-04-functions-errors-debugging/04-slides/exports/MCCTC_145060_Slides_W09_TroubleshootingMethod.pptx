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you take your text adventure apart and rebuild it out of functions. Things will break. That is not a warning, it is a schedule. When something breaks, most people change whatever looks suspicious and run it again, then change something else. Programmers call that shotgun debugging. Today you get a method that replaces hope with a procedure, and a log that proves you 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steps find the cause. Step one is a reproduction, the exact input that makes the bug happen, plus what you expected and what you got. Step two is a theory, and it has to be specific enough to be wrong. Something is wrong with the function is not a theory. Step three is a small experiment that could prove the theory wrong. If it does, that is progress. You learned where the bug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four to six fix it and prove it. Change one thing, the smallest thing that fixes the cause. Then verify, which means running the reproduction again and also the cases that were already working, because fixes break their neighbors. Then write it down. The one rule that separates this from guessing is on the last line. No fix before a tested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bug. You type monday and it tells you to set your alarm for nine thirty. No error. You are late for school and nothing warned you. Step one is already done on this slide. The input is monday, the expected result is six fifteen, and the actual result is nine thirty. Before we touch anything, what is your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Theory one, the day has a capital letter. Test it by printing repr of day. It prints monday in lowercase, so theory one is wrong, and that rules out the whole input. Theory two, the function returns something true for every day. Test it by calling the function by itself. For monday it returns the word sunday. Not True, not False, a word. Python reads it as day equals saturday, or the text sunday, and any non-empty text counts as true. That is the Unit 2 bug hiding inside a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watch what happens when I skip steps two and three. I see or, I remember and exists, and I also add lower in case capitals are the problem. Two changes at once. I run it with monday and it says six fifteen. Fixed, right? Before I run it with saturday, predict what it will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looks fixed. Saturday is now broken, and so is Sunday, because no day can be saturday and sunday at the same time. The function returns False for everything. There is no error message. I only tested the day that was reported, so I find out at six fifteen on Saturday morning. And I changed two things, so I cannot even tell which one did it. Changing two things at once destroys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bug does crash, step one hands you evidence. Read a traceback from the bottom up. The last line says what went wrong, a TypeError, text plus a float. The lines above say where, line fifteen, at the plus sign. Be careful with that second part. The traceback tells you where Python noticed. The cause can be somewhere else, like inside a function that returned the wrong thing. Today's lab has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is the log entry, and the template is in the project folder. Keep the wrong theories in it. They save the next person from wasting time on capital letters. Paste real output, not what you think it printed. And the verify section needs cases on both sides of your fix. Your version two needs at least two entries from real bugs you hit this week, and at least one of them has to be a bug that did not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a practice report a friend wrote. It crashes, and when you fix the crash you will find two more bugs that do not crash at all. Log every one with all six steps. Build two starts version two of your text adventure. You save what version one prints today, list everything that could go wrong, and plan your functions before you change a line. Any bug you hit this week goes in your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image" Target="../media/image-10-1.png"/><Relationship Id="rId10" Type="http://schemas.openxmlformats.org/officeDocument/2006/relationships/image" Target="../media/image-10-2.sv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186285"/>
            <a:ext cx="6296860"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Stop Guessing: The Six-Step Troubleshooting Method</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06402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It does not work</a:t>
            </a:r>
            <a:endParaRPr lang="en-US" sz="3700" dirty="0"/>
          </a:p>
        </p:txBody>
      </p:sp>
      <p:sp>
        <p:nvSpPr>
          <p:cNvPr id="3" name="Shape 1"/>
          <p:cNvSpPr/>
          <p:nvPr/>
        </p:nvSpPr>
        <p:spPr>
          <a:xfrm>
            <a:off x="661475" y="2032695"/>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0975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friend texts you: my game does not work</a:t>
            </a:r>
            <a:endParaRPr lang="en-US" sz="1850" dirty="0"/>
          </a:p>
        </p:txBody>
      </p:sp>
      <p:sp>
        <p:nvSpPr>
          <p:cNvPr id="5" name="Shape 3"/>
          <p:cNvSpPr/>
          <p:nvPr/>
        </p:nvSpPr>
        <p:spPr>
          <a:xfrm>
            <a:off x="661475" y="2835970"/>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290085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Which input? What should happen? What happened instead?</a:t>
            </a:r>
            <a:endParaRPr lang="en-US" sz="1850" dirty="0"/>
          </a:p>
        </p:txBody>
      </p:sp>
      <p:sp>
        <p:nvSpPr>
          <p:cNvPr id="7" name="Shape 5"/>
          <p:cNvSpPr/>
          <p:nvPr/>
        </p:nvSpPr>
        <p:spPr>
          <a:xfrm>
            <a:off x="661475" y="3639245"/>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70413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cannot fix a bug you cannot make happen</a:t>
            </a:r>
            <a:endParaRPr lang="en-US" sz="1850" dirty="0"/>
          </a:p>
        </p:txBody>
      </p:sp>
      <p:sp>
        <p:nvSpPr>
          <p:cNvPr id="9" name="Shape 7"/>
          <p:cNvSpPr/>
          <p:nvPr/>
        </p:nvSpPr>
        <p:spPr>
          <a:xfrm>
            <a:off x="661475" y="4442520"/>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507409"/>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Most people start changing things anyway</a:t>
            </a:r>
            <a:endParaRPr lang="en-US" sz="1850" dirty="0"/>
          </a:p>
        </p:txBody>
      </p:sp>
      <p:sp>
        <p:nvSpPr>
          <p:cNvPr id="11" name="Shape 9"/>
          <p:cNvSpPr/>
          <p:nvPr/>
        </p:nvSpPr>
        <p:spPr>
          <a:xfrm>
            <a:off x="661475" y="5245795"/>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310684"/>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Twenty minutes later, four things are different</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98881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Steps 1 to 3: find the cause</a:t>
            </a:r>
            <a:endParaRPr lang="en-US" sz="3700" dirty="0"/>
          </a:p>
        </p:txBody>
      </p:sp>
      <p:pic>
        <p:nvPicPr>
          <p:cNvPr id="3" name="Image 0" descr="preencoded.png">    </p:cNvPr>
          <p:cNvPicPr>
            <a:picLocks noChangeAspect="1"/>
          </p:cNvPicPr>
          <p:nvPr/>
        </p:nvPicPr>
        <p:blipFill>
          <a:blip r:embed="rId1"/>
          <a:stretch>
            <a:fillRect/>
          </a:stretch>
        </p:blipFill>
        <p:spPr>
          <a:xfrm>
            <a:off x="2904060" y="1957487"/>
            <a:ext cx="6383575" cy="3788767"/>
          </a:xfrm>
          <a:prstGeom prst="rect">
            <a:avLst/>
          </a:prstGeom>
        </p:spPr>
      </p:pic>
      <p:sp>
        <p:nvSpPr>
          <p:cNvPr id="4" name="Text 1"/>
          <p:cNvSpPr/>
          <p:nvPr/>
        </p:nvSpPr>
        <p:spPr>
          <a:xfrm>
            <a:off x="7347124" y="4867428"/>
            <a:ext cx="1586812" cy="305686"/>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Test</a:t>
            </a:r>
            <a:endParaRPr lang="en-US" sz="1900" dirty="0"/>
          </a:p>
        </p:txBody>
      </p:sp>
      <p:sp>
        <p:nvSpPr>
          <p:cNvPr id="5" name="Text 2"/>
          <p:cNvSpPr/>
          <p:nvPr/>
        </p:nvSpPr>
        <p:spPr>
          <a:xfrm>
            <a:off x="5347307" y="4867428"/>
            <a:ext cx="1586812" cy="305686"/>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Theory</a:t>
            </a:r>
            <a:endParaRPr lang="en-US" sz="1900" dirty="0"/>
          </a:p>
        </p:txBody>
      </p:sp>
      <p:sp>
        <p:nvSpPr>
          <p:cNvPr id="6" name="Text 3"/>
          <p:cNvSpPr/>
          <p:nvPr/>
        </p:nvSpPr>
        <p:spPr>
          <a:xfrm>
            <a:off x="3314884" y="4867428"/>
            <a:ext cx="1586812" cy="305686"/>
          </a:xfrm>
          <a:prstGeom prst="rect">
            <a:avLst/>
          </a:prstGeom>
          <a:noFill/>
          <a:ln/>
        </p:spPr>
        <p:txBody>
          <a:bodyPr wrap="none" lIns="0" tIns="0" rIns="0" bIns="0" rtlCol="0" anchor="t"/>
          <a:lstStyle/>
          <a:p>
            <a:pPr algn="ctr" indent="0" marL="0">
              <a:lnSpc>
                <a:spcPct val="104000"/>
              </a:lnSpc>
              <a:buNone/>
            </a:pPr>
            <a:r>
              <a:rPr lang="en-US" sz="1900" b="1" dirty="0">
                <a:solidFill>
                  <a:srgbClr val="1C1C1C"/>
                </a:solidFill>
                <a:latin typeface="Orbitron Bold" pitchFamily="34" charset="0"/>
                <a:ea typeface="Orbitron Bold" pitchFamily="34" charset="-122"/>
                <a:cs typeface="Orbitron Bold" pitchFamily="34" charset="-120"/>
              </a:rPr>
              <a:t>Identify</a:t>
            </a:r>
            <a:endParaRPr lang="en-US" sz="1900" dirty="0"/>
          </a:p>
        </p:txBody>
      </p:sp>
      <p:sp>
        <p:nvSpPr>
          <p:cNvPr id="7"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9807"/>
            <a:ext cx="10868745" cy="507603"/>
          </a:xfrm>
          <a:prstGeom prst="rect">
            <a:avLst/>
          </a:prstGeom>
          <a:noFill/>
          <a:ln/>
        </p:spPr>
        <p:txBody>
          <a:bodyPr wrap="none" lIns="0" tIns="0" rIns="0" bIns="0" rtlCol="0" anchor="t"/>
          <a:lstStyle/>
          <a:p>
            <a:pPr algn="l" indent="0" marL="0">
              <a:lnSpc>
                <a:spcPct val="104000"/>
              </a:lnSpc>
              <a:buNone/>
            </a:pPr>
            <a:r>
              <a:rPr lang="en-US" sz="3150" b="1" dirty="0">
                <a:solidFill>
                  <a:srgbClr val="111111"/>
                </a:solidFill>
                <a:latin typeface="Orbitron Bold" pitchFamily="34" charset="0"/>
                <a:ea typeface="Orbitron Bold" pitchFamily="34" charset="-122"/>
                <a:cs typeface="Orbitron Bold" pitchFamily="34" charset="-120"/>
              </a:rPr>
              <a:t>Steps 4 to 6: fix it and prove it</a:t>
            </a:r>
            <a:endParaRPr lang="en-US" sz="31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393726"/>
            <a:ext cx="5236238" cy="1462187"/>
          </a:xfrm>
          <a:prstGeom prst="rect">
            <a:avLst/>
          </a:prstGeom>
        </p:spPr>
      </p:pic>
      <p:sp>
        <p:nvSpPr>
          <p:cNvPr id="4" name="Text 1"/>
          <p:cNvSpPr/>
          <p:nvPr/>
        </p:nvSpPr>
        <p:spPr>
          <a:xfrm>
            <a:off x="3157756" y="1494631"/>
            <a:ext cx="243576" cy="304502"/>
          </a:xfrm>
          <a:prstGeom prst="rect">
            <a:avLst/>
          </a:prstGeom>
          <a:noFill/>
          <a:ln/>
        </p:spPr>
        <p:txBody>
          <a:bodyPr wrap="none" lIns="0" tIns="0" rIns="0" bIns="0" rtlCol="0" anchor="ctr"/>
          <a:lstStyle/>
          <a:p>
            <a:pPr algn="ctr" indent="0" marL="0">
              <a:lnSpc>
                <a:spcPct val="100000"/>
              </a:lnSpc>
              <a:buNone/>
            </a:pPr>
            <a:r>
              <a:rPr lang="en-US" sz="1900" b="1" dirty="0">
                <a:solidFill>
                  <a:srgbClr val="1C1C1C"/>
                </a:solidFill>
                <a:latin typeface="Orbitron Bold" pitchFamily="34" charset="0"/>
                <a:ea typeface="Orbitron Bold" pitchFamily="34" charset="-122"/>
                <a:cs typeface="Orbitron Bold" pitchFamily="34" charset="-120"/>
              </a:rPr>
              <a:t>1</a:t>
            </a:r>
            <a:endParaRPr lang="en-US" sz="1900" dirty="0"/>
          </a:p>
        </p:txBody>
      </p:sp>
      <p:sp>
        <p:nvSpPr>
          <p:cNvPr id="5" name="Text 2"/>
          <p:cNvSpPr/>
          <p:nvPr/>
        </p:nvSpPr>
        <p:spPr>
          <a:xfrm>
            <a:off x="842941" y="2039541"/>
            <a:ext cx="4873305" cy="253802"/>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Fix</a:t>
            </a:r>
            <a:endParaRPr lang="en-US" sz="1550" dirty="0"/>
          </a:p>
        </p:txBody>
      </p:sp>
      <p:sp>
        <p:nvSpPr>
          <p:cNvPr id="6" name="Text 3"/>
          <p:cNvSpPr/>
          <p:nvPr/>
        </p:nvSpPr>
        <p:spPr>
          <a:xfrm>
            <a:off x="842941" y="2432844"/>
            <a:ext cx="4873305" cy="241598"/>
          </a:xfrm>
          <a:prstGeom prst="rect">
            <a:avLst/>
          </a:prstGeom>
          <a:noFill/>
          <a:ln/>
        </p:spPr>
        <p:txBody>
          <a:bodyPr wrap="none" lIns="0" tIns="0" rIns="0" bIns="0" rtlCol="0" anchor="t"/>
          <a:lstStyle/>
          <a:p>
            <a:pPr algn="l" indent="0" marL="0">
              <a:lnSpc>
                <a:spcPct val="124000"/>
              </a:lnSpc>
              <a:buNone/>
            </a:pPr>
            <a:r>
              <a:rPr lang="en-US" sz="1250" dirty="0">
                <a:solidFill>
                  <a:srgbClr val="1C1C1C"/>
                </a:solidFill>
                <a:latin typeface="Roboto Condensed" pitchFamily="34" charset="0"/>
                <a:ea typeface="Roboto Condensed" pitchFamily="34" charset="-122"/>
                <a:cs typeface="Roboto Condensed" pitchFamily="34" charset="-120"/>
              </a:rPr>
              <a:t>The smallest change. Change one thing.</a:t>
            </a:r>
            <a:endParaRPr lang="en-US" sz="12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995414"/>
            <a:ext cx="5236238" cy="1462187"/>
          </a:xfrm>
          <a:prstGeom prst="rect">
            <a:avLst/>
          </a:prstGeom>
        </p:spPr>
      </p:pic>
      <p:sp>
        <p:nvSpPr>
          <p:cNvPr id="8" name="Text 4"/>
          <p:cNvSpPr/>
          <p:nvPr/>
        </p:nvSpPr>
        <p:spPr>
          <a:xfrm>
            <a:off x="3157756" y="3096320"/>
            <a:ext cx="243576" cy="304502"/>
          </a:xfrm>
          <a:prstGeom prst="rect">
            <a:avLst/>
          </a:prstGeom>
          <a:noFill/>
          <a:ln/>
        </p:spPr>
        <p:txBody>
          <a:bodyPr wrap="none" lIns="0" tIns="0" rIns="0" bIns="0" rtlCol="0" anchor="ctr"/>
          <a:lstStyle/>
          <a:p>
            <a:pPr algn="ctr" indent="0" marL="0">
              <a:lnSpc>
                <a:spcPct val="100000"/>
              </a:lnSpc>
              <a:buNone/>
            </a:pPr>
            <a:r>
              <a:rPr lang="en-US" sz="1900" b="1" dirty="0">
                <a:solidFill>
                  <a:srgbClr val="1C1C1C"/>
                </a:solidFill>
                <a:latin typeface="Orbitron Bold" pitchFamily="34" charset="0"/>
                <a:ea typeface="Orbitron Bold" pitchFamily="34" charset="-122"/>
                <a:cs typeface="Orbitron Bold" pitchFamily="34" charset="-120"/>
              </a:rPr>
              <a:t>2</a:t>
            </a:r>
            <a:endParaRPr lang="en-US" sz="1900" dirty="0"/>
          </a:p>
        </p:txBody>
      </p:sp>
      <p:sp>
        <p:nvSpPr>
          <p:cNvPr id="9" name="Text 5"/>
          <p:cNvSpPr/>
          <p:nvPr/>
        </p:nvSpPr>
        <p:spPr>
          <a:xfrm>
            <a:off x="842941" y="3641229"/>
            <a:ext cx="4873305" cy="253802"/>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Verify</a:t>
            </a:r>
            <a:endParaRPr lang="en-US" sz="1550" dirty="0"/>
          </a:p>
        </p:txBody>
      </p:sp>
      <p:sp>
        <p:nvSpPr>
          <p:cNvPr id="10" name="Text 6"/>
          <p:cNvSpPr/>
          <p:nvPr/>
        </p:nvSpPr>
        <p:spPr>
          <a:xfrm>
            <a:off x="842941" y="4034532"/>
            <a:ext cx="4873305" cy="241598"/>
          </a:xfrm>
          <a:prstGeom prst="rect">
            <a:avLst/>
          </a:prstGeom>
          <a:noFill/>
          <a:ln/>
        </p:spPr>
        <p:txBody>
          <a:bodyPr wrap="none" lIns="0" tIns="0" rIns="0" bIns="0" rtlCol="0" anchor="t"/>
          <a:lstStyle/>
          <a:p>
            <a:pPr algn="l" indent="0" marL="0">
              <a:lnSpc>
                <a:spcPct val="124000"/>
              </a:lnSpc>
              <a:buNone/>
            </a:pPr>
            <a:r>
              <a:rPr lang="en-US" sz="1250" dirty="0">
                <a:solidFill>
                  <a:srgbClr val="1C1C1C"/>
                </a:solidFill>
                <a:latin typeface="Roboto Condensed" pitchFamily="34" charset="0"/>
                <a:ea typeface="Roboto Condensed" pitchFamily="34" charset="-122"/>
                <a:cs typeface="Roboto Condensed" pitchFamily="34" charset="-120"/>
              </a:rPr>
              <a:t>Rerun the reproduction. Also rerun the cases that already worked.</a:t>
            </a:r>
            <a:endParaRPr lang="en-US" sz="12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597102"/>
            <a:ext cx="5236238" cy="1462187"/>
          </a:xfrm>
          <a:prstGeom prst="rect">
            <a:avLst/>
          </a:prstGeom>
        </p:spPr>
      </p:pic>
      <p:sp>
        <p:nvSpPr>
          <p:cNvPr id="12" name="Text 7"/>
          <p:cNvSpPr/>
          <p:nvPr/>
        </p:nvSpPr>
        <p:spPr>
          <a:xfrm>
            <a:off x="3157756" y="4698008"/>
            <a:ext cx="243576" cy="304502"/>
          </a:xfrm>
          <a:prstGeom prst="rect">
            <a:avLst/>
          </a:prstGeom>
          <a:noFill/>
          <a:ln/>
        </p:spPr>
        <p:txBody>
          <a:bodyPr wrap="none" lIns="0" tIns="0" rIns="0" bIns="0" rtlCol="0" anchor="ctr"/>
          <a:lstStyle/>
          <a:p>
            <a:pPr algn="ctr" indent="0" marL="0">
              <a:lnSpc>
                <a:spcPct val="100000"/>
              </a:lnSpc>
              <a:buNone/>
            </a:pPr>
            <a:r>
              <a:rPr lang="en-US" sz="1900" b="1" dirty="0">
                <a:solidFill>
                  <a:srgbClr val="1C1C1C"/>
                </a:solidFill>
                <a:latin typeface="Orbitron Bold" pitchFamily="34" charset="0"/>
                <a:ea typeface="Orbitron Bold" pitchFamily="34" charset="-122"/>
                <a:cs typeface="Orbitron Bold" pitchFamily="34" charset="-120"/>
              </a:rPr>
              <a:t>3</a:t>
            </a:r>
            <a:endParaRPr lang="en-US" sz="1900" dirty="0"/>
          </a:p>
        </p:txBody>
      </p:sp>
      <p:sp>
        <p:nvSpPr>
          <p:cNvPr id="13" name="Text 8"/>
          <p:cNvSpPr/>
          <p:nvPr/>
        </p:nvSpPr>
        <p:spPr>
          <a:xfrm>
            <a:off x="842941" y="5242917"/>
            <a:ext cx="4873305" cy="253802"/>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Document</a:t>
            </a:r>
            <a:endParaRPr lang="en-US" sz="1550" dirty="0"/>
          </a:p>
        </p:txBody>
      </p:sp>
      <p:sp>
        <p:nvSpPr>
          <p:cNvPr id="14" name="Text 9"/>
          <p:cNvSpPr/>
          <p:nvPr/>
        </p:nvSpPr>
        <p:spPr>
          <a:xfrm>
            <a:off x="842941" y="5636220"/>
            <a:ext cx="4873305" cy="241598"/>
          </a:xfrm>
          <a:prstGeom prst="rect">
            <a:avLst/>
          </a:prstGeom>
          <a:noFill/>
          <a:ln/>
        </p:spPr>
        <p:txBody>
          <a:bodyPr wrap="none" lIns="0" tIns="0" rIns="0" bIns="0" rtlCol="0" anchor="t"/>
          <a:lstStyle/>
          <a:p>
            <a:pPr algn="l" indent="0" marL="0">
              <a:lnSpc>
                <a:spcPct val="124000"/>
              </a:lnSpc>
              <a:buNone/>
            </a:pPr>
            <a:r>
              <a:rPr lang="en-US" sz="1250" dirty="0">
                <a:solidFill>
                  <a:srgbClr val="1C1C1C"/>
                </a:solidFill>
                <a:latin typeface="Roboto Condensed" pitchFamily="34" charset="0"/>
                <a:ea typeface="Roboto Condensed" pitchFamily="34" charset="-122"/>
                <a:cs typeface="Roboto Condensed" pitchFamily="34" charset="-120"/>
              </a:rPr>
              <a:t>Write the log entry.</a:t>
            </a:r>
            <a:endParaRPr lang="en-US" sz="1250" dirty="0"/>
          </a:p>
        </p:txBody>
      </p:sp>
      <p:sp>
        <p:nvSpPr>
          <p:cNvPr id="15" name="Shape 10"/>
          <p:cNvSpPr/>
          <p:nvPr/>
        </p:nvSpPr>
        <p:spPr>
          <a:xfrm>
            <a:off x="6300332" y="1393726"/>
            <a:ext cx="5236238" cy="573980"/>
          </a:xfrm>
          <a:prstGeom prst="roundRect">
            <a:avLst>
              <a:gd name="adj" fmla="val 11886"/>
            </a:avLst>
          </a:prstGeom>
          <a:solidFill>
            <a:srgbClr val="FCF2B5"/>
          </a:solidFill>
          <a:ln/>
        </p:spPr>
      </p:sp>
      <p:pic>
        <p:nvPicPr>
          <p:cNvPr id="16" name="Image 3" descr="preencoded.png">    </p:cNvPr>
          <p:cNvPicPr>
            <a:picLocks noChangeAspect="1"/>
          </p:cNvPicPr>
          <p:nvPr/>
        </p:nvPicPr>
        <p:blipFill>
          <a:blip r:embed="rId7"/>
          <a:stretch>
            <a:fillRect/>
          </a:stretch>
        </p:blipFill>
        <p:spPr>
          <a:xfrm>
            <a:off x="6462749" y="1609427"/>
            <a:ext cx="202996" cy="162421"/>
          </a:xfrm>
          <a:prstGeom prst="rect">
            <a:avLst/>
          </a:prstGeom>
        </p:spPr>
      </p:pic>
      <p:sp>
        <p:nvSpPr>
          <p:cNvPr id="17" name="Text 11"/>
          <p:cNvSpPr/>
          <p:nvPr/>
        </p:nvSpPr>
        <p:spPr>
          <a:xfrm>
            <a:off x="6828163" y="1559917"/>
            <a:ext cx="5155575" cy="241598"/>
          </a:xfrm>
          <a:prstGeom prst="rect">
            <a:avLst/>
          </a:prstGeom>
          <a:noFill/>
          <a:ln/>
        </p:spPr>
        <p:txBody>
          <a:bodyPr wrap="none" lIns="0" tIns="0" rIns="0" bIns="0" rtlCol="0" anchor="t"/>
          <a:lstStyle/>
          <a:p>
            <a:pPr algn="l" indent="0" marL="0">
              <a:lnSpc>
                <a:spcPct val="124000"/>
              </a:lnSpc>
              <a:buNone/>
            </a:pPr>
            <a:r>
              <a:rPr lang="en-US" sz="1250" dirty="0">
                <a:solidFill>
                  <a:srgbClr val="000000"/>
                </a:solidFill>
                <a:latin typeface="Roboto Condensed" pitchFamily="34" charset="0"/>
                <a:ea typeface="Roboto Condensed" pitchFamily="34" charset="-122"/>
                <a:cs typeface="Roboto Condensed" pitchFamily="34" charset="-120"/>
              </a:rPr>
              <a:t>No fix before a tested theory.</a:t>
            </a:r>
            <a:endParaRPr lang="en-US" sz="1250" dirty="0"/>
          </a:p>
        </p:txBody>
      </p:sp>
      <p:sp>
        <p:nvSpPr>
          <p:cNvPr id="18" name="Text 12"/>
          <p:cNvSpPr/>
          <p:nvPr/>
        </p:nvSpPr>
        <p:spPr>
          <a:xfrm>
            <a:off x="132255" y="6458148"/>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01679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bug that does not crash</a:t>
            </a:r>
            <a:endParaRPr lang="en-US" sz="3700" dirty="0"/>
          </a:p>
        </p:txBody>
      </p:sp>
      <p:sp>
        <p:nvSpPr>
          <p:cNvPr id="3" name="Shape 1"/>
          <p:cNvSpPr/>
          <p:nvPr/>
        </p:nvSpPr>
        <p:spPr>
          <a:xfrm>
            <a:off x="661475" y="2103537"/>
            <a:ext cx="5203794" cy="3402211"/>
          </a:xfrm>
          <a:prstGeom prst="roundRect">
            <a:avLst>
              <a:gd name="adj" fmla="val 2333"/>
            </a:avLst>
          </a:prstGeom>
          <a:solidFill>
            <a:srgbClr val="F2F2F2"/>
          </a:solidFill>
          <a:ln/>
        </p:spPr>
      </p:sp>
      <p:sp>
        <p:nvSpPr>
          <p:cNvPr id="4" name="Text 2"/>
          <p:cNvSpPr/>
          <p:nvPr/>
        </p:nvSpPr>
        <p:spPr>
          <a:xfrm>
            <a:off x="888283" y="2292548"/>
            <a:ext cx="4750177"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is_weekend(day):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True if the day is Saturday or Sunday."""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day == "saturday" or "sunday"</a:t>
            </a:r>
            <a:endParaRPr lang="en-US" sz="1450" dirty="0"/>
          </a:p>
          <a:p>
            <a:pPr algn="l" indent="0" marL="0">
              <a:lnSpc>
                <a:spcPct val="133000"/>
              </a:lnSpc>
              <a:buNone/>
            </a:pP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alarm_for(day):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the alarm time for this 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is_weekend(day):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WEEKEND_ALARM</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SCHOOL_ALARM</a:t>
            </a:r>
            <a:endParaRPr lang="en-US" sz="1450" dirty="0"/>
          </a:p>
        </p:txBody>
      </p:sp>
      <p:sp>
        <p:nvSpPr>
          <p:cNvPr id="5" name="Shape 3"/>
          <p:cNvSpPr/>
          <p:nvPr/>
        </p:nvSpPr>
        <p:spPr>
          <a:xfrm>
            <a:off x="6332776" y="2103537"/>
            <a:ext cx="5203794" cy="982861"/>
          </a:xfrm>
          <a:prstGeom prst="roundRect">
            <a:avLst>
              <a:gd name="adj" fmla="val 8077"/>
            </a:avLst>
          </a:prstGeom>
          <a:solidFill>
            <a:srgbClr val="F2F2F2"/>
          </a:solidFill>
          <a:ln/>
        </p:spPr>
      </p:sp>
      <p:sp>
        <p:nvSpPr>
          <p:cNvPr id="6" name="Text 4"/>
          <p:cNvSpPr/>
          <p:nvPr/>
        </p:nvSpPr>
        <p:spPr>
          <a:xfrm>
            <a:off x="6559584" y="2292548"/>
            <a:ext cx="475017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Day: monday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Set your alarm for 9:30.</a:t>
            </a:r>
            <a:endParaRPr lang="en-US" sz="1450" dirty="0"/>
          </a:p>
        </p:txBody>
      </p:sp>
      <p:sp>
        <p:nvSpPr>
          <p:cNvPr id="7" name="Text 5"/>
          <p:cNvSpPr/>
          <p:nvPr/>
        </p:nvSpPr>
        <p:spPr>
          <a:xfrm>
            <a:off x="6332776" y="3299023"/>
            <a:ext cx="520379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function returns a truthy value for every day, so the wrong alarm fires silently with no crash.</a:t>
            </a:r>
            <a:endParaRPr lang="en-US" sz="1450" dirty="0"/>
          </a:p>
        </p:txBody>
      </p:sp>
      <p:sp>
        <p:nvSpPr>
          <p:cNvPr id="8"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31921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Testing two theories</a:t>
            </a:r>
            <a:endParaRPr lang="en-US" sz="3700" dirty="0"/>
          </a:p>
        </p:txBody>
      </p:sp>
      <p:sp>
        <p:nvSpPr>
          <p:cNvPr id="3" name="Shape 1"/>
          <p:cNvSpPr/>
          <p:nvPr/>
        </p:nvSpPr>
        <p:spPr>
          <a:xfrm>
            <a:off x="661475" y="2405955"/>
            <a:ext cx="5203794" cy="2797373"/>
          </a:xfrm>
          <a:prstGeom prst="roundRect">
            <a:avLst>
              <a:gd name="adj" fmla="val 2838"/>
            </a:avLst>
          </a:prstGeom>
          <a:solidFill>
            <a:srgbClr val="F2F2F2"/>
          </a:solidFill>
          <a:ln/>
        </p:spPr>
      </p:sp>
      <p:sp>
        <p:nvSpPr>
          <p:cNvPr id="4" name="Text 2"/>
          <p:cNvSpPr/>
          <p:nvPr/>
        </p:nvSpPr>
        <p:spPr>
          <a:xfrm>
            <a:off x="888283" y="2594967"/>
            <a:ext cx="4750177"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Theory 1: the day has a capital letter.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day = input("Day: ").strip().lower()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print(repr(day))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Theory 2: is_weekend returns something true for every day.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print(is_weekend("monday"))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print(is_weekend("saturday"))</a:t>
            </a:r>
            <a:endParaRPr lang="en-US" sz="1450" dirty="0"/>
          </a:p>
        </p:txBody>
      </p:sp>
      <p:sp>
        <p:nvSpPr>
          <p:cNvPr id="5" name="Shape 3"/>
          <p:cNvSpPr/>
          <p:nvPr/>
        </p:nvSpPr>
        <p:spPr>
          <a:xfrm>
            <a:off x="6332776" y="2405955"/>
            <a:ext cx="5203794" cy="1587698"/>
          </a:xfrm>
          <a:prstGeom prst="roundRect">
            <a:avLst>
              <a:gd name="adj" fmla="val 5000"/>
            </a:avLst>
          </a:prstGeom>
          <a:solidFill>
            <a:srgbClr val="F2F2F2"/>
          </a:solidFill>
          <a:ln/>
        </p:spPr>
      </p:sp>
      <p:sp>
        <p:nvSpPr>
          <p:cNvPr id="6" name="Text 4"/>
          <p:cNvSpPr/>
          <p:nvPr/>
        </p:nvSpPr>
        <p:spPr>
          <a:xfrm>
            <a:off x="6559584" y="2594967"/>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Day: Monday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'monday'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sunday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True</a:t>
            </a:r>
            <a:endParaRPr lang="en-US" sz="1450" dirty="0"/>
          </a:p>
        </p:txBody>
      </p:sp>
      <p:sp>
        <p:nvSpPr>
          <p:cNvPr id="7" name="Text 5"/>
          <p:cNvSpPr/>
          <p:nvPr/>
        </p:nvSpPr>
        <p:spPr>
          <a:xfrm>
            <a:off x="6332776" y="4206280"/>
            <a:ext cx="5203794" cy="913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Theory 1 is wrong: the lowercase conversion works. Theory 2 is confirmed: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is_weekend</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returns the string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"sunday"</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which is always truthy.</a:t>
            </a:r>
            <a:endParaRPr lang="en-US" sz="1450" dirty="0"/>
          </a:p>
        </p:txBody>
      </p:sp>
      <p:sp>
        <p:nvSpPr>
          <p:cNvPr id="8"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50822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I skip to the fix</a:t>
            </a:r>
            <a:endParaRPr lang="en-US" sz="3700" dirty="0"/>
          </a:p>
        </p:txBody>
      </p:sp>
      <p:sp>
        <p:nvSpPr>
          <p:cNvPr id="4" name="Shape 1"/>
          <p:cNvSpPr/>
          <p:nvPr/>
        </p:nvSpPr>
        <p:spPr>
          <a:xfrm>
            <a:off x="5233360" y="2972991"/>
            <a:ext cx="6296860" cy="1285280"/>
          </a:xfrm>
          <a:prstGeom prst="roundRect">
            <a:avLst>
              <a:gd name="adj" fmla="val 6177"/>
            </a:avLst>
          </a:prstGeom>
          <a:solidFill>
            <a:srgbClr val="F2F2F2"/>
          </a:solidFill>
          <a:ln/>
        </p:spPr>
      </p:sp>
      <p:sp>
        <p:nvSpPr>
          <p:cNvPr id="5" name="Text 2"/>
          <p:cNvSpPr/>
          <p:nvPr/>
        </p:nvSpPr>
        <p:spPr>
          <a:xfrm>
            <a:off x="5460169" y="3162002"/>
            <a:ext cx="584324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is_weekend(day):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True if the day is Saturday or Sunday."""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day.lower() == "saturday" and day.lower() == "sunday"</a:t>
            </a:r>
            <a:endParaRPr lang="en-US" sz="1450" dirty="0"/>
          </a:p>
        </p:txBody>
      </p:sp>
      <p:sp>
        <p:nvSpPr>
          <p:cNvPr id="6" name="Shape 3"/>
          <p:cNvSpPr/>
          <p:nvPr/>
        </p:nvSpPr>
        <p:spPr>
          <a:xfrm>
            <a:off x="5233360" y="4470896"/>
            <a:ext cx="6296860" cy="755948"/>
          </a:xfrm>
          <a:prstGeom prst="roundRect">
            <a:avLst>
              <a:gd name="adj" fmla="val 10502"/>
            </a:avLst>
          </a:prstGeom>
          <a:solidFill>
            <a:srgbClr val="FFB3B4"/>
          </a:solidFill>
          <a:ln/>
        </p:spPr>
      </p:sp>
      <p:pic>
        <p:nvPicPr>
          <p:cNvPr id="7" name="Image 1" descr="preencoded.png">    </p:cNvPr>
          <p:cNvPicPr>
            <a:picLocks noChangeAspect="1"/>
          </p:cNvPicPr>
          <p:nvPr/>
        </p:nvPicPr>
        <p:blipFill>
          <a:blip r:embed="rId2"/>
          <a:stretch>
            <a:fillRect/>
          </a:stretch>
        </p:blipFill>
        <p:spPr>
          <a:xfrm>
            <a:off x="5422367" y="4738588"/>
            <a:ext cx="236234" cy="189012"/>
          </a:xfrm>
          <a:prstGeom prst="rect">
            <a:avLst/>
          </a:prstGeom>
        </p:spPr>
      </p:pic>
      <p:sp>
        <p:nvSpPr>
          <p:cNvPr id="9"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38211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Saturday breaks, silently</a:t>
            </a:r>
            <a:endParaRPr lang="en-US" sz="3700" dirty="0"/>
          </a:p>
        </p:txBody>
      </p:sp>
      <p:sp>
        <p:nvSpPr>
          <p:cNvPr id="3" name="Shape 1"/>
          <p:cNvSpPr/>
          <p:nvPr/>
        </p:nvSpPr>
        <p:spPr>
          <a:xfrm>
            <a:off x="661475" y="2941439"/>
            <a:ext cx="10868745" cy="1587698"/>
          </a:xfrm>
          <a:prstGeom prst="roundRect">
            <a:avLst>
              <a:gd name="adj" fmla="val 5000"/>
            </a:avLst>
          </a:prstGeom>
          <a:solidFill>
            <a:srgbClr val="F2F2F2"/>
          </a:solidFill>
          <a:ln/>
        </p:spPr>
      </p:sp>
      <p:sp>
        <p:nvSpPr>
          <p:cNvPr id="4" name="Text 2"/>
          <p:cNvSpPr/>
          <p:nvPr/>
        </p:nvSpPr>
        <p:spPr>
          <a:xfrm>
            <a:off x="888283" y="3130451"/>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Day: monday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Set your alarm for 6:15.</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Day: saturday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Set your alarm for 6:15.</a:t>
            </a:r>
            <a:endParaRPr lang="en-US" sz="1450" dirty="0"/>
          </a:p>
        </p:txBody>
      </p:sp>
      <p:sp>
        <p:nvSpPr>
          <p:cNvPr id="5" name="Text 3"/>
          <p:cNvSpPr/>
          <p:nvPr/>
        </p:nvSpPr>
        <p:spPr>
          <a:xfrm>
            <a:off x="661475" y="4741763"/>
            <a:ext cx="10868745" cy="611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Using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and</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instead of </a:t>
            </a:r>
            <a:pPr algn="l" indent="0" marL="0">
              <a:lnSpc>
                <a:spcPct val="133000"/>
              </a:lnSpc>
              <a:buNone/>
            </a:pPr>
            <a:r>
              <a:rPr lang="en-US" sz="1450" dirty="0">
                <a:solidFill>
                  <a:srgbClr val="1C1C1C"/>
                </a:solidFill>
                <a:highlight>
                  <a:srgbClr val="F2F2F2"/>
                </a:highlight>
                <a:latin typeface="Consolas" pitchFamily="34" charset="0"/>
                <a:ea typeface="Consolas" pitchFamily="34" charset="-122"/>
                <a:cs typeface="Consolas" pitchFamily="34" charset="-120"/>
              </a:rPr>
              <a:t>or</a:t>
            </a:r>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 means no single day can equal both strings at once. Saturday now returns the wrong alarm with no error message.</a:t>
            </a:r>
            <a:endParaRPr lang="en-US" sz="1450" dirty="0"/>
          </a:p>
        </p:txBody>
      </p:sp>
      <p:sp>
        <p:nvSpPr>
          <p:cNvPr id="6"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45405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Reading a traceback, bottom up</a:t>
            </a:r>
            <a:endParaRPr lang="en-US" sz="3700" dirty="0"/>
          </a:p>
        </p:txBody>
      </p:sp>
      <p:sp>
        <p:nvSpPr>
          <p:cNvPr id="3" name="Shape 1"/>
          <p:cNvSpPr/>
          <p:nvPr/>
        </p:nvSpPr>
        <p:spPr>
          <a:xfrm>
            <a:off x="661475" y="2540794"/>
            <a:ext cx="5203794" cy="2192536"/>
          </a:xfrm>
          <a:prstGeom prst="roundRect">
            <a:avLst>
              <a:gd name="adj" fmla="val 3621"/>
            </a:avLst>
          </a:prstGeom>
          <a:solidFill>
            <a:srgbClr val="F2F2F2"/>
          </a:solidFill>
          <a:ln/>
        </p:spPr>
      </p:sp>
      <p:sp>
        <p:nvSpPr>
          <p:cNvPr id="4" name="Text 2"/>
          <p:cNvSpPr/>
          <p:nvPr/>
        </p:nvSpPr>
        <p:spPr>
          <a:xfrm>
            <a:off x="888283" y="2729805"/>
            <a:ext cx="4750177"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Rider age: 15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Traceback (most recent call last):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File "...", line 15, in &lt;module&gt;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print("Fare: $" + fare_for(age))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TypeError: can only concatenate str (not "float") to str</a:t>
            </a:r>
            <a:endParaRPr lang="en-US" sz="14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03616" y="2546648"/>
            <a:ext cx="283461" cy="283468"/>
          </a:xfrm>
          <a:prstGeom prst="rect">
            <a:avLst/>
          </a:prstGeom>
        </p:spPr>
      </p:pic>
      <p:sp>
        <p:nvSpPr>
          <p:cNvPr id="6" name="Text 3"/>
          <p:cNvSpPr/>
          <p:nvPr/>
        </p:nvSpPr>
        <p:spPr>
          <a:xfrm>
            <a:off x="6947024" y="2540794"/>
            <a:ext cx="458954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Start at the bottom line: the error type and message</a:t>
            </a:r>
            <a:endParaRPr lang="en-US" sz="18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03616" y="3515221"/>
            <a:ext cx="283461" cy="283468"/>
          </a:xfrm>
          <a:prstGeom prst="rect">
            <a:avLst/>
          </a:prstGeom>
        </p:spPr>
      </p:pic>
      <p:sp>
        <p:nvSpPr>
          <p:cNvPr id="8" name="Text 4"/>
          <p:cNvSpPr/>
          <p:nvPr/>
        </p:nvSpPr>
        <p:spPr>
          <a:xfrm>
            <a:off x="6947024" y="3509367"/>
            <a:ext cx="458954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Move up to the caret line showing the exact expression</a:t>
            </a:r>
            <a:endParaRPr lang="en-US" sz="18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03616" y="4483795"/>
            <a:ext cx="283461" cy="283468"/>
          </a:xfrm>
          <a:prstGeom prst="rect">
            <a:avLst/>
          </a:prstGeom>
        </p:spPr>
      </p:pic>
      <p:sp>
        <p:nvSpPr>
          <p:cNvPr id="10" name="Text 5"/>
          <p:cNvSpPr/>
          <p:nvPr/>
        </p:nvSpPr>
        <p:spPr>
          <a:xfrm>
            <a:off x="6947024" y="4477941"/>
            <a:ext cx="458954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Then read the file and line number above it</a:t>
            </a:r>
            <a:endParaRPr lang="en-US" sz="1850" dirty="0"/>
          </a:p>
        </p:txBody>
      </p:sp>
      <p:sp>
        <p:nvSpPr>
          <p:cNvPr id="11"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34639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log entry</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15071"/>
            <a:ext cx="3496877" cy="1442343"/>
          </a:xfrm>
          <a:prstGeom prst="rect">
            <a:avLst/>
          </a:prstGeom>
        </p:spPr>
      </p:pic>
      <p:sp>
        <p:nvSpPr>
          <p:cNvPr id="4" name="Text 1"/>
          <p:cNvSpPr/>
          <p:nvPr/>
        </p:nvSpPr>
        <p:spPr>
          <a:xfrm>
            <a:off x="977479" y="2529483"/>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Reproduction</a:t>
            </a:r>
            <a:endParaRPr lang="en-US" sz="1850" dirty="0"/>
          </a:p>
        </p:txBody>
      </p:sp>
      <p:sp>
        <p:nvSpPr>
          <p:cNvPr id="5" name="Text 2"/>
          <p:cNvSpPr/>
          <p:nvPr/>
        </p:nvSpPr>
        <p:spPr>
          <a:xfrm>
            <a:off x="977479" y="2938165"/>
            <a:ext cx="296646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Input, expected, actual, crash or silent.</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47359" y="2315071"/>
            <a:ext cx="3496877" cy="1442343"/>
          </a:xfrm>
          <a:prstGeom prst="rect">
            <a:avLst/>
          </a:prstGeom>
        </p:spPr>
      </p:pic>
      <p:sp>
        <p:nvSpPr>
          <p:cNvPr id="7" name="Text 3"/>
          <p:cNvSpPr/>
          <p:nvPr/>
        </p:nvSpPr>
        <p:spPr>
          <a:xfrm>
            <a:off x="4663363" y="2529483"/>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theory</a:t>
            </a:r>
            <a:endParaRPr lang="en-US" sz="1850" dirty="0"/>
          </a:p>
        </p:txBody>
      </p:sp>
      <p:sp>
        <p:nvSpPr>
          <p:cNvPr id="8" name="Text 4"/>
          <p:cNvSpPr/>
          <p:nvPr/>
        </p:nvSpPr>
        <p:spPr>
          <a:xfrm>
            <a:off x="4663363" y="2938165"/>
            <a:ext cx="296646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Including the ones that were wrong.</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3244" y="2315071"/>
            <a:ext cx="3496877" cy="1442343"/>
          </a:xfrm>
          <a:prstGeom prst="rect">
            <a:avLst/>
          </a:prstGeom>
        </p:spPr>
      </p:pic>
      <p:sp>
        <p:nvSpPr>
          <p:cNvPr id="10" name="Text 5"/>
          <p:cNvSpPr/>
          <p:nvPr/>
        </p:nvSpPr>
        <p:spPr>
          <a:xfrm>
            <a:off x="8349247" y="2529483"/>
            <a:ext cx="296646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Each test and its real output</a:t>
            </a:r>
            <a:endParaRPr lang="en-US" sz="1850" dirty="0"/>
          </a:p>
        </p:txBody>
      </p:sp>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46426"/>
            <a:ext cx="3496877" cy="1442343"/>
          </a:xfrm>
          <a:prstGeom prst="rect">
            <a:avLst/>
          </a:prstGeom>
        </p:spPr>
      </p:pic>
      <p:sp>
        <p:nvSpPr>
          <p:cNvPr id="12" name="Text 6"/>
          <p:cNvSpPr/>
          <p:nvPr/>
        </p:nvSpPr>
        <p:spPr>
          <a:xfrm>
            <a:off x="977479" y="4160838"/>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fix</a:t>
            </a:r>
            <a:endParaRPr lang="en-US" sz="1850" dirty="0"/>
          </a:p>
        </p:txBody>
      </p:sp>
      <p:sp>
        <p:nvSpPr>
          <p:cNvPr id="13" name="Text 7"/>
          <p:cNvSpPr/>
          <p:nvPr/>
        </p:nvSpPr>
        <p:spPr>
          <a:xfrm>
            <a:off x="977479" y="4569520"/>
            <a:ext cx="296646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line before and after.</a:t>
            </a:r>
            <a:endParaRPr lang="en-US" sz="1450" dirty="0"/>
          </a:p>
        </p:txBody>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47359" y="3946426"/>
            <a:ext cx="3496877" cy="1442343"/>
          </a:xfrm>
          <a:prstGeom prst="rect">
            <a:avLst/>
          </a:prstGeom>
        </p:spPr>
      </p:pic>
      <p:sp>
        <p:nvSpPr>
          <p:cNvPr id="15" name="Text 8"/>
          <p:cNvSpPr/>
          <p:nvPr/>
        </p:nvSpPr>
        <p:spPr>
          <a:xfrm>
            <a:off x="4663363" y="4160838"/>
            <a:ext cx="296646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Verify</a:t>
            </a:r>
            <a:endParaRPr lang="en-US" sz="1850" dirty="0"/>
          </a:p>
        </p:txBody>
      </p:sp>
      <p:sp>
        <p:nvSpPr>
          <p:cNvPr id="16" name="Text 9"/>
          <p:cNvSpPr/>
          <p:nvPr/>
        </p:nvSpPr>
        <p:spPr>
          <a:xfrm>
            <a:off x="4663363" y="4569520"/>
            <a:ext cx="2966467"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reproduction plus cases that already worked.</a:t>
            </a:r>
            <a:endParaRPr lang="en-US" sz="1450" dirty="0"/>
          </a:p>
        </p:txBody>
      </p:sp>
      <p:sp>
        <p:nvSpPr>
          <p:cNvPr id="17"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98913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3052266"/>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Build 1</a:t>
            </a:r>
            <a:endParaRPr lang="en-US" sz="1850" dirty="0"/>
          </a:p>
        </p:txBody>
      </p:sp>
      <p:sp>
        <p:nvSpPr>
          <p:cNvPr id="4" name="Text 2"/>
          <p:cNvSpPr/>
          <p:nvPr/>
        </p:nvSpPr>
        <p:spPr>
          <a:xfrm>
            <a:off x="661475" y="3536553"/>
            <a:ext cx="581337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Lab U4-01, a practice report that crashes.</a:t>
            </a:r>
            <a:endParaRPr lang="en-US" sz="1450" dirty="0"/>
          </a:p>
        </p:txBody>
      </p:sp>
      <p:sp>
        <p:nvSpPr>
          <p:cNvPr id="5" name="Text 3"/>
          <p:cNvSpPr/>
          <p:nvPr/>
        </p:nvSpPr>
        <p:spPr>
          <a:xfrm>
            <a:off x="661475" y="4009033"/>
            <a:ext cx="5203794"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Find three bugs. Log each one with all six steps.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of the three bugs do not crash.</a:t>
            </a:r>
            <a:endParaRPr lang="en-US" sz="1450" dirty="0"/>
          </a:p>
        </p:txBody>
      </p:sp>
      <p:sp>
        <p:nvSpPr>
          <p:cNvPr id="6" name="Text 4"/>
          <p:cNvSpPr/>
          <p:nvPr/>
        </p:nvSpPr>
        <p:spPr>
          <a:xfrm>
            <a:off x="6332776" y="3052266"/>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Build 2</a:t>
            </a:r>
            <a:endParaRPr lang="en-US" sz="1850" dirty="0"/>
          </a:p>
        </p:txBody>
      </p:sp>
      <p:sp>
        <p:nvSpPr>
          <p:cNvPr id="7" name="Text 5"/>
          <p:cNvSpPr/>
          <p:nvPr/>
        </p:nvSpPr>
        <p:spPr>
          <a:xfrm>
            <a:off x="6332776" y="3536553"/>
            <a:ext cx="581337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Your v2 plan. Baseline, failure list, function map.</a:t>
            </a:r>
            <a:endParaRPr lang="en-US" sz="1450" dirty="0"/>
          </a:p>
        </p:txBody>
      </p:sp>
      <p:sp>
        <p:nvSpPr>
          <p:cNvPr id="8" name="Text 6"/>
          <p:cNvSpPr/>
          <p:nvPr/>
        </p:nvSpPr>
        <p:spPr>
          <a:xfrm>
            <a:off x="6332776" y="4009033"/>
            <a:ext cx="5813379" cy="302419"/>
          </a:xfrm>
          <a:prstGeom prst="rect">
            <a:avLst/>
          </a:prstGeom>
          <a:noFill/>
          <a:ln/>
        </p:spPr>
        <p:txBody>
          <a:bodyPr wrap="none" lIns="0" tIns="0" rIns="0" bIns="0" rtlCol="0" anchor="t"/>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Log every bug you hit this week.</a:t>
            </a:r>
            <a:endParaRPr lang="en-US" sz="1450" dirty="0"/>
          </a:p>
        </p:txBody>
      </p:sp>
      <p:sp>
        <p:nvSpPr>
          <p:cNvPr id="9"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2026-09-14T20:02:16Z</dcterms:created>
  <dcterms:modified xsi:type="dcterms:W3CDTF">2026-09-14T20:02:16Z</dcterms:modified>
</cp:coreProperties>
</file>