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your version one and count how many times you print a room heading, a line of dashes, and an exits line. Copy and paste makes a promise that you will change every copy together, forever. You will not keep that promise. Nobody does. Today you learn how to give a block of code a name so it lives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been calling functions since Week 1. Print is a function, len is a function. Today you write your own. Def teaches Python a new name. The body is what that name means. Parameters are placeholders. When you call it, each argument you pass gets tied to a parameter, first to first, second to second, and then the body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definition, three calls. On the first call, room name is Kitchen. On the second, Porch. The body is the same three lines every time, and only the value tied to the parameter changes. Now make every heading capitals. One edit. That is the whole reason functions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argument goes to item and the second goes to price. Python matches them by position, not by meaning. And the formatting from Week 3 now lives in one place, so every line of every receipt lines up without you trying.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Loops and decisions work inside a function body exactly as they do anywhere else. Repeat message prints three numbered lines. Warn storm with nine prints nothing at all, and that is correct, because nine matches neither condition. Warn storm with four prints the four moves warning. The body is ordinary code that happens to have a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def by itself teaches Python a name and does nothing else. If you forget the call, nothing happens and nothing complains. If you write the name without parentheses, that is also legal and also does nothing. And Python reads top to bottom, so the def has to come before the first call. Constants first, then every def, then the code that calls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defined show heading with one parameter, room name. Now I call it with empty parentheses. Before I run it, what do you think Python will say, and will it name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like a sentence. Show heading is missing one required positional argument, and it is called room name. Python names the function, the count, and the exact parameter. Too many arguments gives a message that says takes one positional argument but two were given. Calling before the def gives a NameError. The one that does not crash is passing two text arguments in the wrong order, because Python has no idea north is a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silent one. If both parameters take text, swapping them raises nothing. The function happily prints from the north you can go lobby. The dangerous bugs are the ones that do not crash, and this one is waiting in every function with two parameters of the same type. When you call a function, look at its def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Unit 3 quiz. Build two is a new practice file, not your version one. Find three places in your adventure where the same shape of code repeats with a different value. Write each one as a function with at least one parameter, and call each one at least twice with different arguments. Every function you write today prints. Tomorrow you learn how to make one hand a value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image" Target="../media/image-3-1.png"/><Relationship Id="rId10" Type="http://schemas.openxmlformats.org/officeDocument/2006/relationships/image" Target="../media/image-3-2.sv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1.png"/><Relationship Id="rId4" Type="http://schemas.openxmlformats.org/officeDocument/2006/relationships/image" Target="../media/image-7-2.svg"/><Relationship Id="rId5" Type="http://schemas.openxmlformats.org/officeDocument/2006/relationships/image" Target="../media/image-7-1.png"/><Relationship Id="rId6" Type="http://schemas.openxmlformats.org/officeDocument/2006/relationships/image" Target="../media/image-7-2.svg"/><Relationship Id="rId7" Type="http://schemas.openxmlformats.org/officeDocument/2006/relationships/image" Target="../media/image-7-1.png"/><Relationship Id="rId8" Type="http://schemas.openxmlformats.org/officeDocument/2006/relationships/image" Target="../media/image-7-2.svg"/><Relationship Id="rId9" Type="http://schemas.openxmlformats.org/officeDocument/2006/relationships/image" Target="../media/image-7-1.png"/><Relationship Id="rId10" Type="http://schemas.openxmlformats.org/officeDocument/2006/relationships/image" Target="../media/image-7-2.svg"/><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7.png"/><Relationship Id="rId10" Type="http://schemas.openxmlformats.org/officeDocument/2006/relationships/image" Target="../media/image-10-8.sv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Write It Once, Call It Anywhere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06402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Six copies of the same three lines</a:t>
            </a:r>
            <a:endParaRPr lang="en-US" sz="3700" dirty="0"/>
          </a:p>
        </p:txBody>
      </p:sp>
      <p:sp>
        <p:nvSpPr>
          <p:cNvPr id="3" name="Shape 1"/>
          <p:cNvSpPr/>
          <p:nvPr/>
        </p:nvSpPr>
        <p:spPr>
          <a:xfrm>
            <a:off x="661475" y="2032695"/>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0975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adventure prints a heading for every room</a:t>
            </a:r>
            <a:endParaRPr lang="en-US" sz="1850" dirty="0"/>
          </a:p>
        </p:txBody>
      </p:sp>
      <p:sp>
        <p:nvSpPr>
          <p:cNvPr id="5" name="Shape 3"/>
          <p:cNvSpPr/>
          <p:nvPr/>
        </p:nvSpPr>
        <p:spPr>
          <a:xfrm>
            <a:off x="661475" y="2835970"/>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290085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Six rooms, six copies of the same lines</a:t>
            </a:r>
            <a:endParaRPr lang="en-US" sz="1850" dirty="0"/>
          </a:p>
        </p:txBody>
      </p:sp>
      <p:sp>
        <p:nvSpPr>
          <p:cNvPr id="7" name="Shape 5"/>
          <p:cNvSpPr/>
          <p:nvPr/>
        </p:nvSpPr>
        <p:spPr>
          <a:xfrm>
            <a:off x="661475" y="3639245"/>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70413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playtester wants the headings in capitals</a:t>
            </a:r>
            <a:endParaRPr lang="en-US" sz="1850" dirty="0"/>
          </a:p>
        </p:txBody>
      </p:sp>
      <p:sp>
        <p:nvSpPr>
          <p:cNvPr id="9" name="Shape 7"/>
          <p:cNvSpPr/>
          <p:nvPr/>
        </p:nvSpPr>
        <p:spPr>
          <a:xfrm>
            <a:off x="661475" y="4442520"/>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50740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change five of them</a:t>
            </a:r>
            <a:endParaRPr lang="en-US" sz="1850" dirty="0"/>
          </a:p>
        </p:txBody>
      </p:sp>
      <p:sp>
        <p:nvSpPr>
          <p:cNvPr id="11" name="Shape 9"/>
          <p:cNvSpPr/>
          <p:nvPr/>
        </p:nvSpPr>
        <p:spPr>
          <a:xfrm>
            <a:off x="661475" y="5245795"/>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3106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Nobody notices the sixth for a week</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34639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words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15071"/>
            <a:ext cx="3496877" cy="1442343"/>
          </a:xfrm>
          <a:prstGeom prst="rect">
            <a:avLst/>
          </a:prstGeom>
        </p:spPr>
      </p:pic>
      <p:sp>
        <p:nvSpPr>
          <p:cNvPr id="4" name="Text 1"/>
          <p:cNvSpPr/>
          <p:nvPr/>
        </p:nvSpPr>
        <p:spPr>
          <a:xfrm>
            <a:off x="977479" y="2529483"/>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def</a:t>
            </a:r>
            <a:endParaRPr lang="en-US" sz="1850" dirty="0"/>
          </a:p>
        </p:txBody>
      </p:sp>
      <p:sp>
        <p:nvSpPr>
          <p:cNvPr id="5" name="Text 2"/>
          <p:cNvSpPr/>
          <p:nvPr/>
        </p:nvSpPr>
        <p:spPr>
          <a:xfrm>
            <a:off x="977479" y="2938165"/>
            <a:ext cx="296646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Defines a function. Defining does not run it.</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315071"/>
            <a:ext cx="3496877" cy="1442343"/>
          </a:xfrm>
          <a:prstGeom prst="rect">
            <a:avLst/>
          </a:prstGeom>
        </p:spPr>
      </p:pic>
      <p:sp>
        <p:nvSpPr>
          <p:cNvPr id="7" name="Text 3"/>
          <p:cNvSpPr/>
          <p:nvPr/>
        </p:nvSpPr>
        <p:spPr>
          <a:xfrm>
            <a:off x="4663363" y="2529483"/>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Body</a:t>
            </a:r>
            <a:endParaRPr lang="en-US" sz="1850" dirty="0"/>
          </a:p>
        </p:txBody>
      </p:sp>
      <p:sp>
        <p:nvSpPr>
          <p:cNvPr id="8" name="Text 4"/>
          <p:cNvSpPr/>
          <p:nvPr/>
        </p:nvSpPr>
        <p:spPr>
          <a:xfrm>
            <a:off x="4663363" y="2938165"/>
            <a:ext cx="296646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indented block inside the function.</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315071"/>
            <a:ext cx="3496877" cy="1442343"/>
          </a:xfrm>
          <a:prstGeom prst="rect">
            <a:avLst/>
          </a:prstGeom>
        </p:spPr>
      </p:pic>
      <p:sp>
        <p:nvSpPr>
          <p:cNvPr id="10" name="Text 5"/>
          <p:cNvSpPr/>
          <p:nvPr/>
        </p:nvSpPr>
        <p:spPr>
          <a:xfrm>
            <a:off x="8349247" y="2529483"/>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Parameter</a:t>
            </a:r>
            <a:endParaRPr lang="en-US" sz="1850" dirty="0"/>
          </a:p>
        </p:txBody>
      </p:sp>
      <p:sp>
        <p:nvSpPr>
          <p:cNvPr id="11" name="Text 6"/>
          <p:cNvSpPr/>
          <p:nvPr/>
        </p:nvSpPr>
        <p:spPr>
          <a:xfrm>
            <a:off x="8349247" y="2938165"/>
            <a:ext cx="296646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placeholder name in the def line.</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46426"/>
            <a:ext cx="3496877" cy="1442343"/>
          </a:xfrm>
          <a:prstGeom prst="rect">
            <a:avLst/>
          </a:prstGeom>
        </p:spPr>
      </p:pic>
      <p:sp>
        <p:nvSpPr>
          <p:cNvPr id="13" name="Text 7"/>
          <p:cNvSpPr/>
          <p:nvPr/>
        </p:nvSpPr>
        <p:spPr>
          <a:xfrm>
            <a:off x="977479" y="4160838"/>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Call</a:t>
            </a:r>
            <a:endParaRPr lang="en-US" sz="1850" dirty="0"/>
          </a:p>
        </p:txBody>
      </p:sp>
      <p:sp>
        <p:nvSpPr>
          <p:cNvPr id="14" name="Text 8"/>
          <p:cNvSpPr/>
          <p:nvPr/>
        </p:nvSpPr>
        <p:spPr>
          <a:xfrm>
            <a:off x="977479" y="4569520"/>
            <a:ext cx="296646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Runs the body: name, then parentheses.</a:t>
            </a:r>
            <a:endParaRPr lang="en-US" sz="14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3946426"/>
            <a:ext cx="3496877" cy="1442343"/>
          </a:xfrm>
          <a:prstGeom prst="rect">
            <a:avLst/>
          </a:prstGeom>
        </p:spPr>
      </p:pic>
      <p:sp>
        <p:nvSpPr>
          <p:cNvPr id="16" name="Text 9"/>
          <p:cNvSpPr/>
          <p:nvPr/>
        </p:nvSpPr>
        <p:spPr>
          <a:xfrm>
            <a:off x="4663363" y="4160838"/>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Argument</a:t>
            </a:r>
            <a:endParaRPr lang="en-US" sz="1850" dirty="0"/>
          </a:p>
        </p:txBody>
      </p:sp>
      <p:sp>
        <p:nvSpPr>
          <p:cNvPr id="17" name="Text 10"/>
          <p:cNvSpPr/>
          <p:nvPr/>
        </p:nvSpPr>
        <p:spPr>
          <a:xfrm>
            <a:off x="4663363" y="4569520"/>
            <a:ext cx="296646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real value in the call.</a:t>
            </a:r>
            <a:endParaRPr lang="en-US" sz="1450" dirty="0"/>
          </a:p>
        </p:txBody>
      </p:sp>
      <p:sp>
        <p:nvSpPr>
          <p:cNvPr id="18"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31921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copy problem, fixed</a:t>
            </a:r>
            <a:endParaRPr lang="en-US" sz="3700" dirty="0"/>
          </a:p>
        </p:txBody>
      </p:sp>
      <p:sp>
        <p:nvSpPr>
          <p:cNvPr id="3" name="Shape 1"/>
          <p:cNvSpPr/>
          <p:nvPr/>
        </p:nvSpPr>
        <p:spPr>
          <a:xfrm>
            <a:off x="661475" y="2405955"/>
            <a:ext cx="5203794" cy="2797373"/>
          </a:xfrm>
          <a:prstGeom prst="roundRect">
            <a:avLst>
              <a:gd name="adj" fmla="val 2838"/>
            </a:avLst>
          </a:prstGeom>
          <a:solidFill>
            <a:srgbClr val="F2F2F2"/>
          </a:solidFill>
          <a:ln/>
        </p:spPr>
      </p:sp>
      <p:sp>
        <p:nvSpPr>
          <p:cNvPr id="4" name="Text 2"/>
          <p:cNvSpPr/>
          <p:nvPr/>
        </p:nvSpPr>
        <p:spPr>
          <a:xfrm>
            <a:off x="888283" y="2594967"/>
            <a:ext cx="4750177"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show_heading(room_name):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 {room_name}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 * 20)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show_heading("Kitchen")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show_heading("Porch")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show_heading("Bedroom")</a:t>
            </a:r>
            <a:endParaRPr lang="en-US" sz="1450" dirty="0"/>
          </a:p>
        </p:txBody>
      </p:sp>
      <p:sp>
        <p:nvSpPr>
          <p:cNvPr id="5" name="Shape 3"/>
          <p:cNvSpPr/>
          <p:nvPr/>
        </p:nvSpPr>
        <p:spPr>
          <a:xfrm>
            <a:off x="6332776" y="2405955"/>
            <a:ext cx="5203794" cy="1890117"/>
          </a:xfrm>
          <a:prstGeom prst="roundRect">
            <a:avLst>
              <a:gd name="adj" fmla="val 4200"/>
            </a:avLst>
          </a:prstGeom>
          <a:solidFill>
            <a:srgbClr val="F2F2F2"/>
          </a:solidFill>
          <a:ln/>
        </p:spPr>
      </p:sp>
      <p:sp>
        <p:nvSpPr>
          <p:cNvPr id="6" name="Text 4"/>
          <p:cNvSpPr/>
          <p:nvPr/>
        </p:nvSpPr>
        <p:spPr>
          <a:xfrm>
            <a:off x="6559584" y="2594967"/>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 Kitchen ==</a:t>
            </a:r>
            <a:endParaRPr lang="en-US" sz="1450" dirty="0"/>
          </a:p>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a:t>
            </a:r>
            <a:endParaRPr lang="en-US" sz="1450" dirty="0"/>
          </a:p>
          <a:p>
            <a:pPr algn="l" indent="0" marL="0">
              <a:lnSpc>
                <a:spcPct val="133000"/>
              </a:lnSpc>
              <a:buNone/>
            </a:pPr>
            <a:endParaRPr lang="en-US" sz="1450" dirty="0"/>
          </a:p>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 Porch ==</a:t>
            </a:r>
            <a:endParaRPr lang="en-US" sz="1450" dirty="0"/>
          </a:p>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62163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parameters, matched by position</a:t>
            </a:r>
            <a:endParaRPr lang="en-US" sz="3700" dirty="0"/>
          </a:p>
        </p:txBody>
      </p:sp>
      <p:sp>
        <p:nvSpPr>
          <p:cNvPr id="3" name="Shape 1"/>
          <p:cNvSpPr/>
          <p:nvPr/>
        </p:nvSpPr>
        <p:spPr>
          <a:xfrm>
            <a:off x="661475" y="2708374"/>
            <a:ext cx="5203794" cy="2192536"/>
          </a:xfrm>
          <a:prstGeom prst="roundRect">
            <a:avLst>
              <a:gd name="adj" fmla="val 3621"/>
            </a:avLst>
          </a:prstGeom>
          <a:solidFill>
            <a:srgbClr val="F2F2F2"/>
          </a:solidFill>
          <a:ln/>
        </p:spPr>
      </p:sp>
      <p:sp>
        <p:nvSpPr>
          <p:cNvPr id="4" name="Text 2"/>
          <p:cNvSpPr/>
          <p:nvPr/>
        </p:nvSpPr>
        <p:spPr>
          <a:xfrm>
            <a:off x="888283" y="2897386"/>
            <a:ext cx="4750177"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print_receipt_line(item, price):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print(f"{item:&lt;16}${price:&gt;6.2f}")</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print_receipt_line("Nachos", 4.5)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print_receipt_line("Sports drink", 2.25)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print_receipt_line("Pretzel", 3)</a:t>
            </a:r>
            <a:endParaRPr lang="en-US" sz="1450" dirty="0"/>
          </a:p>
        </p:txBody>
      </p:sp>
      <p:sp>
        <p:nvSpPr>
          <p:cNvPr id="5" name="Shape 3"/>
          <p:cNvSpPr/>
          <p:nvPr/>
        </p:nvSpPr>
        <p:spPr>
          <a:xfrm>
            <a:off x="6332776" y="2708374"/>
            <a:ext cx="5203794" cy="1285280"/>
          </a:xfrm>
          <a:prstGeom prst="roundRect">
            <a:avLst>
              <a:gd name="adj" fmla="val 6177"/>
            </a:avLst>
          </a:prstGeom>
          <a:solidFill>
            <a:srgbClr val="F2F2F2"/>
          </a:solidFill>
          <a:ln/>
        </p:spPr>
      </p:sp>
      <p:sp>
        <p:nvSpPr>
          <p:cNvPr id="6" name="Text 4"/>
          <p:cNvSpPr/>
          <p:nvPr/>
        </p:nvSpPr>
        <p:spPr>
          <a:xfrm>
            <a:off x="6559584" y="2897386"/>
            <a:ext cx="47501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6F42C1"/>
                </a:solidFill>
                <a:latin typeface="Consolas" pitchFamily="34" charset="0"/>
                <a:ea typeface="Consolas" pitchFamily="34" charset="-122"/>
                <a:cs typeface="Consolas" pitchFamily="34" charset="-120"/>
              </a:rPr>
              <a:t>Nachos          $  4.50</a:t>
            </a:r>
            <a:endParaRPr lang="en-US" sz="1450" dirty="0"/>
          </a:p>
          <a:p>
            <a:pPr algn="l" indent="0" marL="0">
              <a:lnSpc>
                <a:spcPct val="133000"/>
              </a:lnSpc>
              <a:buNone/>
            </a:pPr>
            <a:r>
              <a:rPr lang="en-US" sz="1450" dirty="0">
                <a:solidFill>
                  <a:srgbClr val="6F42C1"/>
                </a:solidFill>
                <a:latin typeface="Consolas" pitchFamily="34" charset="0"/>
                <a:ea typeface="Consolas" pitchFamily="34" charset="-122"/>
                <a:cs typeface="Consolas" pitchFamily="34" charset="-120"/>
              </a:rPr>
              <a:t>Sports drink    $  2.25</a:t>
            </a:r>
            <a:endParaRPr lang="en-US" sz="1450" dirty="0"/>
          </a:p>
          <a:p>
            <a:pPr algn="l" indent="0" marL="0">
              <a:lnSpc>
                <a:spcPct val="133000"/>
              </a:lnSpc>
              <a:buNone/>
            </a:pPr>
            <a:r>
              <a:rPr lang="en-US" sz="1450" dirty="0">
                <a:solidFill>
                  <a:srgbClr val="6F42C1"/>
                </a:solidFill>
                <a:latin typeface="Consolas" pitchFamily="34" charset="0"/>
                <a:ea typeface="Consolas" pitchFamily="34" charset="-122"/>
                <a:cs typeface="Consolas" pitchFamily="34" charset="-120"/>
              </a:rPr>
              <a:t>Pretzel         $  3.00</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7284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body holds anything you know</a:t>
            </a:r>
            <a:endParaRPr lang="en-US" sz="3700" dirty="0"/>
          </a:p>
        </p:txBody>
      </p:sp>
      <p:sp>
        <p:nvSpPr>
          <p:cNvPr id="3" name="Shape 1"/>
          <p:cNvSpPr/>
          <p:nvPr/>
        </p:nvSpPr>
        <p:spPr>
          <a:xfrm>
            <a:off x="661475" y="1697137"/>
            <a:ext cx="10868745" cy="4309467"/>
          </a:xfrm>
          <a:prstGeom prst="roundRect">
            <a:avLst>
              <a:gd name="adj" fmla="val 1842"/>
            </a:avLst>
          </a:prstGeom>
          <a:solidFill>
            <a:srgbClr val="F2F2F2"/>
          </a:solidFill>
          <a:ln/>
        </p:spPr>
      </p:sp>
      <p:sp>
        <p:nvSpPr>
          <p:cNvPr id="4" name="Text 2"/>
          <p:cNvSpPr/>
          <p:nvPr/>
        </p:nvSpPr>
        <p:spPr>
          <a:xfrm>
            <a:off x="888283" y="1886148"/>
            <a:ext cx="10415129" cy="393144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repeat_message(message, times):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for count in range(1, times + 1):</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print(f"({count} of {times}) {message}")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warn_storm(moves_left):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moves_left == 1:</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print("Thunder rolls closer. The storm is 1 move away.")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elif moves_left &lt;= 5:</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print(f"Thunder rolls closer. The storm is {moves_left} moves away.")</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repeat_message("Stay on high ground.", 3)</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warn_storm(9)</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warn_storm(4)</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9492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Defining is not running</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2315" y="1669455"/>
            <a:ext cx="283461" cy="283468"/>
          </a:xfrm>
          <a:prstGeom prst="rect">
            <a:avLst/>
          </a:prstGeom>
        </p:spPr>
      </p:pic>
      <p:sp>
        <p:nvSpPr>
          <p:cNvPr id="4" name="Text 1"/>
          <p:cNvSpPr/>
          <p:nvPr/>
        </p:nvSpPr>
        <p:spPr>
          <a:xfrm>
            <a:off x="1275723" y="1663601"/>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def celebrate() then no call: nothing prints</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2315" y="2620367"/>
            <a:ext cx="283461" cy="283468"/>
          </a:xfrm>
          <a:prstGeom prst="rect">
            <a:avLst/>
          </a:prstGeom>
        </p:spPr>
      </p:pic>
      <p:sp>
        <p:nvSpPr>
          <p:cNvPr id="6" name="Text 2"/>
          <p:cNvSpPr/>
          <p:nvPr/>
        </p:nvSpPr>
        <p:spPr>
          <a:xfrm>
            <a:off x="1275723" y="261451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celebrate without parentheses: legal, does nothing</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2315" y="3571280"/>
            <a:ext cx="283461" cy="283468"/>
          </a:xfrm>
          <a:prstGeom prst="rect">
            <a:avLst/>
          </a:prstGeom>
        </p:spPr>
      </p:pic>
      <p:sp>
        <p:nvSpPr>
          <p:cNvPr id="8" name="Text 3"/>
          <p:cNvSpPr/>
          <p:nvPr/>
        </p:nvSpPr>
        <p:spPr>
          <a:xfrm>
            <a:off x="1275723" y="3565426"/>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call jumps into the body, then comes back</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2315" y="4522192"/>
            <a:ext cx="283461" cy="283468"/>
          </a:xfrm>
          <a:prstGeom prst="rect">
            <a:avLst/>
          </a:prstGeom>
        </p:spPr>
      </p:pic>
      <p:sp>
        <p:nvSpPr>
          <p:cNvPr id="10" name="Text 4"/>
          <p:cNvSpPr/>
          <p:nvPr/>
        </p:nvSpPr>
        <p:spPr>
          <a:xfrm>
            <a:off x="1275723" y="451633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def must run before the first call reaches it</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2315" y="5473105"/>
            <a:ext cx="283461" cy="283468"/>
          </a:xfrm>
          <a:prstGeom prst="rect">
            <a:avLst/>
          </a:prstGeom>
        </p:spPr>
      </p:pic>
      <p:sp>
        <p:nvSpPr>
          <p:cNvPr id="12" name="Text 5"/>
          <p:cNvSpPr/>
          <p:nvPr/>
        </p:nvSpPr>
        <p:spPr>
          <a:xfrm>
            <a:off x="1275723" y="5467251"/>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Put every def near the top, below your constants</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I forget the argument</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show_heading(room_name):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 {room_name} ==")</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 * 20)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show_heading()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62163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the missing argument</a:t>
            </a:r>
            <a:endParaRPr lang="en-US" sz="3700" dirty="0"/>
          </a:p>
        </p:txBody>
      </p:sp>
      <p:sp>
        <p:nvSpPr>
          <p:cNvPr id="3" name="Shape 1"/>
          <p:cNvSpPr/>
          <p:nvPr/>
        </p:nvSpPr>
        <p:spPr>
          <a:xfrm>
            <a:off x="661475" y="2708374"/>
            <a:ext cx="5203794" cy="2192536"/>
          </a:xfrm>
          <a:prstGeom prst="roundRect">
            <a:avLst>
              <a:gd name="adj" fmla="val 3621"/>
            </a:avLst>
          </a:prstGeom>
          <a:solidFill>
            <a:srgbClr val="F2F2F2"/>
          </a:solidFill>
          <a:ln/>
        </p:spPr>
      </p:sp>
      <p:sp>
        <p:nvSpPr>
          <p:cNvPr id="4" name="Text 2"/>
          <p:cNvSpPr/>
          <p:nvPr/>
        </p:nvSpPr>
        <p:spPr>
          <a:xfrm>
            <a:off x="888283" y="2897386"/>
            <a:ext cx="4750177"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Traceback (most recent call last):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File "...", line 6, in &lt;module&gt;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show_heading()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TypeError: show_heading() missing 1 required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positional argument: 'room_name'</a:t>
            </a:r>
            <a:endParaRPr lang="en-US" sz="1450" dirty="0"/>
          </a:p>
        </p:txBody>
      </p:sp>
      <p:sp>
        <p:nvSpPr>
          <p:cNvPr id="5" name="Shape 3"/>
          <p:cNvSpPr/>
          <p:nvPr/>
        </p:nvSpPr>
        <p:spPr>
          <a:xfrm>
            <a:off x="6332776" y="2708374"/>
            <a:ext cx="5203794" cy="1039416"/>
          </a:xfrm>
          <a:prstGeom prst="roundRect">
            <a:avLst>
              <a:gd name="adj" fmla="val 7638"/>
            </a:avLst>
          </a:prstGeom>
          <a:solidFill>
            <a:srgbClr val="FFB3B4"/>
          </a:solidFill>
          <a:ln/>
        </p:spPr>
      </p:sp>
      <p:pic>
        <p:nvPicPr>
          <p:cNvPr id="6" name="Image 0" descr="preencoded.png">    </p:cNvPr>
          <p:cNvPicPr>
            <a:picLocks noChangeAspect="1"/>
          </p:cNvPicPr>
          <p:nvPr/>
        </p:nvPicPr>
        <p:blipFill>
          <a:blip r:embed="rId1"/>
          <a:stretch>
            <a:fillRect/>
          </a:stretch>
        </p:blipFill>
        <p:spPr>
          <a:xfrm>
            <a:off x="6521783" y="2995116"/>
            <a:ext cx="236234" cy="189012"/>
          </a:xfrm>
          <a:prstGeom prst="rect">
            <a:avLst/>
          </a:prstGeom>
        </p:spPr>
      </p:pic>
      <p:sp>
        <p:nvSpPr>
          <p:cNvPr id="7" name="Text 4"/>
          <p:cNvSpPr/>
          <p:nvPr/>
        </p:nvSpPr>
        <p:spPr>
          <a:xfrm>
            <a:off x="6947024" y="2925663"/>
            <a:ext cx="440053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The error names the missing parameter exactly. Read it before changing anything.</a:t>
            </a:r>
            <a:endParaRPr lang="en-US" sz="1450" dirty="0"/>
          </a:p>
        </p:txBody>
      </p:sp>
      <p:sp>
        <p:nvSpPr>
          <p:cNvPr id="8" name="Text 5"/>
          <p:cNvSpPr/>
          <p:nvPr/>
        </p:nvSpPr>
        <p:spPr>
          <a:xfrm>
            <a:off x="6332776" y="3960416"/>
            <a:ext cx="5203794"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Python tells you which argument is missing and which function expected it. The traceback points to the call, not the def.</a:t>
            </a:r>
            <a:endParaRPr lang="en-US" sz="1450" dirty="0"/>
          </a:p>
        </p:txBody>
      </p:sp>
      <p:sp>
        <p:nvSpPr>
          <p:cNvPr id="9"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031081"/>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Arguments match by position, not meaning</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590403"/>
            <a:ext cx="3496877" cy="1609923"/>
          </a:xfrm>
          <a:prstGeom prst="rect">
            <a:avLst/>
          </a:prstGeom>
        </p:spPr>
      </p:pic>
      <p:sp>
        <p:nvSpPr>
          <p:cNvPr id="4" name="Text 1"/>
          <p:cNvSpPr/>
          <p:nvPr/>
        </p:nvSpPr>
        <p:spPr>
          <a:xfrm>
            <a:off x="977479" y="2804815"/>
            <a:ext cx="2966467" cy="118110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show_exit(room, direction) called as show_exit("north", "lobby")</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590403"/>
            <a:ext cx="3496877" cy="1609923"/>
          </a:xfrm>
          <a:prstGeom prst="rect">
            <a:avLst/>
          </a:prstGeom>
        </p:spPr>
      </p:pic>
      <p:sp>
        <p:nvSpPr>
          <p:cNvPr id="6" name="Text 2"/>
          <p:cNvSpPr/>
          <p:nvPr/>
        </p:nvSpPr>
        <p:spPr>
          <a:xfrm>
            <a:off x="4663363" y="2804815"/>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error. The words land in the wrong roles</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590403"/>
            <a:ext cx="3496877" cy="1609923"/>
          </a:xfrm>
          <a:prstGeom prst="rect">
            <a:avLst/>
          </a:prstGeom>
        </p:spPr>
      </p:pic>
      <p:sp>
        <p:nvSpPr>
          <p:cNvPr id="8" name="Text 3"/>
          <p:cNvSpPr/>
          <p:nvPr/>
        </p:nvSpPr>
        <p:spPr>
          <a:xfrm>
            <a:off x="8349247" y="2804815"/>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prints: From the north you can go lobby</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389338"/>
            <a:ext cx="3496877" cy="1314648"/>
          </a:xfrm>
          <a:prstGeom prst="rect">
            <a:avLst/>
          </a:prstGeom>
        </p:spPr>
      </p:pic>
      <p:sp>
        <p:nvSpPr>
          <p:cNvPr id="10" name="Text 4"/>
          <p:cNvSpPr/>
          <p:nvPr/>
        </p:nvSpPr>
        <p:spPr>
          <a:xfrm>
            <a:off x="977479" y="4603750"/>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Read the def line before you write the call</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4389338"/>
            <a:ext cx="3496877" cy="1314648"/>
          </a:xfrm>
          <a:prstGeom prst="rect">
            <a:avLst/>
          </a:prstGeom>
        </p:spPr>
      </p:pic>
      <p:sp>
        <p:nvSpPr>
          <p:cNvPr id="12" name="Text 5"/>
          <p:cNvSpPr/>
          <p:nvPr/>
        </p:nvSpPr>
        <p:spPr>
          <a:xfrm>
            <a:off x="4663363" y="4603750"/>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def line tells you the order</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4948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4635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759373"/>
            <a:ext cx="3496877" cy="25400"/>
          </a:xfrm>
          <a:prstGeom prst="rect">
            <a:avLst/>
          </a:prstGeom>
          <a:solidFill>
            <a:srgbClr val="57A1EB"/>
          </a:solidFill>
          <a:ln/>
        </p:spPr>
      </p:sp>
      <p:sp>
        <p:nvSpPr>
          <p:cNvPr id="5" name="Text 3"/>
          <p:cNvSpPr/>
          <p:nvPr/>
        </p:nvSpPr>
        <p:spPr>
          <a:xfrm>
            <a:off x="661475" y="2904629"/>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a:t>
            </a:r>
            <a:endParaRPr lang="en-US" sz="1850" dirty="0"/>
          </a:p>
        </p:txBody>
      </p:sp>
      <p:sp>
        <p:nvSpPr>
          <p:cNvPr id="6" name="Text 4"/>
          <p:cNvSpPr/>
          <p:nvPr/>
        </p:nvSpPr>
        <p:spPr>
          <a:xfrm>
            <a:off x="661475" y="3313311"/>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Unit 3 quiz, 30 minutes.</a:t>
            </a:r>
            <a:endParaRPr lang="en-US" sz="1450" dirty="0"/>
          </a:p>
        </p:txBody>
      </p:sp>
      <p:sp>
        <p:nvSpPr>
          <p:cNvPr id="7" name="Text 5"/>
          <p:cNvSpPr/>
          <p:nvPr/>
        </p:nvSpPr>
        <p:spPr>
          <a:xfrm>
            <a:off x="4347359" y="24635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6"/>
          <p:cNvSpPr/>
          <p:nvPr/>
        </p:nvSpPr>
        <p:spPr>
          <a:xfrm>
            <a:off x="4347359" y="2759373"/>
            <a:ext cx="3496877" cy="25400"/>
          </a:xfrm>
          <a:prstGeom prst="rect">
            <a:avLst/>
          </a:prstGeom>
          <a:solidFill>
            <a:srgbClr val="57A1EB"/>
          </a:solidFill>
          <a:ln/>
        </p:spPr>
      </p:sp>
      <p:sp>
        <p:nvSpPr>
          <p:cNvPr id="9" name="Text 7"/>
          <p:cNvSpPr/>
          <p:nvPr/>
        </p:nvSpPr>
        <p:spPr>
          <a:xfrm>
            <a:off x="4347359" y="2904629"/>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a:t>
            </a:r>
            <a:endParaRPr lang="en-US" sz="1850" dirty="0"/>
          </a:p>
        </p:txBody>
      </p:sp>
      <p:sp>
        <p:nvSpPr>
          <p:cNvPr id="10" name="Text 8"/>
          <p:cNvSpPr/>
          <p:nvPr/>
        </p:nvSpPr>
        <p:spPr>
          <a:xfrm>
            <a:off x="4347359" y="3313311"/>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functions_practice.py</a:t>
            </a:r>
            <a:endParaRPr lang="en-US" sz="1450" dirty="0"/>
          </a:p>
        </p:txBody>
      </p:sp>
      <p:sp>
        <p:nvSpPr>
          <p:cNvPr id="11" name="Text 9"/>
          <p:cNvSpPr/>
          <p:nvPr/>
        </p:nvSpPr>
        <p:spPr>
          <a:xfrm>
            <a:off x="8033244" y="24635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2" name="Shape 10"/>
          <p:cNvSpPr/>
          <p:nvPr/>
        </p:nvSpPr>
        <p:spPr>
          <a:xfrm>
            <a:off x="8033244" y="2759373"/>
            <a:ext cx="3496877" cy="25400"/>
          </a:xfrm>
          <a:prstGeom prst="rect">
            <a:avLst/>
          </a:prstGeom>
          <a:solidFill>
            <a:srgbClr val="57A1EB"/>
          </a:solidFill>
          <a:ln/>
        </p:spPr>
      </p:sp>
      <p:sp>
        <p:nvSpPr>
          <p:cNvPr id="13" name="Text 11"/>
          <p:cNvSpPr/>
          <p:nvPr/>
        </p:nvSpPr>
        <p:spPr>
          <a:xfrm>
            <a:off x="8033244" y="2904629"/>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Find</a:t>
            </a:r>
            <a:endParaRPr lang="en-US" sz="1850" dirty="0"/>
          </a:p>
        </p:txBody>
      </p:sp>
      <p:sp>
        <p:nvSpPr>
          <p:cNvPr id="14" name="Text 12"/>
          <p:cNvSpPr/>
          <p:nvPr/>
        </p:nvSpPr>
        <p:spPr>
          <a:xfrm>
            <a:off x="8033244" y="3313311"/>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Three repeated shapes in your v1.</a:t>
            </a:r>
            <a:endParaRPr lang="en-US" sz="1450" dirty="0"/>
          </a:p>
        </p:txBody>
      </p:sp>
      <p:sp>
        <p:nvSpPr>
          <p:cNvPr id="15" name="Text 13"/>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6" name="Shape 14"/>
          <p:cNvSpPr/>
          <p:nvPr/>
        </p:nvSpPr>
        <p:spPr>
          <a:xfrm>
            <a:off x="661475" y="4242296"/>
            <a:ext cx="5339820" cy="25400"/>
          </a:xfrm>
          <a:prstGeom prst="rect">
            <a:avLst/>
          </a:prstGeom>
          <a:solidFill>
            <a:srgbClr val="57A1EB"/>
          </a:solidFill>
          <a:ln/>
        </p:spPr>
      </p:sp>
      <p:sp>
        <p:nvSpPr>
          <p:cNvPr id="17" name="Text 15"/>
          <p:cNvSpPr/>
          <p:nvPr/>
        </p:nvSpPr>
        <p:spPr>
          <a:xfrm>
            <a:off x="661475" y="438755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Turn</a:t>
            </a:r>
            <a:endParaRPr lang="en-US" sz="1850" dirty="0"/>
          </a:p>
        </p:txBody>
      </p:sp>
      <p:sp>
        <p:nvSpPr>
          <p:cNvPr id="18" name="Text 16"/>
          <p:cNvSpPr/>
          <p:nvPr/>
        </p:nvSpPr>
        <p:spPr>
          <a:xfrm>
            <a:off x="661475" y="4796234"/>
            <a:ext cx="53398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Each into a function with a parameter.</a:t>
            </a:r>
            <a:endParaRPr lang="en-US" sz="1450" dirty="0"/>
          </a:p>
        </p:txBody>
      </p:sp>
      <p:sp>
        <p:nvSpPr>
          <p:cNvPr id="19" name="Text 17"/>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20" name="Shape 18"/>
          <p:cNvSpPr/>
          <p:nvPr/>
        </p:nvSpPr>
        <p:spPr>
          <a:xfrm>
            <a:off x="6190301" y="4242296"/>
            <a:ext cx="5339820" cy="25400"/>
          </a:xfrm>
          <a:prstGeom prst="rect">
            <a:avLst/>
          </a:prstGeom>
          <a:solidFill>
            <a:srgbClr val="57A1EB"/>
          </a:solidFill>
          <a:ln/>
        </p:spPr>
      </p:sp>
      <p:sp>
        <p:nvSpPr>
          <p:cNvPr id="21" name="Text 19"/>
          <p:cNvSpPr/>
          <p:nvPr/>
        </p:nvSpPr>
        <p:spPr>
          <a:xfrm>
            <a:off x="6190301" y="438755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Call</a:t>
            </a:r>
            <a:endParaRPr lang="en-US" sz="1850" dirty="0"/>
          </a:p>
        </p:txBody>
      </p:sp>
      <p:sp>
        <p:nvSpPr>
          <p:cNvPr id="22" name="Text 20"/>
          <p:cNvSpPr/>
          <p:nvPr/>
        </p:nvSpPr>
        <p:spPr>
          <a:xfrm>
            <a:off x="6190301" y="4796234"/>
            <a:ext cx="53398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Each at least twice. Commit.</a:t>
            </a:r>
            <a:endParaRPr lang="en-US" sz="1450" dirty="0"/>
          </a:p>
        </p:txBody>
      </p:sp>
      <p:sp>
        <p:nvSpPr>
          <p:cNvPr id="23" name="Text 2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2026-09-14T18:51:26Z</dcterms:created>
  <dcterms:modified xsi:type="dcterms:W3CDTF">2026-09-14T18:51:26Z</dcterms:modified>
</cp:coreProperties>
</file>