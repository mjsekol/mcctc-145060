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embeddedFontLst>
    <p:embeddedFont>
      <p:font typeface="Orbitron Bold"/>
      <p:regular r:id="rId201314"/>
    </p:embeddedFont>
    <p:embeddedFont>
      <p:font typeface="Orbitron"/>
      <p:regular r:id="rId201315"/>
    </p:embeddedFont>
    <p:embeddedFont>
      <p:font typeface="Roboto Condensed Bold"/>
      <p:regular r:id="rId201316"/>
    </p:embeddedFont>
    <p:embeddedFont>
      <p:font typeface="Roboto Condense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did you know your text adventure worked? You played it, changed something, and played it again. This week you are rebuilding it out of functions, and every change can break something that used to work, somewhere you are not looking. That is called a regression. Playing the whole game after every change does not scale. A test checks one thing for you, in one command,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test case is an ID, an input, the output you expect, and the reason the case exists. The rule for the spirit store is that orders of thirty five dollars or more ship free. So order total of thirty five should be thirty five. Here is the one rule that makes a test worth anything. The expected value comes from the requirement, worked out by hand, before you run the code. If you copy it from the program, the test agrees with the program whether the program is right or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met this in Unit 2 when you wrote boundary tests for an eligibility rule. Normal cases catch code that is completely wrong. Boundary cases catch greater than where greater than or equal belongs, which is where bugs actually live. Invalid cases catch missing validation. And the reproduction from your troubleshooting log becomes a test, so the same bug cannot come back quietly.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 spirit store lets this file call the store's functions. The check function compares actual to expected, prints pass or fail with the label, shows both values when it fails, and returns one for a failure. The caller adds them up, the same pass it in, get it back, store it pattern as moves equals take step of moves. Every label starts with the test case ID, so a failure takes you straight back to the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slide before showed three of the cases. This is the full six-case test file from the lecture notes, run against a store where somebody wrote greater than instead of greater than or equal. Five of six pass. Only the boundary, exactly thirty five, catches it, and the failure shows the expected value and the actual value side by side. A customer ordering exactly thirty five dollars would have paid six dollars of shipping they were promised they would not pay.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small pieces of plumbing. Import loads your other file so its functions can be reused, and that makes your own file a small library. And the if name equals main line protects main. When you run a file directly, that condition is True. When a test imports it, it is False. Forget that line and your test file stops at the store's input prompt before a single test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game loop reads input and prints, so for the game as a whole, the test case is a script, and the expected output is what a version you trust printed. Save version one's output before you change anything. After the refactor, run the same script into a second file and compare them with fc. No differences means no regression. Any difference you did not mean 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am testing the store with the greater than bug. For the boundary case I am not sure what to expect, so I run it, it says forty one, and I type forty one. Before I run the tests, predict how many fail, and whether that is good news.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passes, and the bug is still there. Worse, the suite now defends the bug. When somebody fixes the store correctly, this test fails and tells them to put the bug back. And the first two tests are middle values that pass the broken code and the correct code equally. All green feels like done. A suite that has never failed has never proven it 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Assert is the shortest test Python has. If its condition is False, it crashes with AssertionError. Here it caught the boundary bug on line four. Two weaknesses. It stops at the first failure, so you never learn about line five, and it does not tell you the actual value. That is why your test files use check. You will see a module called unittest in real projects, including the text adventure reference. It uses classes, so you will read it in Unit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today is the grading period exam. After it, fill in a test case table for your version two, with expected values worked out before you run anything. At least eight cases, including a boundary, an invalid input, and the reproduction of a bug from your troubleshooting log. Then write test adventure dot py with check and run it, and compare every version one script with fc. Version two is due at eight thirty tomorrow morning.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1.png"/><Relationship Id="rId4" Type="http://schemas.openxmlformats.org/officeDocument/2006/relationships/image" Target="../media/image-3-2.svg"/><Relationship Id="rId5" Type="http://schemas.openxmlformats.org/officeDocument/2006/relationships/image" Target="../media/image-3-1.png"/><Relationship Id="rId6" Type="http://schemas.openxmlformats.org/officeDocument/2006/relationships/image" Target="../media/image-3-2.svg"/><Relationship Id="rId7" Type="http://schemas.openxmlformats.org/officeDocument/2006/relationships/image" Target="../media/image-3-1.png"/><Relationship Id="rId8" Type="http://schemas.openxmlformats.org/officeDocument/2006/relationships/image" Target="../media/image-3-2.svg"/><Relationship Id="rId9" Type="http://schemas.openxmlformats.org/officeDocument/2006/relationships/image" Target="../media/image-3-9.png"/><Relationship Id="rId10" Type="http://schemas.openxmlformats.org/officeDocument/2006/relationships/slideLayout" Target="../slideLayouts/slideLayout2.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image" Target="../media/image-4-3.svg"/><Relationship Id="rId4" Type="http://schemas.openxmlformats.org/officeDocument/2006/relationships/image" Target="../media/image-4-2.png"/><Relationship Id="rId5" Type="http://schemas.openxmlformats.org/officeDocument/2006/relationships/image" Target="../media/image-4-3.svg"/><Relationship Id="rId6" Type="http://schemas.openxmlformats.org/officeDocument/2006/relationships/image" Target="../media/image-4-2.png"/><Relationship Id="rId7" Type="http://schemas.openxmlformats.org/officeDocument/2006/relationships/image" Target="../media/image-4-3.svg"/><Relationship Id="rId8" Type="http://schemas.openxmlformats.org/officeDocument/2006/relationships/image" Target="../media/image-4-2.png"/><Relationship Id="rId9" Type="http://schemas.openxmlformats.org/officeDocument/2006/relationships/image" Target="../media/image-4-3.svg"/><Relationship Id="rId10" Type="http://schemas.openxmlformats.org/officeDocument/2006/relationships/image" Target="../media/image-4-10.png"/><Relationship Id="rId11" Type="http://schemas.openxmlformats.org/officeDocument/2006/relationships/slideLayout" Target="../slideLayouts/slideLayout2.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png"/><Relationship Id="rId3" Type="http://schemas.openxmlformats.org/officeDocument/2006/relationships/image" Target="../media/image-7-3.svg"/><Relationship Id="rId4" Type="http://schemas.openxmlformats.org/officeDocument/2006/relationships/image" Target="../media/image-7-4.png"/><Relationship Id="rId5" Type="http://schemas.openxmlformats.org/officeDocument/2006/relationships/image" Target="../media/image-7-5.svg"/><Relationship Id="rId6" Type="http://schemas.openxmlformats.org/officeDocument/2006/relationships/image" Target="../media/image-7-6.png"/><Relationship Id="rId7" Type="http://schemas.openxmlformats.org/officeDocument/2006/relationships/image" Target="../media/image-7-7.svg"/><Relationship Id="rId8" Type="http://schemas.openxmlformats.org/officeDocument/2006/relationships/slideLayout" Target="../slideLayouts/slideLayout2.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3-9.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277693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Decide the Answer Before You Run It</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1064022"/>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You played version one forty times</a:t>
            </a:r>
            <a:endParaRPr lang="en-US" sz="3700" dirty="0"/>
          </a:p>
        </p:txBody>
      </p:sp>
      <p:sp>
        <p:nvSpPr>
          <p:cNvPr id="3" name="Shape 1"/>
          <p:cNvSpPr/>
          <p:nvPr/>
        </p:nvSpPr>
        <p:spPr>
          <a:xfrm>
            <a:off x="661475" y="2032695"/>
            <a:ext cx="425241" cy="425252"/>
          </a:xfrm>
          <a:prstGeom prst="roundRect">
            <a:avLst>
              <a:gd name="adj" fmla="val 18669"/>
            </a:avLst>
          </a:prstGeom>
          <a:solidFill>
            <a:srgbClr val="D1E5FA"/>
          </a:solidFill>
          <a:ln w="19050">
            <a:solidFill>
              <a:srgbClr val="B7CBE0"/>
            </a:solidFill>
            <a:prstDash val="solid"/>
          </a:ln>
        </p:spPr>
      </p:sp>
      <p:sp>
        <p:nvSpPr>
          <p:cNvPr id="4" name="Text 2"/>
          <p:cNvSpPr/>
          <p:nvPr/>
        </p:nvSpPr>
        <p:spPr>
          <a:xfrm>
            <a:off x="1275723" y="2097584"/>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You tested v1 by playing it</a:t>
            </a:r>
            <a:endParaRPr lang="en-US" sz="1850" dirty="0"/>
          </a:p>
        </p:txBody>
      </p:sp>
      <p:sp>
        <p:nvSpPr>
          <p:cNvPr id="5" name="Shape 3"/>
          <p:cNvSpPr/>
          <p:nvPr/>
        </p:nvSpPr>
        <p:spPr>
          <a:xfrm>
            <a:off x="661475" y="2835970"/>
            <a:ext cx="425241" cy="425252"/>
          </a:xfrm>
          <a:prstGeom prst="roundRect">
            <a:avLst>
              <a:gd name="adj" fmla="val 18669"/>
            </a:avLst>
          </a:prstGeom>
          <a:solidFill>
            <a:srgbClr val="D1E5FA"/>
          </a:solidFill>
          <a:ln w="19050">
            <a:solidFill>
              <a:srgbClr val="B7CBE0"/>
            </a:solidFill>
            <a:prstDash val="solid"/>
          </a:ln>
        </p:spPr>
      </p:sp>
      <p:sp>
        <p:nvSpPr>
          <p:cNvPr id="6" name="Text 4"/>
          <p:cNvSpPr/>
          <p:nvPr/>
        </p:nvSpPr>
        <p:spPr>
          <a:xfrm>
            <a:off x="1275723" y="2900859"/>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Then you changed something and played it again</a:t>
            </a:r>
            <a:endParaRPr lang="en-US" sz="1850" dirty="0"/>
          </a:p>
        </p:txBody>
      </p:sp>
      <p:sp>
        <p:nvSpPr>
          <p:cNvPr id="7" name="Shape 5"/>
          <p:cNvSpPr/>
          <p:nvPr/>
        </p:nvSpPr>
        <p:spPr>
          <a:xfrm>
            <a:off x="661475" y="3639245"/>
            <a:ext cx="425241" cy="425252"/>
          </a:xfrm>
          <a:prstGeom prst="roundRect">
            <a:avLst>
              <a:gd name="adj" fmla="val 18669"/>
            </a:avLst>
          </a:prstGeom>
          <a:solidFill>
            <a:srgbClr val="D1E5FA"/>
          </a:solidFill>
          <a:ln w="19050">
            <a:solidFill>
              <a:srgbClr val="B7CBE0"/>
            </a:solidFill>
            <a:prstDash val="solid"/>
          </a:ln>
        </p:spPr>
      </p:sp>
      <p:sp>
        <p:nvSpPr>
          <p:cNvPr id="8" name="Text 6"/>
          <p:cNvSpPr/>
          <p:nvPr/>
        </p:nvSpPr>
        <p:spPr>
          <a:xfrm>
            <a:off x="1275723" y="3704134"/>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This week every change can break something else</a:t>
            </a:r>
            <a:endParaRPr lang="en-US" sz="1850" dirty="0"/>
          </a:p>
        </p:txBody>
      </p:sp>
      <p:sp>
        <p:nvSpPr>
          <p:cNvPr id="9" name="Shape 7"/>
          <p:cNvSpPr/>
          <p:nvPr/>
        </p:nvSpPr>
        <p:spPr>
          <a:xfrm>
            <a:off x="661475" y="4442520"/>
            <a:ext cx="425241" cy="425252"/>
          </a:xfrm>
          <a:prstGeom prst="roundRect">
            <a:avLst>
              <a:gd name="adj" fmla="val 18669"/>
            </a:avLst>
          </a:prstGeom>
          <a:solidFill>
            <a:srgbClr val="D1E5FA"/>
          </a:solidFill>
          <a:ln w="19050">
            <a:solidFill>
              <a:srgbClr val="B7CBE0"/>
            </a:solidFill>
            <a:prstDash val="solid"/>
          </a:ln>
        </p:spPr>
      </p:sp>
      <p:sp>
        <p:nvSpPr>
          <p:cNvPr id="10" name="Text 8"/>
          <p:cNvSpPr/>
          <p:nvPr/>
        </p:nvSpPr>
        <p:spPr>
          <a:xfrm>
            <a:off x="1275723" y="4507409"/>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 feature that worked, then stopped, is a regression</a:t>
            </a:r>
            <a:endParaRPr lang="en-US" sz="1850" dirty="0"/>
          </a:p>
        </p:txBody>
      </p:sp>
      <p:sp>
        <p:nvSpPr>
          <p:cNvPr id="11" name="Shape 9"/>
          <p:cNvSpPr/>
          <p:nvPr/>
        </p:nvSpPr>
        <p:spPr>
          <a:xfrm>
            <a:off x="661475" y="5245795"/>
            <a:ext cx="425241" cy="425252"/>
          </a:xfrm>
          <a:prstGeom prst="roundRect">
            <a:avLst>
              <a:gd name="adj" fmla="val 18669"/>
            </a:avLst>
          </a:prstGeom>
          <a:solidFill>
            <a:srgbClr val="D1E5FA"/>
          </a:solidFill>
          <a:ln w="19050">
            <a:solidFill>
              <a:srgbClr val="B7CBE0"/>
            </a:solidFill>
            <a:prstDash val="solid"/>
          </a:ln>
        </p:spPr>
      </p:sp>
      <p:sp>
        <p:nvSpPr>
          <p:cNvPr id="12" name="Text 10"/>
          <p:cNvSpPr/>
          <p:nvPr/>
        </p:nvSpPr>
        <p:spPr>
          <a:xfrm>
            <a:off x="1275723" y="5310684"/>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You will skip replaying on the day it matters</a:t>
            </a:r>
            <a:endParaRPr lang="en-US" sz="1850" dirty="0"/>
          </a:p>
        </p:txBody>
      </p:sp>
      <p:sp>
        <p:nvSpPr>
          <p:cNvPr id="13" name="Text 11"/>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597495"/>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 test case has four parts</a:t>
            </a:r>
            <a:endParaRPr lang="en-US" sz="37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1566168"/>
            <a:ext cx="5339820" cy="1706959"/>
          </a:xfrm>
          <a:prstGeom prst="rect">
            <a:avLst/>
          </a:prstGeom>
        </p:spPr>
      </p:pic>
      <p:sp>
        <p:nvSpPr>
          <p:cNvPr id="4" name="Text 1"/>
          <p:cNvSpPr/>
          <p:nvPr/>
        </p:nvSpPr>
        <p:spPr>
          <a:xfrm>
            <a:off x="875881" y="2347615"/>
            <a:ext cx="491100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ID</a:t>
            </a:r>
            <a:endParaRPr lang="en-US" sz="1850" dirty="0"/>
          </a:p>
        </p:txBody>
      </p:sp>
      <p:sp>
        <p:nvSpPr>
          <p:cNvPr id="5" name="Text 2"/>
          <p:cNvSpPr/>
          <p:nvPr/>
        </p:nvSpPr>
        <p:spPr>
          <a:xfrm>
            <a:off x="875881" y="2756297"/>
            <a:ext cx="491100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TC-3</a:t>
            </a:r>
            <a:endParaRPr lang="en-US" sz="145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90301" y="1566168"/>
            <a:ext cx="5339919" cy="1706959"/>
          </a:xfrm>
          <a:prstGeom prst="rect">
            <a:avLst/>
          </a:prstGeom>
        </p:spPr>
      </p:pic>
      <p:sp>
        <p:nvSpPr>
          <p:cNvPr id="7" name="Text 3"/>
          <p:cNvSpPr/>
          <p:nvPr/>
        </p:nvSpPr>
        <p:spPr>
          <a:xfrm>
            <a:off x="6404708" y="2347615"/>
            <a:ext cx="4911106"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Input</a:t>
            </a:r>
            <a:endParaRPr lang="en-US" sz="1850" dirty="0"/>
          </a:p>
        </p:txBody>
      </p:sp>
      <p:sp>
        <p:nvSpPr>
          <p:cNvPr id="8" name="Text 4"/>
          <p:cNvSpPr/>
          <p:nvPr/>
        </p:nvSpPr>
        <p:spPr>
          <a:xfrm>
            <a:off x="6404708" y="2756297"/>
            <a:ext cx="4911106"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order_total(35)</a:t>
            </a:r>
            <a:endParaRPr lang="en-US" sz="145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3462139"/>
            <a:ext cx="5339820" cy="1706959"/>
          </a:xfrm>
          <a:prstGeom prst="rect">
            <a:avLst/>
          </a:prstGeom>
        </p:spPr>
      </p:pic>
      <p:sp>
        <p:nvSpPr>
          <p:cNvPr id="10" name="Text 5"/>
          <p:cNvSpPr/>
          <p:nvPr/>
        </p:nvSpPr>
        <p:spPr>
          <a:xfrm>
            <a:off x="875881" y="4243586"/>
            <a:ext cx="491100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Expected</a:t>
            </a:r>
            <a:endParaRPr lang="en-US" sz="1850" dirty="0"/>
          </a:p>
        </p:txBody>
      </p:sp>
      <p:sp>
        <p:nvSpPr>
          <p:cNvPr id="11" name="Text 6"/>
          <p:cNvSpPr/>
          <p:nvPr/>
        </p:nvSpPr>
        <p:spPr>
          <a:xfrm>
            <a:off x="875881" y="4652268"/>
            <a:ext cx="491100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35, worked out from the rule by hand</a:t>
            </a:r>
            <a:endParaRPr lang="en-US" sz="1450" dirty="0"/>
          </a:p>
        </p:txBody>
      </p:sp>
      <p:pic>
        <p:nvPicPr>
          <p:cNvPr id="1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90301" y="3462139"/>
            <a:ext cx="5339919" cy="1706959"/>
          </a:xfrm>
          <a:prstGeom prst="rect">
            <a:avLst/>
          </a:prstGeom>
        </p:spPr>
      </p:pic>
      <p:sp>
        <p:nvSpPr>
          <p:cNvPr id="13" name="Text 7"/>
          <p:cNvSpPr/>
          <p:nvPr/>
        </p:nvSpPr>
        <p:spPr>
          <a:xfrm>
            <a:off x="6404708" y="4243586"/>
            <a:ext cx="4911106"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Why</a:t>
            </a:r>
            <a:endParaRPr lang="en-US" sz="1850" dirty="0"/>
          </a:p>
        </p:txBody>
      </p:sp>
      <p:sp>
        <p:nvSpPr>
          <p:cNvPr id="14" name="Text 8"/>
          <p:cNvSpPr/>
          <p:nvPr/>
        </p:nvSpPr>
        <p:spPr>
          <a:xfrm>
            <a:off x="6404708" y="4652268"/>
            <a:ext cx="4911106"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exactly the free shipping amount</a:t>
            </a:r>
            <a:endParaRPr lang="en-US" sz="1450" dirty="0"/>
          </a:p>
        </p:txBody>
      </p:sp>
      <p:sp>
        <p:nvSpPr>
          <p:cNvPr id="15" name="Shape 9"/>
          <p:cNvSpPr/>
          <p:nvPr/>
        </p:nvSpPr>
        <p:spPr>
          <a:xfrm>
            <a:off x="661475" y="5381724"/>
            <a:ext cx="10868745" cy="755948"/>
          </a:xfrm>
          <a:prstGeom prst="roundRect">
            <a:avLst>
              <a:gd name="adj" fmla="val 10502"/>
            </a:avLst>
          </a:prstGeom>
          <a:solidFill>
            <a:srgbClr val="FCF2B5"/>
          </a:solidFill>
          <a:ln/>
        </p:spPr>
      </p:sp>
      <p:pic>
        <p:nvPicPr>
          <p:cNvPr id="16" name="Image 4" descr="preencoded.png">    </p:cNvPr>
          <p:cNvPicPr>
            <a:picLocks noChangeAspect="1"/>
          </p:cNvPicPr>
          <p:nvPr/>
        </p:nvPicPr>
        <p:blipFill>
          <a:blip r:embed="rId9"/>
          <a:stretch>
            <a:fillRect/>
          </a:stretch>
        </p:blipFill>
        <p:spPr>
          <a:xfrm>
            <a:off x="850482" y="5649416"/>
            <a:ext cx="236234" cy="189012"/>
          </a:xfrm>
          <a:prstGeom prst="rect">
            <a:avLst/>
          </a:prstGeom>
        </p:spPr>
      </p:pic>
      <p:sp>
        <p:nvSpPr>
          <p:cNvPr id="17" name="Text 10"/>
          <p:cNvSpPr/>
          <p:nvPr/>
        </p:nvSpPr>
        <p:spPr>
          <a:xfrm>
            <a:off x="1275723" y="5617964"/>
            <a:ext cx="10675075" cy="302419"/>
          </a:xfrm>
          <a:prstGeom prst="rect">
            <a:avLst/>
          </a:prstGeom>
          <a:noFill/>
          <a:ln/>
        </p:spPr>
        <p:txBody>
          <a:bodyPr wrap="none" lIns="0" tIns="0" rIns="0" bIns="0" rtlCol="0" anchor="t"/>
          <a:lstStyle/>
          <a:p>
            <a:pPr algn="l" indent="0" marL="0">
              <a:lnSpc>
                <a:spcPct val="133000"/>
              </a:lnSpc>
              <a:buNone/>
            </a:pPr>
            <a:r>
              <a:rPr lang="en-US" sz="1450" dirty="0">
                <a:solidFill>
                  <a:srgbClr val="000000"/>
                </a:solidFill>
                <a:latin typeface="Roboto Condensed" pitchFamily="34" charset="0"/>
                <a:ea typeface="Roboto Condensed" pitchFamily="34" charset="-122"/>
                <a:cs typeface="Roboto Condensed" pitchFamily="34" charset="-120"/>
              </a:rPr>
              <a:t>Expected never comes from running your program</a:t>
            </a:r>
            <a:endParaRPr lang="en-US" sz="1450" dirty="0"/>
          </a:p>
        </p:txBody>
      </p:sp>
      <p:sp>
        <p:nvSpPr>
          <p:cNvPr id="18" name="Text 11"/>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522684"/>
            <a:ext cx="10868745" cy="526058"/>
          </a:xfrm>
          <a:prstGeom prst="rect">
            <a:avLst/>
          </a:prstGeom>
          <a:noFill/>
          <a:ln/>
        </p:spPr>
        <p:txBody>
          <a:bodyPr wrap="none" lIns="0" tIns="0" rIns="0" bIns="0" rtlCol="0" anchor="t"/>
          <a:lstStyle/>
          <a:p>
            <a:pPr algn="l" indent="0" marL="0">
              <a:lnSpc>
                <a:spcPct val="104000"/>
              </a:lnSpc>
              <a:buNone/>
            </a:pPr>
            <a:r>
              <a:rPr lang="en-US" sz="3300" b="1" dirty="0">
                <a:solidFill>
                  <a:srgbClr val="111111"/>
                </a:solidFill>
                <a:latin typeface="Orbitron Bold" pitchFamily="34" charset="0"/>
                <a:ea typeface="Orbitron Bold" pitchFamily="34" charset="-122"/>
                <a:cs typeface="Orbitron Bold" pitchFamily="34" charset="-120"/>
              </a:rPr>
              <a:t>Which cases to choose</a:t>
            </a:r>
            <a:endParaRPr lang="en-US" sz="3300" dirty="0"/>
          </a:p>
        </p:txBody>
      </p:sp>
      <p:pic>
        <p:nvPicPr>
          <p:cNvPr id="3" name="Image 0" descr="preencoded.png">    </p:cNvPr>
          <p:cNvPicPr>
            <a:picLocks noChangeAspect="1"/>
          </p:cNvPicPr>
          <p:nvPr/>
        </p:nvPicPr>
        <p:blipFill>
          <a:blip r:embed="rId1"/>
          <a:stretch>
            <a:fillRect/>
          </a:stretch>
        </p:blipFill>
        <p:spPr>
          <a:xfrm>
            <a:off x="661475" y="1782068"/>
            <a:ext cx="6920831" cy="3921820"/>
          </a:xfrm>
          <a:prstGeom prst="rect">
            <a:avLst/>
          </a:prstGeom>
        </p:spPr>
      </p:pic>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062512" y="1447453"/>
            <a:ext cx="252505" cy="252512"/>
          </a:xfrm>
          <a:prstGeom prst="rect">
            <a:avLst/>
          </a:prstGeom>
        </p:spPr>
      </p:pic>
      <p:sp>
        <p:nvSpPr>
          <p:cNvPr id="5" name="Text 1"/>
          <p:cNvSpPr/>
          <p:nvPr/>
        </p:nvSpPr>
        <p:spPr>
          <a:xfrm>
            <a:off x="8546390" y="1442244"/>
            <a:ext cx="2990081" cy="263029"/>
          </a:xfrm>
          <a:prstGeom prst="rect">
            <a:avLst/>
          </a:prstGeom>
          <a:noFill/>
          <a:ln/>
        </p:spPr>
        <p:txBody>
          <a:bodyPr wrap="none" lIns="0" tIns="0" rIns="0" bIns="0" rtlCol="0" anchor="t"/>
          <a:lstStyle/>
          <a:p>
            <a:pPr algn="l" indent="0" marL="0">
              <a:lnSpc>
                <a:spcPct val="104000"/>
              </a:lnSpc>
              <a:buNone/>
            </a:pPr>
            <a:r>
              <a:rPr lang="en-US" sz="1650" b="1" dirty="0">
                <a:solidFill>
                  <a:srgbClr val="1C1C1C"/>
                </a:solidFill>
                <a:latin typeface="Orbitron Bold" pitchFamily="34" charset="0"/>
                <a:ea typeface="Orbitron Bold" pitchFamily="34" charset="-122"/>
                <a:cs typeface="Orbitron Bold" pitchFamily="34" charset="-120"/>
              </a:rPr>
              <a:t>Normal</a:t>
            </a:r>
            <a:endParaRPr lang="en-US" sz="1650" dirty="0"/>
          </a:p>
        </p:txBody>
      </p:sp>
      <p:sp>
        <p:nvSpPr>
          <p:cNvPr id="6" name="Text 2"/>
          <p:cNvSpPr/>
          <p:nvPr/>
        </p:nvSpPr>
        <p:spPr>
          <a:xfrm>
            <a:off x="8546390" y="1855192"/>
            <a:ext cx="2990081" cy="254595"/>
          </a:xfrm>
          <a:prstGeom prst="rect">
            <a:avLst/>
          </a:prstGeom>
          <a:noFill/>
          <a:ln/>
        </p:spPr>
        <p:txBody>
          <a:bodyPr wrap="none" lIns="0" tIns="0" rIns="0" bIns="0" rtlCol="0" anchor="t"/>
          <a:lstStyle/>
          <a:p>
            <a:pPr algn="l" indent="0" marL="0">
              <a:lnSpc>
                <a:spcPct val="126000"/>
              </a:lnSpc>
              <a:buNone/>
            </a:pPr>
            <a:r>
              <a:rPr lang="en-US" sz="1300" dirty="0">
                <a:solidFill>
                  <a:srgbClr val="1C1C1C"/>
                </a:solidFill>
                <a:latin typeface="Roboto Condensed" pitchFamily="34" charset="0"/>
                <a:ea typeface="Roboto Condensed" pitchFamily="34" charset="-122"/>
                <a:cs typeface="Roboto Condensed" pitchFamily="34" charset="-120"/>
              </a:rPr>
              <a:t>a value in the middle</a:t>
            </a:r>
            <a:endParaRPr lang="en-US" sz="1300" dirty="0"/>
          </a:p>
        </p:txBody>
      </p:sp>
      <p:pic>
        <p:nvPicPr>
          <p:cNvPr id="7"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062512" y="2414836"/>
            <a:ext cx="252505" cy="252512"/>
          </a:xfrm>
          <a:prstGeom prst="rect">
            <a:avLst/>
          </a:prstGeom>
        </p:spPr>
      </p:pic>
      <p:sp>
        <p:nvSpPr>
          <p:cNvPr id="8" name="Text 3"/>
          <p:cNvSpPr/>
          <p:nvPr/>
        </p:nvSpPr>
        <p:spPr>
          <a:xfrm>
            <a:off x="8546390" y="2409627"/>
            <a:ext cx="2990081" cy="263029"/>
          </a:xfrm>
          <a:prstGeom prst="rect">
            <a:avLst/>
          </a:prstGeom>
          <a:noFill/>
          <a:ln/>
        </p:spPr>
        <p:txBody>
          <a:bodyPr wrap="none" lIns="0" tIns="0" rIns="0" bIns="0" rtlCol="0" anchor="t"/>
          <a:lstStyle/>
          <a:p>
            <a:pPr algn="l" indent="0" marL="0">
              <a:lnSpc>
                <a:spcPct val="104000"/>
              </a:lnSpc>
              <a:buNone/>
            </a:pPr>
            <a:r>
              <a:rPr lang="en-US" sz="1650" b="1" dirty="0">
                <a:solidFill>
                  <a:srgbClr val="1C1C1C"/>
                </a:solidFill>
                <a:latin typeface="Orbitron Bold" pitchFamily="34" charset="0"/>
                <a:ea typeface="Orbitron Bold" pitchFamily="34" charset="-122"/>
                <a:cs typeface="Orbitron Bold" pitchFamily="34" charset="-120"/>
              </a:rPr>
              <a:t>Boundary</a:t>
            </a:r>
            <a:endParaRPr lang="en-US" sz="1650" dirty="0"/>
          </a:p>
        </p:txBody>
      </p:sp>
      <p:sp>
        <p:nvSpPr>
          <p:cNvPr id="9" name="Text 4"/>
          <p:cNvSpPr/>
          <p:nvPr/>
        </p:nvSpPr>
        <p:spPr>
          <a:xfrm>
            <a:off x="8546390" y="2822575"/>
            <a:ext cx="2990081" cy="254595"/>
          </a:xfrm>
          <a:prstGeom prst="rect">
            <a:avLst/>
          </a:prstGeom>
          <a:noFill/>
          <a:ln/>
        </p:spPr>
        <p:txBody>
          <a:bodyPr wrap="none" lIns="0" tIns="0" rIns="0" bIns="0" rtlCol="0" anchor="t"/>
          <a:lstStyle/>
          <a:p>
            <a:pPr algn="l" indent="0" marL="0">
              <a:lnSpc>
                <a:spcPct val="126000"/>
              </a:lnSpc>
              <a:buNone/>
            </a:pPr>
            <a:r>
              <a:rPr lang="en-US" sz="1300" dirty="0">
                <a:solidFill>
                  <a:srgbClr val="1C1C1C"/>
                </a:solidFill>
                <a:latin typeface="Roboto Condensed" pitchFamily="34" charset="0"/>
                <a:ea typeface="Roboto Condensed" pitchFamily="34" charset="-122"/>
                <a:cs typeface="Roboto Condensed" pitchFamily="34" charset="-120"/>
              </a:rPr>
              <a:t>the exact edge, and one step each side</a:t>
            </a:r>
            <a:endParaRPr lang="en-US" sz="1300" dirty="0"/>
          </a:p>
        </p:txBody>
      </p:sp>
      <p:pic>
        <p:nvPicPr>
          <p:cNvPr id="10"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062512" y="3382218"/>
            <a:ext cx="252505" cy="252512"/>
          </a:xfrm>
          <a:prstGeom prst="rect">
            <a:avLst/>
          </a:prstGeom>
        </p:spPr>
      </p:pic>
      <p:sp>
        <p:nvSpPr>
          <p:cNvPr id="11" name="Text 5"/>
          <p:cNvSpPr/>
          <p:nvPr/>
        </p:nvSpPr>
        <p:spPr>
          <a:xfrm>
            <a:off x="8546390" y="3377009"/>
            <a:ext cx="2990081" cy="263029"/>
          </a:xfrm>
          <a:prstGeom prst="rect">
            <a:avLst/>
          </a:prstGeom>
          <a:noFill/>
          <a:ln/>
        </p:spPr>
        <p:txBody>
          <a:bodyPr wrap="none" lIns="0" tIns="0" rIns="0" bIns="0" rtlCol="0" anchor="t"/>
          <a:lstStyle/>
          <a:p>
            <a:pPr algn="l" indent="0" marL="0">
              <a:lnSpc>
                <a:spcPct val="104000"/>
              </a:lnSpc>
              <a:buNone/>
            </a:pPr>
            <a:r>
              <a:rPr lang="en-US" sz="1650" b="1" dirty="0">
                <a:solidFill>
                  <a:srgbClr val="1C1C1C"/>
                </a:solidFill>
                <a:latin typeface="Orbitron Bold" pitchFamily="34" charset="0"/>
                <a:ea typeface="Orbitron Bold" pitchFamily="34" charset="-122"/>
                <a:cs typeface="Orbitron Bold" pitchFamily="34" charset="-120"/>
              </a:rPr>
              <a:t>Invalid</a:t>
            </a:r>
            <a:endParaRPr lang="en-US" sz="1650" dirty="0"/>
          </a:p>
        </p:txBody>
      </p:sp>
      <p:sp>
        <p:nvSpPr>
          <p:cNvPr id="12" name="Text 6"/>
          <p:cNvSpPr/>
          <p:nvPr/>
        </p:nvSpPr>
        <p:spPr>
          <a:xfrm>
            <a:off x="8546390" y="3789958"/>
            <a:ext cx="2990081" cy="254595"/>
          </a:xfrm>
          <a:prstGeom prst="rect">
            <a:avLst/>
          </a:prstGeom>
          <a:noFill/>
          <a:ln/>
        </p:spPr>
        <p:txBody>
          <a:bodyPr wrap="none" lIns="0" tIns="0" rIns="0" bIns="0" rtlCol="0" anchor="t"/>
          <a:lstStyle/>
          <a:p>
            <a:pPr algn="l" indent="0" marL="0">
              <a:lnSpc>
                <a:spcPct val="126000"/>
              </a:lnSpc>
              <a:buNone/>
            </a:pPr>
            <a:r>
              <a:rPr lang="en-US" sz="1300" dirty="0">
                <a:solidFill>
                  <a:srgbClr val="1C1C1C"/>
                </a:solidFill>
                <a:latin typeface="Roboto Condensed" pitchFamily="34" charset="0"/>
                <a:ea typeface="Roboto Condensed" pitchFamily="34" charset="-122"/>
                <a:cs typeface="Roboto Condensed" pitchFamily="34" charset="-120"/>
              </a:rPr>
              <a:t>input the function must refuse</a:t>
            </a:r>
            <a:endParaRPr lang="en-US" sz="1300" dirty="0"/>
          </a:p>
        </p:txBody>
      </p:sp>
      <p:pic>
        <p:nvPicPr>
          <p:cNvPr id="13"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062512" y="4349601"/>
            <a:ext cx="252505" cy="252512"/>
          </a:xfrm>
          <a:prstGeom prst="rect">
            <a:avLst/>
          </a:prstGeom>
        </p:spPr>
      </p:pic>
      <p:sp>
        <p:nvSpPr>
          <p:cNvPr id="14" name="Text 7"/>
          <p:cNvSpPr/>
          <p:nvPr/>
        </p:nvSpPr>
        <p:spPr>
          <a:xfrm>
            <a:off x="8546390" y="4344392"/>
            <a:ext cx="2990081" cy="263029"/>
          </a:xfrm>
          <a:prstGeom prst="rect">
            <a:avLst/>
          </a:prstGeom>
          <a:noFill/>
          <a:ln/>
        </p:spPr>
        <p:txBody>
          <a:bodyPr wrap="none" lIns="0" tIns="0" rIns="0" bIns="0" rtlCol="0" anchor="t"/>
          <a:lstStyle/>
          <a:p>
            <a:pPr algn="l" indent="0" marL="0">
              <a:lnSpc>
                <a:spcPct val="104000"/>
              </a:lnSpc>
              <a:buNone/>
            </a:pPr>
            <a:r>
              <a:rPr lang="en-US" sz="1650" b="1" dirty="0">
                <a:solidFill>
                  <a:srgbClr val="1C1C1C"/>
                </a:solidFill>
                <a:latin typeface="Orbitron Bold" pitchFamily="34" charset="0"/>
                <a:ea typeface="Orbitron Bold" pitchFamily="34" charset="-122"/>
                <a:cs typeface="Orbitron Bold" pitchFamily="34" charset="-120"/>
              </a:rPr>
              <a:t>A bug you fixed</a:t>
            </a:r>
            <a:endParaRPr lang="en-US" sz="1650" dirty="0"/>
          </a:p>
        </p:txBody>
      </p:sp>
      <p:sp>
        <p:nvSpPr>
          <p:cNvPr id="15" name="Text 8"/>
          <p:cNvSpPr/>
          <p:nvPr/>
        </p:nvSpPr>
        <p:spPr>
          <a:xfrm>
            <a:off x="8546390" y="4757341"/>
            <a:ext cx="2990081" cy="254595"/>
          </a:xfrm>
          <a:prstGeom prst="rect">
            <a:avLst/>
          </a:prstGeom>
          <a:noFill/>
          <a:ln/>
        </p:spPr>
        <p:txBody>
          <a:bodyPr wrap="none" lIns="0" tIns="0" rIns="0" bIns="0" rtlCol="0" anchor="t"/>
          <a:lstStyle/>
          <a:p>
            <a:pPr algn="l" indent="0" marL="0">
              <a:lnSpc>
                <a:spcPct val="126000"/>
              </a:lnSpc>
              <a:buNone/>
            </a:pPr>
            <a:r>
              <a:rPr lang="en-US" sz="1300" dirty="0">
                <a:solidFill>
                  <a:srgbClr val="1C1C1C"/>
                </a:solidFill>
                <a:latin typeface="Roboto Condensed" pitchFamily="34" charset="0"/>
                <a:ea typeface="Roboto Condensed" pitchFamily="34" charset="-122"/>
                <a:cs typeface="Roboto Condensed" pitchFamily="34" charset="-120"/>
              </a:rPr>
              <a:t>the reproduction from your log</a:t>
            </a:r>
            <a:endParaRPr lang="en-US" sz="1300" dirty="0"/>
          </a:p>
        </p:txBody>
      </p:sp>
      <p:sp>
        <p:nvSpPr>
          <p:cNvPr id="16" name="Shape 9"/>
          <p:cNvSpPr/>
          <p:nvPr/>
        </p:nvSpPr>
        <p:spPr>
          <a:xfrm>
            <a:off x="7999411" y="5180608"/>
            <a:ext cx="3537060" cy="863203"/>
          </a:xfrm>
          <a:prstGeom prst="roundRect">
            <a:avLst>
              <a:gd name="adj" fmla="val 8191"/>
            </a:avLst>
          </a:prstGeom>
          <a:solidFill>
            <a:srgbClr val="D1E5FA"/>
          </a:solidFill>
          <a:ln/>
        </p:spPr>
      </p:sp>
      <p:pic>
        <p:nvPicPr>
          <p:cNvPr id="17" name="Image 5" descr="preencoded.png">    </p:cNvPr>
          <p:cNvPicPr>
            <a:picLocks noChangeAspect="1"/>
          </p:cNvPicPr>
          <p:nvPr/>
        </p:nvPicPr>
        <p:blipFill>
          <a:blip r:embed="rId10"/>
          <a:stretch>
            <a:fillRect/>
          </a:stretch>
        </p:blipFill>
        <p:spPr>
          <a:xfrm>
            <a:off x="8167682" y="5409505"/>
            <a:ext cx="210338" cy="168275"/>
          </a:xfrm>
          <a:prstGeom prst="rect">
            <a:avLst/>
          </a:prstGeom>
        </p:spPr>
      </p:pic>
      <p:sp>
        <p:nvSpPr>
          <p:cNvPr id="18" name="Text 10"/>
          <p:cNvSpPr/>
          <p:nvPr/>
        </p:nvSpPr>
        <p:spPr>
          <a:xfrm>
            <a:off x="8546291" y="5357614"/>
            <a:ext cx="2821909" cy="509191"/>
          </a:xfrm>
          <a:prstGeom prst="rect">
            <a:avLst/>
          </a:prstGeom>
          <a:noFill/>
          <a:ln/>
        </p:spPr>
        <p:txBody>
          <a:bodyPr wrap="square" lIns="0" tIns="0" rIns="0" bIns="0" rtlCol="0" anchor="t">
            <a:normAutofit/>
          </a:bodyPr>
          <a:lstStyle/>
          <a:p>
            <a:pPr algn="l" indent="0" marL="0">
              <a:lnSpc>
                <a:spcPct val="126000"/>
              </a:lnSpc>
              <a:buNone/>
            </a:pPr>
            <a:r>
              <a:rPr lang="en-US" sz="1300" dirty="0">
                <a:solidFill>
                  <a:srgbClr val="000000"/>
                </a:solidFill>
                <a:latin typeface="Roboto Condensed" pitchFamily="34" charset="0"/>
                <a:ea typeface="Roboto Condensed" pitchFamily="34" charset="-122"/>
                <a:cs typeface="Roboto Condensed" pitchFamily="34" charset="-120"/>
              </a:rPr>
              <a:t>Middle values alone pass almost any code</a:t>
            </a:r>
            <a:endParaRPr lang="en-US" sz="1300" dirty="0"/>
          </a:p>
        </p:txBody>
      </p:sp>
      <p:sp>
        <p:nvSpPr>
          <p:cNvPr id="19" name="Text 11"/>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570210"/>
            <a:ext cx="10868745" cy="452239"/>
          </a:xfrm>
          <a:prstGeom prst="rect">
            <a:avLst/>
          </a:prstGeom>
          <a:noFill/>
          <a:ln/>
        </p:spPr>
        <p:txBody>
          <a:bodyPr wrap="none" lIns="0" tIns="0" rIns="0" bIns="0" rtlCol="0" anchor="t"/>
          <a:lstStyle/>
          <a:p>
            <a:pPr algn="l" indent="0" marL="0">
              <a:lnSpc>
                <a:spcPct val="104000"/>
              </a:lnSpc>
              <a:buNone/>
            </a:pPr>
            <a:r>
              <a:rPr lang="en-US" sz="2800" b="1" dirty="0">
                <a:solidFill>
                  <a:srgbClr val="111111"/>
                </a:solidFill>
                <a:latin typeface="Orbitron Bold" pitchFamily="34" charset="0"/>
                <a:ea typeface="Orbitron Bold" pitchFamily="34" charset="-122"/>
                <a:cs typeface="Orbitron Bold" pitchFamily="34" charset="-120"/>
              </a:rPr>
              <a:t>A check function and a test file</a:t>
            </a:r>
            <a:endParaRPr lang="en-US" sz="2800" dirty="0"/>
          </a:p>
        </p:txBody>
      </p:sp>
      <p:sp>
        <p:nvSpPr>
          <p:cNvPr id="3" name="Shape 1"/>
          <p:cNvSpPr/>
          <p:nvPr/>
        </p:nvSpPr>
        <p:spPr>
          <a:xfrm>
            <a:off x="661475" y="1244005"/>
            <a:ext cx="10868745" cy="4920853"/>
          </a:xfrm>
          <a:prstGeom prst="roundRect">
            <a:avLst>
              <a:gd name="adj" fmla="val 1235"/>
            </a:avLst>
          </a:prstGeom>
          <a:solidFill>
            <a:srgbClr val="F2F2F2"/>
          </a:solidFill>
          <a:ln/>
        </p:spPr>
      </p:sp>
      <p:sp>
        <p:nvSpPr>
          <p:cNvPr id="4" name="Text 2"/>
          <p:cNvSpPr/>
          <p:nvPr/>
        </p:nvSpPr>
        <p:spPr>
          <a:xfrm>
            <a:off x="835103" y="1388666"/>
            <a:ext cx="10521488" cy="4631531"/>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D73A49"/>
                </a:solidFill>
                <a:latin typeface="Consolas" pitchFamily="34" charset="0"/>
                <a:ea typeface="Consolas" pitchFamily="34" charset="-122"/>
                <a:cs typeface="Consolas" pitchFamily="34" charset="-120"/>
              </a:rPr>
              <a:t>import spirit_store</a:t>
            </a:r>
            <a:endParaRPr lang="en-US" sz="1100" dirty="0"/>
          </a:p>
          <a:p>
            <a:pPr algn="l" indent="0" marL="0">
              <a:lnSpc>
                <a:spcPct val="133000"/>
              </a:lnSpc>
              <a:buNone/>
            </a:pPr>
            <a:endParaRPr lang="en-US" sz="1100" dirty="0"/>
          </a:p>
          <a:p>
            <a:pPr algn="l" indent="0" marL="0">
              <a:lnSpc>
                <a:spcPct val="133000"/>
              </a:lnSpc>
              <a:buNone/>
            </a:pPr>
            <a:endParaRPr lang="en-US" sz="1100" dirty="0"/>
          </a:p>
          <a:p>
            <a:pPr algn="l" indent="0" marL="0">
              <a:lnSpc>
                <a:spcPct val="133000"/>
              </a:lnSpc>
              <a:buNone/>
            </a:pPr>
            <a:r>
              <a:rPr lang="en-US" sz="1100" dirty="0">
                <a:solidFill>
                  <a:srgbClr val="D73A49"/>
                </a:solidFill>
                <a:latin typeface="Consolas" pitchFamily="34" charset="0"/>
                <a:ea typeface="Consolas" pitchFamily="34" charset="-122"/>
                <a:cs typeface="Consolas" pitchFamily="34" charset="-120"/>
              </a:rPr>
              <a:t>def check(label, actual, expected):</a:t>
            </a:r>
            <a:endParaRPr lang="en-US" sz="1100" dirty="0"/>
          </a:p>
          <a:p>
            <a:pPr algn="l" indent="0" marL="0">
              <a:lnSpc>
                <a:spcPct val="133000"/>
              </a:lnSpc>
              <a:buNone/>
            </a:pPr>
            <a:r>
              <a:rPr lang="en-US" sz="1100" dirty="0">
                <a:solidFill>
                  <a:srgbClr val="D73A49"/>
                </a:solidFill>
                <a:latin typeface="Consolas" pitchFamily="34" charset="0"/>
                <a:ea typeface="Consolas" pitchFamily="34" charset="-122"/>
                <a:cs typeface="Consolas" pitchFamily="34" charset="-120"/>
              </a:rPr>
              <a:t>    """Print PASS or FAIL for one check. Return 1 if it failed, 0 if it passed."""</a:t>
            </a:r>
            <a:endParaRPr lang="en-US" sz="1100" dirty="0"/>
          </a:p>
          <a:p>
            <a:pPr algn="l" indent="0" marL="0">
              <a:lnSpc>
                <a:spcPct val="133000"/>
              </a:lnSpc>
              <a:buNone/>
            </a:pPr>
            <a:r>
              <a:rPr lang="en-US" sz="1100" dirty="0">
                <a:solidFill>
                  <a:srgbClr val="D73A49"/>
                </a:solidFill>
                <a:latin typeface="Consolas" pitchFamily="34" charset="0"/>
                <a:ea typeface="Consolas" pitchFamily="34" charset="-122"/>
                <a:cs typeface="Consolas" pitchFamily="34" charset="-120"/>
              </a:rPr>
              <a:t>    if actual == expected:</a:t>
            </a:r>
            <a:endParaRPr lang="en-US" sz="1100" dirty="0"/>
          </a:p>
          <a:p>
            <a:pPr algn="l" indent="0" marL="0">
              <a:lnSpc>
                <a:spcPct val="133000"/>
              </a:lnSpc>
              <a:buNone/>
            </a:pPr>
            <a:r>
              <a:rPr lang="en-US" sz="1100" dirty="0">
                <a:solidFill>
                  <a:srgbClr val="D73A49"/>
                </a:solidFill>
                <a:latin typeface="Consolas" pitchFamily="34" charset="0"/>
                <a:ea typeface="Consolas" pitchFamily="34" charset="-122"/>
                <a:cs typeface="Consolas" pitchFamily="34" charset="-120"/>
              </a:rPr>
              <a:t>        print(f"PASS  {label}")</a:t>
            </a:r>
            <a:endParaRPr lang="en-US" sz="1100" dirty="0"/>
          </a:p>
          <a:p>
            <a:pPr algn="l" indent="0" marL="0">
              <a:lnSpc>
                <a:spcPct val="133000"/>
              </a:lnSpc>
              <a:buNone/>
            </a:pPr>
            <a:r>
              <a:rPr lang="en-US" sz="1100" dirty="0">
                <a:solidFill>
                  <a:srgbClr val="D73A49"/>
                </a:solidFill>
                <a:latin typeface="Consolas" pitchFamily="34" charset="0"/>
                <a:ea typeface="Consolas" pitchFamily="34" charset="-122"/>
                <a:cs typeface="Consolas" pitchFamily="34" charset="-120"/>
              </a:rPr>
              <a:t>        return 0</a:t>
            </a:r>
            <a:endParaRPr lang="en-US" sz="1100" dirty="0"/>
          </a:p>
          <a:p>
            <a:pPr algn="l" indent="0" marL="0">
              <a:lnSpc>
                <a:spcPct val="133000"/>
              </a:lnSpc>
              <a:buNone/>
            </a:pPr>
            <a:r>
              <a:rPr lang="en-US" sz="1100" dirty="0">
                <a:solidFill>
                  <a:srgbClr val="D73A49"/>
                </a:solidFill>
                <a:latin typeface="Consolas" pitchFamily="34" charset="0"/>
                <a:ea typeface="Consolas" pitchFamily="34" charset="-122"/>
                <a:cs typeface="Consolas" pitchFamily="34" charset="-120"/>
              </a:rPr>
              <a:t>    print(f"FAIL  {label}")</a:t>
            </a:r>
            <a:endParaRPr lang="en-US" sz="1100" dirty="0"/>
          </a:p>
          <a:p>
            <a:pPr algn="l" indent="0" marL="0">
              <a:lnSpc>
                <a:spcPct val="133000"/>
              </a:lnSpc>
              <a:buNone/>
            </a:pPr>
            <a:r>
              <a:rPr lang="en-US" sz="1100" dirty="0">
                <a:solidFill>
                  <a:srgbClr val="D73A49"/>
                </a:solidFill>
                <a:latin typeface="Consolas" pitchFamily="34" charset="0"/>
                <a:ea typeface="Consolas" pitchFamily="34" charset="-122"/>
                <a:cs typeface="Consolas" pitchFamily="34" charset="-120"/>
              </a:rPr>
              <a:t>    print(f"        expected: {repr(expected)}")</a:t>
            </a:r>
            <a:endParaRPr lang="en-US" sz="1100" dirty="0"/>
          </a:p>
          <a:p>
            <a:pPr algn="l" indent="0" marL="0">
              <a:lnSpc>
                <a:spcPct val="133000"/>
              </a:lnSpc>
              <a:buNone/>
            </a:pPr>
            <a:r>
              <a:rPr lang="en-US" sz="1100" dirty="0">
                <a:solidFill>
                  <a:srgbClr val="D73A49"/>
                </a:solidFill>
                <a:latin typeface="Consolas" pitchFamily="34" charset="0"/>
                <a:ea typeface="Consolas" pitchFamily="34" charset="-122"/>
                <a:cs typeface="Consolas" pitchFamily="34" charset="-120"/>
              </a:rPr>
              <a:t>    print(f"        actual:   {repr(actual)}")</a:t>
            </a:r>
            <a:endParaRPr lang="en-US" sz="1100" dirty="0"/>
          </a:p>
          <a:p>
            <a:pPr algn="l" indent="0" marL="0">
              <a:lnSpc>
                <a:spcPct val="133000"/>
              </a:lnSpc>
              <a:buNone/>
            </a:pPr>
            <a:r>
              <a:rPr lang="en-US" sz="1100" dirty="0">
                <a:solidFill>
                  <a:srgbClr val="D73A49"/>
                </a:solidFill>
                <a:latin typeface="Consolas" pitchFamily="34" charset="0"/>
                <a:ea typeface="Consolas" pitchFamily="34" charset="-122"/>
                <a:cs typeface="Consolas" pitchFamily="34" charset="-120"/>
              </a:rPr>
              <a:t>    return 1</a:t>
            </a:r>
            <a:endParaRPr lang="en-US" sz="1100" dirty="0"/>
          </a:p>
          <a:p>
            <a:pPr algn="l" indent="0" marL="0">
              <a:lnSpc>
                <a:spcPct val="133000"/>
              </a:lnSpc>
              <a:buNone/>
            </a:pPr>
            <a:endParaRPr lang="en-US" sz="1100" dirty="0"/>
          </a:p>
          <a:p>
            <a:pPr algn="l" indent="0" marL="0">
              <a:lnSpc>
                <a:spcPct val="133000"/>
              </a:lnSpc>
              <a:buNone/>
            </a:pPr>
            <a:endParaRPr lang="en-US" sz="1100" dirty="0"/>
          </a:p>
          <a:p>
            <a:pPr algn="l" indent="0" marL="0">
              <a:lnSpc>
                <a:spcPct val="133000"/>
              </a:lnSpc>
              <a:buNone/>
            </a:pPr>
            <a:r>
              <a:rPr lang="en-US" sz="1100" dirty="0">
                <a:solidFill>
                  <a:srgbClr val="D73A49"/>
                </a:solidFill>
                <a:latin typeface="Consolas" pitchFamily="34" charset="0"/>
                <a:ea typeface="Consolas" pitchFamily="34" charset="-122"/>
                <a:cs typeface="Consolas" pitchFamily="34" charset="-120"/>
              </a:rPr>
              <a:t># TC-1, TC-5, and TC-6 are in the full file in the lecture notes.</a:t>
            </a:r>
            <a:endParaRPr lang="en-US" sz="1100" dirty="0"/>
          </a:p>
          <a:p>
            <a:pPr algn="l" indent="0" marL="0">
              <a:lnSpc>
                <a:spcPct val="133000"/>
              </a:lnSpc>
              <a:buNone/>
            </a:pPr>
            <a:r>
              <a:rPr lang="en-US" sz="1100" dirty="0">
                <a:solidFill>
                  <a:srgbClr val="D73A49"/>
                </a:solidFill>
                <a:latin typeface="Consolas" pitchFamily="34" charset="0"/>
                <a:ea typeface="Consolas" pitchFamily="34" charset="-122"/>
                <a:cs typeface="Consolas" pitchFamily="34" charset="-120"/>
              </a:rPr>
              <a:t>failures = 0</a:t>
            </a:r>
            <a:endParaRPr lang="en-US" sz="1100" dirty="0"/>
          </a:p>
          <a:p>
            <a:pPr algn="l" indent="0" marL="0">
              <a:lnSpc>
                <a:spcPct val="133000"/>
              </a:lnSpc>
              <a:buNone/>
            </a:pPr>
            <a:r>
              <a:rPr lang="en-US" sz="1100" dirty="0">
                <a:solidFill>
                  <a:srgbClr val="D73A49"/>
                </a:solidFill>
                <a:latin typeface="Consolas" pitchFamily="34" charset="0"/>
                <a:ea typeface="Consolas" pitchFamily="34" charset="-122"/>
                <a:cs typeface="Consolas" pitchFamily="34" charset="-120"/>
              </a:rPr>
              <a:t>failures = failures + check("TC-2 one dollar below free shipping", spirit_store.order_total(34), 40)</a:t>
            </a:r>
            <a:endParaRPr lang="en-US" sz="1100" dirty="0"/>
          </a:p>
          <a:p>
            <a:pPr algn="l" indent="0" marL="0">
              <a:lnSpc>
                <a:spcPct val="133000"/>
              </a:lnSpc>
              <a:buNone/>
            </a:pPr>
            <a:r>
              <a:rPr lang="en-US" sz="1100" dirty="0">
                <a:solidFill>
                  <a:srgbClr val="D73A49"/>
                </a:solidFill>
                <a:latin typeface="Consolas" pitchFamily="34" charset="0"/>
                <a:ea typeface="Consolas" pitchFamily="34" charset="-122"/>
                <a:cs typeface="Consolas" pitchFamily="34" charset="-120"/>
              </a:rPr>
              <a:t>failures = failures + check("TC-3 exactly the free shipping amount", spirit_store.order_total(35), 35)</a:t>
            </a:r>
            <a:endParaRPr lang="en-US" sz="1100" dirty="0"/>
          </a:p>
          <a:p>
            <a:pPr algn="l" indent="0" marL="0">
              <a:lnSpc>
                <a:spcPct val="133000"/>
              </a:lnSpc>
              <a:buNone/>
            </a:pPr>
            <a:r>
              <a:rPr lang="en-US" sz="1100" dirty="0">
                <a:solidFill>
                  <a:srgbClr val="D73A49"/>
                </a:solidFill>
                <a:latin typeface="Consolas" pitchFamily="34" charset="0"/>
                <a:ea typeface="Consolas" pitchFamily="34" charset="-122"/>
                <a:cs typeface="Consolas" pitchFamily="34" charset="-120"/>
              </a:rPr>
              <a:t>failures = failures + check("TC-4 one dollar above free shipping", spirit_store.order_total(36), 36)</a:t>
            </a:r>
            <a:endParaRPr lang="en-US" sz="1100" dirty="0"/>
          </a:p>
          <a:p>
            <a:pPr algn="l" indent="0" marL="0">
              <a:lnSpc>
                <a:spcPct val="133000"/>
              </a:lnSpc>
              <a:buNone/>
            </a:pPr>
            <a:r>
              <a:rPr lang="en-US" sz="1100" dirty="0">
                <a:solidFill>
                  <a:srgbClr val="D73A49"/>
                </a:solidFill>
                <a:latin typeface="Consolas" pitchFamily="34" charset="0"/>
                <a:ea typeface="Consolas" pitchFamily="34" charset="-122"/>
                <a:cs typeface="Consolas" pitchFamily="34" charset="-120"/>
              </a:rPr>
              <a:t>print(f"{failures} failed")</a:t>
            </a:r>
            <a:endParaRPr lang="en-US" sz="110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566241"/>
            <a:ext cx="10868745" cy="1126133"/>
          </a:xfrm>
          <a:prstGeom prst="rect">
            <a:avLst/>
          </a:prstGeom>
          <a:noFill/>
          <a:ln/>
        </p:spPr>
        <p:txBody>
          <a:bodyPr wrap="square" lIns="0" tIns="0" rIns="0" bIns="0" rtlCol="0" anchor="t">
            <a:normAutofit/>
          </a:bodyPr>
          <a:lstStyle/>
          <a:p>
            <a:pPr algn="l" indent="0" marL="0">
              <a:lnSpc>
                <a:spcPct val="104000"/>
              </a:lnSpc>
              <a:buNone/>
            </a:pPr>
            <a:r>
              <a:rPr lang="en-US" sz="3500" b="1" dirty="0">
                <a:solidFill>
                  <a:srgbClr val="111111"/>
                </a:solidFill>
                <a:latin typeface="Orbitron Bold" pitchFamily="34" charset="0"/>
                <a:ea typeface="Orbitron Bold" pitchFamily="34" charset="-122"/>
                <a:cs typeface="Orbitron Bold" pitchFamily="34" charset="-120"/>
              </a:rPr>
              <a:t>All six cases run: one boundary catches the bug</a:t>
            </a:r>
            <a:endParaRPr lang="en-US" sz="3500" dirty="0"/>
          </a:p>
        </p:txBody>
      </p:sp>
      <p:sp>
        <p:nvSpPr>
          <p:cNvPr id="3" name="Shape 1"/>
          <p:cNvSpPr/>
          <p:nvPr/>
        </p:nvSpPr>
        <p:spPr>
          <a:xfrm>
            <a:off x="661475" y="2035770"/>
            <a:ext cx="10868745" cy="3242469"/>
          </a:xfrm>
          <a:prstGeom prst="roundRect">
            <a:avLst>
              <a:gd name="adj" fmla="val 2334"/>
            </a:avLst>
          </a:prstGeom>
          <a:solidFill>
            <a:srgbClr val="F2F2F2"/>
          </a:solidFill>
          <a:ln/>
        </p:spPr>
      </p:sp>
      <p:sp>
        <p:nvSpPr>
          <p:cNvPr id="4" name="Text 2"/>
          <p:cNvSpPr/>
          <p:nvPr/>
        </p:nvSpPr>
        <p:spPr>
          <a:xfrm>
            <a:off x="877568" y="2215852"/>
            <a:ext cx="10436559" cy="2882305"/>
          </a:xfrm>
          <a:prstGeom prst="rect">
            <a:avLst/>
          </a:prstGeom>
          <a:noFill/>
          <a:ln/>
        </p:spPr>
        <p:txBody>
          <a:bodyPr wrap="square" lIns="0" tIns="0" rIns="0" bIns="0" rtlCol="0" anchor="t">
            <a:normAutofit/>
          </a:bodyPr>
          <a:lstStyle/>
          <a:p>
            <a:pPr algn="l" indent="0" marL="0">
              <a:lnSpc>
                <a:spcPct val="133000"/>
              </a:lnSpc>
              <a:buNone/>
            </a:pPr>
            <a:r>
              <a:rPr lang="en-US" sz="1400" dirty="0">
                <a:solidFill>
                  <a:srgbClr val="24292E"/>
                </a:solidFill>
                <a:latin typeface="Consolas" pitchFamily="34" charset="0"/>
                <a:ea typeface="Consolas" pitchFamily="34" charset="-122"/>
                <a:cs typeface="Consolas" pitchFamily="34" charset="-120"/>
              </a:rPr>
              <a:t>PASS  TC-1 normal order pays shipping</a:t>
            </a:r>
            <a:endParaRPr lang="en-US" sz="1400" dirty="0"/>
          </a:p>
          <a:p>
            <a:pPr algn="l" indent="0" marL="0">
              <a:lnSpc>
                <a:spcPct val="133000"/>
              </a:lnSpc>
              <a:buNone/>
            </a:pPr>
            <a:r>
              <a:rPr lang="en-US" sz="1400" dirty="0">
                <a:solidFill>
                  <a:srgbClr val="24292E"/>
                </a:solidFill>
                <a:latin typeface="Consolas" pitchFamily="34" charset="0"/>
                <a:ea typeface="Consolas" pitchFamily="34" charset="-122"/>
                <a:cs typeface="Consolas" pitchFamily="34" charset="-120"/>
              </a:rPr>
              <a:t>PASS  TC-2 one dollar below free shipping</a:t>
            </a:r>
            <a:endParaRPr lang="en-US" sz="1400" dirty="0"/>
          </a:p>
          <a:p>
            <a:pPr algn="l" indent="0" marL="0">
              <a:lnSpc>
                <a:spcPct val="133000"/>
              </a:lnSpc>
              <a:buNone/>
            </a:pPr>
            <a:r>
              <a:rPr lang="en-US" sz="1400" dirty="0">
                <a:solidFill>
                  <a:srgbClr val="24292E"/>
                </a:solidFill>
                <a:latin typeface="Consolas" pitchFamily="34" charset="0"/>
                <a:ea typeface="Consolas" pitchFamily="34" charset="-122"/>
                <a:cs typeface="Consolas" pitchFamily="34" charset="-120"/>
              </a:rPr>
              <a:t>FAIL  TC-3 exactly the free shipping amount</a:t>
            </a:r>
            <a:endParaRPr lang="en-US" sz="1400" dirty="0"/>
          </a:p>
          <a:p>
            <a:pPr algn="l" indent="0" marL="0">
              <a:lnSpc>
                <a:spcPct val="133000"/>
              </a:lnSpc>
              <a:buNone/>
            </a:pPr>
            <a:r>
              <a:rPr lang="en-US" sz="1400" dirty="0">
                <a:solidFill>
                  <a:srgbClr val="24292E"/>
                </a:solidFill>
                <a:latin typeface="Consolas" pitchFamily="34" charset="0"/>
                <a:ea typeface="Consolas" pitchFamily="34" charset="-122"/>
                <a:cs typeface="Consolas" pitchFamily="34" charset="-120"/>
              </a:rPr>
              <a:t>        expected: 35</a:t>
            </a:r>
            <a:endParaRPr lang="en-US" sz="1400" dirty="0"/>
          </a:p>
          <a:p>
            <a:pPr algn="l" indent="0" marL="0">
              <a:lnSpc>
                <a:spcPct val="133000"/>
              </a:lnSpc>
              <a:buNone/>
            </a:pPr>
            <a:r>
              <a:rPr lang="en-US" sz="1400" dirty="0">
                <a:solidFill>
                  <a:srgbClr val="24292E"/>
                </a:solidFill>
                <a:latin typeface="Consolas" pitchFamily="34" charset="0"/>
                <a:ea typeface="Consolas" pitchFamily="34" charset="-122"/>
                <a:cs typeface="Consolas" pitchFamily="34" charset="-120"/>
              </a:rPr>
              <a:t>        actual:   41</a:t>
            </a:r>
            <a:endParaRPr lang="en-US" sz="1400" dirty="0"/>
          </a:p>
          <a:p>
            <a:pPr algn="l" indent="0" marL="0">
              <a:lnSpc>
                <a:spcPct val="133000"/>
              </a:lnSpc>
              <a:buNone/>
            </a:pPr>
            <a:r>
              <a:rPr lang="en-US" sz="1400" dirty="0">
                <a:solidFill>
                  <a:srgbClr val="24292E"/>
                </a:solidFill>
                <a:latin typeface="Consolas" pitchFamily="34" charset="0"/>
                <a:ea typeface="Consolas" pitchFamily="34" charset="-122"/>
                <a:cs typeface="Consolas" pitchFamily="34" charset="-120"/>
              </a:rPr>
              <a:t>PASS  TC-4 one dollar above free shipping</a:t>
            </a:r>
            <a:endParaRPr lang="en-US" sz="1400" dirty="0"/>
          </a:p>
          <a:p>
            <a:pPr algn="l" indent="0" marL="0">
              <a:lnSpc>
                <a:spcPct val="133000"/>
              </a:lnSpc>
              <a:buNone/>
            </a:pPr>
            <a:r>
              <a:rPr lang="en-US" sz="1400" dirty="0">
                <a:solidFill>
                  <a:srgbClr val="24292E"/>
                </a:solidFill>
                <a:latin typeface="Consolas" pitchFamily="34" charset="0"/>
                <a:ea typeface="Consolas" pitchFamily="34" charset="-122"/>
                <a:cs typeface="Consolas" pitchFamily="34" charset="-120"/>
              </a:rPr>
              <a:t>PASS  TC-5 zero is refused</a:t>
            </a:r>
            <a:endParaRPr lang="en-US" sz="1400" dirty="0"/>
          </a:p>
          <a:p>
            <a:pPr algn="l" indent="0" marL="0">
              <a:lnSpc>
                <a:spcPct val="133000"/>
              </a:lnSpc>
              <a:buNone/>
            </a:pPr>
            <a:r>
              <a:rPr lang="en-US" sz="1400" dirty="0">
                <a:solidFill>
                  <a:srgbClr val="24292E"/>
                </a:solidFill>
                <a:latin typeface="Consolas" pitchFamily="34" charset="0"/>
                <a:ea typeface="Consolas" pitchFamily="34" charset="-122"/>
                <a:cs typeface="Consolas" pitchFamily="34" charset="-120"/>
              </a:rPr>
              <a:t>PASS  TC-6 negative is refused</a:t>
            </a:r>
            <a:endParaRPr lang="en-US" sz="1400" dirty="0"/>
          </a:p>
          <a:p>
            <a:pPr algn="l" indent="0" marL="0">
              <a:lnSpc>
                <a:spcPct val="133000"/>
              </a:lnSpc>
              <a:buNone/>
            </a:pPr>
            <a:endParaRPr lang="en-US" sz="1400" dirty="0"/>
          </a:p>
          <a:p>
            <a:pPr algn="l" indent="0" marL="0">
              <a:lnSpc>
                <a:spcPct val="133000"/>
              </a:lnSpc>
              <a:buNone/>
            </a:pPr>
            <a:r>
              <a:rPr lang="en-US" sz="1400" dirty="0">
                <a:solidFill>
                  <a:srgbClr val="24292E"/>
                </a:solidFill>
                <a:latin typeface="Consolas" pitchFamily="34" charset="0"/>
                <a:ea typeface="Consolas" pitchFamily="34" charset="-122"/>
                <a:cs typeface="Consolas" pitchFamily="34" charset="-120"/>
              </a:rPr>
              <a:t>1 failed</a:t>
            </a:r>
            <a:endParaRPr lang="en-US" sz="1400" dirty="0"/>
          </a:p>
        </p:txBody>
      </p:sp>
      <p:sp>
        <p:nvSpPr>
          <p:cNvPr id="5" name="Shape 3"/>
          <p:cNvSpPr/>
          <p:nvPr/>
        </p:nvSpPr>
        <p:spPr>
          <a:xfrm>
            <a:off x="661475" y="5471418"/>
            <a:ext cx="10868745" cy="697508"/>
          </a:xfrm>
          <a:prstGeom prst="roundRect">
            <a:avLst>
              <a:gd name="adj" fmla="val 10848"/>
            </a:avLst>
          </a:prstGeom>
          <a:solidFill>
            <a:srgbClr val="FFB3B4"/>
          </a:solidFill>
          <a:ln/>
        </p:spPr>
      </p:sp>
      <p:pic>
        <p:nvPicPr>
          <p:cNvPr id="6" name="Image 0" descr="preencoded.png">    </p:cNvPr>
          <p:cNvPicPr>
            <a:picLocks noChangeAspect="1"/>
          </p:cNvPicPr>
          <p:nvPr/>
        </p:nvPicPr>
        <p:blipFill>
          <a:blip r:embed="rId1"/>
          <a:stretch>
            <a:fillRect/>
          </a:stretch>
        </p:blipFill>
        <p:spPr>
          <a:xfrm>
            <a:off x="841552" y="5714504"/>
            <a:ext cx="225122" cy="180082"/>
          </a:xfrm>
          <a:prstGeom prst="rect">
            <a:avLst/>
          </a:prstGeom>
        </p:spPr>
      </p:pic>
      <p:sp>
        <p:nvSpPr>
          <p:cNvPr id="7" name="Text 4"/>
          <p:cNvSpPr/>
          <p:nvPr/>
        </p:nvSpPr>
        <p:spPr>
          <a:xfrm>
            <a:off x="1246752" y="5688012"/>
            <a:ext cx="10712976" cy="281484"/>
          </a:xfrm>
          <a:prstGeom prst="rect">
            <a:avLst/>
          </a:prstGeom>
          <a:noFill/>
          <a:ln/>
        </p:spPr>
        <p:txBody>
          <a:bodyPr wrap="none" lIns="0" tIns="0" rIns="0" bIns="0" rtlCol="0" anchor="t"/>
          <a:lstStyle/>
          <a:p>
            <a:pPr algn="l" indent="0" marL="0">
              <a:lnSpc>
                <a:spcPct val="130000"/>
              </a:lnSpc>
              <a:buNone/>
            </a:pPr>
            <a:r>
              <a:rPr lang="en-US" sz="1400" dirty="0">
                <a:solidFill>
                  <a:srgbClr val="B0001D"/>
                </a:solidFill>
                <a:latin typeface="Roboto Condensed" pitchFamily="34" charset="0"/>
                <a:ea typeface="Roboto Condensed" pitchFamily="34" charset="-122"/>
                <a:cs typeface="Roboto Condensed" pitchFamily="34" charset="-120"/>
              </a:rPr>
              <a:t>TC-3 fails</a:t>
            </a:r>
            <a:pPr algn="l" indent="0" marL="0">
              <a:lnSpc>
                <a:spcPct val="130000"/>
              </a:lnSpc>
              <a:buNone/>
            </a:pPr>
            <a:r>
              <a:rPr lang="en-US" sz="1400" dirty="0">
                <a:solidFill>
                  <a:srgbClr val="000000"/>
                </a:solidFill>
                <a:latin typeface="Roboto Condensed" pitchFamily="34" charset="0"/>
                <a:ea typeface="Roboto Condensed" pitchFamily="34" charset="-122"/>
                <a:cs typeface="Roboto Condensed" pitchFamily="34" charset="-120"/>
              </a:rPr>
              <a:t> -- the boundary case exposes the bug that middle values missed.</a:t>
            </a:r>
            <a:endParaRPr lang="en-US" sz="1400" dirty="0"/>
          </a:p>
        </p:txBody>
      </p:sp>
      <p:sp>
        <p:nvSpPr>
          <p:cNvPr id="8"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874018"/>
            <a:ext cx="6296860"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Two pieces of plumbing</a:t>
            </a:r>
            <a:endParaRPr lang="en-US" sz="37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3360" y="1748135"/>
            <a:ext cx="6296860" cy="1448693"/>
          </a:xfrm>
          <a:prstGeom prst="rect">
            <a:avLst/>
          </a:prstGeom>
        </p:spPr>
      </p:pic>
      <p:sp>
        <p:nvSpPr>
          <p:cNvPr id="5" name="Text 1"/>
          <p:cNvSpPr/>
          <p:nvPr/>
        </p:nvSpPr>
        <p:spPr>
          <a:xfrm>
            <a:off x="5549364" y="1962547"/>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import spirit_store</a:t>
            </a:r>
            <a:endParaRPr lang="en-US" sz="1850" dirty="0"/>
          </a:p>
        </p:txBody>
      </p:sp>
      <p:sp>
        <p:nvSpPr>
          <p:cNvPr id="6" name="Text 2"/>
          <p:cNvSpPr/>
          <p:nvPr/>
        </p:nvSpPr>
        <p:spPr>
          <a:xfrm>
            <a:off x="5549364" y="2371229"/>
            <a:ext cx="5766449" cy="61118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Runs that file and shares its functions. Call them as </a:t>
            </a:r>
            <a:pPr algn="l" indent="0" marL="0">
              <a:lnSpc>
                <a:spcPct val="133000"/>
              </a:lnSpc>
              <a:buNone/>
            </a:pPr>
            <a:r>
              <a:rPr lang="en-US" sz="1450" dirty="0">
                <a:solidFill>
                  <a:srgbClr val="1C1C1C"/>
                </a:solidFill>
                <a:highlight>
                  <a:srgbClr val="F2F2F2"/>
                </a:highlight>
                <a:latin typeface="Consolas" pitchFamily="34" charset="0"/>
                <a:ea typeface="Consolas" pitchFamily="34" charset="-122"/>
                <a:cs typeface="Consolas" pitchFamily="34" charset="-120"/>
              </a:rPr>
              <a:t>spirit_store.order_total(20)</a:t>
            </a:r>
            <a:endParaRPr lang="en-US" sz="1450" dirty="0"/>
          </a:p>
        </p:txBody>
      </p:sp>
      <p:pic>
        <p:nvPicPr>
          <p:cNvPr id="7"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233360" y="3385840"/>
            <a:ext cx="6296860" cy="1146274"/>
          </a:xfrm>
          <a:prstGeom prst="rect">
            <a:avLst/>
          </a:prstGeom>
        </p:spPr>
      </p:pic>
      <p:sp>
        <p:nvSpPr>
          <p:cNvPr id="8" name="Text 3"/>
          <p:cNvSpPr/>
          <p:nvPr/>
        </p:nvSpPr>
        <p:spPr>
          <a:xfrm>
            <a:off x="5549364" y="3600252"/>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if __name__ == "__main__":</a:t>
            </a:r>
            <a:endParaRPr lang="en-US" sz="1850" dirty="0"/>
          </a:p>
        </p:txBody>
      </p:sp>
      <p:sp>
        <p:nvSpPr>
          <p:cNvPr id="9" name="Text 4"/>
          <p:cNvSpPr/>
          <p:nvPr/>
        </p:nvSpPr>
        <p:spPr>
          <a:xfrm>
            <a:off x="5549364" y="4008934"/>
            <a:ext cx="5766449" cy="30876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Goes above </a:t>
            </a:r>
            <a:pPr algn="l" indent="0" marL="0">
              <a:lnSpc>
                <a:spcPct val="133000"/>
              </a:lnSpc>
              <a:buNone/>
            </a:pPr>
            <a:r>
              <a:rPr lang="en-US" sz="1450" dirty="0">
                <a:solidFill>
                  <a:srgbClr val="1C1C1C"/>
                </a:solidFill>
                <a:highlight>
                  <a:srgbClr val="F2F2F2"/>
                </a:highlight>
                <a:latin typeface="Consolas" pitchFamily="34" charset="0"/>
                <a:ea typeface="Consolas" pitchFamily="34" charset="-122"/>
                <a:cs typeface="Consolas" pitchFamily="34" charset="-120"/>
              </a:rPr>
              <a:t>main()</a:t>
            </a:r>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 Run directly: main runs. Imported: it does not.</a:t>
            </a:r>
            <a:endParaRPr lang="en-US" sz="1450" dirty="0"/>
          </a:p>
        </p:txBody>
      </p:sp>
      <p:pic>
        <p:nvPicPr>
          <p:cNvPr id="10"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233360" y="4721126"/>
            <a:ext cx="6296860" cy="1139924"/>
          </a:xfrm>
          <a:prstGeom prst="rect">
            <a:avLst/>
          </a:prstGeom>
        </p:spPr>
      </p:pic>
      <p:sp>
        <p:nvSpPr>
          <p:cNvPr id="11" name="Text 5"/>
          <p:cNvSpPr/>
          <p:nvPr/>
        </p:nvSpPr>
        <p:spPr>
          <a:xfrm>
            <a:off x="5549364" y="4935538"/>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Forget it</a:t>
            </a:r>
            <a:endParaRPr lang="en-US" sz="1850" dirty="0"/>
          </a:p>
        </p:txBody>
      </p:sp>
      <p:sp>
        <p:nvSpPr>
          <p:cNvPr id="12" name="Text 6"/>
          <p:cNvSpPr/>
          <p:nvPr/>
        </p:nvSpPr>
        <p:spPr>
          <a:xfrm>
            <a:off x="5549364" y="5344220"/>
            <a:ext cx="5766449"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Importing the store starts the store</a:t>
            </a:r>
            <a:endParaRPr lang="en-US" sz="1450" dirty="0"/>
          </a:p>
        </p:txBody>
      </p:sp>
      <p:sp>
        <p:nvSpPr>
          <p:cNvPr id="13" name="Text 7"/>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1642864"/>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Testing the whole game with a script</a:t>
            </a:r>
            <a:endParaRPr lang="en-US" sz="3700" dirty="0"/>
          </a:p>
        </p:txBody>
      </p:sp>
      <p:sp>
        <p:nvSpPr>
          <p:cNvPr id="3" name="Shape 1"/>
          <p:cNvSpPr/>
          <p:nvPr/>
        </p:nvSpPr>
        <p:spPr>
          <a:xfrm>
            <a:off x="661475" y="2611537"/>
            <a:ext cx="10868745" cy="1285280"/>
          </a:xfrm>
          <a:prstGeom prst="roundRect">
            <a:avLst>
              <a:gd name="adj" fmla="val 6177"/>
            </a:avLst>
          </a:prstGeom>
          <a:solidFill>
            <a:srgbClr val="F2F2F2"/>
          </a:solidFill>
          <a:ln/>
        </p:spPr>
      </p:sp>
      <p:sp>
        <p:nvSpPr>
          <p:cNvPr id="4" name="Text 2"/>
          <p:cNvSpPr/>
          <p:nvPr/>
        </p:nvSpPr>
        <p:spPr>
          <a:xfrm>
            <a:off x="888283" y="2800548"/>
            <a:ext cx="10415129"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cmd /c "python adventure.py &lt; test-scripts\win.txt &gt; test-scripts\win_v1_output.txt"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cmd /c "python adventure.py &lt; test-scripts\win.txt &gt; win_v2_output.txt"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cmd /c "fc test-scripts\win_v1_output.txt win_v2_output.txt"</a:t>
            </a:r>
            <a:endParaRPr lang="en-US" sz="1450" dirty="0"/>
          </a:p>
        </p:txBody>
      </p:sp>
      <p:sp>
        <p:nvSpPr>
          <p:cNvPr id="5" name="Shape 3"/>
          <p:cNvSpPr/>
          <p:nvPr/>
        </p:nvSpPr>
        <p:spPr>
          <a:xfrm>
            <a:off x="661475" y="4109442"/>
            <a:ext cx="10868745" cy="982861"/>
          </a:xfrm>
          <a:prstGeom prst="roundRect">
            <a:avLst>
              <a:gd name="adj" fmla="val 8077"/>
            </a:avLst>
          </a:prstGeom>
          <a:solidFill>
            <a:srgbClr val="F2F2F2"/>
          </a:solidFill>
          <a:ln/>
        </p:spPr>
      </p:sp>
      <p:sp>
        <p:nvSpPr>
          <p:cNvPr id="6" name="Text 4"/>
          <p:cNvSpPr/>
          <p:nvPr/>
        </p:nvSpPr>
        <p:spPr>
          <a:xfrm>
            <a:off x="888283" y="4298454"/>
            <a:ext cx="10415129"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032F62"/>
                </a:solidFill>
                <a:latin typeface="Consolas" pitchFamily="34" charset="0"/>
                <a:ea typeface="Consolas" pitchFamily="34" charset="-122"/>
                <a:cs typeface="Consolas" pitchFamily="34" charset="-120"/>
              </a:rPr>
              <a:t>Comparing files TEST-SCRIPTS\win_v1_output.txt and WIN_V2_OUTPUT.TXT</a:t>
            </a:r>
            <a:endParaRPr lang="en-US" sz="1450" dirty="0"/>
          </a:p>
          <a:p>
            <a:pPr algn="l" indent="0" marL="0">
              <a:lnSpc>
                <a:spcPct val="133000"/>
              </a:lnSpc>
              <a:buNone/>
            </a:pPr>
            <a:r>
              <a:rPr lang="en-US" sz="1450" dirty="0">
                <a:solidFill>
                  <a:srgbClr val="032F62"/>
                </a:solidFill>
                <a:latin typeface="Consolas" pitchFamily="34" charset="0"/>
                <a:ea typeface="Consolas" pitchFamily="34" charset="-122"/>
                <a:cs typeface="Consolas" pitchFamily="34" charset="-120"/>
              </a:rPr>
              <a:t>FC: no differences encountered</a:t>
            </a:r>
            <a:endParaRPr lang="en-US" sz="1450" dirty="0"/>
          </a:p>
        </p:txBody>
      </p:sp>
      <p:sp>
        <p:nvSpPr>
          <p:cNvPr id="7"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1450677"/>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Watch this: I copy the expected value</a:t>
            </a:r>
            <a:endParaRPr lang="en-US" sz="3700" dirty="0"/>
          </a:p>
        </p:txBody>
      </p:sp>
      <p:sp>
        <p:nvSpPr>
          <p:cNvPr id="3" name="Shape 1"/>
          <p:cNvSpPr/>
          <p:nvPr/>
        </p:nvSpPr>
        <p:spPr>
          <a:xfrm>
            <a:off x="661475" y="2419350"/>
            <a:ext cx="10868745" cy="1890117"/>
          </a:xfrm>
          <a:prstGeom prst="roundRect">
            <a:avLst>
              <a:gd name="adj" fmla="val 4200"/>
            </a:avLst>
          </a:prstGeom>
          <a:solidFill>
            <a:srgbClr val="F2F2F2"/>
          </a:solidFill>
          <a:ln/>
        </p:spPr>
      </p:sp>
      <p:sp>
        <p:nvSpPr>
          <p:cNvPr id="4" name="Text 2"/>
          <p:cNvSpPr/>
          <p:nvPr/>
        </p:nvSpPr>
        <p:spPr>
          <a:xfrm>
            <a:off x="888283" y="2608362"/>
            <a:ext cx="10415129" cy="151209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failures = 0</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failures = failures + check("normal order", spirit_store.order_total(20), 26)</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failures = failures + check("big order", spirit_store.order_total(50), 50)</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failures = failures + check("exactly 35", spirit_store.order_total(35), 41)</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print(f"{failures} failed")</a:t>
            </a:r>
            <a:endParaRPr lang="en-US" sz="1450" dirty="0"/>
          </a:p>
        </p:txBody>
      </p:sp>
      <p:sp>
        <p:nvSpPr>
          <p:cNvPr id="5" name="Shape 3"/>
          <p:cNvSpPr/>
          <p:nvPr/>
        </p:nvSpPr>
        <p:spPr>
          <a:xfrm>
            <a:off x="661475" y="4522093"/>
            <a:ext cx="10868745" cy="762298"/>
          </a:xfrm>
          <a:prstGeom prst="roundRect">
            <a:avLst>
              <a:gd name="adj" fmla="val 10414"/>
            </a:avLst>
          </a:prstGeom>
          <a:solidFill>
            <a:srgbClr val="FCF2B5"/>
          </a:solidFill>
          <a:ln/>
        </p:spPr>
      </p:sp>
      <p:pic>
        <p:nvPicPr>
          <p:cNvPr id="6" name="Image 0" descr="preencoded.png">    </p:cNvPr>
          <p:cNvPicPr>
            <a:picLocks noChangeAspect="1"/>
          </p:cNvPicPr>
          <p:nvPr/>
        </p:nvPicPr>
        <p:blipFill>
          <a:blip r:embed="rId1"/>
          <a:stretch>
            <a:fillRect/>
          </a:stretch>
        </p:blipFill>
        <p:spPr>
          <a:xfrm>
            <a:off x="850482" y="4789785"/>
            <a:ext cx="236234" cy="189012"/>
          </a:xfrm>
          <a:prstGeom prst="rect">
            <a:avLst/>
          </a:prstGeom>
        </p:spPr>
      </p:pic>
      <p:sp>
        <p:nvSpPr>
          <p:cNvPr id="7" name="Text 4"/>
          <p:cNvSpPr/>
          <p:nvPr/>
        </p:nvSpPr>
        <p:spPr>
          <a:xfrm>
            <a:off x="1275723" y="4758333"/>
            <a:ext cx="10675075" cy="308769"/>
          </a:xfrm>
          <a:prstGeom prst="rect">
            <a:avLst/>
          </a:prstGeom>
          <a:noFill/>
          <a:ln/>
        </p:spPr>
        <p:txBody>
          <a:bodyPr wrap="none" lIns="0" tIns="0" rIns="0" bIns="0" rtlCol="0" anchor="t"/>
          <a:lstStyle/>
          <a:p>
            <a:pPr algn="l" indent="0" marL="0">
              <a:lnSpc>
                <a:spcPct val="133000"/>
              </a:lnSpc>
              <a:buNone/>
            </a:pPr>
            <a:r>
              <a:rPr lang="en-US" sz="1450" dirty="0">
                <a:solidFill>
                  <a:srgbClr val="000000"/>
                </a:solidFill>
                <a:latin typeface="Roboto Condensed" pitchFamily="34" charset="0"/>
                <a:ea typeface="Roboto Condensed" pitchFamily="34" charset="-122"/>
                <a:cs typeface="Roboto Condensed" pitchFamily="34" charset="-120"/>
              </a:rPr>
              <a:t>The expected value </a:t>
            </a:r>
            <a:pPr algn="l" indent="0" marL="0">
              <a:lnSpc>
                <a:spcPct val="133000"/>
              </a:lnSpc>
              <a:buNone/>
            </a:pPr>
            <a:r>
              <a:rPr lang="en-US" sz="1450" dirty="0">
                <a:solidFill>
                  <a:srgbClr val="000000"/>
                </a:solidFill>
                <a:highlight>
                  <a:srgbClr val="F2F2F2"/>
                </a:highlight>
                <a:latin typeface="Consolas" pitchFamily="34" charset="0"/>
                <a:ea typeface="Consolas" pitchFamily="34" charset="-122"/>
                <a:cs typeface="Consolas" pitchFamily="34" charset="-120"/>
              </a:rPr>
              <a:t>41</a:t>
            </a:r>
            <a:pPr algn="l" indent="0" marL="0">
              <a:lnSpc>
                <a:spcPct val="133000"/>
              </a:lnSpc>
              <a:buNone/>
            </a:pPr>
            <a:r>
              <a:rPr lang="en-US" sz="1450" dirty="0">
                <a:solidFill>
                  <a:srgbClr val="000000"/>
                </a:solidFill>
                <a:latin typeface="Roboto Condensed" pitchFamily="34" charset="0"/>
                <a:ea typeface="Roboto Condensed" pitchFamily="34" charset="-122"/>
                <a:cs typeface="Roboto Condensed" pitchFamily="34" charset="-120"/>
              </a:rPr>
              <a:t> was copied from the program output -- not worked out by hand.</a:t>
            </a:r>
            <a:endParaRPr lang="en-US" sz="1450" dirty="0"/>
          </a:p>
        </p:txBody>
      </p:sp>
      <p:sp>
        <p:nvSpPr>
          <p:cNvPr id="8"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1605062"/>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wrong way: every test passes</a:t>
            </a:r>
            <a:endParaRPr lang="en-US" sz="3700" dirty="0"/>
          </a:p>
        </p:txBody>
      </p:sp>
      <p:sp>
        <p:nvSpPr>
          <p:cNvPr id="3" name="Shape 1"/>
          <p:cNvSpPr/>
          <p:nvPr/>
        </p:nvSpPr>
        <p:spPr>
          <a:xfrm>
            <a:off x="661475" y="2573734"/>
            <a:ext cx="10868745" cy="1587698"/>
          </a:xfrm>
          <a:prstGeom prst="roundRect">
            <a:avLst>
              <a:gd name="adj" fmla="val 5000"/>
            </a:avLst>
          </a:prstGeom>
          <a:solidFill>
            <a:srgbClr val="F2F2F2"/>
          </a:solidFill>
          <a:ln/>
        </p:spPr>
      </p:sp>
      <p:sp>
        <p:nvSpPr>
          <p:cNvPr id="4" name="Text 2"/>
          <p:cNvSpPr/>
          <p:nvPr/>
        </p:nvSpPr>
        <p:spPr>
          <a:xfrm>
            <a:off x="888283" y="2762746"/>
            <a:ext cx="10415129"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PASS  normal order</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PASS  big order</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PASS  exactly 35</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0 failed</a:t>
            </a:r>
            <a:endParaRPr lang="en-US" sz="1450" dirty="0"/>
          </a:p>
        </p:txBody>
      </p:sp>
      <p:sp>
        <p:nvSpPr>
          <p:cNvPr id="5" name="Shape 3"/>
          <p:cNvSpPr/>
          <p:nvPr/>
        </p:nvSpPr>
        <p:spPr>
          <a:xfrm>
            <a:off x="661475" y="4374059"/>
            <a:ext cx="10868745" cy="755948"/>
          </a:xfrm>
          <a:prstGeom prst="roundRect">
            <a:avLst>
              <a:gd name="adj" fmla="val 10502"/>
            </a:avLst>
          </a:prstGeom>
          <a:solidFill>
            <a:srgbClr val="FFB3B4"/>
          </a:solidFill>
          <a:ln/>
        </p:spPr>
      </p:sp>
      <p:pic>
        <p:nvPicPr>
          <p:cNvPr id="6" name="Image 0" descr="preencoded.png">    </p:cNvPr>
          <p:cNvPicPr>
            <a:picLocks noChangeAspect="1"/>
          </p:cNvPicPr>
          <p:nvPr/>
        </p:nvPicPr>
        <p:blipFill>
          <a:blip r:embed="rId1"/>
          <a:stretch>
            <a:fillRect/>
          </a:stretch>
        </p:blipFill>
        <p:spPr>
          <a:xfrm>
            <a:off x="850482" y="4641751"/>
            <a:ext cx="236234" cy="189012"/>
          </a:xfrm>
          <a:prstGeom prst="rect">
            <a:avLst/>
          </a:prstGeom>
        </p:spPr>
      </p:pic>
      <p:sp>
        <p:nvSpPr>
          <p:cNvPr id="7" name="Text 4"/>
          <p:cNvSpPr/>
          <p:nvPr/>
        </p:nvSpPr>
        <p:spPr>
          <a:xfrm>
            <a:off x="1275723" y="4610298"/>
            <a:ext cx="10675075" cy="302419"/>
          </a:xfrm>
          <a:prstGeom prst="rect">
            <a:avLst/>
          </a:prstGeom>
          <a:noFill/>
          <a:ln/>
        </p:spPr>
        <p:txBody>
          <a:bodyPr wrap="none" lIns="0" tIns="0" rIns="0" bIns="0" rtlCol="0" anchor="t"/>
          <a:lstStyle/>
          <a:p>
            <a:pPr algn="l" indent="0" marL="0">
              <a:lnSpc>
                <a:spcPct val="133000"/>
              </a:lnSpc>
              <a:buNone/>
            </a:pPr>
            <a:r>
              <a:rPr lang="en-US" sz="1450" dirty="0">
                <a:solidFill>
                  <a:srgbClr val="000000"/>
                </a:solidFill>
                <a:latin typeface="Roboto Condensed" pitchFamily="34" charset="0"/>
                <a:ea typeface="Roboto Condensed" pitchFamily="34" charset="-122"/>
                <a:cs typeface="Roboto Condensed" pitchFamily="34" charset="-120"/>
              </a:rPr>
              <a:t>Zero failures does not mean zero bugs. The expected value was wrong, so the bug hid.</a:t>
            </a:r>
            <a:endParaRPr lang="en-US" sz="1450" dirty="0"/>
          </a:p>
        </p:txBody>
      </p:sp>
      <p:sp>
        <p:nvSpPr>
          <p:cNvPr id="8"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61475" y="735608"/>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assert, the shortest test</a:t>
            </a:r>
            <a:endParaRPr lang="en-US" sz="3700" dirty="0"/>
          </a:p>
        </p:txBody>
      </p:sp>
      <p:sp>
        <p:nvSpPr>
          <p:cNvPr id="3" name="Shape 1"/>
          <p:cNvSpPr/>
          <p:nvPr/>
        </p:nvSpPr>
        <p:spPr>
          <a:xfrm>
            <a:off x="661475" y="1704280"/>
            <a:ext cx="10868745" cy="2192536"/>
          </a:xfrm>
          <a:prstGeom prst="roundRect">
            <a:avLst>
              <a:gd name="adj" fmla="val 3621"/>
            </a:avLst>
          </a:prstGeom>
          <a:solidFill>
            <a:srgbClr val="F2F2F2"/>
          </a:solidFill>
          <a:ln/>
        </p:spPr>
      </p:sp>
      <p:sp>
        <p:nvSpPr>
          <p:cNvPr id="4" name="Text 2"/>
          <p:cNvSpPr/>
          <p:nvPr/>
        </p:nvSpPr>
        <p:spPr>
          <a:xfrm>
            <a:off x="888283" y="1893292"/>
            <a:ext cx="10415129" cy="1814513"/>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import spirit_store</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assert spirit_store.order_total(20) == 26</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assert spirit_store.order_total(35) == 35</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assert spirit_store.order_total(36) == 36</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print("All asserts passed")</a:t>
            </a:r>
            <a:endParaRPr lang="en-US" sz="1450" dirty="0"/>
          </a:p>
        </p:txBody>
      </p:sp>
      <p:sp>
        <p:nvSpPr>
          <p:cNvPr id="5" name="Shape 3"/>
          <p:cNvSpPr/>
          <p:nvPr/>
        </p:nvSpPr>
        <p:spPr>
          <a:xfrm>
            <a:off x="661475" y="4109442"/>
            <a:ext cx="10868745" cy="1890117"/>
          </a:xfrm>
          <a:prstGeom prst="roundRect">
            <a:avLst>
              <a:gd name="adj" fmla="val 4200"/>
            </a:avLst>
          </a:prstGeom>
          <a:solidFill>
            <a:srgbClr val="F2F2F2"/>
          </a:solidFill>
          <a:ln/>
        </p:spPr>
      </p:sp>
      <p:sp>
        <p:nvSpPr>
          <p:cNvPr id="6" name="Text 4"/>
          <p:cNvSpPr/>
          <p:nvPr/>
        </p:nvSpPr>
        <p:spPr>
          <a:xfrm>
            <a:off x="888283" y="4298454"/>
            <a:ext cx="10415129" cy="151209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Traceback (most recent call last):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File "...", line 4, in &lt;module&gt;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assert spirit_store.order_total(35) == 35</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AssertionError</a:t>
            </a:r>
            <a:endParaRPr lang="en-US" sz="1450" dirty="0"/>
          </a:p>
        </p:txBody>
      </p:sp>
      <p:sp>
        <p:nvSpPr>
          <p:cNvPr id="7"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61475" y="1494830"/>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3" name="Text 1"/>
          <p:cNvSpPr/>
          <p:nvPr/>
        </p:nvSpPr>
        <p:spPr>
          <a:xfrm>
            <a:off x="661475" y="2463502"/>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01</a:t>
            </a:r>
            <a:endParaRPr lang="en-US" sz="1450" dirty="0"/>
          </a:p>
        </p:txBody>
      </p:sp>
      <p:sp>
        <p:nvSpPr>
          <p:cNvPr id="4" name="Shape 2"/>
          <p:cNvSpPr/>
          <p:nvPr/>
        </p:nvSpPr>
        <p:spPr>
          <a:xfrm>
            <a:off x="661475" y="2759373"/>
            <a:ext cx="3496877" cy="25400"/>
          </a:xfrm>
          <a:prstGeom prst="rect">
            <a:avLst/>
          </a:prstGeom>
          <a:solidFill>
            <a:srgbClr val="57A1EB"/>
          </a:solidFill>
          <a:ln/>
        </p:spPr>
      </p:sp>
      <p:sp>
        <p:nvSpPr>
          <p:cNvPr id="5" name="Text 3"/>
          <p:cNvSpPr/>
          <p:nvPr/>
        </p:nvSpPr>
        <p:spPr>
          <a:xfrm>
            <a:off x="661475" y="2904629"/>
            <a:ext cx="349687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Build 1</a:t>
            </a:r>
            <a:endParaRPr lang="en-US" sz="1850" dirty="0"/>
          </a:p>
        </p:txBody>
      </p:sp>
      <p:sp>
        <p:nvSpPr>
          <p:cNvPr id="6" name="Text 4"/>
          <p:cNvSpPr/>
          <p:nvPr/>
        </p:nvSpPr>
        <p:spPr>
          <a:xfrm>
            <a:off x="661475" y="3313311"/>
            <a:ext cx="349687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the GP1 exam</a:t>
            </a:r>
            <a:endParaRPr lang="en-US" sz="1450" dirty="0"/>
          </a:p>
        </p:txBody>
      </p:sp>
      <p:sp>
        <p:nvSpPr>
          <p:cNvPr id="7" name="Text 5"/>
          <p:cNvSpPr/>
          <p:nvPr/>
        </p:nvSpPr>
        <p:spPr>
          <a:xfrm>
            <a:off x="4347359" y="2463502"/>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02</a:t>
            </a:r>
            <a:endParaRPr lang="en-US" sz="1450" dirty="0"/>
          </a:p>
        </p:txBody>
      </p:sp>
      <p:sp>
        <p:nvSpPr>
          <p:cNvPr id="8" name="Shape 6"/>
          <p:cNvSpPr/>
          <p:nvPr/>
        </p:nvSpPr>
        <p:spPr>
          <a:xfrm>
            <a:off x="4347359" y="2759373"/>
            <a:ext cx="3496877" cy="25400"/>
          </a:xfrm>
          <a:prstGeom prst="rect">
            <a:avLst/>
          </a:prstGeom>
          <a:solidFill>
            <a:srgbClr val="57A1EB"/>
          </a:solidFill>
          <a:ln/>
        </p:spPr>
      </p:sp>
      <p:sp>
        <p:nvSpPr>
          <p:cNvPr id="9" name="Text 7"/>
          <p:cNvSpPr/>
          <p:nvPr/>
        </p:nvSpPr>
        <p:spPr>
          <a:xfrm>
            <a:off x="4347359" y="2904629"/>
            <a:ext cx="349687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Build 2, first</a:t>
            </a:r>
            <a:endParaRPr lang="en-US" sz="1850" dirty="0"/>
          </a:p>
        </p:txBody>
      </p:sp>
      <p:sp>
        <p:nvSpPr>
          <p:cNvPr id="10" name="Text 8"/>
          <p:cNvSpPr/>
          <p:nvPr/>
        </p:nvSpPr>
        <p:spPr>
          <a:xfrm>
            <a:off x="4347359" y="3313311"/>
            <a:ext cx="349687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a test case table for your v2</a:t>
            </a:r>
            <a:endParaRPr lang="en-US" sz="1450" dirty="0"/>
          </a:p>
        </p:txBody>
      </p:sp>
      <p:sp>
        <p:nvSpPr>
          <p:cNvPr id="11" name="Text 9"/>
          <p:cNvSpPr/>
          <p:nvPr/>
        </p:nvSpPr>
        <p:spPr>
          <a:xfrm>
            <a:off x="8033244" y="2463502"/>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03</a:t>
            </a:r>
            <a:endParaRPr lang="en-US" sz="1450" dirty="0"/>
          </a:p>
        </p:txBody>
      </p:sp>
      <p:sp>
        <p:nvSpPr>
          <p:cNvPr id="12" name="Shape 10"/>
          <p:cNvSpPr/>
          <p:nvPr/>
        </p:nvSpPr>
        <p:spPr>
          <a:xfrm>
            <a:off x="8033244" y="2759373"/>
            <a:ext cx="3496877" cy="25400"/>
          </a:xfrm>
          <a:prstGeom prst="rect">
            <a:avLst/>
          </a:prstGeom>
          <a:solidFill>
            <a:srgbClr val="57A1EB"/>
          </a:solidFill>
          <a:ln/>
        </p:spPr>
      </p:sp>
      <p:sp>
        <p:nvSpPr>
          <p:cNvPr id="13" name="Text 11"/>
          <p:cNvSpPr/>
          <p:nvPr/>
        </p:nvSpPr>
        <p:spPr>
          <a:xfrm>
            <a:off x="8033244" y="2904629"/>
            <a:ext cx="349687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At least eight cases</a:t>
            </a:r>
            <a:endParaRPr lang="en-US" sz="1850" dirty="0"/>
          </a:p>
        </p:txBody>
      </p:sp>
      <p:sp>
        <p:nvSpPr>
          <p:cNvPr id="14" name="Text 12"/>
          <p:cNvSpPr/>
          <p:nvPr/>
        </p:nvSpPr>
        <p:spPr>
          <a:xfrm>
            <a:off x="8033244" y="3313311"/>
            <a:ext cx="349687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normal, boundary, invalid, a fixed bug</a:t>
            </a:r>
            <a:endParaRPr lang="en-US" sz="1450" dirty="0"/>
          </a:p>
        </p:txBody>
      </p:sp>
      <p:sp>
        <p:nvSpPr>
          <p:cNvPr id="15" name="Text 13"/>
          <p:cNvSpPr/>
          <p:nvPr/>
        </p:nvSpPr>
        <p:spPr>
          <a:xfrm>
            <a:off x="661475" y="3946426"/>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04</a:t>
            </a:r>
            <a:endParaRPr lang="en-US" sz="1450" dirty="0"/>
          </a:p>
        </p:txBody>
      </p:sp>
      <p:sp>
        <p:nvSpPr>
          <p:cNvPr id="16" name="Shape 14"/>
          <p:cNvSpPr/>
          <p:nvPr/>
        </p:nvSpPr>
        <p:spPr>
          <a:xfrm>
            <a:off x="661475" y="4242296"/>
            <a:ext cx="5339820" cy="25400"/>
          </a:xfrm>
          <a:prstGeom prst="rect">
            <a:avLst/>
          </a:prstGeom>
          <a:solidFill>
            <a:srgbClr val="57A1EB"/>
          </a:solidFill>
          <a:ln/>
        </p:spPr>
      </p:sp>
      <p:sp>
        <p:nvSpPr>
          <p:cNvPr id="17" name="Text 15"/>
          <p:cNvSpPr/>
          <p:nvPr/>
        </p:nvSpPr>
        <p:spPr>
          <a:xfrm>
            <a:off x="661475" y="4387552"/>
            <a:ext cx="533982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test_adventure.py with check</a:t>
            </a:r>
            <a:endParaRPr lang="en-US" sz="1850" dirty="0"/>
          </a:p>
        </p:txBody>
      </p:sp>
      <p:sp>
        <p:nvSpPr>
          <p:cNvPr id="18" name="Text 16"/>
          <p:cNvSpPr/>
          <p:nvPr/>
        </p:nvSpPr>
        <p:spPr>
          <a:xfrm>
            <a:off x="661475" y="4796234"/>
            <a:ext cx="5339820"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Run it</a:t>
            </a:r>
            <a:endParaRPr lang="en-US" sz="1450" dirty="0"/>
          </a:p>
        </p:txBody>
      </p:sp>
      <p:sp>
        <p:nvSpPr>
          <p:cNvPr id="19" name="Text 17"/>
          <p:cNvSpPr/>
          <p:nvPr/>
        </p:nvSpPr>
        <p:spPr>
          <a:xfrm>
            <a:off x="6190301" y="3946426"/>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05</a:t>
            </a:r>
            <a:endParaRPr lang="en-US" sz="1450" dirty="0"/>
          </a:p>
        </p:txBody>
      </p:sp>
      <p:sp>
        <p:nvSpPr>
          <p:cNvPr id="20" name="Shape 18"/>
          <p:cNvSpPr/>
          <p:nvPr/>
        </p:nvSpPr>
        <p:spPr>
          <a:xfrm>
            <a:off x="6190301" y="4242296"/>
            <a:ext cx="5339820" cy="25400"/>
          </a:xfrm>
          <a:prstGeom prst="rect">
            <a:avLst/>
          </a:prstGeom>
          <a:solidFill>
            <a:srgbClr val="57A1EB"/>
          </a:solidFill>
          <a:ln/>
        </p:spPr>
      </p:sp>
      <p:sp>
        <p:nvSpPr>
          <p:cNvPr id="21" name="Text 19"/>
          <p:cNvSpPr/>
          <p:nvPr/>
        </p:nvSpPr>
        <p:spPr>
          <a:xfrm>
            <a:off x="6190301" y="4387552"/>
            <a:ext cx="533982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Compare every v1 script with fc</a:t>
            </a:r>
            <a:endParaRPr lang="en-US" sz="1850" dirty="0"/>
          </a:p>
        </p:txBody>
      </p:sp>
      <p:sp>
        <p:nvSpPr>
          <p:cNvPr id="22" name="Text 20"/>
          <p:cNvSpPr/>
          <p:nvPr/>
        </p:nvSpPr>
        <p:spPr>
          <a:xfrm>
            <a:off x="6190301" y="4796234"/>
            <a:ext cx="5339820"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v2 due Friday 8:30</a:t>
            </a:r>
            <a:endParaRPr lang="en-US" sz="1450" dirty="0"/>
          </a:p>
        </p:txBody>
      </p:sp>
      <p:sp>
        <p:nvSpPr>
          <p:cNvPr id="23" name="Text 21"/>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2026-09-15T12:30:00Z</dcterms:created>
  <dcterms:modified xsi:type="dcterms:W3CDTF">2026-09-15T12:30:00Z</dcterms:modified>
</cp:coreProperties>
</file>