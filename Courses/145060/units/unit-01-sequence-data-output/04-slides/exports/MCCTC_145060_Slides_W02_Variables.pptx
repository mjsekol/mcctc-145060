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Orbitron Black"/>
      <p:regular r:id="rId201316"/>
    </p:embeddedFont>
    <p:embeddedFont>
      <p:font typeface="Roboto Condensed Black"/>
      <p:regular r:id="rId201317"/>
    </p:embeddedFont>
    <p:embeddedFont>
      <p:font typeface="Roboto Condensed Bold"/>
      <p:regular r:id="rId201318"/>
    </p:embeddedFont>
    <p:embeddedFont>
      <p:font typeface="Roboto Condense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what you built last week. It prints the same five lines every single time it runs. If the meeting moves, you open the file and retype it. Nobody else can use it, because using it means editing it. That is a poster with extra steps. Today it becomes a program, and the thing that makes the difference has one job: letting you refer to a value instead of typing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are taught that a variable is a box that holds a value. Do not learn it that way, because it breaks in Unit 5 and you will have to unlearn it. A value sits somewhere, and a name is a tag tied to it. And from today, when you read an equals sign out loud, say gets. Hours gets twelve. That one word choice prevents more confusion than anything else I will tell you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is two steps and it never varies. Work out everything on the right side first. Then attach the name on the left to that result. Right side, then name. In algebra, equals is a claim that reads both directions and is either true or false. Here it is an instruction that goes one way and happens once, at the moment Python reaches that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algebra this is false for every number there is. In Python it is an instruction. Take whatever count is currently tied to, add one, and tie count to the new result. Read it with the word gets and it stops being strange. Count gets count plus one. You will write this line hundreds of times before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your answer down before I press enter. Everybody commit to a number. I am going to take three answers out loud and then we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you said thirty and the reason is a good one. You have used a spreadsheet. In a spreadsheet a cell with a formula in it recalculates when its inputs change. That is a genuinely useful feature and Python does not have it. A line runs once, when it is reached, and then it is finished. If you want the new number, you run the calculation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mistake you will make this week. Read the message the way we practiced last week. What file, what line, what is under the carets. Then notice the last part. Python offered you the fix. It compared the name it could not find against names that do exist and picked the closest one. That is spelling, not understanding, so trust it enough to look and not enough to paste.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get a NameError and they need different fixes. If the name is misspelled, Python finds a near match and suggests it. If the name is spelled perfectly but you used it above the line that creates it, there is nothing to suggest, because the name it is looking for is the name it cannot find. So when you see this error, ask two questions in order. Is it spelled the same everywhere. Is the line that creates it above the line that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will accept x as a name. This course will not give you full marks for it. Readability is one of the five dimensions on every rubric in this program, and naming is most of it at this stage. The convention we use is lowercase words joined with underscores. Write the name for the person who opens this file in three weeks with no memory of what you were doing, because that person is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first: pick something you genuinely want the answer to. Hours until a deadline, cost per person for something you are planning, points you need on the final. At least four named values and two calculations built from them. The bar is that I point at any number in your output and you point at the line that made it. Then you start the lab, which is Part 1 only. Part 2 needs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2.png"/><Relationship Id="rId7" Type="http://schemas.openxmlformats.org/officeDocument/2006/relationships/image" Target="../media/image-10-3.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Name Tied to a Value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27063"/>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program you wrote says the same thing forever</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688332"/>
            <a:ext cx="283461" cy="283468"/>
          </a:xfrm>
          <a:prstGeom prst="rect">
            <a:avLst/>
          </a:prstGeom>
        </p:spPr>
      </p:pic>
      <p:sp>
        <p:nvSpPr>
          <p:cNvPr id="5" name="Text 1"/>
          <p:cNvSpPr/>
          <p:nvPr/>
        </p:nvSpPr>
        <p:spPr>
          <a:xfrm>
            <a:off x="1275723" y="268247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event card prints one event</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639245"/>
            <a:ext cx="283461" cy="283468"/>
          </a:xfrm>
          <a:prstGeom prst="rect">
            <a:avLst/>
          </a:prstGeom>
        </p:spPr>
      </p:pic>
      <p:sp>
        <p:nvSpPr>
          <p:cNvPr id="7" name="Text 2"/>
          <p:cNvSpPr/>
          <p:nvPr/>
        </p:nvSpPr>
        <p:spPr>
          <a:xfrm>
            <a:off x="1275723" y="363339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Change the time and you edit the code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590157"/>
            <a:ext cx="283461" cy="283468"/>
          </a:xfrm>
          <a:prstGeom prst="rect">
            <a:avLst/>
          </a:prstGeom>
        </p:spPr>
      </p:pic>
      <p:sp>
        <p:nvSpPr>
          <p:cNvPr id="9" name="Text 3"/>
          <p:cNvSpPr/>
          <p:nvPr/>
        </p:nvSpPr>
        <p:spPr>
          <a:xfrm>
            <a:off x="1275723" y="458430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Only you can do that</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541070"/>
            <a:ext cx="283461" cy="283468"/>
          </a:xfrm>
          <a:prstGeom prst="rect">
            <a:avLst/>
          </a:prstGeom>
        </p:spPr>
      </p:pic>
      <p:sp>
        <p:nvSpPr>
          <p:cNvPr id="11" name="Text 4"/>
          <p:cNvSpPr/>
          <p:nvPr/>
        </p:nvSpPr>
        <p:spPr>
          <a:xfrm>
            <a:off x="1275723" y="553521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is a poster, not a program</a:t>
            </a:r>
            <a:endParaRPr lang="en-US" sz="1850" dirty="0"/>
          </a:p>
        </p:txBody>
      </p:sp>
      <p:sp>
        <p:nvSpPr>
          <p:cNvPr id="12" name="Text 5"/>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19876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tag, not a box</a:t>
            </a:r>
            <a:endParaRPr lang="en-US" sz="3700" dirty="0"/>
          </a:p>
        </p:txBody>
      </p:sp>
      <p:sp>
        <p:nvSpPr>
          <p:cNvPr id="4" name="Shape 1"/>
          <p:cNvSpPr/>
          <p:nvPr/>
        </p:nvSpPr>
        <p:spPr>
          <a:xfrm>
            <a:off x="661475" y="2072878"/>
            <a:ext cx="6296860" cy="724098"/>
          </a:xfrm>
          <a:prstGeom prst="roundRect">
            <a:avLst>
              <a:gd name="adj" fmla="val 10964"/>
            </a:avLst>
          </a:prstGeom>
          <a:solidFill>
            <a:srgbClr val="FFFFFF"/>
          </a:solidFill>
          <a:ln w="25399">
            <a:solidFill>
              <a:srgbClr val="B7CBE0"/>
            </a:solidFill>
            <a:prstDash val="solid"/>
          </a:ln>
        </p:spPr>
      </p:sp>
      <p:sp>
        <p:nvSpPr>
          <p:cNvPr id="5" name="Text 2"/>
          <p:cNvSpPr/>
          <p:nvPr/>
        </p:nvSpPr>
        <p:spPr>
          <a:xfrm>
            <a:off x="875881" y="2287290"/>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value sits somewhere in memory</a:t>
            </a:r>
            <a:endParaRPr lang="en-US" sz="1850" dirty="0"/>
          </a:p>
        </p:txBody>
      </p:sp>
      <p:sp>
        <p:nvSpPr>
          <p:cNvPr id="6" name="Shape 3"/>
          <p:cNvSpPr/>
          <p:nvPr/>
        </p:nvSpPr>
        <p:spPr>
          <a:xfrm>
            <a:off x="661475" y="2985988"/>
            <a:ext cx="6296860" cy="724098"/>
          </a:xfrm>
          <a:prstGeom prst="roundRect">
            <a:avLst>
              <a:gd name="adj" fmla="val 10964"/>
            </a:avLst>
          </a:prstGeom>
          <a:solidFill>
            <a:srgbClr val="FFFFFF"/>
          </a:solidFill>
          <a:ln w="25399">
            <a:solidFill>
              <a:srgbClr val="B7CBE0"/>
            </a:solidFill>
            <a:prstDash val="solid"/>
          </a:ln>
        </p:spPr>
      </p:sp>
      <p:sp>
        <p:nvSpPr>
          <p:cNvPr id="7" name="Text 4"/>
          <p:cNvSpPr/>
          <p:nvPr/>
        </p:nvSpPr>
        <p:spPr>
          <a:xfrm>
            <a:off x="875881" y="3200400"/>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name is a tag tied to it</a:t>
            </a:r>
            <a:endParaRPr lang="en-US" sz="1850" dirty="0"/>
          </a:p>
        </p:txBody>
      </p:sp>
      <p:sp>
        <p:nvSpPr>
          <p:cNvPr id="8" name="Shape 5"/>
          <p:cNvSpPr/>
          <p:nvPr/>
        </p:nvSpPr>
        <p:spPr>
          <a:xfrm>
            <a:off x="661475" y="3899098"/>
            <a:ext cx="6296860" cy="724098"/>
          </a:xfrm>
          <a:prstGeom prst="roundRect">
            <a:avLst>
              <a:gd name="adj" fmla="val 10964"/>
            </a:avLst>
          </a:prstGeom>
          <a:solidFill>
            <a:srgbClr val="FFFFFF"/>
          </a:solidFill>
          <a:ln w="25399">
            <a:solidFill>
              <a:srgbClr val="B7CBE0"/>
            </a:solidFill>
            <a:prstDash val="solid"/>
          </a:ln>
        </p:spPr>
      </p:sp>
      <p:sp>
        <p:nvSpPr>
          <p:cNvPr id="9" name="Text 6"/>
          <p:cNvSpPr/>
          <p:nvPr/>
        </p:nvSpPr>
        <p:spPr>
          <a:xfrm>
            <a:off x="875881" y="4113510"/>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Equals ties the tag</a:t>
            </a:r>
            <a:endParaRPr lang="en-US" sz="1850" dirty="0"/>
          </a:p>
        </p:txBody>
      </p:sp>
      <p:sp>
        <p:nvSpPr>
          <p:cNvPr id="10" name="Shape 7"/>
          <p:cNvSpPr/>
          <p:nvPr/>
        </p:nvSpPr>
        <p:spPr>
          <a:xfrm>
            <a:off x="661475" y="4812209"/>
            <a:ext cx="6296860" cy="724098"/>
          </a:xfrm>
          <a:prstGeom prst="roundRect">
            <a:avLst>
              <a:gd name="adj" fmla="val 10964"/>
            </a:avLst>
          </a:prstGeom>
          <a:solidFill>
            <a:srgbClr val="FFFFFF"/>
          </a:solidFill>
          <a:ln w="25399">
            <a:solidFill>
              <a:srgbClr val="B7CBE0"/>
            </a:solidFill>
            <a:prstDash val="solid"/>
          </a:ln>
        </p:spPr>
      </p:sp>
      <p:sp>
        <p:nvSpPr>
          <p:cNvPr id="11" name="Text 8"/>
          <p:cNvSpPr/>
          <p:nvPr/>
        </p:nvSpPr>
        <p:spPr>
          <a:xfrm>
            <a:off x="875881" y="5026620"/>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Say "gets", never "equals"</a:t>
            </a:r>
            <a:endParaRPr lang="en-US" sz="1850" dirty="0"/>
          </a:p>
        </p:txBody>
      </p:sp>
      <p:sp>
        <p:nvSpPr>
          <p:cNvPr id="12" name="Text 9"/>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direction, one time</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hours_worked =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pay_rate = 11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total_pay = hours_worked * pay_rate</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9493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line that stops everyone</a:t>
            </a:r>
            <a:endParaRPr lang="en-US" sz="3700" dirty="0"/>
          </a:p>
        </p:txBody>
      </p:sp>
      <p:sp>
        <p:nvSpPr>
          <p:cNvPr id="4" name="Shape 1"/>
          <p:cNvSpPr/>
          <p:nvPr/>
        </p:nvSpPr>
        <p:spPr>
          <a:xfrm>
            <a:off x="661475" y="3759696"/>
            <a:ext cx="6296860" cy="680442"/>
          </a:xfrm>
          <a:prstGeom prst="roundRect">
            <a:avLst>
              <a:gd name="adj" fmla="val 11667"/>
            </a:avLst>
          </a:prstGeom>
          <a:solidFill>
            <a:srgbClr val="F2F2F2"/>
          </a:solidFill>
          <a:ln/>
        </p:spPr>
      </p:sp>
      <p:sp>
        <p:nvSpPr>
          <p:cNvPr id="5" name="Text 2"/>
          <p:cNvSpPr/>
          <p:nvPr/>
        </p:nvSpPr>
        <p:spPr>
          <a:xfrm>
            <a:off x="888283" y="3948708"/>
            <a:ext cx="6452828"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count = count + 1</a:t>
            </a:r>
            <a:endParaRPr lang="en-US" sz="1450" dirty="0"/>
          </a:p>
        </p:txBody>
      </p:sp>
      <p:sp>
        <p:nvSpPr>
          <p:cNvPr id="6"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Predict this before I run it</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shifts =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hours_each = 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total_hours = shifts * hours_each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shifts = 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print("Total hours:", total_hours)</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8279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Fifteen, not thirty</a:t>
            </a:r>
            <a:endParaRPr lang="en-US" sz="3700" dirty="0"/>
          </a:p>
        </p:txBody>
      </p:sp>
      <p:sp>
        <p:nvSpPr>
          <p:cNvPr id="4" name="Shape 1"/>
          <p:cNvSpPr/>
          <p:nvPr/>
        </p:nvSpPr>
        <p:spPr>
          <a:xfrm>
            <a:off x="5233360" y="2156916"/>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22180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Line three ran once, when Python reached it</a:t>
            </a:r>
            <a:endParaRPr lang="en-US" sz="1850" dirty="0"/>
          </a:p>
        </p:txBody>
      </p:sp>
      <p:sp>
        <p:nvSpPr>
          <p:cNvPr id="6" name="Shape 3"/>
          <p:cNvSpPr/>
          <p:nvPr/>
        </p:nvSpPr>
        <p:spPr>
          <a:xfrm>
            <a:off x="5233360" y="3190379"/>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25526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used the values that existed at that moment</a:t>
            </a:r>
            <a:endParaRPr lang="en-US" sz="1850" dirty="0"/>
          </a:p>
        </p:txBody>
      </p:sp>
      <p:sp>
        <p:nvSpPr>
          <p:cNvPr id="8" name="Shape 5"/>
          <p:cNvSpPr/>
          <p:nvPr/>
        </p:nvSpPr>
        <p:spPr>
          <a:xfrm>
            <a:off x="5233360" y="4223841"/>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288730"/>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Changing shifts later changes nothing</a:t>
            </a:r>
            <a:endParaRPr lang="en-US" sz="1850" dirty="0"/>
          </a:p>
        </p:txBody>
      </p:sp>
      <p:sp>
        <p:nvSpPr>
          <p:cNvPr id="10" name="Shape 7"/>
          <p:cNvSpPr/>
          <p:nvPr/>
        </p:nvSpPr>
        <p:spPr>
          <a:xfrm>
            <a:off x="5233360" y="5027116"/>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092005"/>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is watching anything</a:t>
            </a:r>
            <a:endParaRPr lang="en-US" sz="1850" dirty="0"/>
          </a:p>
        </p:txBody>
      </p:sp>
      <p:sp>
        <p:nvSpPr>
          <p:cNvPr id="12" name="Text 9"/>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452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 break it on purpose</a:t>
            </a:r>
            <a:endParaRPr lang="en-US" sz="3700" dirty="0"/>
          </a:p>
        </p:txBody>
      </p:sp>
      <p:sp>
        <p:nvSpPr>
          <p:cNvPr id="3" name="Shape 1"/>
          <p:cNvSpPr/>
          <p:nvPr/>
        </p:nvSpPr>
        <p:spPr>
          <a:xfrm>
            <a:off x="661475" y="2913955"/>
            <a:ext cx="10868745" cy="982861"/>
          </a:xfrm>
          <a:prstGeom prst="roundRect">
            <a:avLst>
              <a:gd name="adj" fmla="val 8077"/>
            </a:avLst>
          </a:prstGeom>
          <a:solidFill>
            <a:srgbClr val="F2F2F2"/>
          </a:solidFill>
          <a:ln/>
        </p:spPr>
      </p:sp>
      <p:sp>
        <p:nvSpPr>
          <p:cNvPr id="4" name="Text 2"/>
          <p:cNvSpPr/>
          <p:nvPr/>
        </p:nvSpPr>
        <p:spPr>
          <a:xfrm>
            <a:off x="888283" y="3102967"/>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hours_worked =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print("Hours:", hours_wroked)</a:t>
            </a:r>
            <a:endParaRPr lang="en-US" sz="1450" dirty="0"/>
          </a:p>
        </p:txBody>
      </p:sp>
      <p:sp>
        <p:nvSpPr>
          <p:cNvPr id="5" name="Shape 3"/>
          <p:cNvSpPr/>
          <p:nvPr/>
        </p:nvSpPr>
        <p:spPr>
          <a:xfrm>
            <a:off x="661475" y="4109442"/>
            <a:ext cx="10868745" cy="680442"/>
          </a:xfrm>
          <a:prstGeom prst="roundRect">
            <a:avLst>
              <a:gd name="adj" fmla="val 11667"/>
            </a:avLst>
          </a:prstGeom>
          <a:solidFill>
            <a:srgbClr val="F2F2F2"/>
          </a:solidFill>
          <a:ln/>
        </p:spPr>
      </p:sp>
      <p:sp>
        <p:nvSpPr>
          <p:cNvPr id="6" name="Text 4"/>
          <p:cNvSpPr/>
          <p:nvPr/>
        </p:nvSpPr>
        <p:spPr>
          <a:xfrm>
            <a:off x="888283" y="4298454"/>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NameError: name 'hours_wroked' is not defined. Did you mean: 'hours_worked'?</a:t>
            </a:r>
            <a:endParaRPr lang="en-US" sz="1450" dirty="0"/>
          </a:p>
        </p:txBody>
      </p:sp>
      <p:sp>
        <p:nvSpPr>
          <p:cNvPr id="7" name="Text 5"/>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2186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Same error, opposite problem</a:t>
            </a:r>
            <a:endParaRPr lang="en-US" sz="3700" dirty="0"/>
          </a:p>
        </p:txBody>
      </p:sp>
      <p:sp>
        <p:nvSpPr>
          <p:cNvPr id="4" name="Shape 1"/>
          <p:cNvSpPr/>
          <p:nvPr/>
        </p:nvSpPr>
        <p:spPr>
          <a:xfrm>
            <a:off x="5233360" y="2586633"/>
            <a:ext cx="6296860" cy="3026569"/>
          </a:xfrm>
          <a:prstGeom prst="roundRect">
            <a:avLst>
              <a:gd name="adj" fmla="val 2623"/>
            </a:avLst>
          </a:prstGeom>
          <a:solidFill>
            <a:srgbClr val="D1E5FA"/>
          </a:solidFill>
          <a:ln w="19050">
            <a:solidFill>
              <a:srgbClr val="B7CBE0"/>
            </a:solidFill>
            <a:prstDash val="solid"/>
          </a:ln>
        </p:spPr>
      </p:sp>
      <p:sp>
        <p:nvSpPr>
          <p:cNvPr id="5" name="Shape 2"/>
          <p:cNvSpPr/>
          <p:nvPr/>
        </p:nvSpPr>
        <p:spPr>
          <a:xfrm>
            <a:off x="5252410" y="2605683"/>
            <a:ext cx="6258761" cy="673298"/>
          </a:xfrm>
          <a:custGeom>
            <a:avLst/>
            <a:gdLst/>
            <a:ahLst/>
            <a:cxnLst/>
            <a:rect l="l" t="t" r="r" b="b"/>
            <a:pathLst>
              <a:path w="6258761" h="673298">
                <a:moveTo>
                  <a:pt x="66156" y="0"/>
                </a:moveTo>
                <a:lnTo>
                  <a:pt x="6192604" y="0"/>
                </a:lnTo>
                <a:arcTo hR="66158" wR="66156" stAng="16200000" swAng="5400000"/>
                <a:lnTo>
                  <a:pt x="6258761" y="673298"/>
                </a:lnTo>
                <a:lnTo>
                  <a:pt x="0" y="673298"/>
                </a:lnTo>
                <a:lnTo>
                  <a:pt x="0" y="66158"/>
                </a:lnTo>
                <a:arcTo hR="66158" wR="66156" stAng="10800000" swAng="5400000"/>
                <a:close/>
              </a:path>
            </a:pathLst>
          </a:custGeom>
          <a:solidFill>
            <a:srgbClr val="D1E5FA"/>
          </a:solidFill>
          <a:ln/>
        </p:spPr>
      </p:sp>
      <p:sp>
        <p:nvSpPr>
          <p:cNvPr id="6" name="Text 3"/>
          <p:cNvSpPr/>
          <p:nvPr/>
        </p:nvSpPr>
        <p:spPr>
          <a:xfrm>
            <a:off x="5441417" y="279469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Spelled wrong: you get a suggestion</a:t>
            </a:r>
            <a:endParaRPr lang="en-US" sz="1850" dirty="0"/>
          </a:p>
        </p:txBody>
      </p:sp>
      <p:sp>
        <p:nvSpPr>
          <p:cNvPr id="7" name="Shape 4"/>
          <p:cNvSpPr/>
          <p:nvPr/>
        </p:nvSpPr>
        <p:spPr>
          <a:xfrm>
            <a:off x="5252410" y="3278981"/>
            <a:ext cx="6258761" cy="673298"/>
          </a:xfrm>
          <a:prstGeom prst="rect">
            <a:avLst/>
          </a:prstGeom>
          <a:solidFill>
            <a:srgbClr val="D1E5FA"/>
          </a:solidFill>
          <a:ln/>
        </p:spPr>
      </p:sp>
      <p:sp>
        <p:nvSpPr>
          <p:cNvPr id="8" name="Shape 5"/>
          <p:cNvSpPr/>
          <p:nvPr/>
        </p:nvSpPr>
        <p:spPr>
          <a:xfrm>
            <a:off x="5252410" y="3278981"/>
            <a:ext cx="6258761" cy="25400"/>
          </a:xfrm>
          <a:prstGeom prst="roundRect">
            <a:avLst>
              <a:gd name="adj" fmla="val 49999"/>
            </a:avLst>
          </a:prstGeom>
          <a:solidFill>
            <a:srgbClr val="B7CBE0"/>
          </a:solidFill>
          <a:ln/>
        </p:spPr>
      </p:sp>
      <p:sp>
        <p:nvSpPr>
          <p:cNvPr id="9" name="Text 6"/>
          <p:cNvSpPr/>
          <p:nvPr/>
        </p:nvSpPr>
        <p:spPr>
          <a:xfrm>
            <a:off x="5441417" y="3467993"/>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Used too early: you get no suggestion</a:t>
            </a:r>
            <a:endParaRPr lang="en-US" sz="1850" dirty="0"/>
          </a:p>
        </p:txBody>
      </p:sp>
      <p:sp>
        <p:nvSpPr>
          <p:cNvPr id="10" name="Shape 7"/>
          <p:cNvSpPr/>
          <p:nvPr/>
        </p:nvSpPr>
        <p:spPr>
          <a:xfrm>
            <a:off x="5252410" y="3952280"/>
            <a:ext cx="6258761" cy="673298"/>
          </a:xfrm>
          <a:prstGeom prst="rect">
            <a:avLst/>
          </a:prstGeom>
          <a:solidFill>
            <a:srgbClr val="D1E5FA"/>
          </a:solidFill>
          <a:ln/>
        </p:spPr>
      </p:sp>
      <p:sp>
        <p:nvSpPr>
          <p:cNvPr id="11" name="Shape 8"/>
          <p:cNvSpPr/>
          <p:nvPr/>
        </p:nvSpPr>
        <p:spPr>
          <a:xfrm>
            <a:off x="5252410" y="3952280"/>
            <a:ext cx="6258761" cy="25400"/>
          </a:xfrm>
          <a:prstGeom prst="roundRect">
            <a:avLst>
              <a:gd name="adj" fmla="val 49999"/>
            </a:avLst>
          </a:prstGeom>
          <a:solidFill>
            <a:srgbClr val="B7CBE0"/>
          </a:solidFill>
          <a:ln/>
        </p:spPr>
      </p:sp>
      <p:sp>
        <p:nvSpPr>
          <p:cNvPr id="12" name="Text 9"/>
          <p:cNvSpPr/>
          <p:nvPr/>
        </p:nvSpPr>
        <p:spPr>
          <a:xfrm>
            <a:off x="5441417" y="4141291"/>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Python runs top to bottom</a:t>
            </a:r>
            <a:endParaRPr lang="en-US" sz="1850" dirty="0"/>
          </a:p>
        </p:txBody>
      </p:sp>
      <p:sp>
        <p:nvSpPr>
          <p:cNvPr id="13" name="Shape 10"/>
          <p:cNvSpPr/>
          <p:nvPr/>
        </p:nvSpPr>
        <p:spPr>
          <a:xfrm>
            <a:off x="5252410" y="4625578"/>
            <a:ext cx="6258761" cy="968573"/>
          </a:xfrm>
          <a:custGeom>
            <a:avLst/>
            <a:gdLst/>
            <a:ahLst/>
            <a:cxnLst/>
            <a:rect l="l" t="t" r="r" b="b"/>
            <a:pathLst>
              <a:path w="6258761" h="968573">
                <a:moveTo>
                  <a:pt x="0" y="0"/>
                </a:moveTo>
                <a:lnTo>
                  <a:pt x="6258761" y="0"/>
                </a:lnTo>
                <a:lnTo>
                  <a:pt x="6258761" y="902415"/>
                </a:lnTo>
                <a:arcTo hR="66158" wR="66156" stAng="0" swAng="5400000"/>
                <a:lnTo>
                  <a:pt x="66156" y="968573"/>
                </a:lnTo>
                <a:arcTo hR="66158" wR="66156" stAng="5400000" swAng="5400000"/>
                <a:lnTo>
                  <a:pt x="0" y="0"/>
                </a:lnTo>
                <a:close/>
              </a:path>
            </a:pathLst>
          </a:custGeom>
          <a:solidFill>
            <a:srgbClr val="D1E5FA"/>
          </a:solidFill>
          <a:ln/>
        </p:spPr>
      </p:sp>
      <p:sp>
        <p:nvSpPr>
          <p:cNvPr id="14" name="Shape 11"/>
          <p:cNvSpPr/>
          <p:nvPr/>
        </p:nvSpPr>
        <p:spPr>
          <a:xfrm>
            <a:off x="5252410" y="4625578"/>
            <a:ext cx="6258761" cy="25400"/>
          </a:xfrm>
          <a:prstGeom prst="roundRect">
            <a:avLst>
              <a:gd name="adj" fmla="val 49999"/>
            </a:avLst>
          </a:prstGeom>
          <a:solidFill>
            <a:srgbClr val="B7CBE0"/>
          </a:solidFill>
          <a:ln/>
        </p:spPr>
      </p:sp>
      <p:sp>
        <p:nvSpPr>
          <p:cNvPr id="15" name="Text 12"/>
          <p:cNvSpPr/>
          <p:nvPr/>
        </p:nvSpPr>
        <p:spPr>
          <a:xfrm>
            <a:off x="5441417" y="4814590"/>
            <a:ext cx="588074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name below the line that uses it does not exist yet</a:t>
            </a:r>
            <a:endParaRPr lang="en-US" sz="1850" dirty="0"/>
          </a:p>
        </p:txBody>
      </p:sp>
      <p:sp>
        <p:nvSpPr>
          <p:cNvPr id="16" name="Text 13"/>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5584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name is part of the grade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220615"/>
            <a:ext cx="6296860" cy="724098"/>
          </a:xfrm>
          <a:prstGeom prst="rect">
            <a:avLst/>
          </a:prstGeom>
        </p:spPr>
      </p:pic>
      <p:sp>
        <p:nvSpPr>
          <p:cNvPr id="5" name="Text 1"/>
          <p:cNvSpPr/>
          <p:nvPr/>
        </p:nvSpPr>
        <p:spPr>
          <a:xfrm>
            <a:off x="5549364" y="2435027"/>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x</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is legal and worth nothing</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133725"/>
            <a:ext cx="6296860" cy="1019373"/>
          </a:xfrm>
          <a:prstGeom prst="rect">
            <a:avLst/>
          </a:prstGeom>
        </p:spPr>
      </p:pic>
      <p:sp>
        <p:nvSpPr>
          <p:cNvPr id="7" name="Text 2"/>
          <p:cNvSpPr/>
          <p:nvPr/>
        </p:nvSpPr>
        <p:spPr>
          <a:xfrm>
            <a:off x="5549364" y="3348137"/>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hours_worked</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tells the next person what it holds</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342110"/>
            <a:ext cx="6296860" cy="724098"/>
          </a:xfrm>
          <a:prstGeom prst="rect">
            <a:avLst/>
          </a:prstGeom>
        </p:spPr>
      </p:pic>
      <p:sp>
        <p:nvSpPr>
          <p:cNvPr id="9" name="Text 3"/>
          <p:cNvSpPr/>
          <p:nvPr/>
        </p:nvSpPr>
        <p:spPr>
          <a:xfrm>
            <a:off x="5549364" y="455652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next person is you in three weeks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255220"/>
            <a:ext cx="6296860" cy="724098"/>
          </a:xfrm>
          <a:prstGeom prst="rect">
            <a:avLst/>
          </a:prstGeom>
        </p:spPr>
      </p:pic>
      <p:sp>
        <p:nvSpPr>
          <p:cNvPr id="11" name="Text 4"/>
          <p:cNvSpPr/>
          <p:nvPr/>
        </p:nvSpPr>
        <p:spPr>
          <a:xfrm>
            <a:off x="5549364" y="546963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Lowercase words joined by underscores</a:t>
            </a:r>
            <a:endParaRPr lang="en-US" sz="1850" dirty="0"/>
          </a:p>
        </p:txBody>
      </p:sp>
      <p:sp>
        <p:nvSpPr>
          <p:cNvPr id="12" name="Text 5"/>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661475"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661475" y="2246709"/>
            <a:ext cx="6296860" cy="25400"/>
          </a:xfrm>
          <a:prstGeom prst="rect">
            <a:avLst/>
          </a:prstGeom>
          <a:solidFill>
            <a:srgbClr val="57A1EB"/>
          </a:solidFill>
          <a:ln/>
        </p:spPr>
      </p:sp>
      <p:sp>
        <p:nvSpPr>
          <p:cNvPr id="6" name="Text 3"/>
          <p:cNvSpPr/>
          <p:nvPr/>
        </p:nvSpPr>
        <p:spPr>
          <a:xfrm>
            <a:off x="661475" y="23889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 calculator for something you actually want to know</a:t>
            </a:r>
            <a:endParaRPr lang="en-US" sz="1800" dirty="0"/>
          </a:p>
        </p:txBody>
      </p:sp>
      <p:sp>
        <p:nvSpPr>
          <p:cNvPr id="7" name="Text 4"/>
          <p:cNvSpPr/>
          <p:nvPr/>
        </p:nvSpPr>
        <p:spPr>
          <a:xfrm>
            <a:off x="661475" y="32757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661475" y="3561457"/>
            <a:ext cx="6296860" cy="25400"/>
          </a:xfrm>
          <a:prstGeom prst="rect">
            <a:avLst/>
          </a:prstGeom>
          <a:solidFill>
            <a:srgbClr val="57A1EB"/>
          </a:solidFill>
          <a:ln/>
        </p:spPr>
      </p:sp>
      <p:sp>
        <p:nvSpPr>
          <p:cNvPr id="9" name="Text 6"/>
          <p:cNvSpPr/>
          <p:nvPr/>
        </p:nvSpPr>
        <p:spPr>
          <a:xfrm>
            <a:off x="661475" y="37037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Four variables minimum, readable names</a:t>
            </a:r>
            <a:endParaRPr lang="en-US" sz="1800" dirty="0"/>
          </a:p>
        </p:txBody>
      </p:sp>
      <p:sp>
        <p:nvSpPr>
          <p:cNvPr id="10" name="Text 7"/>
          <p:cNvSpPr/>
          <p:nvPr/>
        </p:nvSpPr>
        <p:spPr>
          <a:xfrm>
            <a:off x="661475" y="43044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661475" y="4590157"/>
            <a:ext cx="6296860" cy="25400"/>
          </a:xfrm>
          <a:prstGeom prst="rect">
            <a:avLst/>
          </a:prstGeom>
          <a:solidFill>
            <a:srgbClr val="57A1EB"/>
          </a:solidFill>
          <a:ln/>
        </p:spPr>
      </p:sp>
      <p:sp>
        <p:nvSpPr>
          <p:cNvPr id="12" name="Text 9"/>
          <p:cNvSpPr/>
          <p:nvPr/>
        </p:nvSpPr>
        <p:spPr>
          <a:xfrm>
            <a:off x="661475" y="47324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Two values calculated from other values</a:t>
            </a:r>
            <a:endParaRPr lang="en-US" sz="1800" dirty="0"/>
          </a:p>
        </p:txBody>
      </p:sp>
      <p:sp>
        <p:nvSpPr>
          <p:cNvPr id="13" name="Text 10"/>
          <p:cNvSpPr/>
          <p:nvPr/>
        </p:nvSpPr>
        <p:spPr>
          <a:xfrm>
            <a:off x="661475" y="53331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661475" y="5618857"/>
            <a:ext cx="6296860" cy="25400"/>
          </a:xfrm>
          <a:prstGeom prst="rect">
            <a:avLst/>
          </a:prstGeom>
          <a:solidFill>
            <a:srgbClr val="57A1EB"/>
          </a:solidFill>
          <a:ln/>
        </p:spPr>
      </p:sp>
      <p:sp>
        <p:nvSpPr>
          <p:cNvPr id="15" name="Text 12"/>
          <p:cNvSpPr/>
          <p:nvPr/>
        </p:nvSpPr>
        <p:spPr>
          <a:xfrm>
            <a:off x="661475" y="57611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Then lab U1-01, steps one through six</a:t>
            </a:r>
            <a:endParaRPr lang="en-US" sz="1800" dirty="0"/>
          </a:p>
        </p:txBody>
      </p:sp>
      <p:sp>
        <p:nvSpPr>
          <p:cNvPr id="16" name="Text 1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2026-09-01T16:10:13Z</dcterms:created>
  <dcterms:modified xsi:type="dcterms:W3CDTF">2026-09-01T16:10:13Z</dcterms:modified>
</cp:coreProperties>
</file>