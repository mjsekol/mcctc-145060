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you built something real, and it still has one number written into the file. Today it asks the person running it. That is the difference between a thing you made and a thing somebody can use. And it introduces one problem, which is the single most important idea in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and I want you to write it down word for word. Input always hands back text. It does not matter what the person typed. If they type one two, you do not have the number twelve, you have two characters that happen to be digits. Turning that into a number is a separate step, and Python will not do it for you, and it will not warn you that it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typed one two. Nothing but digits. And Python is holding str, which means text. Most of you will not believe this until you run it yourself, so run it yourself in the first five minutes of build one. This is the whole day in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type twelve. Before I press enter, tell me what you expect to see. Thirty six, right. Watch the screen and do not say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No traceback. No red text. Nothing anywhere on this screen tells you something went wrong. Python did exactly what I asked. Hours is the text one two, and multiplying text by three repeats it three times, which is a real feature that works correctly. I asked for it by accident and it obliged.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sentence down. The dangerous bugs are the ones that do not crash. If I had written plus instead of times, Python would have raised a TypeError, pointed at the line, and I would have fixed it in ten seconds. Instead it succeeded. You find this one weeks later, when somebody reports a weird number in your text adventure, and by then you have no idea which line did it. An error message is a gift.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the conversion around the input on the same line. Read it inside out. Ask the question, take the text that comes back, convert it, then attach the name. Do it on one line every time, so there is never a moment where an unconverted value has a name you could reach for by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not a habit. Ask one question about the value. Could this reasonably be a half of something. Hours worked, yes, so float. Number of people, no, so int. Get this backwards and you either crash on a perfectly reasonable input or silently accept two and a half people, and one of those two failures is much harder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one you expected. The second one surprises people, because eleven point five reads as a number to you. Int does not ask whether it is a number. It asks whether the text spells a whole number, and that one does not. Use float. And notice that fixing one problem introduced another, which is normal. Handling this properly has a name, error handling, and it is Unit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idea, and it is the one that separates people who understand this from people who memorized it. Not everything written in digits is a quantity. Here is the test question. Would adding two of these together ever mean anything. Add two jersey numbers and you get nothing. Add two zip codes and you get nothing. If the answer is no, it is a label, and it stays text, and converting it would throw away the leading zero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yesterday's calculator and make every hardcoded number a question. Convert each one on the line you ask for it. Then finish the lab. Step eleven asks you to break your own program on purpose by typing a word where a number goes, and to copy the error into your README exactly. Do not skip it and do not fix it. Knowing what breaks your program is worth more today than a program that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Bug That Does Not Crash</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Yesterday your program knew the numbers</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typed them into the file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Only you can change them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else can use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it asks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888629"/>
            <a:ext cx="3504219"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Everything typed is text</a:t>
            </a:r>
            <a:endParaRPr lang="en-US" sz="3700" dirty="0"/>
          </a:p>
        </p:txBody>
      </p:sp>
      <p:sp>
        <p:nvSpPr>
          <p:cNvPr id="4" name="Text 1"/>
          <p:cNvSpPr/>
          <p:nvPr/>
        </p:nvSpPr>
        <p:spPr>
          <a:xfrm>
            <a:off x="8032251" y="3258939"/>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input always hands back text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Always. No exceptions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Digits typed are still text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Converting is a separate step you ask for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940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Prove it to yourself</a:t>
            </a:r>
            <a:endParaRPr lang="en-US" sz="3700" dirty="0"/>
          </a:p>
        </p:txBody>
      </p:sp>
      <p:sp>
        <p:nvSpPr>
          <p:cNvPr id="3" name="Shape 1"/>
          <p:cNvSpPr/>
          <p:nvPr/>
        </p:nvSpPr>
        <p:spPr>
          <a:xfrm>
            <a:off x="661475" y="2762746"/>
            <a:ext cx="10868745" cy="982861"/>
          </a:xfrm>
          <a:prstGeom prst="roundRect">
            <a:avLst>
              <a:gd name="adj" fmla="val 8077"/>
            </a:avLst>
          </a:prstGeom>
          <a:solidFill>
            <a:srgbClr val="F2F2F2"/>
          </a:solidFill>
          <a:ln/>
        </p:spPr>
      </p:sp>
      <p:sp>
        <p:nvSpPr>
          <p:cNvPr id="4" name="Text 2"/>
          <p:cNvSpPr/>
          <p:nvPr/>
        </p:nvSpPr>
        <p:spPr>
          <a:xfrm>
            <a:off x="888283" y="2951758"/>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 = input("How many hours did you work?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print("Python thinks that is a:", type(hours).__name__)</a:t>
            </a:r>
            <a:endParaRPr lang="en-US" sz="1450" dirty="0"/>
          </a:p>
        </p:txBody>
      </p:sp>
      <p:sp>
        <p:nvSpPr>
          <p:cNvPr id="5" name="Shape 3"/>
          <p:cNvSpPr/>
          <p:nvPr/>
        </p:nvSpPr>
        <p:spPr>
          <a:xfrm>
            <a:off x="661475" y="3958233"/>
            <a:ext cx="10868745" cy="982861"/>
          </a:xfrm>
          <a:prstGeom prst="roundRect">
            <a:avLst>
              <a:gd name="adj" fmla="val 8077"/>
            </a:avLst>
          </a:prstGeom>
          <a:solidFill>
            <a:srgbClr val="F2F2F2"/>
          </a:solidFill>
          <a:ln/>
        </p:spPr>
      </p:sp>
      <p:sp>
        <p:nvSpPr>
          <p:cNvPr id="6" name="Text 4"/>
          <p:cNvSpPr/>
          <p:nvPr/>
        </p:nvSpPr>
        <p:spPr>
          <a:xfrm>
            <a:off x="888283" y="414724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many hours did you work?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thinks that is a: str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what happens next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 = input("How many hours did you work?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print("Three weeks of that is:", hours *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14372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two one two one two</a:t>
            </a:r>
            <a:endParaRPr lang="en-US" sz="3700" dirty="0"/>
          </a:p>
        </p:txBody>
      </p:sp>
      <p:sp>
        <p:nvSpPr>
          <p:cNvPr id="4" name="Shape 1"/>
          <p:cNvSpPr/>
          <p:nvPr/>
        </p:nvSpPr>
        <p:spPr>
          <a:xfrm>
            <a:off x="661475" y="3608487"/>
            <a:ext cx="6296860" cy="982861"/>
          </a:xfrm>
          <a:prstGeom prst="roundRect">
            <a:avLst>
              <a:gd name="adj" fmla="val 8077"/>
            </a:avLst>
          </a:prstGeom>
          <a:solidFill>
            <a:srgbClr val="F2F2F2"/>
          </a:solidFill>
          <a:ln/>
        </p:spPr>
      </p:sp>
      <p:sp>
        <p:nvSpPr>
          <p:cNvPr id="5" name="Text 2"/>
          <p:cNvSpPr/>
          <p:nvPr/>
        </p:nvSpPr>
        <p:spPr>
          <a:xfrm>
            <a:off x="888283" y="3797498"/>
            <a:ext cx="584324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many hours did you work?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Three weeks of that is: 121212</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65572"/>
            <a:ext cx="5203794" cy="5203924"/>
          </a:xfrm>
          <a:prstGeom prst="rect">
            <a:avLst/>
          </a:prstGeom>
        </p:spPr>
      </p:pic>
      <p:sp>
        <p:nvSpPr>
          <p:cNvPr id="3" name="Text 0"/>
          <p:cNvSpPr/>
          <p:nvPr/>
        </p:nvSpPr>
        <p:spPr>
          <a:xfrm>
            <a:off x="6332776" y="1744563"/>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dangerous bugs are the ones that do not crash</a:t>
            </a:r>
            <a:endParaRPr lang="en-US" sz="3700" dirty="0"/>
          </a:p>
        </p:txBody>
      </p:sp>
      <p:sp>
        <p:nvSpPr>
          <p:cNvPr id="4" name="Text 1"/>
          <p:cNvSpPr/>
          <p:nvPr/>
        </p:nvSpPr>
        <p:spPr>
          <a:xfrm>
            <a:off x="6332776" y="3705523"/>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Plus between text and a number stops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Times between text and a number succeeds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tells you immediately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other hands you garbage and says nothing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940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convert, on the way in</a:t>
            </a:r>
            <a:endParaRPr lang="en-US" sz="3700" dirty="0"/>
          </a:p>
        </p:txBody>
      </p:sp>
      <p:sp>
        <p:nvSpPr>
          <p:cNvPr id="3" name="Shape 1"/>
          <p:cNvSpPr/>
          <p:nvPr/>
        </p:nvSpPr>
        <p:spPr>
          <a:xfrm>
            <a:off x="661475" y="2762746"/>
            <a:ext cx="10868745" cy="982861"/>
          </a:xfrm>
          <a:prstGeom prst="roundRect">
            <a:avLst>
              <a:gd name="adj" fmla="val 8077"/>
            </a:avLst>
          </a:prstGeom>
          <a:solidFill>
            <a:srgbClr val="F2F2F2"/>
          </a:solidFill>
          <a:ln/>
        </p:spPr>
      </p:sp>
      <p:sp>
        <p:nvSpPr>
          <p:cNvPr id="4" name="Text 2"/>
          <p:cNvSpPr/>
          <p:nvPr/>
        </p:nvSpPr>
        <p:spPr>
          <a:xfrm>
            <a:off x="888283" y="2951758"/>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hours = int(input("How many hours did you work?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print("Three weeks of that is:", hours * 3)</a:t>
            </a:r>
            <a:endParaRPr lang="en-US" sz="1450" dirty="0"/>
          </a:p>
        </p:txBody>
      </p:sp>
      <p:sp>
        <p:nvSpPr>
          <p:cNvPr id="5" name="Shape 3"/>
          <p:cNvSpPr/>
          <p:nvPr/>
        </p:nvSpPr>
        <p:spPr>
          <a:xfrm>
            <a:off x="661475" y="3958233"/>
            <a:ext cx="10868745" cy="982861"/>
          </a:xfrm>
          <a:prstGeom prst="roundRect">
            <a:avLst>
              <a:gd name="adj" fmla="val 8077"/>
            </a:avLst>
          </a:prstGeom>
          <a:solidFill>
            <a:srgbClr val="F2F2F2"/>
          </a:solidFill>
          <a:ln/>
        </p:spPr>
      </p:sp>
      <p:sp>
        <p:nvSpPr>
          <p:cNvPr id="6" name="Text 4"/>
          <p:cNvSpPr/>
          <p:nvPr/>
        </p:nvSpPr>
        <p:spPr>
          <a:xfrm>
            <a:off x="888283" y="414724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many hours did you work?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Three weeks of that is: 36</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976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converter, and it is a real decision</a:t>
            </a:r>
            <a:endParaRPr lang="en-US" sz="3700" dirty="0"/>
          </a:p>
        </p:txBody>
      </p:sp>
      <p:sp>
        <p:nvSpPr>
          <p:cNvPr id="4" name="Shape 1"/>
          <p:cNvSpPr/>
          <p:nvPr/>
        </p:nvSpPr>
        <p:spPr>
          <a:xfrm>
            <a:off x="661475" y="2462411"/>
            <a:ext cx="6296860" cy="1543050"/>
          </a:xfrm>
          <a:prstGeom prst="roundRect">
            <a:avLst>
              <a:gd name="adj" fmla="val 5145"/>
            </a:avLst>
          </a:prstGeom>
          <a:solidFill>
            <a:srgbClr val="D1E5FA"/>
          </a:solidFill>
          <a:ln w="19050">
            <a:solidFill>
              <a:srgbClr val="B7CBE0"/>
            </a:solidFill>
            <a:prstDash val="solid"/>
          </a:ln>
        </p:spPr>
      </p:sp>
      <p:sp>
        <p:nvSpPr>
          <p:cNvPr id="5" name="Text 2"/>
          <p:cNvSpPr/>
          <p:nvPr/>
        </p:nvSpPr>
        <p:spPr>
          <a:xfrm>
            <a:off x="869531" y="267047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a:t>
            </a:r>
            <a:endParaRPr lang="en-US" sz="1850" dirty="0"/>
          </a:p>
        </p:txBody>
      </p:sp>
      <p:sp>
        <p:nvSpPr>
          <p:cNvPr id="6" name="Text 3"/>
          <p:cNvSpPr/>
          <p:nvPr/>
        </p:nvSpPr>
        <p:spPr>
          <a:xfrm>
            <a:off x="869531" y="3079155"/>
            <a:ext cx="5880747"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For things that cannot be half</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People splitting a bill</a:t>
            </a:r>
            <a:endParaRPr lang="en-US" sz="1450" dirty="0"/>
          </a:p>
        </p:txBody>
      </p:sp>
      <p:sp>
        <p:nvSpPr>
          <p:cNvPr id="7" name="Shape 4"/>
          <p:cNvSpPr/>
          <p:nvPr/>
        </p:nvSpPr>
        <p:spPr>
          <a:xfrm>
            <a:off x="661475" y="4194473"/>
            <a:ext cx="6296860" cy="1543050"/>
          </a:xfrm>
          <a:prstGeom prst="roundRect">
            <a:avLst>
              <a:gd name="adj" fmla="val 5145"/>
            </a:avLst>
          </a:prstGeom>
          <a:solidFill>
            <a:srgbClr val="D1E5FA"/>
          </a:solidFill>
          <a:ln w="19050">
            <a:solidFill>
              <a:srgbClr val="B7CBE0"/>
            </a:solidFill>
            <a:prstDash val="solid"/>
          </a:ln>
        </p:spPr>
      </p:sp>
      <p:sp>
        <p:nvSpPr>
          <p:cNvPr id="8" name="Text 5"/>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float</a:t>
            </a:r>
            <a:endParaRPr lang="en-US" sz="1850" dirty="0"/>
          </a:p>
        </p:txBody>
      </p:sp>
      <p:sp>
        <p:nvSpPr>
          <p:cNvPr id="9" name="Text 6"/>
          <p:cNvSpPr/>
          <p:nvPr/>
        </p:nvSpPr>
        <p:spPr>
          <a:xfrm>
            <a:off x="869531" y="4811216"/>
            <a:ext cx="5880747"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For things that can be half</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Hours worked, because 7.5 is real</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940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Converting has its own failure</a:t>
            </a:r>
            <a:endParaRPr lang="en-US" sz="3700" dirty="0"/>
          </a:p>
        </p:txBody>
      </p:sp>
      <p:sp>
        <p:nvSpPr>
          <p:cNvPr id="3" name="Shape 1"/>
          <p:cNvSpPr/>
          <p:nvPr/>
        </p:nvSpPr>
        <p:spPr>
          <a:xfrm>
            <a:off x="661475" y="2762746"/>
            <a:ext cx="10868745" cy="982861"/>
          </a:xfrm>
          <a:prstGeom prst="roundRect">
            <a:avLst>
              <a:gd name="adj" fmla="val 8077"/>
            </a:avLst>
          </a:prstGeom>
          <a:solidFill>
            <a:srgbClr val="F2F2F2"/>
          </a:solidFill>
          <a:ln/>
        </p:spPr>
      </p:sp>
      <p:sp>
        <p:nvSpPr>
          <p:cNvPr id="4" name="Text 2"/>
          <p:cNvSpPr/>
          <p:nvPr/>
        </p:nvSpPr>
        <p:spPr>
          <a:xfrm>
            <a:off x="888283" y="2951758"/>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print(int("abc"))</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print(int("11.5"))</a:t>
            </a:r>
            <a:endParaRPr lang="en-US" sz="1450" dirty="0"/>
          </a:p>
        </p:txBody>
      </p:sp>
      <p:sp>
        <p:nvSpPr>
          <p:cNvPr id="5" name="Shape 3"/>
          <p:cNvSpPr/>
          <p:nvPr/>
        </p:nvSpPr>
        <p:spPr>
          <a:xfrm>
            <a:off x="661475" y="3958233"/>
            <a:ext cx="10868745" cy="982861"/>
          </a:xfrm>
          <a:prstGeom prst="roundRect">
            <a:avLst>
              <a:gd name="adj" fmla="val 8077"/>
            </a:avLst>
          </a:prstGeom>
          <a:solidFill>
            <a:srgbClr val="F2F2F2"/>
          </a:solidFill>
          <a:ln/>
        </p:spPr>
      </p:sp>
      <p:sp>
        <p:nvSpPr>
          <p:cNvPr id="6" name="Text 4"/>
          <p:cNvSpPr/>
          <p:nvPr/>
        </p:nvSpPr>
        <p:spPr>
          <a:xfrm>
            <a:off x="888283" y="4147245"/>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ValueError: invalid literal for int() with base 10: 'abc'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ValueError: invalid literal for int() with base 10: '11.5'</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298079"/>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 things that look like numbers are not</a:t>
            </a:r>
            <a:endParaRPr lang="en-US" sz="3700" dirty="0"/>
          </a:p>
        </p:txBody>
      </p:sp>
      <p:sp>
        <p:nvSpPr>
          <p:cNvPr id="4" name="Text 1"/>
          <p:cNvSpPr/>
          <p:nvPr/>
        </p:nvSpPr>
        <p:spPr>
          <a:xfrm>
            <a:off x="8032251" y="3849688"/>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jersey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phone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zip code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Would adding two of them ever mean anything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number in yesterday's program becomes a question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one converted on the way in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lab U1-01, steps seven through twelve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eleven breaks it on purpose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2026-09-15T17:04:44Z</dcterms:created>
  <dcterms:modified xsi:type="dcterms:W3CDTF">2026-09-15T17:04:44Z</dcterms:modified>
</cp:coreProperties>
</file>