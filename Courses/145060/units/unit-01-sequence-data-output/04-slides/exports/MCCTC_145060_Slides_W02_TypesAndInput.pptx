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true" autoCompressPictures="0" embedTrueTypeFonts="true">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embeddedFontLst>
    <p:embeddedFont>
      <p:font typeface="Orbitron Bold"/>
      <p:regular r:id="rId201314"/>
    </p:embeddedFont>
    <p:embeddedFont>
      <p:font typeface="Orbitron"/>
      <p:regular r:id="rId201315"/>
    </p:embeddedFont>
    <p:embeddedFont>
      <p:font typeface="Orbitron Black"/>
      <p:regular r:id="rId201316"/>
    </p:embeddedFont>
    <p:embeddedFont>
      <p:font typeface="Roboto Condensed Black"/>
      <p:regular r:id="rId201317"/>
    </p:embeddedFont>
    <p:embeddedFont>
      <p:font typeface="Roboto Condensed Bold"/>
      <p:regular r:id="rId201318"/>
    </p:embeddedFont>
    <p:embeddedFont>
      <p:font typeface="Roboto Condensed"/>
      <p:regular r:id="rId20131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201314" Target="fonts/201314.fntdata" Type="http://schemas.openxmlformats.org/officeDocument/2006/relationships/font"/><Relationship Id="rId201315" Target="fonts/201315.fntdata" Type="http://schemas.openxmlformats.org/officeDocument/2006/relationships/font"/><Relationship Id="rId201316" Target="fonts/201316.fntdata" Type="http://schemas.openxmlformats.org/officeDocument/2006/relationships/font"/><Relationship Id="rId201317" Target="fonts/201317.fntdata" Type="http://schemas.openxmlformats.org/officeDocument/2006/relationships/font"/><Relationship Id="rId201318" Target="fonts/201318.fntdata" Type="http://schemas.openxmlformats.org/officeDocument/2006/relationships/font"/><Relationship Id="rId201319" Target="fonts/201319.fntdata" Type="http://schemas.openxmlformats.org/officeDocument/2006/relationships/font"/><Relationship Id="rId201320" Target="fonts/201320.fntdata" Type="http://schemas.openxmlformats.org/officeDocument/2006/relationships/font"/><Relationship Id="rId201321" Target="fonts/201321.fntdata" Type="http://schemas.openxmlformats.org/officeDocument/2006/relationships/font"/><Relationship Id="rId201322" Target="fonts/201322.fntdata" Type="http://schemas.openxmlformats.org/officeDocument/2006/relationships/font"/><Relationship Id="rId201323" Target="fonts/201323.fntdata" Type="http://schemas.openxmlformats.org/officeDocument/2006/relationships/font"/><Relationship Id="rId201324" Target="fonts/201324.fntdata" Type="http://schemas.openxmlformats.org/officeDocument/2006/relationships/font"/><Relationship Id="rId201325" Target="fonts/201325.fntdata" Type="http://schemas.openxmlformats.org/officeDocument/2006/relationships/font"/></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Yesterday you built something real, and it still has one number written into the file. Today it asks the person running it. That is the difference between a thing you made and a thing somebody can use. And it introduces one problem, which is the single most important idea in this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rule, and I want you to write it down word for word. Input always hands back text. It does not matter what the person typed. If they type one two, you do not have the number twelve, you have two characters that happen to be digits. Turning that into a number is a separate step, and Python will not do it for you, and it will not warn you that it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typed one two. Nothing but digits. And Python is holding str, which means text. Most of you will not believe this until you run it yourself, so run it yourself in the first five minutes of build one. This is the whole day in three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going to type twelve. Before I press enter, tell me what you expect to see. Thirty six, right. Watch the screen and do not say anything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error. No traceback. No red text. Nothing anywhere on this screen tells you something went wrong. Python did exactly what I asked. Hours is the text one two, and multiplying text by three repeats it three times, which is a real feature that works correctly. I asked for it by accident and it obliged.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this sentence down. The dangerous bugs are the ones that do not crash. If I had written plus instead of times, Python would have raised a TypeError, pointed at the line, and I would have fixed it in ten seconds. Instead it succeeded. You find this one in October, when somebody reports a weird number in your text adventure, and by then you have no idea which line did it. An error message is a gift.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the conversion around the input on the same line. Read it inside out. Ask the question, take the text that comes back, convert it, then attach the name. Do it on one line every time, so there is never a moment where an unconverted value has a name you could reach for by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decision, not a habit. Ask one question about the value. Could this reasonably be a half of something. Hours worked, yes, so float. Number of people, no, so int. Get this backwards and you either crash on a perfectly reasonable input or silently accept two and a half people, and one of those two failures is much harder to notice.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one you expected. The second one surprises people, because eleven point five reads as a number to you. Int does not ask whether it is a number. It asks whether the text spells a whole number, and that one does not. Use float. And notice that fixing one problem introduced another, which is normal. Handling this properly has a name, error handling, and it is Unit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idea, and it is the one that separates people who understand this from people who memorized it. Not everything written in digits is a quantity. Here is the test question. Would adding two of these together ever mean anything. Add two jersey numbers and you get nothing. Add two zip codes and you get nothing. If the answer is no, it is a label, and it stays text, and converting it would throw away the leading zero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yesterday's calculator and make every hardcoded number a question. Convert each one on the line you ask for it. Then finish the lab. Step eleven asks you to break your own program on purpose by typing a word where a number goes, and to copy the error into your README exactly. Do not skip it and do not fix it. Knowing what breaks your program is worth more today than a program that never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AFA"/>
          </a:solidFill>
          <a:ln/>
        </p:spPr>
      </p:sp>
      <p:sp>
        <p:nvSpPr>
          <p:cNvPr id="3" name="Shape 1"/>
          <p:cNvSpPr/>
          <p:nvPr/>
        </p:nvSpPr>
        <p:spPr>
          <a:xfrm>
            <a:off x="0" y="0"/>
            <a:ext cx="12191695" cy="6858000"/>
          </a:xfrm>
          <a:prstGeom prst="rect">
            <a:avLst/>
          </a:prstGeom>
          <a:solidFill>
            <a:srgbClr val="FFFFFF"/>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571886" cy="6858000"/>
          </a:xfrm>
          <a:prstGeom prst="rect">
            <a:avLst/>
          </a:prstGeom>
        </p:spPr>
      </p:pic>
      <p:sp>
        <p:nvSpPr>
          <p:cNvPr id="3" name="Text 0"/>
          <p:cNvSpPr/>
          <p:nvPr/>
        </p:nvSpPr>
        <p:spPr>
          <a:xfrm>
            <a:off x="5233360" y="2776934"/>
            <a:ext cx="6296860"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The Bug That Does Not Crash</a:t>
            </a:r>
            <a:endParaRPr lang="en-US" sz="3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571886" cy="6858000"/>
          </a:xfrm>
          <a:prstGeom prst="rect">
            <a:avLst/>
          </a:prstGeom>
        </p:spPr>
      </p:pic>
      <p:sp>
        <p:nvSpPr>
          <p:cNvPr id="3" name="Text 0"/>
          <p:cNvSpPr/>
          <p:nvPr/>
        </p:nvSpPr>
        <p:spPr>
          <a:xfrm>
            <a:off x="5233360" y="1635919"/>
            <a:ext cx="6296860" cy="177194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Yesterday your program knew the numbers</a:t>
            </a:r>
            <a:endParaRPr lang="en-US" sz="3700" dirty="0"/>
          </a:p>
        </p:txBody>
      </p:sp>
      <p:sp>
        <p:nvSpPr>
          <p:cNvPr id="4" name="Text 1"/>
          <p:cNvSpPr/>
          <p:nvPr/>
        </p:nvSpPr>
        <p:spPr>
          <a:xfrm>
            <a:off x="5233360" y="3691334"/>
            <a:ext cx="6296860" cy="1407914"/>
          </a:xfrm>
          <a:prstGeom prst="rect">
            <a:avLst/>
          </a:prstGeom>
          <a:noFill/>
          <a:ln/>
        </p:spPr>
        <p:txBody>
          <a:bodyPr wrap="square" lIns="0" tIns="75608"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You typed them into the file</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Only you can change them</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Nobody else can use it</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Today it asks</a:t>
            </a:r>
            <a:endParaRPr lang="en-US" sz="1450" dirty="0"/>
          </a:p>
        </p:txBody>
      </p:sp>
      <p:sp>
        <p:nvSpPr>
          <p:cNvPr id="5" name="Text 2"/>
          <p:cNvSpPr/>
          <p:nvPr/>
        </p:nvSpPr>
        <p:spPr>
          <a:xfrm>
            <a:off x="4704141" y="6457255"/>
            <a:ext cx="3640642" cy="158750"/>
          </a:xfrm>
          <a:prstGeom prst="rect">
            <a:avLst/>
          </a:prstGeom>
          <a:noFill/>
          <a:ln/>
        </p:spPr>
        <p:txBody>
          <a:bodyPr wrap="none" lIns="0" tIns="99235"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61475" y="2039838"/>
            <a:ext cx="5203794"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Everything typed is text</a:t>
            </a:r>
            <a:endParaRPr lang="en-US" sz="3700" dirty="0"/>
          </a:p>
        </p:txBody>
      </p:sp>
      <p:sp>
        <p:nvSpPr>
          <p:cNvPr id="3" name="Text 1"/>
          <p:cNvSpPr/>
          <p:nvPr/>
        </p:nvSpPr>
        <p:spPr>
          <a:xfrm>
            <a:off x="661475" y="3410148"/>
            <a:ext cx="5203794" cy="1407914"/>
          </a:xfrm>
          <a:prstGeom prst="rect">
            <a:avLst/>
          </a:prstGeom>
          <a:noFill/>
          <a:ln/>
        </p:spPr>
        <p:txBody>
          <a:bodyPr wrap="square" lIns="0" tIns="75608"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input always hands back text</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Always. No exceptions</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Digits typed are still text</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Converting is a separate step you ask for</a:t>
            </a:r>
            <a:endParaRPr lang="en-US" sz="1450" dirty="0"/>
          </a:p>
        </p:txBody>
      </p:sp>
      <p:pic>
        <p:nvPicPr>
          <p:cNvPr id="4" name="Image 0" descr="preencoded.png">    </p:cNvPr>
          <p:cNvPicPr>
            <a:picLocks noChangeAspect="1"/>
          </p:cNvPicPr>
          <p:nvPr/>
        </p:nvPicPr>
        <p:blipFill>
          <a:blip r:embed="rId1"/>
          <a:stretch>
            <a:fillRect/>
          </a:stretch>
        </p:blipFill>
        <p:spPr>
          <a:xfrm>
            <a:off x="6332776" y="765572"/>
            <a:ext cx="5203794" cy="5203924"/>
          </a:xfrm>
          <a:prstGeom prst="rect">
            <a:avLst/>
          </a:prstGeom>
        </p:spPr>
      </p:pic>
      <p:sp>
        <p:nvSpPr>
          <p:cNvPr id="5" name="Text 2"/>
          <p:cNvSpPr/>
          <p:nvPr/>
        </p:nvSpPr>
        <p:spPr>
          <a:xfrm>
            <a:off x="132255" y="6457255"/>
            <a:ext cx="3640642" cy="158750"/>
          </a:xfrm>
          <a:prstGeom prst="rect">
            <a:avLst/>
          </a:prstGeom>
          <a:noFill/>
          <a:ln/>
        </p:spPr>
        <p:txBody>
          <a:bodyPr wrap="none" lIns="0" tIns="99235"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61475" y="1794073"/>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Prove it to yourself</a:t>
            </a:r>
            <a:endParaRPr lang="en-US" sz="3700" dirty="0"/>
          </a:p>
        </p:txBody>
      </p:sp>
      <p:sp>
        <p:nvSpPr>
          <p:cNvPr id="3" name="Shape 1"/>
          <p:cNvSpPr/>
          <p:nvPr/>
        </p:nvSpPr>
        <p:spPr>
          <a:xfrm>
            <a:off x="661475" y="2762746"/>
            <a:ext cx="10868745" cy="982861"/>
          </a:xfrm>
          <a:prstGeom prst="roundRect">
            <a:avLst>
              <a:gd name="adj" fmla="val 8077"/>
            </a:avLst>
          </a:prstGeom>
          <a:solidFill>
            <a:srgbClr val="F2F2F2"/>
          </a:solidFill>
          <a:ln/>
        </p:spPr>
      </p:sp>
      <p:sp>
        <p:nvSpPr>
          <p:cNvPr id="4" name="Text 2"/>
          <p:cNvSpPr/>
          <p:nvPr/>
        </p:nvSpPr>
        <p:spPr>
          <a:xfrm>
            <a:off x="888283" y="2951758"/>
            <a:ext cx="10415129" cy="604838"/>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hours = input("How many hours did you work? ")</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print("Python thinks that is a:", type(hours).__name__)</a:t>
            </a:r>
            <a:endParaRPr lang="en-US" sz="1450" dirty="0"/>
          </a:p>
        </p:txBody>
      </p:sp>
      <p:sp>
        <p:nvSpPr>
          <p:cNvPr id="5" name="Shape 3"/>
          <p:cNvSpPr/>
          <p:nvPr/>
        </p:nvSpPr>
        <p:spPr>
          <a:xfrm>
            <a:off x="661475" y="3958233"/>
            <a:ext cx="10868745" cy="982861"/>
          </a:xfrm>
          <a:prstGeom prst="roundRect">
            <a:avLst>
              <a:gd name="adj" fmla="val 8077"/>
            </a:avLst>
          </a:prstGeom>
          <a:solidFill>
            <a:srgbClr val="F2F2F2"/>
          </a:solidFill>
          <a:ln/>
        </p:spPr>
      </p:sp>
      <p:sp>
        <p:nvSpPr>
          <p:cNvPr id="6" name="Text 4"/>
          <p:cNvSpPr/>
          <p:nvPr/>
        </p:nvSpPr>
        <p:spPr>
          <a:xfrm>
            <a:off x="888283" y="4147245"/>
            <a:ext cx="10415129" cy="604838"/>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How many hours did you work? 12</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Python thinks that is a: str</a:t>
            </a:r>
            <a:endParaRPr lang="en-US" sz="1450" dirty="0"/>
          </a:p>
        </p:txBody>
      </p:sp>
      <p:sp>
        <p:nvSpPr>
          <p:cNvPr id="7" name="Text 5"/>
          <p:cNvSpPr/>
          <p:nvPr/>
        </p:nvSpPr>
        <p:spPr>
          <a:xfrm>
            <a:off x="132255" y="6457255"/>
            <a:ext cx="3640642" cy="158750"/>
          </a:xfrm>
          <a:prstGeom prst="rect">
            <a:avLst/>
          </a:prstGeom>
          <a:noFill/>
          <a:ln/>
        </p:spPr>
        <p:txBody>
          <a:bodyPr wrap="none" lIns="0" tIns="99235"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61475" y="2391767"/>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Watch what happens next</a:t>
            </a:r>
            <a:endParaRPr lang="en-US" sz="3700" dirty="0"/>
          </a:p>
        </p:txBody>
      </p:sp>
      <p:sp>
        <p:nvSpPr>
          <p:cNvPr id="3" name="Shape 1"/>
          <p:cNvSpPr/>
          <p:nvPr/>
        </p:nvSpPr>
        <p:spPr>
          <a:xfrm>
            <a:off x="661475" y="3360440"/>
            <a:ext cx="10868745" cy="982861"/>
          </a:xfrm>
          <a:prstGeom prst="roundRect">
            <a:avLst>
              <a:gd name="adj" fmla="val 8077"/>
            </a:avLst>
          </a:prstGeom>
          <a:solidFill>
            <a:srgbClr val="F2F2F2"/>
          </a:solidFill>
          <a:ln/>
        </p:spPr>
      </p:sp>
      <p:sp>
        <p:nvSpPr>
          <p:cNvPr id="4" name="Text 2"/>
          <p:cNvSpPr/>
          <p:nvPr/>
        </p:nvSpPr>
        <p:spPr>
          <a:xfrm>
            <a:off x="888283" y="3549452"/>
            <a:ext cx="10415129" cy="604838"/>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hours = input("How many hours did you work? ")</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print("Three weeks of that is:", hours * 3)</a:t>
            </a:r>
            <a:endParaRPr lang="en-US" sz="1450" dirty="0"/>
          </a:p>
        </p:txBody>
      </p:sp>
      <p:sp>
        <p:nvSpPr>
          <p:cNvPr id="5" name="Text 3"/>
          <p:cNvSpPr/>
          <p:nvPr/>
        </p:nvSpPr>
        <p:spPr>
          <a:xfrm>
            <a:off x="132255" y="6457255"/>
            <a:ext cx="3640642" cy="158750"/>
          </a:xfrm>
          <a:prstGeom prst="rect">
            <a:avLst/>
          </a:prstGeom>
          <a:noFill/>
          <a:ln/>
        </p:spPr>
        <p:txBody>
          <a:bodyPr wrap="none" lIns="0" tIns="99235"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61475" y="2167334"/>
            <a:ext cx="3504219"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One two one two one two</a:t>
            </a:r>
            <a:endParaRPr lang="en-US" sz="3700" dirty="0"/>
          </a:p>
        </p:txBody>
      </p:sp>
      <p:sp>
        <p:nvSpPr>
          <p:cNvPr id="3" name="Shape 1"/>
          <p:cNvSpPr/>
          <p:nvPr/>
        </p:nvSpPr>
        <p:spPr>
          <a:xfrm>
            <a:off x="661475" y="3561259"/>
            <a:ext cx="3504219" cy="982861"/>
          </a:xfrm>
          <a:prstGeom prst="roundRect">
            <a:avLst>
              <a:gd name="adj" fmla="val 8077"/>
            </a:avLst>
          </a:prstGeom>
          <a:solidFill>
            <a:srgbClr val="F2F2F2"/>
          </a:solidFill>
          <a:ln/>
        </p:spPr>
      </p:sp>
      <p:sp>
        <p:nvSpPr>
          <p:cNvPr id="4" name="Text 2"/>
          <p:cNvSpPr/>
          <p:nvPr/>
        </p:nvSpPr>
        <p:spPr>
          <a:xfrm>
            <a:off x="888283" y="3750270"/>
            <a:ext cx="3050603" cy="604838"/>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How many hours did you work? 12</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Three weeks of that is: 121212</a:t>
            </a:r>
            <a:endParaRPr lang="en-US" sz="1450" dirty="0"/>
          </a:p>
        </p:txBody>
      </p:sp>
      <p:pic>
        <p:nvPicPr>
          <p:cNvPr id="5" name="Image 0" descr="preencoded.png">    </p:cNvPr>
          <p:cNvPicPr>
            <a:picLocks noChangeAspect="1"/>
          </p:cNvPicPr>
          <p:nvPr/>
        </p:nvPicPr>
        <p:blipFill>
          <a:blip r:embed="rId1"/>
          <a:stretch>
            <a:fillRect/>
          </a:stretch>
        </p:blipFill>
        <p:spPr>
          <a:xfrm>
            <a:off x="4633201" y="1411585"/>
            <a:ext cx="6903269" cy="3911898"/>
          </a:xfrm>
          <a:prstGeom prst="rect">
            <a:avLst/>
          </a:prstGeom>
        </p:spPr>
      </p:pic>
      <p:sp>
        <p:nvSpPr>
          <p:cNvPr id="6" name="Text 3"/>
          <p:cNvSpPr/>
          <p:nvPr/>
        </p:nvSpPr>
        <p:spPr>
          <a:xfrm>
            <a:off x="132255" y="6457255"/>
            <a:ext cx="3640642" cy="158750"/>
          </a:xfrm>
          <a:prstGeom prst="rect">
            <a:avLst/>
          </a:prstGeom>
          <a:noFill/>
          <a:ln/>
        </p:spPr>
        <p:txBody>
          <a:bodyPr wrap="none" lIns="0" tIns="99235"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619809" y="0"/>
            <a:ext cx="4571886" cy="6858000"/>
          </a:xfrm>
          <a:prstGeom prst="rect">
            <a:avLst/>
          </a:prstGeom>
        </p:spPr>
      </p:pic>
      <p:sp>
        <p:nvSpPr>
          <p:cNvPr id="3" name="Text 0"/>
          <p:cNvSpPr/>
          <p:nvPr/>
        </p:nvSpPr>
        <p:spPr>
          <a:xfrm>
            <a:off x="661475" y="768052"/>
            <a:ext cx="6296860" cy="1070570"/>
          </a:xfrm>
          <a:prstGeom prst="rect">
            <a:avLst/>
          </a:prstGeom>
          <a:noFill/>
          <a:ln/>
        </p:spPr>
        <p:txBody>
          <a:bodyPr wrap="square" lIns="0" tIns="0" rIns="0" bIns="0" rtlCol="0" anchor="t">
            <a:normAutofit/>
          </a:bodyPr>
          <a:lstStyle/>
          <a:p>
            <a:pPr algn="l" indent="0" marL="0">
              <a:lnSpc>
                <a:spcPct val="104000"/>
              </a:lnSpc>
              <a:buNone/>
            </a:pPr>
            <a:r>
              <a:rPr lang="en-US" sz="3350" b="1" dirty="0">
                <a:solidFill>
                  <a:srgbClr val="111111"/>
                </a:solidFill>
                <a:latin typeface="Orbitron Bold" pitchFamily="34" charset="0"/>
                <a:ea typeface="Orbitron Bold" pitchFamily="34" charset="-122"/>
                <a:cs typeface="Orbitron Bold" pitchFamily="34" charset="-120"/>
              </a:rPr>
              <a:t>The dangerous bugs are the ones that do not crash</a:t>
            </a:r>
            <a:endParaRPr lang="en-US" sz="3350" dirty="0"/>
          </a:p>
        </p:txBody>
      </p:sp>
      <p:sp>
        <p:nvSpPr>
          <p:cNvPr id="4" name="Shape 1"/>
          <p:cNvSpPr/>
          <p:nvPr/>
        </p:nvSpPr>
        <p:spPr>
          <a:xfrm>
            <a:off x="661475" y="2071390"/>
            <a:ext cx="6296860" cy="3895725"/>
          </a:xfrm>
          <a:prstGeom prst="roundRect">
            <a:avLst>
              <a:gd name="adj" fmla="val 1847"/>
            </a:avLst>
          </a:prstGeom>
          <a:solidFill>
            <a:srgbClr val="D1E5FA"/>
          </a:solidFill>
          <a:ln w="19050">
            <a:solidFill>
              <a:srgbClr val="B7CBE0"/>
            </a:solidFill>
            <a:prstDash val="solid"/>
          </a:ln>
        </p:spPr>
      </p:sp>
      <p:sp>
        <p:nvSpPr>
          <p:cNvPr id="5" name="Shape 2"/>
          <p:cNvSpPr/>
          <p:nvPr/>
        </p:nvSpPr>
        <p:spPr>
          <a:xfrm>
            <a:off x="680524" y="2090440"/>
            <a:ext cx="6258761" cy="964406"/>
          </a:xfrm>
          <a:custGeom>
            <a:avLst/>
            <a:gdLst/>
            <a:ahLst/>
            <a:cxnLst/>
            <a:rect l="l" t="t" r="r" b="b"/>
            <a:pathLst>
              <a:path w="6258761" h="964406">
                <a:moveTo>
                  <a:pt x="59954" y="0"/>
                </a:moveTo>
                <a:lnTo>
                  <a:pt x="6198806" y="0"/>
                </a:lnTo>
                <a:arcTo hR="59956" wR="59954" stAng="16200000" swAng="5400000"/>
                <a:lnTo>
                  <a:pt x="6258761" y="964406"/>
                </a:lnTo>
                <a:lnTo>
                  <a:pt x="0" y="964406"/>
                </a:lnTo>
                <a:lnTo>
                  <a:pt x="0" y="59956"/>
                </a:lnTo>
                <a:arcTo hR="59956" wR="59954" stAng="10800000" swAng="5400000"/>
                <a:close/>
              </a:path>
            </a:pathLst>
          </a:custGeom>
          <a:solidFill>
            <a:srgbClr val="D1E5FA"/>
          </a:solidFill>
          <a:ln/>
        </p:spPr>
      </p:sp>
      <p:sp>
        <p:nvSpPr>
          <p:cNvPr id="6" name="Text 3"/>
          <p:cNvSpPr/>
          <p:nvPr/>
        </p:nvSpPr>
        <p:spPr>
          <a:xfrm>
            <a:off x="851772" y="2261691"/>
            <a:ext cx="5916266" cy="267593"/>
          </a:xfrm>
          <a:prstGeom prst="rect">
            <a:avLst/>
          </a:prstGeom>
          <a:noFill/>
          <a:ln/>
        </p:spPr>
        <p:txBody>
          <a:bodyPr wrap="none" lIns="0" tIns="0" rIns="0" bIns="0" rtlCol="0" anchor="t"/>
          <a:lstStyle/>
          <a:p>
            <a:pPr algn="l" indent="0" marL="0">
              <a:lnSpc>
                <a:spcPct val="104000"/>
              </a:lnSpc>
              <a:buNone/>
            </a:pPr>
            <a:r>
              <a:rPr lang="en-US" sz="1650" b="1" dirty="0">
                <a:solidFill>
                  <a:srgbClr val="1C1C1C"/>
                </a:solidFill>
                <a:latin typeface="Orbitron Bold" pitchFamily="34" charset="0"/>
                <a:ea typeface="Orbitron Bold" pitchFamily="34" charset="-122"/>
                <a:cs typeface="Orbitron Bold" pitchFamily="34" charset="-120"/>
              </a:rPr>
              <a:t>Plus: stops</a:t>
            </a:r>
            <a:endParaRPr lang="en-US" sz="1650" dirty="0"/>
          </a:p>
        </p:txBody>
      </p:sp>
      <p:sp>
        <p:nvSpPr>
          <p:cNvPr id="7" name="Text 4"/>
          <p:cNvSpPr/>
          <p:nvPr/>
        </p:nvSpPr>
        <p:spPr>
          <a:xfrm>
            <a:off x="851772" y="2622352"/>
            <a:ext cx="5916266" cy="261243"/>
          </a:xfrm>
          <a:prstGeom prst="rect">
            <a:avLst/>
          </a:prstGeom>
          <a:noFill/>
          <a:ln/>
        </p:spPr>
        <p:txBody>
          <a:bodyPr wrap="none" lIns="0" tIns="0" rIns="0" bIns="0" rtlCol="0" anchor="t"/>
          <a:lstStyle/>
          <a:p>
            <a:pPr algn="l" indent="0" marL="0">
              <a:lnSpc>
                <a:spcPct val="127000"/>
              </a:lnSpc>
              <a:buNone/>
            </a:pPr>
            <a:r>
              <a:rPr lang="en-US" sz="1300" dirty="0">
                <a:solidFill>
                  <a:srgbClr val="1C1C1C"/>
                </a:solidFill>
                <a:latin typeface="Roboto Condensed" pitchFamily="34" charset="0"/>
                <a:ea typeface="Roboto Condensed" pitchFamily="34" charset="-122"/>
                <a:cs typeface="Roboto Condensed" pitchFamily="34" charset="-120"/>
              </a:rPr>
              <a:t>Plus between text and a number stops</a:t>
            </a:r>
            <a:endParaRPr lang="en-US" sz="1300" dirty="0"/>
          </a:p>
        </p:txBody>
      </p:sp>
      <p:sp>
        <p:nvSpPr>
          <p:cNvPr id="8" name="Shape 5"/>
          <p:cNvSpPr/>
          <p:nvPr/>
        </p:nvSpPr>
        <p:spPr>
          <a:xfrm>
            <a:off x="680524" y="3054846"/>
            <a:ext cx="6258761" cy="964406"/>
          </a:xfrm>
          <a:prstGeom prst="rect">
            <a:avLst/>
          </a:prstGeom>
          <a:solidFill>
            <a:srgbClr val="D1E5FA"/>
          </a:solidFill>
          <a:ln/>
        </p:spPr>
      </p:sp>
      <p:sp>
        <p:nvSpPr>
          <p:cNvPr id="9" name="Shape 6"/>
          <p:cNvSpPr/>
          <p:nvPr/>
        </p:nvSpPr>
        <p:spPr>
          <a:xfrm>
            <a:off x="680524" y="3054846"/>
            <a:ext cx="6258761" cy="19050"/>
          </a:xfrm>
          <a:prstGeom prst="roundRect">
            <a:avLst>
              <a:gd name="adj" fmla="val 49999"/>
            </a:avLst>
          </a:prstGeom>
          <a:solidFill>
            <a:srgbClr val="B7CBE0"/>
          </a:solidFill>
          <a:ln/>
        </p:spPr>
      </p:sp>
      <p:sp>
        <p:nvSpPr>
          <p:cNvPr id="10" name="Text 7"/>
          <p:cNvSpPr/>
          <p:nvPr/>
        </p:nvSpPr>
        <p:spPr>
          <a:xfrm>
            <a:off x="851772" y="3226098"/>
            <a:ext cx="5916266" cy="267593"/>
          </a:xfrm>
          <a:prstGeom prst="rect">
            <a:avLst/>
          </a:prstGeom>
          <a:noFill/>
          <a:ln/>
        </p:spPr>
        <p:txBody>
          <a:bodyPr wrap="none" lIns="0" tIns="0" rIns="0" bIns="0" rtlCol="0" anchor="t"/>
          <a:lstStyle/>
          <a:p>
            <a:pPr algn="l" indent="0" marL="0">
              <a:lnSpc>
                <a:spcPct val="104000"/>
              </a:lnSpc>
              <a:buNone/>
            </a:pPr>
            <a:r>
              <a:rPr lang="en-US" sz="1650" b="1" dirty="0">
                <a:solidFill>
                  <a:srgbClr val="1C1C1C"/>
                </a:solidFill>
                <a:latin typeface="Orbitron Bold" pitchFamily="34" charset="0"/>
                <a:ea typeface="Orbitron Bold" pitchFamily="34" charset="-122"/>
                <a:cs typeface="Orbitron Bold" pitchFamily="34" charset="-120"/>
              </a:rPr>
              <a:t>Times: succeeds</a:t>
            </a:r>
            <a:endParaRPr lang="en-US" sz="1650" dirty="0"/>
          </a:p>
        </p:txBody>
      </p:sp>
      <p:sp>
        <p:nvSpPr>
          <p:cNvPr id="11" name="Text 8"/>
          <p:cNvSpPr/>
          <p:nvPr/>
        </p:nvSpPr>
        <p:spPr>
          <a:xfrm>
            <a:off x="851772" y="3586758"/>
            <a:ext cx="5916266" cy="261243"/>
          </a:xfrm>
          <a:prstGeom prst="rect">
            <a:avLst/>
          </a:prstGeom>
          <a:noFill/>
          <a:ln/>
        </p:spPr>
        <p:txBody>
          <a:bodyPr wrap="none" lIns="0" tIns="0" rIns="0" bIns="0" rtlCol="0" anchor="t"/>
          <a:lstStyle/>
          <a:p>
            <a:pPr algn="l" indent="0" marL="0">
              <a:lnSpc>
                <a:spcPct val="127000"/>
              </a:lnSpc>
              <a:buNone/>
            </a:pPr>
            <a:r>
              <a:rPr lang="en-US" sz="1300" dirty="0">
                <a:solidFill>
                  <a:srgbClr val="1C1C1C"/>
                </a:solidFill>
                <a:latin typeface="Roboto Condensed" pitchFamily="34" charset="0"/>
                <a:ea typeface="Roboto Condensed" pitchFamily="34" charset="-122"/>
                <a:cs typeface="Roboto Condensed" pitchFamily="34" charset="-120"/>
              </a:rPr>
              <a:t>Times between text and a number succeeds</a:t>
            </a:r>
            <a:endParaRPr lang="en-US" sz="1300" dirty="0"/>
          </a:p>
        </p:txBody>
      </p:sp>
      <p:sp>
        <p:nvSpPr>
          <p:cNvPr id="12" name="Shape 9"/>
          <p:cNvSpPr/>
          <p:nvPr/>
        </p:nvSpPr>
        <p:spPr>
          <a:xfrm>
            <a:off x="680524" y="4019252"/>
            <a:ext cx="6258761" cy="964406"/>
          </a:xfrm>
          <a:prstGeom prst="rect">
            <a:avLst/>
          </a:prstGeom>
          <a:solidFill>
            <a:srgbClr val="D1E5FA"/>
          </a:solidFill>
          <a:ln/>
        </p:spPr>
      </p:sp>
      <p:sp>
        <p:nvSpPr>
          <p:cNvPr id="13" name="Shape 10"/>
          <p:cNvSpPr/>
          <p:nvPr/>
        </p:nvSpPr>
        <p:spPr>
          <a:xfrm>
            <a:off x="680524" y="4019252"/>
            <a:ext cx="6258761" cy="19050"/>
          </a:xfrm>
          <a:prstGeom prst="roundRect">
            <a:avLst>
              <a:gd name="adj" fmla="val 49999"/>
            </a:avLst>
          </a:prstGeom>
          <a:solidFill>
            <a:srgbClr val="B7CBE0"/>
          </a:solidFill>
          <a:ln/>
        </p:spPr>
      </p:sp>
      <p:sp>
        <p:nvSpPr>
          <p:cNvPr id="14" name="Text 11"/>
          <p:cNvSpPr/>
          <p:nvPr/>
        </p:nvSpPr>
        <p:spPr>
          <a:xfrm>
            <a:off x="851772" y="4190504"/>
            <a:ext cx="5916266" cy="267593"/>
          </a:xfrm>
          <a:prstGeom prst="rect">
            <a:avLst/>
          </a:prstGeom>
          <a:noFill/>
          <a:ln/>
        </p:spPr>
        <p:txBody>
          <a:bodyPr wrap="none" lIns="0" tIns="0" rIns="0" bIns="0" rtlCol="0" anchor="t"/>
          <a:lstStyle/>
          <a:p>
            <a:pPr algn="l" indent="0" marL="0">
              <a:lnSpc>
                <a:spcPct val="104000"/>
              </a:lnSpc>
              <a:buNone/>
            </a:pPr>
            <a:r>
              <a:rPr lang="en-US" sz="1650" b="1" dirty="0">
                <a:solidFill>
                  <a:srgbClr val="1C1C1C"/>
                </a:solidFill>
                <a:latin typeface="Orbitron Bold" pitchFamily="34" charset="0"/>
                <a:ea typeface="Orbitron Bold" pitchFamily="34" charset="-122"/>
                <a:cs typeface="Orbitron Bold" pitchFamily="34" charset="-120"/>
              </a:rPr>
              <a:t>One tells you</a:t>
            </a:r>
            <a:endParaRPr lang="en-US" sz="1650" dirty="0"/>
          </a:p>
        </p:txBody>
      </p:sp>
      <p:sp>
        <p:nvSpPr>
          <p:cNvPr id="15" name="Text 12"/>
          <p:cNvSpPr/>
          <p:nvPr/>
        </p:nvSpPr>
        <p:spPr>
          <a:xfrm>
            <a:off x="851772" y="4551164"/>
            <a:ext cx="5916266" cy="261243"/>
          </a:xfrm>
          <a:prstGeom prst="rect">
            <a:avLst/>
          </a:prstGeom>
          <a:noFill/>
          <a:ln/>
        </p:spPr>
        <p:txBody>
          <a:bodyPr wrap="none" lIns="0" tIns="0" rIns="0" bIns="0" rtlCol="0" anchor="t"/>
          <a:lstStyle/>
          <a:p>
            <a:pPr algn="l" indent="0" marL="0">
              <a:lnSpc>
                <a:spcPct val="127000"/>
              </a:lnSpc>
              <a:buNone/>
            </a:pPr>
            <a:r>
              <a:rPr lang="en-US" sz="1300" dirty="0">
                <a:solidFill>
                  <a:srgbClr val="1C1C1C"/>
                </a:solidFill>
                <a:latin typeface="Roboto Condensed" pitchFamily="34" charset="0"/>
                <a:ea typeface="Roboto Condensed" pitchFamily="34" charset="-122"/>
                <a:cs typeface="Roboto Condensed" pitchFamily="34" charset="-120"/>
              </a:rPr>
              <a:t>One tells you immediately</a:t>
            </a:r>
            <a:endParaRPr lang="en-US" sz="1300" dirty="0"/>
          </a:p>
        </p:txBody>
      </p:sp>
      <p:sp>
        <p:nvSpPr>
          <p:cNvPr id="16" name="Shape 13"/>
          <p:cNvSpPr/>
          <p:nvPr/>
        </p:nvSpPr>
        <p:spPr>
          <a:xfrm>
            <a:off x="680524" y="4983659"/>
            <a:ext cx="6258761" cy="964406"/>
          </a:xfrm>
          <a:custGeom>
            <a:avLst/>
            <a:gdLst/>
            <a:ahLst/>
            <a:cxnLst/>
            <a:rect l="l" t="t" r="r" b="b"/>
            <a:pathLst>
              <a:path w="6258761" h="964406">
                <a:moveTo>
                  <a:pt x="0" y="0"/>
                </a:moveTo>
                <a:lnTo>
                  <a:pt x="6258761" y="0"/>
                </a:lnTo>
                <a:lnTo>
                  <a:pt x="6258761" y="904450"/>
                </a:lnTo>
                <a:arcTo hR="59956" wR="59954" stAng="0" swAng="5400000"/>
                <a:lnTo>
                  <a:pt x="59954" y="964406"/>
                </a:lnTo>
                <a:arcTo hR="59956" wR="59954" stAng="5400000" swAng="5400000"/>
                <a:lnTo>
                  <a:pt x="0" y="0"/>
                </a:lnTo>
                <a:close/>
              </a:path>
            </a:pathLst>
          </a:custGeom>
          <a:solidFill>
            <a:srgbClr val="D1E5FA"/>
          </a:solidFill>
          <a:ln/>
        </p:spPr>
      </p:sp>
      <p:sp>
        <p:nvSpPr>
          <p:cNvPr id="17" name="Shape 14"/>
          <p:cNvSpPr/>
          <p:nvPr/>
        </p:nvSpPr>
        <p:spPr>
          <a:xfrm>
            <a:off x="680524" y="4983659"/>
            <a:ext cx="6258761" cy="19050"/>
          </a:xfrm>
          <a:prstGeom prst="roundRect">
            <a:avLst>
              <a:gd name="adj" fmla="val 49999"/>
            </a:avLst>
          </a:prstGeom>
          <a:solidFill>
            <a:srgbClr val="B7CBE0"/>
          </a:solidFill>
          <a:ln/>
        </p:spPr>
      </p:sp>
      <p:sp>
        <p:nvSpPr>
          <p:cNvPr id="18" name="Text 15"/>
          <p:cNvSpPr/>
          <p:nvPr/>
        </p:nvSpPr>
        <p:spPr>
          <a:xfrm>
            <a:off x="851772" y="5154910"/>
            <a:ext cx="5916266" cy="267593"/>
          </a:xfrm>
          <a:prstGeom prst="rect">
            <a:avLst/>
          </a:prstGeom>
          <a:noFill/>
          <a:ln/>
        </p:spPr>
        <p:txBody>
          <a:bodyPr wrap="none" lIns="0" tIns="0" rIns="0" bIns="0" rtlCol="0" anchor="t"/>
          <a:lstStyle/>
          <a:p>
            <a:pPr algn="l" indent="0" marL="0">
              <a:lnSpc>
                <a:spcPct val="104000"/>
              </a:lnSpc>
              <a:buNone/>
            </a:pPr>
            <a:r>
              <a:rPr lang="en-US" sz="1650" b="1" dirty="0">
                <a:solidFill>
                  <a:srgbClr val="1C1C1C"/>
                </a:solidFill>
                <a:latin typeface="Orbitron Bold" pitchFamily="34" charset="0"/>
                <a:ea typeface="Orbitron Bold" pitchFamily="34" charset="-122"/>
                <a:cs typeface="Orbitron Bold" pitchFamily="34" charset="-120"/>
              </a:rPr>
              <a:t>The other lies</a:t>
            </a:r>
            <a:endParaRPr lang="en-US" sz="1650" dirty="0"/>
          </a:p>
        </p:txBody>
      </p:sp>
      <p:sp>
        <p:nvSpPr>
          <p:cNvPr id="19" name="Text 16"/>
          <p:cNvSpPr/>
          <p:nvPr/>
        </p:nvSpPr>
        <p:spPr>
          <a:xfrm>
            <a:off x="851772" y="5515570"/>
            <a:ext cx="5916266" cy="261243"/>
          </a:xfrm>
          <a:prstGeom prst="rect">
            <a:avLst/>
          </a:prstGeom>
          <a:noFill/>
          <a:ln/>
        </p:spPr>
        <p:txBody>
          <a:bodyPr wrap="none" lIns="0" tIns="0" rIns="0" bIns="0" rtlCol="0" anchor="t"/>
          <a:lstStyle/>
          <a:p>
            <a:pPr algn="l" indent="0" marL="0">
              <a:lnSpc>
                <a:spcPct val="127000"/>
              </a:lnSpc>
              <a:buNone/>
            </a:pPr>
            <a:r>
              <a:rPr lang="en-US" sz="1300" dirty="0">
                <a:solidFill>
                  <a:srgbClr val="1C1C1C"/>
                </a:solidFill>
                <a:latin typeface="Roboto Condensed" pitchFamily="34" charset="0"/>
                <a:ea typeface="Roboto Condensed" pitchFamily="34" charset="-122"/>
                <a:cs typeface="Roboto Condensed" pitchFamily="34" charset="-120"/>
              </a:rPr>
              <a:t>The other hands you garbage and says nothing</a:t>
            </a:r>
            <a:endParaRPr lang="en-US" sz="1300" dirty="0"/>
          </a:p>
        </p:txBody>
      </p:sp>
      <p:sp>
        <p:nvSpPr>
          <p:cNvPr id="20" name="Text 17"/>
          <p:cNvSpPr/>
          <p:nvPr/>
        </p:nvSpPr>
        <p:spPr>
          <a:xfrm>
            <a:off x="132255" y="6457255"/>
            <a:ext cx="3640642" cy="158750"/>
          </a:xfrm>
          <a:prstGeom prst="rect">
            <a:avLst/>
          </a:prstGeom>
          <a:noFill/>
          <a:ln/>
        </p:spPr>
        <p:txBody>
          <a:bodyPr wrap="none" lIns="0" tIns="99235"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61475" y="1794073"/>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So convert, on the way in</a:t>
            </a:r>
            <a:endParaRPr lang="en-US" sz="3700" dirty="0"/>
          </a:p>
        </p:txBody>
      </p:sp>
      <p:sp>
        <p:nvSpPr>
          <p:cNvPr id="3" name="Shape 1"/>
          <p:cNvSpPr/>
          <p:nvPr/>
        </p:nvSpPr>
        <p:spPr>
          <a:xfrm>
            <a:off x="661475" y="2762746"/>
            <a:ext cx="10868745" cy="982861"/>
          </a:xfrm>
          <a:prstGeom prst="roundRect">
            <a:avLst>
              <a:gd name="adj" fmla="val 8077"/>
            </a:avLst>
          </a:prstGeom>
          <a:solidFill>
            <a:srgbClr val="F2F2F2"/>
          </a:solidFill>
          <a:ln/>
        </p:spPr>
      </p:sp>
      <p:sp>
        <p:nvSpPr>
          <p:cNvPr id="4" name="Text 2"/>
          <p:cNvSpPr/>
          <p:nvPr/>
        </p:nvSpPr>
        <p:spPr>
          <a:xfrm>
            <a:off x="888283" y="2951758"/>
            <a:ext cx="10415129" cy="604838"/>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hours = int(input("How many hours did you work? "))</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print("Three weeks of that is:", hours * 3)</a:t>
            </a:r>
            <a:endParaRPr lang="en-US" sz="1450" dirty="0"/>
          </a:p>
        </p:txBody>
      </p:sp>
      <p:sp>
        <p:nvSpPr>
          <p:cNvPr id="5" name="Shape 3"/>
          <p:cNvSpPr/>
          <p:nvPr/>
        </p:nvSpPr>
        <p:spPr>
          <a:xfrm>
            <a:off x="661475" y="3958233"/>
            <a:ext cx="10868745" cy="982861"/>
          </a:xfrm>
          <a:prstGeom prst="roundRect">
            <a:avLst>
              <a:gd name="adj" fmla="val 8077"/>
            </a:avLst>
          </a:prstGeom>
          <a:solidFill>
            <a:srgbClr val="F2F2F2"/>
          </a:solidFill>
          <a:ln/>
        </p:spPr>
      </p:sp>
      <p:sp>
        <p:nvSpPr>
          <p:cNvPr id="6" name="Text 4"/>
          <p:cNvSpPr/>
          <p:nvPr/>
        </p:nvSpPr>
        <p:spPr>
          <a:xfrm>
            <a:off x="888283" y="4147245"/>
            <a:ext cx="10415129" cy="604838"/>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How many hours did you work? 12</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Three weeks of that is: 36</a:t>
            </a:r>
            <a:endParaRPr lang="en-US" sz="1450" dirty="0"/>
          </a:p>
        </p:txBody>
      </p:sp>
      <p:sp>
        <p:nvSpPr>
          <p:cNvPr id="7" name="Text 5"/>
          <p:cNvSpPr/>
          <p:nvPr/>
        </p:nvSpPr>
        <p:spPr>
          <a:xfrm>
            <a:off x="132255" y="6457255"/>
            <a:ext cx="3640642" cy="158750"/>
          </a:xfrm>
          <a:prstGeom prst="rect">
            <a:avLst/>
          </a:prstGeom>
          <a:noFill/>
          <a:ln/>
        </p:spPr>
        <p:txBody>
          <a:bodyPr wrap="none" lIns="0" tIns="99235"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61475" y="1744563"/>
            <a:ext cx="5203794" cy="177194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Which converter, and it is a real decision</a:t>
            </a:r>
            <a:endParaRPr lang="en-US" sz="3700" dirty="0"/>
          </a:p>
        </p:txBody>
      </p:sp>
      <p:sp>
        <p:nvSpPr>
          <p:cNvPr id="3" name="Text 1"/>
          <p:cNvSpPr/>
          <p:nvPr/>
        </p:nvSpPr>
        <p:spPr>
          <a:xfrm>
            <a:off x="661475" y="3705523"/>
            <a:ext cx="5203794" cy="1407914"/>
          </a:xfrm>
          <a:prstGeom prst="rect">
            <a:avLst/>
          </a:prstGeom>
          <a:noFill/>
          <a:ln/>
        </p:spPr>
        <p:txBody>
          <a:bodyPr wrap="square" lIns="0" tIns="75608"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int for things that cannot be half</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float for things that can</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People splitting a bill: int</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Hours worked: float, because 7.5 is real</a:t>
            </a:r>
            <a:endParaRPr lang="en-US" sz="1450" dirty="0"/>
          </a:p>
        </p:txBody>
      </p:sp>
      <p:pic>
        <p:nvPicPr>
          <p:cNvPr id="4" name="Image 0" descr="preencoded.png">    </p:cNvPr>
          <p:cNvPicPr>
            <a:picLocks noChangeAspect="1"/>
          </p:cNvPicPr>
          <p:nvPr/>
        </p:nvPicPr>
        <p:blipFill>
          <a:blip r:embed="rId1"/>
          <a:stretch>
            <a:fillRect/>
          </a:stretch>
        </p:blipFill>
        <p:spPr>
          <a:xfrm>
            <a:off x="6332776" y="765572"/>
            <a:ext cx="5203794" cy="5203924"/>
          </a:xfrm>
          <a:prstGeom prst="rect">
            <a:avLst/>
          </a:prstGeom>
        </p:spPr>
      </p:pic>
      <p:sp>
        <p:nvSpPr>
          <p:cNvPr id="5" name="Text 2"/>
          <p:cNvSpPr/>
          <p:nvPr/>
        </p:nvSpPr>
        <p:spPr>
          <a:xfrm>
            <a:off x="132255" y="6457255"/>
            <a:ext cx="3640642" cy="158750"/>
          </a:xfrm>
          <a:prstGeom prst="rect">
            <a:avLst/>
          </a:prstGeom>
          <a:noFill/>
          <a:ln/>
        </p:spPr>
        <p:txBody>
          <a:bodyPr wrap="none" lIns="0" tIns="99235"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61475" y="1794073"/>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Converting has its own failure</a:t>
            </a:r>
            <a:endParaRPr lang="en-US" sz="3700" dirty="0"/>
          </a:p>
        </p:txBody>
      </p:sp>
      <p:sp>
        <p:nvSpPr>
          <p:cNvPr id="3" name="Shape 1"/>
          <p:cNvSpPr/>
          <p:nvPr/>
        </p:nvSpPr>
        <p:spPr>
          <a:xfrm>
            <a:off x="661475" y="2762746"/>
            <a:ext cx="10868745" cy="982861"/>
          </a:xfrm>
          <a:prstGeom prst="roundRect">
            <a:avLst>
              <a:gd name="adj" fmla="val 8077"/>
            </a:avLst>
          </a:prstGeom>
          <a:solidFill>
            <a:srgbClr val="F2F2F2"/>
          </a:solidFill>
          <a:ln/>
        </p:spPr>
      </p:sp>
      <p:sp>
        <p:nvSpPr>
          <p:cNvPr id="4" name="Text 2"/>
          <p:cNvSpPr/>
          <p:nvPr/>
        </p:nvSpPr>
        <p:spPr>
          <a:xfrm>
            <a:off x="888283" y="2951758"/>
            <a:ext cx="10415129" cy="604838"/>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E36209"/>
                </a:solidFill>
                <a:latin typeface="Consolas" pitchFamily="34" charset="0"/>
                <a:ea typeface="Consolas" pitchFamily="34" charset="-122"/>
                <a:cs typeface="Consolas" pitchFamily="34" charset="-120"/>
              </a:rPr>
              <a:t>print(int("abc"))</a:t>
            </a:r>
            <a:endParaRPr lang="en-US" sz="1450" dirty="0"/>
          </a:p>
          <a:p>
            <a:pPr algn="l" indent="0" marL="0">
              <a:lnSpc>
                <a:spcPct val="133000"/>
              </a:lnSpc>
              <a:buNone/>
            </a:pPr>
            <a:r>
              <a:rPr lang="en-US" sz="1450" dirty="0">
                <a:solidFill>
                  <a:srgbClr val="E36209"/>
                </a:solidFill>
                <a:latin typeface="Consolas" pitchFamily="34" charset="0"/>
                <a:ea typeface="Consolas" pitchFamily="34" charset="-122"/>
                <a:cs typeface="Consolas" pitchFamily="34" charset="-120"/>
              </a:rPr>
              <a:t>print(int("11.5"))</a:t>
            </a:r>
            <a:endParaRPr lang="en-US" sz="1450" dirty="0"/>
          </a:p>
        </p:txBody>
      </p:sp>
      <p:sp>
        <p:nvSpPr>
          <p:cNvPr id="5" name="Shape 3"/>
          <p:cNvSpPr/>
          <p:nvPr/>
        </p:nvSpPr>
        <p:spPr>
          <a:xfrm>
            <a:off x="661475" y="3958233"/>
            <a:ext cx="10868745" cy="982861"/>
          </a:xfrm>
          <a:prstGeom prst="roundRect">
            <a:avLst>
              <a:gd name="adj" fmla="val 8077"/>
            </a:avLst>
          </a:prstGeom>
          <a:solidFill>
            <a:srgbClr val="F2F2F2"/>
          </a:solidFill>
          <a:ln/>
        </p:spPr>
      </p:sp>
      <p:sp>
        <p:nvSpPr>
          <p:cNvPr id="6" name="Text 4"/>
          <p:cNvSpPr/>
          <p:nvPr/>
        </p:nvSpPr>
        <p:spPr>
          <a:xfrm>
            <a:off x="888283" y="4147245"/>
            <a:ext cx="10415129" cy="604838"/>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ValueError: invalid literal for int() with base 10: 'abc'</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ValueError: invalid literal for int() with base 10: '11.5'</a:t>
            </a:r>
            <a:endParaRPr lang="en-US" sz="1450" dirty="0"/>
          </a:p>
        </p:txBody>
      </p:sp>
      <p:sp>
        <p:nvSpPr>
          <p:cNvPr id="7" name="Text 5"/>
          <p:cNvSpPr/>
          <p:nvPr/>
        </p:nvSpPr>
        <p:spPr>
          <a:xfrm>
            <a:off x="132255" y="6457255"/>
            <a:ext cx="3640642" cy="158750"/>
          </a:xfrm>
          <a:prstGeom prst="rect">
            <a:avLst/>
          </a:prstGeom>
          <a:noFill/>
          <a:ln/>
        </p:spPr>
        <p:txBody>
          <a:bodyPr wrap="none" lIns="0" tIns="99235"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571886" cy="6858000"/>
          </a:xfrm>
          <a:prstGeom prst="rect">
            <a:avLst/>
          </a:prstGeom>
        </p:spPr>
      </p:pic>
      <p:sp>
        <p:nvSpPr>
          <p:cNvPr id="3" name="Text 0"/>
          <p:cNvSpPr/>
          <p:nvPr/>
        </p:nvSpPr>
        <p:spPr>
          <a:xfrm>
            <a:off x="5233360" y="1931194"/>
            <a:ext cx="6296860"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Some things that look like numbers are not</a:t>
            </a:r>
            <a:endParaRPr lang="en-US" sz="3700" dirty="0"/>
          </a:p>
        </p:txBody>
      </p:sp>
      <p:sp>
        <p:nvSpPr>
          <p:cNvPr id="4" name="Text 1"/>
          <p:cNvSpPr/>
          <p:nvPr/>
        </p:nvSpPr>
        <p:spPr>
          <a:xfrm>
            <a:off x="5233360" y="3395960"/>
            <a:ext cx="6296860" cy="1407914"/>
          </a:xfrm>
          <a:prstGeom prst="rect">
            <a:avLst/>
          </a:prstGeom>
          <a:noFill/>
          <a:ln/>
        </p:spPr>
        <p:txBody>
          <a:bodyPr wrap="square" lIns="0" tIns="75608"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A jersey number</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A phone number</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A zip code</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Would adding two of them ever mean anything</a:t>
            </a:r>
            <a:endParaRPr lang="en-US" sz="1450" dirty="0"/>
          </a:p>
        </p:txBody>
      </p:sp>
      <p:sp>
        <p:nvSpPr>
          <p:cNvPr id="5" name="Text 2"/>
          <p:cNvSpPr/>
          <p:nvPr/>
        </p:nvSpPr>
        <p:spPr>
          <a:xfrm>
            <a:off x="4704141" y="6457255"/>
            <a:ext cx="3640642" cy="158750"/>
          </a:xfrm>
          <a:prstGeom prst="rect">
            <a:avLst/>
          </a:prstGeom>
          <a:noFill/>
          <a:ln/>
        </p:spPr>
        <p:txBody>
          <a:bodyPr wrap="none" lIns="0" tIns="99235"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61475" y="1494830"/>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What you are about to build</a:t>
            </a:r>
            <a:endParaRPr lang="en-US" sz="3700" dirty="0"/>
          </a:p>
        </p:txBody>
      </p:sp>
      <p:sp>
        <p:nvSpPr>
          <p:cNvPr id="3" name="Text 1"/>
          <p:cNvSpPr/>
          <p:nvPr/>
        </p:nvSpPr>
        <p:spPr>
          <a:xfrm>
            <a:off x="661475" y="2463502"/>
            <a:ext cx="378014" cy="236240"/>
          </a:xfrm>
          <a:prstGeom prst="rect">
            <a:avLst/>
          </a:prstGeom>
          <a:noFill/>
          <a:ln/>
        </p:spPr>
        <p:txBody>
          <a:bodyPr wrap="none" lIns="0" tIns="0" rIns="0" bIns="0" rtlCol="0" anchor="ctr"/>
          <a:lstStyle/>
          <a:p>
            <a:pPr algn="l" indent="0" marL="0">
              <a:lnSpc>
                <a:spcPct val="100000"/>
              </a:lnSpc>
              <a:buNone/>
            </a:pPr>
            <a:r>
              <a:rPr lang="en-US" sz="1450" dirty="0">
                <a:solidFill>
                  <a:srgbClr val="1C1C1C"/>
                </a:solidFill>
                <a:latin typeface="Orbitron" pitchFamily="34" charset="0"/>
                <a:ea typeface="Orbitron" pitchFamily="34" charset="-122"/>
                <a:cs typeface="Orbitron" pitchFamily="34" charset="-120"/>
              </a:rPr>
              <a:t>01</a:t>
            </a:r>
            <a:endParaRPr lang="en-US" sz="1450" dirty="0"/>
          </a:p>
        </p:txBody>
      </p:sp>
      <p:sp>
        <p:nvSpPr>
          <p:cNvPr id="4" name="Shape 2"/>
          <p:cNvSpPr/>
          <p:nvPr/>
        </p:nvSpPr>
        <p:spPr>
          <a:xfrm>
            <a:off x="661475" y="2759373"/>
            <a:ext cx="5339820" cy="25400"/>
          </a:xfrm>
          <a:prstGeom prst="rect">
            <a:avLst/>
          </a:prstGeom>
          <a:solidFill>
            <a:srgbClr val="57A1EB"/>
          </a:solidFill>
          <a:ln/>
        </p:spPr>
      </p:sp>
      <p:sp>
        <p:nvSpPr>
          <p:cNvPr id="5" name="Text 3"/>
          <p:cNvSpPr/>
          <p:nvPr/>
        </p:nvSpPr>
        <p:spPr>
          <a:xfrm>
            <a:off x="661475" y="2904629"/>
            <a:ext cx="5339820"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Every number becomes a question</a:t>
            </a:r>
            <a:endParaRPr lang="en-US" sz="1850" dirty="0"/>
          </a:p>
        </p:txBody>
      </p:sp>
      <p:sp>
        <p:nvSpPr>
          <p:cNvPr id="6" name="Text 4"/>
          <p:cNvSpPr/>
          <p:nvPr/>
        </p:nvSpPr>
        <p:spPr>
          <a:xfrm>
            <a:off x="661475" y="3313311"/>
            <a:ext cx="5339820" cy="30241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Every number in yesterday's program becomes a question</a:t>
            </a:r>
            <a:endParaRPr lang="en-US" sz="1450" dirty="0"/>
          </a:p>
        </p:txBody>
      </p:sp>
      <p:sp>
        <p:nvSpPr>
          <p:cNvPr id="7" name="Text 5"/>
          <p:cNvSpPr/>
          <p:nvPr/>
        </p:nvSpPr>
        <p:spPr>
          <a:xfrm>
            <a:off x="6190301" y="2463502"/>
            <a:ext cx="378014" cy="236240"/>
          </a:xfrm>
          <a:prstGeom prst="rect">
            <a:avLst/>
          </a:prstGeom>
          <a:noFill/>
          <a:ln/>
        </p:spPr>
        <p:txBody>
          <a:bodyPr wrap="none" lIns="0" tIns="0" rIns="0" bIns="0" rtlCol="0" anchor="ctr"/>
          <a:lstStyle/>
          <a:p>
            <a:pPr algn="l" indent="0" marL="0">
              <a:lnSpc>
                <a:spcPct val="100000"/>
              </a:lnSpc>
              <a:buNone/>
            </a:pPr>
            <a:r>
              <a:rPr lang="en-US" sz="1450" dirty="0">
                <a:solidFill>
                  <a:srgbClr val="1C1C1C"/>
                </a:solidFill>
                <a:latin typeface="Orbitron" pitchFamily="34" charset="0"/>
                <a:ea typeface="Orbitron" pitchFamily="34" charset="-122"/>
                <a:cs typeface="Orbitron" pitchFamily="34" charset="-120"/>
              </a:rPr>
              <a:t>02</a:t>
            </a:r>
            <a:endParaRPr lang="en-US" sz="1450" dirty="0"/>
          </a:p>
        </p:txBody>
      </p:sp>
      <p:sp>
        <p:nvSpPr>
          <p:cNvPr id="8" name="Shape 6"/>
          <p:cNvSpPr/>
          <p:nvPr/>
        </p:nvSpPr>
        <p:spPr>
          <a:xfrm>
            <a:off x="6190301" y="2759373"/>
            <a:ext cx="5339919" cy="25400"/>
          </a:xfrm>
          <a:prstGeom prst="rect">
            <a:avLst/>
          </a:prstGeom>
          <a:solidFill>
            <a:srgbClr val="57A1EB"/>
          </a:solidFill>
          <a:ln/>
        </p:spPr>
      </p:sp>
      <p:sp>
        <p:nvSpPr>
          <p:cNvPr id="9" name="Text 7"/>
          <p:cNvSpPr/>
          <p:nvPr/>
        </p:nvSpPr>
        <p:spPr>
          <a:xfrm>
            <a:off x="6190301" y="2904629"/>
            <a:ext cx="5339919"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Convert on the way in</a:t>
            </a:r>
            <a:endParaRPr lang="en-US" sz="1850" dirty="0"/>
          </a:p>
        </p:txBody>
      </p:sp>
      <p:sp>
        <p:nvSpPr>
          <p:cNvPr id="10" name="Text 8"/>
          <p:cNvSpPr/>
          <p:nvPr/>
        </p:nvSpPr>
        <p:spPr>
          <a:xfrm>
            <a:off x="6190301" y="3313311"/>
            <a:ext cx="5339919" cy="30241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Every one converted on the way in</a:t>
            </a:r>
            <a:endParaRPr lang="en-US" sz="1450" dirty="0"/>
          </a:p>
        </p:txBody>
      </p:sp>
      <p:sp>
        <p:nvSpPr>
          <p:cNvPr id="11" name="Text 9"/>
          <p:cNvSpPr/>
          <p:nvPr/>
        </p:nvSpPr>
        <p:spPr>
          <a:xfrm>
            <a:off x="661475" y="3946426"/>
            <a:ext cx="378014" cy="236240"/>
          </a:xfrm>
          <a:prstGeom prst="rect">
            <a:avLst/>
          </a:prstGeom>
          <a:noFill/>
          <a:ln/>
        </p:spPr>
        <p:txBody>
          <a:bodyPr wrap="none" lIns="0" tIns="0" rIns="0" bIns="0" rtlCol="0" anchor="ctr"/>
          <a:lstStyle/>
          <a:p>
            <a:pPr algn="l" indent="0" marL="0">
              <a:lnSpc>
                <a:spcPct val="100000"/>
              </a:lnSpc>
              <a:buNone/>
            </a:pPr>
            <a:r>
              <a:rPr lang="en-US" sz="1450" dirty="0">
                <a:solidFill>
                  <a:srgbClr val="1C1C1C"/>
                </a:solidFill>
                <a:latin typeface="Orbitron" pitchFamily="34" charset="0"/>
                <a:ea typeface="Orbitron" pitchFamily="34" charset="-122"/>
                <a:cs typeface="Orbitron" pitchFamily="34" charset="-120"/>
              </a:rPr>
              <a:t>03</a:t>
            </a:r>
            <a:endParaRPr lang="en-US" sz="1450" dirty="0"/>
          </a:p>
        </p:txBody>
      </p:sp>
      <p:sp>
        <p:nvSpPr>
          <p:cNvPr id="12" name="Shape 10"/>
          <p:cNvSpPr/>
          <p:nvPr/>
        </p:nvSpPr>
        <p:spPr>
          <a:xfrm>
            <a:off x="661475" y="4242296"/>
            <a:ext cx="5339820" cy="25400"/>
          </a:xfrm>
          <a:prstGeom prst="rect">
            <a:avLst/>
          </a:prstGeom>
          <a:solidFill>
            <a:srgbClr val="57A1EB"/>
          </a:solidFill>
          <a:ln/>
        </p:spPr>
      </p:sp>
      <p:sp>
        <p:nvSpPr>
          <p:cNvPr id="13" name="Text 11"/>
          <p:cNvSpPr/>
          <p:nvPr/>
        </p:nvSpPr>
        <p:spPr>
          <a:xfrm>
            <a:off x="661475" y="4387552"/>
            <a:ext cx="5339820"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Lab U1-01, steps seven through twelve</a:t>
            </a:r>
            <a:endParaRPr lang="en-US" sz="1850" dirty="0"/>
          </a:p>
        </p:txBody>
      </p:sp>
      <p:sp>
        <p:nvSpPr>
          <p:cNvPr id="14" name="Text 12"/>
          <p:cNvSpPr/>
          <p:nvPr/>
        </p:nvSpPr>
        <p:spPr>
          <a:xfrm>
            <a:off x="661475" y="4796234"/>
            <a:ext cx="5339820" cy="30241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Then lab U1-01, steps seven through twelve</a:t>
            </a:r>
            <a:endParaRPr lang="en-US" sz="1450" dirty="0"/>
          </a:p>
        </p:txBody>
      </p:sp>
      <p:sp>
        <p:nvSpPr>
          <p:cNvPr id="15" name="Text 13"/>
          <p:cNvSpPr/>
          <p:nvPr/>
        </p:nvSpPr>
        <p:spPr>
          <a:xfrm>
            <a:off x="6190301" y="3946426"/>
            <a:ext cx="378014" cy="236240"/>
          </a:xfrm>
          <a:prstGeom prst="rect">
            <a:avLst/>
          </a:prstGeom>
          <a:noFill/>
          <a:ln/>
        </p:spPr>
        <p:txBody>
          <a:bodyPr wrap="none" lIns="0" tIns="0" rIns="0" bIns="0" rtlCol="0" anchor="ctr"/>
          <a:lstStyle/>
          <a:p>
            <a:pPr algn="l" indent="0" marL="0">
              <a:lnSpc>
                <a:spcPct val="100000"/>
              </a:lnSpc>
              <a:buNone/>
            </a:pPr>
            <a:r>
              <a:rPr lang="en-US" sz="1450" dirty="0">
                <a:solidFill>
                  <a:srgbClr val="1C1C1C"/>
                </a:solidFill>
                <a:latin typeface="Orbitron" pitchFamily="34" charset="0"/>
                <a:ea typeface="Orbitron" pitchFamily="34" charset="-122"/>
                <a:cs typeface="Orbitron" pitchFamily="34" charset="-120"/>
              </a:rPr>
              <a:t>04</a:t>
            </a:r>
            <a:endParaRPr lang="en-US" sz="1450" dirty="0"/>
          </a:p>
        </p:txBody>
      </p:sp>
      <p:sp>
        <p:nvSpPr>
          <p:cNvPr id="16" name="Shape 14"/>
          <p:cNvSpPr/>
          <p:nvPr/>
        </p:nvSpPr>
        <p:spPr>
          <a:xfrm>
            <a:off x="6190301" y="4242296"/>
            <a:ext cx="5339919" cy="25400"/>
          </a:xfrm>
          <a:prstGeom prst="rect">
            <a:avLst/>
          </a:prstGeom>
          <a:solidFill>
            <a:srgbClr val="57A1EB"/>
          </a:solidFill>
          <a:ln/>
        </p:spPr>
      </p:sp>
      <p:sp>
        <p:nvSpPr>
          <p:cNvPr id="17" name="Text 15"/>
          <p:cNvSpPr/>
          <p:nvPr/>
        </p:nvSpPr>
        <p:spPr>
          <a:xfrm>
            <a:off x="6190301" y="4387552"/>
            <a:ext cx="5339919"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Step eleven breaks it on purpose</a:t>
            </a:r>
            <a:endParaRPr lang="en-US" sz="1850" dirty="0"/>
          </a:p>
        </p:txBody>
      </p:sp>
      <p:sp>
        <p:nvSpPr>
          <p:cNvPr id="18" name="Text 16"/>
          <p:cNvSpPr/>
          <p:nvPr/>
        </p:nvSpPr>
        <p:spPr>
          <a:xfrm>
            <a:off x="6190301" y="4796234"/>
            <a:ext cx="5339919" cy="30241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Step eleven breaks it on purpose</a:t>
            </a:r>
            <a:endParaRPr lang="en-US" sz="1450" dirty="0"/>
          </a:p>
        </p:txBody>
      </p:sp>
      <p:sp>
        <p:nvSpPr>
          <p:cNvPr id="19" name="Text 17"/>
          <p:cNvSpPr/>
          <p:nvPr/>
        </p:nvSpPr>
        <p:spPr>
          <a:xfrm>
            <a:off x="132255" y="6457255"/>
            <a:ext cx="3640642" cy="158750"/>
          </a:xfrm>
          <a:prstGeom prst="rect">
            <a:avLst/>
          </a:prstGeom>
          <a:noFill/>
          <a:ln/>
        </p:spPr>
        <p:txBody>
          <a:bodyPr wrap="none" lIns="0" tIns="99235"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2026-09-01T16:11:05Z</dcterms:created>
  <dcterms:modified xsi:type="dcterms:W3CDTF">2026-09-01T16:11:05Z</dcterms:modified>
</cp:coreProperties>
</file>