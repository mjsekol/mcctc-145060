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everything you have built. Every value came from somebody typing. That is fine for a calculator with four questions. It is absurd for a club roster with three hundred members. And when the program ends, everything anyone typed is gone. Real data lives in files. Today your program learns to read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file does not give you the words in it. It gives you a handle, which is an object that knows how to read the file. Then you ask the handle for the text. Then you close it, which gives the file back to the operating system. On a four line program forgetting to close does nothing you will notice. On a real system it causes problems that are miserable to track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hands you the entire file as one big string. Look at the repr output. Right after the member code there is a backslash n. That is the line break, and it is an ordinary character sitting inside the string, the same as a letter. The file size of one hundred two is three lines of thirty three characters plus one newline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readline gives you one line at a time, and look at the end of it. The newline is included. That is why strip follows readline almost everywhere you will ever see it. If you forget, the newline is invisible until it lands somewhere it should not, like the middle of a sentence or the end of a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file uses a format called fixed width. Every field starts at the same position on every line, and short names are padded with spaces to fill their field. Plenty of older systems still export data this way. And it means you can read it with nothing but the slicing you learned last week. Slice the name, strip the padding, slice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letter wrong and Python tells you exactly what happened and exactly which name it looked for. That one is friendly. The next one is not, and it is the one that costs students real hours. I am going to run this same program from a different folder, spelled correctly, with the file sitting right there in the sidebar.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You can see the file in the editor two inches from the error that says it does not exist. Everything in front of you says the file is present. The one thing that matters, which folder your terminal is sitting in, is not visible anywhere on screen. Read the path in the error. It tells you exactly where Python looked. That path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has three lines and I asked for a fourth. No error. readline hands back an empty string at the end of a file, and every slice of an empty string is another empty string. Your report would print a blank member and keep going. That is the fourth time this course has shown you the bug that does not crash, and it will not be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Roster Reader lab. Read the file and report its size, then read each line and pull out the name, the season year, and the member number by position. You will copy the same block three times, and I want you to notice how that feels, because that feeling is why loops exist. Step eight asks you to read a line that is not there and write down what happened. Build two is the CLI Toolsmith.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Reading Data Out of a File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07244"/>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cannot type in three hundred members</a:t>
            </a:r>
            <a:endParaRPr lang="en-US" sz="3700" dirty="0"/>
          </a:p>
        </p:txBody>
      </p:sp>
      <p:sp>
        <p:nvSpPr>
          <p:cNvPr id="4" name="Shape 1"/>
          <p:cNvSpPr/>
          <p:nvPr/>
        </p:nvSpPr>
        <p:spPr>
          <a:xfrm>
            <a:off x="5233360" y="286265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92754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program so far asked a person</a:t>
            </a:r>
            <a:endParaRPr lang="en-US" sz="1850" dirty="0"/>
          </a:p>
        </p:txBody>
      </p:sp>
      <p:sp>
        <p:nvSpPr>
          <p:cNvPr id="6" name="Shape 3"/>
          <p:cNvSpPr/>
          <p:nvPr/>
        </p:nvSpPr>
        <p:spPr>
          <a:xfrm>
            <a:off x="5233360" y="366593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73082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works for four values</a:t>
            </a:r>
            <a:endParaRPr lang="en-US" sz="1850" dirty="0"/>
          </a:p>
        </p:txBody>
      </p:sp>
      <p:sp>
        <p:nvSpPr>
          <p:cNvPr id="8" name="Shape 5"/>
          <p:cNvSpPr/>
          <p:nvPr/>
        </p:nvSpPr>
        <p:spPr>
          <a:xfrm>
            <a:off x="5233360" y="446920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53409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does not work for a roster</a:t>
            </a:r>
            <a:endParaRPr lang="en-US" sz="1850" dirty="0"/>
          </a:p>
        </p:txBody>
      </p:sp>
      <p:sp>
        <p:nvSpPr>
          <p:cNvPr id="10" name="Shape 7"/>
          <p:cNvSpPr/>
          <p:nvPr/>
        </p:nvSpPr>
        <p:spPr>
          <a:xfrm>
            <a:off x="5233360" y="527248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33737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the data vanishes when the program ends</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313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steps, always in this order</a:t>
            </a:r>
            <a:endParaRPr lang="en-US" sz="3700" dirty="0"/>
          </a:p>
        </p:txBody>
      </p:sp>
      <p:pic>
        <p:nvPicPr>
          <p:cNvPr id="3" name="Image 0" descr="preencoded.png">    </p:cNvPr>
          <p:cNvPicPr>
            <a:picLocks noChangeAspect="1"/>
          </p:cNvPicPr>
          <p:nvPr/>
        </p:nvPicPr>
        <p:blipFill>
          <a:blip r:embed="rId1"/>
          <a:stretch>
            <a:fillRect/>
          </a:stretch>
        </p:blipFill>
        <p:spPr>
          <a:xfrm>
            <a:off x="2904060" y="1700014"/>
            <a:ext cx="6383575" cy="3788767"/>
          </a:xfrm>
          <a:prstGeom prst="rect">
            <a:avLst/>
          </a:prstGeom>
        </p:spPr>
      </p:pic>
      <p:sp>
        <p:nvSpPr>
          <p:cNvPr id="4" name="Text 1"/>
          <p:cNvSpPr/>
          <p:nvPr/>
        </p:nvSpPr>
        <p:spPr>
          <a:xfrm>
            <a:off x="7347124" y="4457112"/>
            <a:ext cx="1586812" cy="611372"/>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Close Handle</a:t>
            </a:r>
            <a:endParaRPr lang="en-US" sz="1900" dirty="0"/>
          </a:p>
        </p:txBody>
      </p:sp>
      <p:sp>
        <p:nvSpPr>
          <p:cNvPr id="5" name="Text 2"/>
          <p:cNvSpPr/>
          <p:nvPr/>
        </p:nvSpPr>
        <p:spPr>
          <a:xfrm>
            <a:off x="5347307" y="4457112"/>
            <a:ext cx="1586812" cy="611372"/>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Read Handle</a:t>
            </a:r>
            <a:endParaRPr lang="en-US" sz="1900" dirty="0"/>
          </a:p>
        </p:txBody>
      </p:sp>
      <p:sp>
        <p:nvSpPr>
          <p:cNvPr id="6" name="Text 3"/>
          <p:cNvSpPr/>
          <p:nvPr/>
        </p:nvSpPr>
        <p:spPr>
          <a:xfrm>
            <a:off x="3314884" y="4457112"/>
            <a:ext cx="1586812" cy="611372"/>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Open Handle</a:t>
            </a:r>
            <a:endParaRPr lang="en-US" sz="1900" dirty="0"/>
          </a:p>
        </p:txBody>
      </p:sp>
      <p:sp>
        <p:nvSpPr>
          <p:cNvPr id="7" name="Text 4"/>
          <p:cNvSpPr/>
          <p:nvPr/>
        </p:nvSpPr>
        <p:spPr>
          <a:xfrm>
            <a:off x="661475" y="5701407"/>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handle is not the contents.</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4044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C1C1C"/>
                </a:solidFill>
                <a:highlight>
                  <a:srgbClr val="F2F2F2"/>
                </a:highlight>
                <a:latin typeface="Consolas" pitchFamily="34" charset="0"/>
                <a:ea typeface="Consolas" pitchFamily="34" charset="-122"/>
                <a:cs typeface="Consolas" pitchFamily="34" charset="-120"/>
              </a:rPr>
              <a:t>read</a:t>
            </a:r>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 gives you everything as one string</a:t>
            </a:r>
            <a:endParaRPr lang="en-US" sz="3700" dirty="0"/>
          </a:p>
        </p:txBody>
      </p:sp>
      <p:sp>
        <p:nvSpPr>
          <p:cNvPr id="3" name="Shape 1"/>
          <p:cNvSpPr/>
          <p:nvPr/>
        </p:nvSpPr>
        <p:spPr>
          <a:xfrm>
            <a:off x="661475" y="2309118"/>
            <a:ext cx="10868745" cy="2192536"/>
          </a:xfrm>
          <a:prstGeom prst="roundRect">
            <a:avLst>
              <a:gd name="adj" fmla="val 3621"/>
            </a:avLst>
          </a:prstGeom>
          <a:solidFill>
            <a:srgbClr val="F2F2F2"/>
          </a:solidFill>
          <a:ln/>
        </p:spPr>
      </p:sp>
      <p:sp>
        <p:nvSpPr>
          <p:cNvPr id="4" name="Text 2"/>
          <p:cNvSpPr/>
          <p:nvPr/>
        </p:nvSpPr>
        <p:spPr>
          <a:xfrm>
            <a:off x="888283" y="2498130"/>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 = open("roster.txt")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contents = roster_file.read()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roster_file.close()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print(len(contents))          # 102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print(repr(contents[0:40]))</a:t>
            </a:r>
            <a:endParaRPr lang="en-US" sz="1450" dirty="0"/>
          </a:p>
        </p:txBody>
      </p:sp>
      <p:sp>
        <p:nvSpPr>
          <p:cNvPr id="5" name="Shape 3"/>
          <p:cNvSpPr/>
          <p:nvPr/>
        </p:nvSpPr>
        <p:spPr>
          <a:xfrm>
            <a:off x="661475" y="4714280"/>
            <a:ext cx="10868745" cy="680442"/>
          </a:xfrm>
          <a:prstGeom prst="roundRect">
            <a:avLst>
              <a:gd name="adj" fmla="val 11667"/>
            </a:avLst>
          </a:prstGeom>
          <a:solidFill>
            <a:srgbClr val="F2F2F2"/>
          </a:solidFill>
          <a:ln/>
        </p:spPr>
      </p:sp>
      <p:sp>
        <p:nvSpPr>
          <p:cNvPr id="6" name="Text 4"/>
          <p:cNvSpPr/>
          <p:nvPr/>
        </p:nvSpPr>
        <p:spPr>
          <a:xfrm>
            <a:off x="888283" y="490329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'Ava Ruiz            ROBO-2026-114\nMarcus'</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93862"/>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C1C1C"/>
                </a:solidFill>
                <a:highlight>
                  <a:srgbClr val="F2F2F2"/>
                </a:highlight>
                <a:latin typeface="Consolas" pitchFamily="34" charset="0"/>
                <a:ea typeface="Consolas" pitchFamily="34" charset="-122"/>
                <a:cs typeface="Consolas" pitchFamily="34" charset="-120"/>
              </a:rPr>
              <a:t>readline</a:t>
            </a:r>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 gives you one line, with its newline</a:t>
            </a:r>
            <a:endParaRPr lang="en-US" sz="3700" dirty="0"/>
          </a:p>
        </p:txBody>
      </p:sp>
      <p:sp>
        <p:nvSpPr>
          <p:cNvPr id="3" name="Shape 1"/>
          <p:cNvSpPr/>
          <p:nvPr/>
        </p:nvSpPr>
        <p:spPr>
          <a:xfrm>
            <a:off x="661475" y="2453184"/>
            <a:ext cx="10868745" cy="2192536"/>
          </a:xfrm>
          <a:prstGeom prst="roundRect">
            <a:avLst>
              <a:gd name="adj" fmla="val 3621"/>
            </a:avLst>
          </a:prstGeom>
          <a:solidFill>
            <a:srgbClr val="F2F2F2"/>
          </a:solidFill>
          <a:ln/>
        </p:spPr>
      </p:sp>
      <p:sp>
        <p:nvSpPr>
          <p:cNvPr id="4" name="Text 2"/>
          <p:cNvSpPr/>
          <p:nvPr/>
        </p:nvSpPr>
        <p:spPr>
          <a:xfrm>
            <a:off x="888283" y="2642195"/>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 = open("roster.txt")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first = roster_file.readline()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roster_file.close()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print(repr(first))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print(repr(first.strip()))</a:t>
            </a:r>
            <a:endParaRPr lang="en-US" sz="1450" dirty="0"/>
          </a:p>
        </p:txBody>
      </p:sp>
      <p:sp>
        <p:nvSpPr>
          <p:cNvPr id="5" name="Shape 3"/>
          <p:cNvSpPr/>
          <p:nvPr/>
        </p:nvSpPr>
        <p:spPr>
          <a:xfrm>
            <a:off x="661475" y="4858345"/>
            <a:ext cx="10868745" cy="982861"/>
          </a:xfrm>
          <a:prstGeom prst="roundRect">
            <a:avLst>
              <a:gd name="adj" fmla="val 8077"/>
            </a:avLst>
          </a:prstGeom>
          <a:solidFill>
            <a:srgbClr val="F2F2F2"/>
          </a:solidFill>
          <a:ln/>
        </p:spPr>
      </p:sp>
      <p:sp>
        <p:nvSpPr>
          <p:cNvPr id="6" name="Text 4"/>
          <p:cNvSpPr/>
          <p:nvPr/>
        </p:nvSpPr>
        <p:spPr>
          <a:xfrm>
            <a:off x="888283" y="5047357"/>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'Ava Ruiz            ROBO-2026-114\n'</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'Ava Ruiz            ROBO-2026-114'</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fixed-width file is built for slicing</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368252"/>
            <a:ext cx="6296860" cy="724098"/>
          </a:xfrm>
          <a:prstGeom prst="rect">
            <a:avLst/>
          </a:prstGeom>
        </p:spPr>
      </p:pic>
      <p:sp>
        <p:nvSpPr>
          <p:cNvPr id="5" name="Text 1"/>
          <p:cNvSpPr/>
          <p:nvPr/>
        </p:nvSpPr>
        <p:spPr>
          <a:xfrm>
            <a:off x="5549364"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line has the same layout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362"/>
            <a:ext cx="6296860" cy="724098"/>
          </a:xfrm>
          <a:prstGeom prst="rect">
            <a:avLst/>
          </a:prstGeom>
        </p:spPr>
      </p:pic>
      <p:sp>
        <p:nvSpPr>
          <p:cNvPr id="7" name="Text 2"/>
          <p:cNvSpPr/>
          <p:nvPr/>
        </p:nvSpPr>
        <p:spPr>
          <a:xfrm>
            <a:off x="5549364"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in positions 0 to 19</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94473"/>
            <a:ext cx="6296860" cy="724098"/>
          </a:xfrm>
          <a:prstGeom prst="rect">
            <a:avLst/>
          </a:prstGeom>
        </p:spPr>
      </p:pic>
      <p:sp>
        <p:nvSpPr>
          <p:cNvPr id="9" name="Text 3"/>
          <p:cNvSpPr/>
          <p:nvPr/>
        </p:nvSpPr>
        <p:spPr>
          <a:xfrm>
            <a:off x="5549364"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Code in positions 20 to 32</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07583"/>
            <a:ext cx="6296860" cy="724098"/>
          </a:xfrm>
          <a:prstGeom prst="rect">
            <a:avLst/>
          </a:prstGeom>
        </p:spPr>
      </p:pic>
      <p:sp>
        <p:nvSpPr>
          <p:cNvPr id="11" name="Text 4"/>
          <p:cNvSpPr/>
          <p:nvPr/>
        </p:nvSpPr>
        <p:spPr>
          <a:xfrm>
            <a:off x="5549364"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Week 3 slicing reads it directly</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964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break it on purpose</a:t>
            </a:r>
            <a:endParaRPr lang="en-US" sz="3700" dirty="0"/>
          </a:p>
        </p:txBody>
      </p:sp>
      <p:sp>
        <p:nvSpPr>
          <p:cNvPr id="3" name="Shape 1"/>
          <p:cNvSpPr/>
          <p:nvPr/>
        </p:nvSpPr>
        <p:spPr>
          <a:xfrm>
            <a:off x="661475" y="3065165"/>
            <a:ext cx="10868745" cy="680442"/>
          </a:xfrm>
          <a:prstGeom prst="roundRect">
            <a:avLst>
              <a:gd name="adj" fmla="val 11667"/>
            </a:avLst>
          </a:prstGeom>
          <a:solidFill>
            <a:srgbClr val="F2F2F2"/>
          </a:solidFill>
          <a:ln/>
        </p:spPr>
      </p:sp>
      <p:sp>
        <p:nvSpPr>
          <p:cNvPr id="4" name="Text 2"/>
          <p:cNvSpPr/>
          <p:nvPr/>
        </p:nvSpPr>
        <p:spPr>
          <a:xfrm>
            <a:off x="888283" y="325417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 = open("rooster.txt")</a:t>
            </a:r>
            <a:endParaRPr lang="en-US" sz="1450" dirty="0"/>
          </a:p>
        </p:txBody>
      </p:sp>
      <p:sp>
        <p:nvSpPr>
          <p:cNvPr id="5" name="Shape 3"/>
          <p:cNvSpPr/>
          <p:nvPr/>
        </p:nvSpPr>
        <p:spPr>
          <a:xfrm>
            <a:off x="661475" y="3958233"/>
            <a:ext cx="10868745" cy="680442"/>
          </a:xfrm>
          <a:prstGeom prst="roundRect">
            <a:avLst>
              <a:gd name="adj" fmla="val 11667"/>
            </a:avLst>
          </a:prstGeom>
          <a:solidFill>
            <a:srgbClr val="F2F2F2"/>
          </a:solidFill>
          <a:ln/>
        </p:spPr>
      </p:sp>
      <p:sp>
        <p:nvSpPr>
          <p:cNvPr id="6" name="Text 4"/>
          <p:cNvSpPr/>
          <p:nvPr/>
        </p:nvSpPr>
        <p:spPr>
          <a:xfrm>
            <a:off x="888283" y="414724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FileNotFoundError: [Errno 2] No such file or directory: 'rooster.txt'</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09402"/>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file is right there and Python cannot find it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670671"/>
            <a:ext cx="283461" cy="283468"/>
          </a:xfrm>
          <a:prstGeom prst="rect">
            <a:avLst/>
          </a:prstGeom>
        </p:spPr>
      </p:pic>
      <p:sp>
        <p:nvSpPr>
          <p:cNvPr id="5" name="Text 1"/>
          <p:cNvSpPr/>
          <p:nvPr/>
        </p:nvSpPr>
        <p:spPr>
          <a:xfrm>
            <a:off x="1275723" y="266481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name is looked up from where you ran the program</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639245"/>
            <a:ext cx="283461" cy="283468"/>
          </a:xfrm>
          <a:prstGeom prst="rect">
            <a:avLst/>
          </a:prstGeom>
        </p:spPr>
      </p:pic>
      <p:sp>
        <p:nvSpPr>
          <p:cNvPr id="7" name="Text 2"/>
          <p:cNvSpPr/>
          <p:nvPr/>
        </p:nvSpPr>
        <p:spPr>
          <a:xfrm>
            <a:off x="1275723" y="363339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from where the program file lives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590157"/>
            <a:ext cx="283461" cy="283468"/>
          </a:xfrm>
          <a:prstGeom prst="rect">
            <a:avLst/>
          </a:prstGeom>
        </p:spPr>
      </p:pic>
      <p:sp>
        <p:nvSpPr>
          <p:cNvPr id="9" name="Text 3"/>
          <p:cNvSpPr/>
          <p:nvPr/>
        </p:nvSpPr>
        <p:spPr>
          <a:xfrm>
            <a:off x="1275723" y="458430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error message prints the path it tried</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541070"/>
            <a:ext cx="283461" cy="283468"/>
          </a:xfrm>
          <a:prstGeom prst="rect">
            <a:avLst/>
          </a:prstGeom>
        </p:spPr>
      </p:pic>
      <p:sp>
        <p:nvSpPr>
          <p:cNvPr id="11" name="Text 4"/>
          <p:cNvSpPr/>
          <p:nvPr/>
        </p:nvSpPr>
        <p:spPr>
          <a:xfrm>
            <a:off x="1275723" y="5535216"/>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Compare that path to where the file really is</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Reading past the end does not crash</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 = open("roster.txt")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roster_file.readline()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roster_file.readline()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roster_file.readline()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extra = roster_file.readline()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roster_file.close()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print(repr(extra))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print(repr(extra[0:20]))       #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56148"/>
            <a:ext cx="6296860" cy="25400"/>
          </a:xfrm>
          <a:prstGeom prst="rect">
            <a:avLst/>
          </a:prstGeom>
          <a:solidFill>
            <a:srgbClr val="57A1EB"/>
          </a:solidFill>
          <a:ln/>
        </p:spPr>
      </p:sp>
      <p:sp>
        <p:nvSpPr>
          <p:cNvPr id="6" name="Text 3"/>
          <p:cNvSpPr/>
          <p:nvPr/>
        </p:nvSpPr>
        <p:spPr>
          <a:xfrm>
            <a:off x="661475"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U1-03, the Roster Reader</a:t>
            </a:r>
            <a:endParaRPr lang="en-US" sz="1850" dirty="0"/>
          </a:p>
        </p:txBody>
      </p:sp>
      <p:sp>
        <p:nvSpPr>
          <p:cNvPr id="7" name="Text 4"/>
          <p:cNvSpPr/>
          <p:nvPr/>
        </p:nvSpPr>
        <p:spPr>
          <a:xfrm>
            <a:off x="661475"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23245"/>
            <a:ext cx="6296860" cy="25400"/>
          </a:xfrm>
          <a:prstGeom prst="rect">
            <a:avLst/>
          </a:prstGeom>
          <a:solidFill>
            <a:srgbClr val="57A1EB"/>
          </a:solidFill>
          <a:ln/>
        </p:spPr>
      </p:sp>
      <p:sp>
        <p:nvSpPr>
          <p:cNvPr id="9" name="Text 6"/>
          <p:cNvSpPr/>
          <p:nvPr/>
        </p:nvSpPr>
        <p:spPr>
          <a:xfrm>
            <a:off x="661475"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the file, report its size</a:t>
            </a:r>
            <a:endParaRPr lang="en-US" sz="18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Slice each member apart, strip the padding</a:t>
            </a:r>
            <a:endParaRPr lang="en-US" sz="1850" dirty="0"/>
          </a:p>
        </p:txBody>
      </p:sp>
      <p:sp>
        <p:nvSpPr>
          <p:cNvPr id="13" name="Text 10"/>
          <p:cNvSpPr/>
          <p:nvPr/>
        </p:nvSpPr>
        <p:spPr>
          <a:xfrm>
            <a:off x="661475"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57441"/>
            <a:ext cx="6296860" cy="25400"/>
          </a:xfrm>
          <a:prstGeom prst="rect">
            <a:avLst/>
          </a:prstGeom>
          <a:solidFill>
            <a:srgbClr val="57A1EB"/>
          </a:solidFill>
          <a:ln/>
        </p:spPr>
      </p:sp>
      <p:sp>
        <p:nvSpPr>
          <p:cNvPr id="15" name="Text 12"/>
          <p:cNvSpPr/>
          <p:nvPr/>
        </p:nvSpPr>
        <p:spPr>
          <a:xfrm>
            <a:off x="661475"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Record what a fourth readline gives you</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2026-09-14T17:54:48Z</dcterms:created>
  <dcterms:modified xsi:type="dcterms:W3CDTF">2026-09-14T17:54:48Z</dcterms:modified>
</cp:coreProperties>
</file>