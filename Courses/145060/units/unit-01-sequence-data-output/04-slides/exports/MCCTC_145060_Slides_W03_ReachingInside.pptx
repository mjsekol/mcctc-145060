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that code. It is one string as far as Python is concerned, and it is three pieces of information as far as a human is concerned. Your club code, a licence plate, a flight number, a tracking number, a student ID. All of them do this. Today you learn how to reach in and take one piece out, and you learn the one counting rule that everybody gets wrong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down, because it stays on the board all week. Every character sits at a position and the first one is zero, not one. That feels wrong for about two days and then it never bothers you again. The reason is that the position number is really a distance from the start, and the first character is zero away from the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with one number gives you one character. Negative one counts backwards from the end, which is often exactly what you want and saves you doing arithmetic. And len tells you how many characters there are. Notice the trap in those last two lines. The length is eleven and the last position is ten. There is no position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separated by a colon gives you a range. Leave the first one out and it means from the start. Leave the second out and it means to the end. Now here is the rule that the whole day depends on and I am going to say it the same way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first number, up to but not including the second. Say it with me. From the first number, up to but not including the second. I am going to say that phrase identically every time this week and I want it in your head by Friday, because the mistake it prevents does not produce an error message. It produces a wrong answer that looks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the year out of that code. The year starts at position five. I am going to write five to eight, because there are four digits and five plus four is nine, no wait, I will write eight and see. Predict what comes out before I press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No red text. Nothing anywhere on this screen tells you something went wrong. The year is missing its last digit and the program is perfectly happy. Position eight holds the six, and the slice stops before eight, so the six never made it. The fix is five to nine, and position nine is the second dash, which is exactly what we do not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notice the pattern rather than the three examples. Three times in three weeks, a program has done exactly what it was told, produced output, and been wrong. Not one of them raised an error. Start assuming that a program producing output is a completely different claim from a program producing the right output. That assumption is what separates people who can debug from people who can only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Reaching for one character past the end raises an error, because Python cannot invent a character that is not there. Slicing past the end does not, because a range is clipped to whatever exists. That asymmetry is worth knowing for a practical reason. A slice will never crash on you. Which means a slice can be silently wrong, and an index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five extractions from five real-shaped strings, and the requirement that matters is writing the position map as a comment before you write the slice. Counting first is the whole defence against what you watched happen. Then the lab, steps six through ten. Step eight asks you to break your own slice deliberately and write down that it produced a wrong answer with no error. Do not skip it. That is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Taking a String Apart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One string, three facts inside it</a:t>
            </a:r>
            <a:endParaRPr lang="en-US" sz="2950" dirty="0"/>
          </a:p>
        </p:txBody>
      </p:sp>
      <p:sp>
        <p:nvSpPr>
          <p:cNvPr id="4" name="Text 1"/>
          <p:cNvSpPr/>
          <p:nvPr/>
        </p:nvSpPr>
        <p:spPr>
          <a:xfrm>
            <a:off x="5233360"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ROBO-2026-114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a club, a season, and a member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Packed into one value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need them separately</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45090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Every character has a number, starting at zero</a:t>
            </a:r>
            <a:endParaRPr lang="en-US" sz="2950" dirty="0"/>
          </a:p>
        </p:txBody>
      </p:sp>
      <p:sp>
        <p:nvSpPr>
          <p:cNvPr id="3" name="Shape 1"/>
          <p:cNvSpPr/>
          <p:nvPr/>
        </p:nvSpPr>
        <p:spPr>
          <a:xfrm>
            <a:off x="661475" y="3301405"/>
            <a:ext cx="10868745" cy="982861"/>
          </a:xfrm>
          <a:prstGeom prst="roundRect">
            <a:avLst>
              <a:gd name="adj" fmla="val 8077"/>
            </a:avLst>
          </a:prstGeom>
          <a:solidFill>
            <a:srgbClr val="F2F2F2"/>
          </a:solidFill>
          <a:ln/>
        </p:spPr>
      </p:sp>
      <p:sp>
        <p:nvSpPr>
          <p:cNvPr id="4" name="Text 2"/>
          <p:cNvSpPr/>
          <p:nvPr/>
        </p:nvSpPr>
        <p:spPr>
          <a:xfrm>
            <a:off x="888283" y="349041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  C  C  T  C  1  4  5  0  6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0  1  2  3  4  5  6  7  8  9  10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846064"/>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Asking for one character</a:t>
            </a:r>
            <a:endParaRPr lang="en-US" sz="2950" dirty="0"/>
          </a:p>
        </p:txBody>
      </p:sp>
      <p:sp>
        <p:nvSpPr>
          <p:cNvPr id="3" name="Shape 1"/>
          <p:cNvSpPr/>
          <p:nvPr/>
        </p:nvSpPr>
        <p:spPr>
          <a:xfrm>
            <a:off x="661475" y="2696567"/>
            <a:ext cx="10868745" cy="2192536"/>
          </a:xfrm>
          <a:prstGeom prst="roundRect">
            <a:avLst>
              <a:gd name="adj" fmla="val 3621"/>
            </a:avLst>
          </a:prstGeom>
          <a:solidFill>
            <a:srgbClr val="F2F2F2"/>
          </a:solidFill>
          <a:ln/>
        </p:spPr>
      </p:sp>
      <p:sp>
        <p:nvSpPr>
          <p:cNvPr id="4" name="Text 2"/>
          <p:cNvSpPr/>
          <p:nvPr/>
        </p:nvSpPr>
        <p:spPr>
          <a:xfrm>
            <a:off x="888283" y="2885579"/>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code = "MCCTC145060"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print(code[0])      # 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print(code[4])      # 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print(code[-1])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print(len(code))    # 11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29969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Asking for a range</a:t>
            </a:r>
            <a:endParaRPr lang="en-US" sz="2950" dirty="0"/>
          </a:p>
        </p:txBody>
      </p:sp>
      <p:sp>
        <p:nvSpPr>
          <p:cNvPr id="3" name="Shape 1"/>
          <p:cNvSpPr/>
          <p:nvPr/>
        </p:nvSpPr>
        <p:spPr>
          <a:xfrm>
            <a:off x="661475" y="3150195"/>
            <a:ext cx="10868745" cy="1285280"/>
          </a:xfrm>
          <a:prstGeom prst="roundRect">
            <a:avLst>
              <a:gd name="adj" fmla="val 6177"/>
            </a:avLst>
          </a:prstGeom>
          <a:solidFill>
            <a:srgbClr val="F2F2F2"/>
          </a:solidFill>
          <a:ln/>
        </p:spPr>
      </p:sp>
      <p:sp>
        <p:nvSpPr>
          <p:cNvPr id="4" name="Text 2"/>
          <p:cNvSpPr/>
          <p:nvPr/>
        </p:nvSpPr>
        <p:spPr>
          <a:xfrm>
            <a:off x="888283" y="3339207"/>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print(code[0:5])    # MCCTC</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print(code[5:])     # 145060</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print(code[:5])     # MCCTC</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85603"/>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Up to but not including</a:t>
            </a:r>
            <a:endParaRPr lang="en-US" sz="2950" dirty="0"/>
          </a:p>
        </p:txBody>
      </p:sp>
      <p:sp>
        <p:nvSpPr>
          <p:cNvPr id="4" name="Text 1"/>
          <p:cNvSpPr/>
          <p:nvPr/>
        </p:nvSpPr>
        <p:spPr>
          <a:xfrm>
            <a:off x="661475" y="304155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slice runs from the first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Up to but NOT including the second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code[0:5] gives positions 0, 1, 2, 3, 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Five characters. Not six</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45090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Watch this</a:t>
            </a:r>
            <a:endParaRPr lang="en-US" sz="2950" dirty="0"/>
          </a:p>
        </p:txBody>
      </p:sp>
      <p:sp>
        <p:nvSpPr>
          <p:cNvPr id="3" name="Shape 1"/>
          <p:cNvSpPr/>
          <p:nvPr/>
        </p:nvSpPr>
        <p:spPr>
          <a:xfrm>
            <a:off x="661475" y="3301405"/>
            <a:ext cx="10868745" cy="982861"/>
          </a:xfrm>
          <a:prstGeom prst="roundRect">
            <a:avLst>
              <a:gd name="adj" fmla="val 8077"/>
            </a:avLst>
          </a:prstGeom>
          <a:solidFill>
            <a:srgbClr val="F2F2F2"/>
          </a:solidFill>
          <a:ln/>
        </p:spPr>
      </p:sp>
      <p:sp>
        <p:nvSpPr>
          <p:cNvPr id="4" name="Text 2"/>
          <p:cNvSpPr/>
          <p:nvPr/>
        </p:nvSpPr>
        <p:spPr>
          <a:xfrm>
            <a:off x="888283" y="349041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code = "ROBO-2026-114"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print("Year is:", code[5:8])</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672953"/>
            <a:ext cx="3504219"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Two zero two</a:t>
            </a:r>
            <a:endParaRPr lang="en-US" sz="2950" dirty="0"/>
          </a:p>
        </p:txBody>
      </p:sp>
      <p:sp>
        <p:nvSpPr>
          <p:cNvPr id="3" name="Shape 1"/>
          <p:cNvSpPr/>
          <p:nvPr/>
        </p:nvSpPr>
        <p:spPr>
          <a:xfrm>
            <a:off x="661475" y="3358059"/>
            <a:ext cx="3504219" cy="680442"/>
          </a:xfrm>
          <a:prstGeom prst="roundRect">
            <a:avLst>
              <a:gd name="adj" fmla="val 11667"/>
            </a:avLst>
          </a:prstGeom>
          <a:solidFill>
            <a:srgbClr val="F2F2F2"/>
          </a:solidFill>
          <a:ln/>
        </p:spPr>
      </p:sp>
      <p:sp>
        <p:nvSpPr>
          <p:cNvPr id="4" name="Text 2"/>
          <p:cNvSpPr/>
          <p:nvPr/>
        </p:nvSpPr>
        <p:spPr>
          <a:xfrm>
            <a:off x="888283" y="3547070"/>
            <a:ext cx="3660187"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Year is: 202</a:t>
            </a:r>
            <a:endParaRPr lang="en-US" sz="1450" dirty="0"/>
          </a:p>
        </p:txBody>
      </p:sp>
      <p:pic>
        <p:nvPicPr>
          <p:cNvPr id="5" name="Image 0" descr="preencoded.png">    </p:cNvPr>
          <p:cNvPicPr>
            <a:picLocks noChangeAspect="1"/>
          </p:cNvPicPr>
          <p:nvPr/>
        </p:nvPicPr>
        <p:blipFill>
          <a:blip r:embed="rId1"/>
          <a:stretch>
            <a:fillRect/>
          </a:stretch>
        </p:blipFill>
        <p:spPr>
          <a:xfrm>
            <a:off x="4633201" y="1411585"/>
            <a:ext cx="6903269" cy="3911898"/>
          </a:xfrm>
          <a:prstGeom prst="rect">
            <a:avLst/>
          </a:prstGeom>
        </p:spPr>
      </p:pic>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You have seen this shape three times now</a:t>
            </a:r>
            <a:endParaRPr lang="en-US" sz="2950" dirty="0"/>
          </a:p>
        </p:txBody>
      </p:sp>
      <p:sp>
        <p:nvSpPr>
          <p:cNvPr id="4" name="Text 1"/>
          <p:cNvSpPr/>
          <p:nvPr/>
        </p:nvSpPr>
        <p:spPr>
          <a:xfrm>
            <a:off x="661475"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Week 2 Thursday: 121212 from a missing conversion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Week 2 Friday: two and a half people accepted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a year that lost a digit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 of them crashed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45090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one that does crash, and the one that does not</a:t>
            </a:r>
            <a:endParaRPr lang="en-US" sz="2950" dirty="0"/>
          </a:p>
        </p:txBody>
      </p:sp>
      <p:sp>
        <p:nvSpPr>
          <p:cNvPr id="3" name="Shape 1"/>
          <p:cNvSpPr/>
          <p:nvPr/>
        </p:nvSpPr>
        <p:spPr>
          <a:xfrm>
            <a:off x="661475" y="3301405"/>
            <a:ext cx="10868745" cy="982861"/>
          </a:xfrm>
          <a:prstGeom prst="roundRect">
            <a:avLst>
              <a:gd name="adj" fmla="val 8077"/>
            </a:avLst>
          </a:prstGeom>
          <a:solidFill>
            <a:srgbClr val="F2F2F2"/>
          </a:solidFill>
          <a:ln/>
        </p:spPr>
      </p:sp>
      <p:sp>
        <p:nvSpPr>
          <p:cNvPr id="4" name="Text 2"/>
          <p:cNvSpPr/>
          <p:nvPr/>
        </p:nvSpPr>
        <p:spPr>
          <a:xfrm>
            <a:off x="888283" y="349041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print("MCCTC"[5])      # IndexError: string index out of range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print("MCCTC"[0:99])   # MCCTC, no error at all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85603"/>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4" name="Text 1"/>
          <p:cNvSpPr/>
          <p:nvPr/>
        </p:nvSpPr>
        <p:spPr>
          <a:xfrm>
            <a:off x="5233360" y="304155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Five real codes, pull one named piece from 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the position numbers as a comment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lab U1-02, steps six through ten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Step eight breaks your own slice on purpose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2026-09-01T20:13:01Z</dcterms:created>
  <dcterms:modified xsi:type="dcterms:W3CDTF">2026-09-01T20:13:01Z</dcterms:modified>
</cp:coreProperties>
</file>