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club sign-in sheet has all three of these on it and they are the same human being. To you that is obvious. To a computer these are three completely unrelated strings that happen to share some letters. Today you learn the tools that fix that, and then you learn where those tools stop working, which is the more useful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call a method with a dot after the value. Strip removes whitespace from the two ends. Title capitalises the first letter of each word. And you can chain them, which is line two. Now look at line three, because that is the part that catches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mistake of the day. You call dot strip, you print the variable, and the spaces are still there, and you conclude that strip is broken. Strip is not broken. Strip made you a clean copy and you threw it away. Nothing in Python changes a string in place, ever. You have to catch what comes back with a name and an equals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proves nothing at all. Trailing spaces are invisible on a terminal, so you cannot tell whether strip did anything or whether it did nothing. Repr shows you the quote marks so you can see exactly where the string starts and stops. Whenever whitespace is the thing you are checking, wrap it in repr or you are only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tools and a fifth thing. The word in is not a method, it is an operator, and it hands you back True or False, which is the bool type from week two showing up for a reason. You will use in constantly starting in Unit Two when conditions arrive. For today it is enough to know it answers a yes or no question about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name of that method and then read the output. The two spaces in the middle are still there. Strip removes whitespace from the two ends and nothing else. An AI assistant told a student this week that strip removes all the spaces and gave an example output of Ava Ruiz jammed together. That was wrong, and one line in a terminal settles it in eight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I told you a slice never crashes. An index does. Position five does not exist in a five character string, because the positions are zero through four. This is the friendly failure. It stops immediately and tells you exactly where. Compare that with yesterday's year that quietly lost a digit and said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one is wrong. The second one happens to be right, by luck. The third is wrong for almost everybody who has that name. There is no method that gets all of these right and there is not going to be one. Names are one of the genuinely hard problems in software, and people whose names break systems deal with this constantly, at the doctor, at the bank, on every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working developer actually does. Not find a perfect solution, because there is not one. They find out where their thing breaks, they write it down honestly in the documentation, and the next person is warned. That is why every lab this week asks you to name one input your program gets wrong. It is not busywork and it is not you admitting failure. It is the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cleaner, tested on three specific messy inputs. Use repr at least once so you are checking rather than hoping. Then finish the lab. Step thirteen has you run your program on mcdonald, o brien, and van der berg, and record which one it mangles in your README under Known limitations. Do not fix it. Naming it is the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Cleaning Up What People Typed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77194"/>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Three people, one name, three spellings</a:t>
            </a:r>
            <a:endParaRPr lang="en-US" sz="2950" dirty="0"/>
          </a:p>
        </p:txBody>
      </p:sp>
      <p:sp>
        <p:nvSpPr>
          <p:cNvPr id="4" name="Shape 1"/>
          <p:cNvSpPr/>
          <p:nvPr/>
        </p:nvSpPr>
        <p:spPr>
          <a:xfrm>
            <a:off x="661475" y="2905621"/>
            <a:ext cx="3053877"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875881" y="3120033"/>
            <a:ext cx="26250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 ruiz</a:t>
            </a:r>
            <a:endParaRPr lang="en-US" sz="1850" dirty="0"/>
          </a:p>
        </p:txBody>
      </p:sp>
      <p:sp>
        <p:nvSpPr>
          <p:cNvPr id="6" name="Shape 3"/>
          <p:cNvSpPr/>
          <p:nvPr/>
        </p:nvSpPr>
        <p:spPr>
          <a:xfrm>
            <a:off x="3904359" y="2905621"/>
            <a:ext cx="3053976"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4118765" y="3120033"/>
            <a:ext cx="26251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 RUIZ</a:t>
            </a:r>
            <a:endParaRPr lang="en-US" sz="1850" dirty="0"/>
          </a:p>
        </p:txBody>
      </p:sp>
      <p:sp>
        <p:nvSpPr>
          <p:cNvPr id="8" name="Shape 5"/>
          <p:cNvSpPr/>
          <p:nvPr/>
        </p:nvSpPr>
        <p:spPr>
          <a:xfrm>
            <a:off x="661475" y="3818731"/>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033143"/>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spaces) Ava Ruiz (two spaces)</a:t>
            </a:r>
            <a:endParaRPr lang="en-US" sz="1850" dirty="0"/>
          </a:p>
        </p:txBody>
      </p:sp>
      <p:sp>
        <p:nvSpPr>
          <p:cNvPr id="10" name="Text 7"/>
          <p:cNvSpPr/>
          <p:nvPr/>
        </p:nvSpPr>
        <p:spPr>
          <a:xfrm>
            <a:off x="661475" y="4755455"/>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Same person. Three different values.</a:t>
            </a:r>
            <a:endParaRPr lang="en-US" sz="1450" dirty="0"/>
          </a:p>
        </p:txBody>
      </p:sp>
      <p:sp>
        <p:nvSpPr>
          <p:cNvPr id="11"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9727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method is something a value does to itself</a:t>
            </a:r>
            <a:endParaRPr lang="en-US" sz="2950" dirty="0"/>
          </a:p>
        </p:txBody>
      </p:sp>
      <p:sp>
        <p:nvSpPr>
          <p:cNvPr id="3" name="Shape 1"/>
          <p:cNvSpPr/>
          <p:nvPr/>
        </p:nvSpPr>
        <p:spPr>
          <a:xfrm>
            <a:off x="661475" y="2847777"/>
            <a:ext cx="10868745" cy="1890117"/>
          </a:xfrm>
          <a:prstGeom prst="roundRect">
            <a:avLst>
              <a:gd name="adj" fmla="val 4200"/>
            </a:avLst>
          </a:prstGeom>
          <a:solidFill>
            <a:srgbClr val="F2F2F2"/>
          </a:solidFill>
          <a:ln/>
        </p:spPr>
      </p:sp>
      <p:sp>
        <p:nvSpPr>
          <p:cNvPr id="4" name="Text 2"/>
          <p:cNvSpPr/>
          <p:nvPr/>
        </p:nvSpPr>
        <p:spPr>
          <a:xfrm>
            <a:off x="888283" y="303678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raw = "  ava RUIZ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print(repr(raw.strip()))            # 'ava 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print(repr(raw.strip().title()))    # 'Ava 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print(raw)                          # '  ava RUIZ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572022"/>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Methods hand back a copy</a:t>
            </a:r>
            <a:endParaRPr lang="en-US" sz="2950" dirty="0"/>
          </a:p>
        </p:txBody>
      </p:sp>
      <p:sp>
        <p:nvSpPr>
          <p:cNvPr id="4" name="Shape 1"/>
          <p:cNvSpPr/>
          <p:nvPr/>
        </p:nvSpPr>
        <p:spPr>
          <a:xfrm>
            <a:off x="661475" y="2327970"/>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3928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raw is exactly what it always was</a:t>
            </a:r>
            <a:endParaRPr lang="en-US" sz="1850" dirty="0"/>
          </a:p>
        </p:txBody>
      </p:sp>
      <p:sp>
        <p:nvSpPr>
          <p:cNvPr id="6" name="Shape 3"/>
          <p:cNvSpPr/>
          <p:nvPr/>
        </p:nvSpPr>
        <p:spPr>
          <a:xfrm>
            <a:off x="661475" y="3131245"/>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19613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strip did not change it</a:t>
            </a:r>
            <a:endParaRPr lang="en-US" sz="1850" dirty="0"/>
          </a:p>
        </p:txBody>
      </p:sp>
      <p:sp>
        <p:nvSpPr>
          <p:cNvPr id="8" name="Shape 5"/>
          <p:cNvSpPr/>
          <p:nvPr/>
        </p:nvSpPr>
        <p:spPr>
          <a:xfrm>
            <a:off x="661475" y="3934520"/>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399940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handed you a new string</a:t>
            </a:r>
            <a:endParaRPr lang="en-US" sz="1850" dirty="0"/>
          </a:p>
        </p:txBody>
      </p:sp>
      <p:sp>
        <p:nvSpPr>
          <p:cNvPr id="10" name="Shape 7"/>
          <p:cNvSpPr/>
          <p:nvPr/>
        </p:nvSpPr>
        <p:spPr>
          <a:xfrm>
            <a:off x="661475" y="4737795"/>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480268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you want to keep it, store it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45090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Why I keep wrapping things in repr</a:t>
            </a:r>
            <a:endParaRPr lang="en-US" sz="2950" dirty="0"/>
          </a:p>
        </p:txBody>
      </p:sp>
      <p:sp>
        <p:nvSpPr>
          <p:cNvPr id="3" name="Shape 1"/>
          <p:cNvSpPr/>
          <p:nvPr/>
        </p:nvSpPr>
        <p:spPr>
          <a:xfrm>
            <a:off x="661475" y="3301405"/>
            <a:ext cx="10868745" cy="982861"/>
          </a:xfrm>
          <a:prstGeom prst="roundRect">
            <a:avLst>
              <a:gd name="adj" fmla="val 8077"/>
            </a:avLst>
          </a:prstGeom>
          <a:solidFill>
            <a:srgbClr val="F2F2F2"/>
          </a:solidFill>
          <a:ln/>
        </p:spPr>
      </p:sp>
      <p:sp>
        <p:nvSpPr>
          <p:cNvPr id="4" name="Text 2"/>
          <p:cNvSpPr/>
          <p:nvPr/>
        </p:nvSpPr>
        <p:spPr>
          <a:xfrm>
            <a:off x="888283" y="349041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  Ava  ".strip())          # Ava</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print(repr("  Ava  ".strip()))    # 'Ava'</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9615"/>
            <a:ext cx="6296860" cy="457696"/>
          </a:xfrm>
          <a:prstGeom prst="rect">
            <a:avLst/>
          </a:prstGeom>
          <a:noFill/>
          <a:ln/>
        </p:spPr>
        <p:txBody>
          <a:bodyPr wrap="none" lIns="0" tIns="0" rIns="0" bIns="0" rtlCol="0" anchor="t"/>
          <a:lstStyle/>
          <a:p>
            <a:pPr algn="l" indent="0" marL="0">
              <a:lnSpc>
                <a:spcPct val="104000"/>
              </a:lnSpc>
              <a:buNone/>
            </a:pPr>
            <a:r>
              <a:rPr lang="en-US" sz="2850" b="1" dirty="0">
                <a:solidFill>
                  <a:srgbClr val="111111"/>
                </a:solidFill>
                <a:latin typeface="Orbitron Bold" pitchFamily="34" charset="0"/>
                <a:ea typeface="Orbitron Bold" pitchFamily="34" charset="-122"/>
                <a:cs typeface="Orbitron Bold" pitchFamily="34" charset="-120"/>
              </a:rPr>
              <a:t>The ones worth knowing</a:t>
            </a:r>
            <a:endParaRPr lang="en-US" sz="2850" dirty="0"/>
          </a:p>
        </p:txBody>
      </p:sp>
      <p:sp>
        <p:nvSpPr>
          <p:cNvPr id="4" name="Shape 1"/>
          <p:cNvSpPr/>
          <p:nvPr/>
        </p:nvSpPr>
        <p:spPr>
          <a:xfrm>
            <a:off x="5233360" y="1293316"/>
            <a:ext cx="6296860" cy="1085056"/>
          </a:xfrm>
          <a:prstGeom prst="roundRect">
            <a:avLst>
              <a:gd name="adj" fmla="val 7088"/>
            </a:avLst>
          </a:prstGeom>
          <a:solidFill>
            <a:srgbClr val="D1E5FA"/>
          </a:solidFill>
          <a:ln w="19050">
            <a:solidFill>
              <a:srgbClr val="B7CBE0"/>
            </a:solidFill>
            <a:prstDash val="solid"/>
          </a:ln>
        </p:spPr>
      </p:sp>
      <p:sp>
        <p:nvSpPr>
          <p:cNvPr id="5" name="Text 2"/>
          <p:cNvSpPr/>
          <p:nvPr/>
        </p:nvSpPr>
        <p:spPr>
          <a:xfrm>
            <a:off x="5435464" y="1495425"/>
            <a:ext cx="5892653"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strip</a:t>
            </a:r>
            <a:endParaRPr lang="en-US" sz="1800" dirty="0"/>
          </a:p>
        </p:txBody>
      </p:sp>
      <p:sp>
        <p:nvSpPr>
          <p:cNvPr id="6" name="Text 3"/>
          <p:cNvSpPr/>
          <p:nvPr/>
        </p:nvSpPr>
        <p:spPr>
          <a:xfrm>
            <a:off x="5435464" y="1887835"/>
            <a:ext cx="5892653"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Whitespace off both ends</a:t>
            </a:r>
            <a:endParaRPr lang="en-US" sz="1400" dirty="0"/>
          </a:p>
        </p:txBody>
      </p:sp>
      <p:sp>
        <p:nvSpPr>
          <p:cNvPr id="7" name="Shape 4"/>
          <p:cNvSpPr/>
          <p:nvPr/>
        </p:nvSpPr>
        <p:spPr>
          <a:xfrm>
            <a:off x="5233360" y="2555677"/>
            <a:ext cx="6296860" cy="1085056"/>
          </a:xfrm>
          <a:prstGeom prst="roundRect">
            <a:avLst>
              <a:gd name="adj" fmla="val 7088"/>
            </a:avLst>
          </a:prstGeom>
          <a:solidFill>
            <a:srgbClr val="D1E5FA"/>
          </a:solidFill>
          <a:ln w="19050">
            <a:solidFill>
              <a:srgbClr val="B7CBE0"/>
            </a:solidFill>
            <a:prstDash val="solid"/>
          </a:ln>
        </p:spPr>
      </p:sp>
      <p:sp>
        <p:nvSpPr>
          <p:cNvPr id="8" name="Text 5"/>
          <p:cNvSpPr/>
          <p:nvPr/>
        </p:nvSpPr>
        <p:spPr>
          <a:xfrm>
            <a:off x="5435464" y="2757785"/>
            <a:ext cx="5892653"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title, upper, lower</a:t>
            </a:r>
            <a:endParaRPr lang="en-US" sz="1800" dirty="0"/>
          </a:p>
        </p:txBody>
      </p:sp>
      <p:sp>
        <p:nvSpPr>
          <p:cNvPr id="9" name="Text 6"/>
          <p:cNvSpPr/>
          <p:nvPr/>
        </p:nvSpPr>
        <p:spPr>
          <a:xfrm>
            <a:off x="5435464" y="3150195"/>
            <a:ext cx="5892653"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Capitalisation</a:t>
            </a:r>
            <a:endParaRPr lang="en-US" sz="1400" dirty="0"/>
          </a:p>
        </p:txBody>
      </p:sp>
      <p:sp>
        <p:nvSpPr>
          <p:cNvPr id="10" name="Shape 7"/>
          <p:cNvSpPr/>
          <p:nvPr/>
        </p:nvSpPr>
        <p:spPr>
          <a:xfrm>
            <a:off x="5233360" y="3818037"/>
            <a:ext cx="6296860" cy="1085056"/>
          </a:xfrm>
          <a:prstGeom prst="roundRect">
            <a:avLst>
              <a:gd name="adj" fmla="val 7088"/>
            </a:avLst>
          </a:prstGeom>
          <a:solidFill>
            <a:srgbClr val="D1E5FA"/>
          </a:solidFill>
          <a:ln w="19050">
            <a:solidFill>
              <a:srgbClr val="B7CBE0"/>
            </a:solidFill>
            <a:prstDash val="solid"/>
          </a:ln>
        </p:spPr>
      </p:sp>
      <p:sp>
        <p:nvSpPr>
          <p:cNvPr id="11" name="Text 8"/>
          <p:cNvSpPr/>
          <p:nvPr/>
        </p:nvSpPr>
        <p:spPr>
          <a:xfrm>
            <a:off x="5435464" y="4020145"/>
            <a:ext cx="5892653"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replace</a:t>
            </a:r>
            <a:endParaRPr lang="en-US" sz="1800" dirty="0"/>
          </a:p>
        </p:txBody>
      </p:sp>
      <p:sp>
        <p:nvSpPr>
          <p:cNvPr id="12" name="Text 9"/>
          <p:cNvSpPr/>
          <p:nvPr/>
        </p:nvSpPr>
        <p:spPr>
          <a:xfrm>
            <a:off x="5435464" y="4412555"/>
            <a:ext cx="5892653"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Swap one piece of text for another</a:t>
            </a:r>
            <a:endParaRPr lang="en-US" sz="1400" dirty="0"/>
          </a:p>
        </p:txBody>
      </p:sp>
      <p:sp>
        <p:nvSpPr>
          <p:cNvPr id="13" name="Shape 10"/>
          <p:cNvSpPr/>
          <p:nvPr/>
        </p:nvSpPr>
        <p:spPr>
          <a:xfrm>
            <a:off x="5233360" y="5080397"/>
            <a:ext cx="6296860" cy="1085056"/>
          </a:xfrm>
          <a:prstGeom prst="roundRect">
            <a:avLst>
              <a:gd name="adj" fmla="val 7088"/>
            </a:avLst>
          </a:prstGeom>
          <a:solidFill>
            <a:srgbClr val="D1E5FA"/>
          </a:solidFill>
          <a:ln w="19050">
            <a:solidFill>
              <a:srgbClr val="B7CBE0"/>
            </a:solidFill>
            <a:prstDash val="solid"/>
          </a:ln>
        </p:spPr>
      </p:sp>
      <p:sp>
        <p:nvSpPr>
          <p:cNvPr id="14" name="Text 11"/>
          <p:cNvSpPr/>
          <p:nvPr/>
        </p:nvSpPr>
        <p:spPr>
          <a:xfrm>
            <a:off x="5435464" y="5282505"/>
            <a:ext cx="5892653"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in</a:t>
            </a:r>
            <a:endParaRPr lang="en-US" sz="1800" dirty="0"/>
          </a:p>
        </p:txBody>
      </p:sp>
      <p:sp>
        <p:nvSpPr>
          <p:cNvPr id="15" name="Text 12"/>
          <p:cNvSpPr/>
          <p:nvPr/>
        </p:nvSpPr>
        <p:spPr>
          <a:xfrm>
            <a:off x="5435464" y="5674916"/>
            <a:ext cx="5892653"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Is this text inside that text, True or False</a:t>
            </a:r>
            <a:endParaRPr lang="en-US" sz="14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155527"/>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strip does not do what its name suggests</a:t>
            </a:r>
            <a:endParaRPr lang="en-US" sz="2950" dirty="0"/>
          </a:p>
        </p:txBody>
      </p:sp>
      <p:sp>
        <p:nvSpPr>
          <p:cNvPr id="3" name="Shape 1"/>
          <p:cNvSpPr/>
          <p:nvPr/>
        </p:nvSpPr>
        <p:spPr>
          <a:xfrm>
            <a:off x="661475" y="3006030"/>
            <a:ext cx="10868745" cy="680442"/>
          </a:xfrm>
          <a:prstGeom prst="roundRect">
            <a:avLst>
              <a:gd name="adj" fmla="val 11667"/>
            </a:avLst>
          </a:prstGeom>
          <a:solidFill>
            <a:srgbClr val="F2F2F2"/>
          </a:solidFill>
          <a:ln/>
        </p:spPr>
      </p:sp>
      <p:sp>
        <p:nvSpPr>
          <p:cNvPr id="4" name="Text 2"/>
          <p:cNvSpPr/>
          <p:nvPr/>
        </p:nvSpPr>
        <p:spPr>
          <a:xfrm>
            <a:off x="888283" y="3195042"/>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print(repr("  Ava  Ruiz  ".strip()))</a:t>
            </a:r>
            <a:endParaRPr lang="en-US" sz="1450" dirty="0"/>
          </a:p>
        </p:txBody>
      </p:sp>
      <p:sp>
        <p:nvSpPr>
          <p:cNvPr id="5" name="Shape 3"/>
          <p:cNvSpPr/>
          <p:nvPr/>
        </p:nvSpPr>
        <p:spPr>
          <a:xfrm>
            <a:off x="661475" y="3899098"/>
            <a:ext cx="10868745" cy="680442"/>
          </a:xfrm>
          <a:prstGeom prst="roundRect">
            <a:avLst>
              <a:gd name="adj" fmla="val 11667"/>
            </a:avLst>
          </a:prstGeom>
          <a:solidFill>
            <a:srgbClr val="F2F2F2"/>
          </a:solidFill>
          <a:ln/>
        </p:spPr>
      </p:sp>
      <p:sp>
        <p:nvSpPr>
          <p:cNvPr id="6" name="Text 4"/>
          <p:cNvSpPr/>
          <p:nvPr/>
        </p:nvSpPr>
        <p:spPr>
          <a:xfrm>
            <a:off x="888283" y="4088110"/>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'Ava  Ruiz'</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04318"/>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Now I break it on purpose</a:t>
            </a:r>
            <a:endParaRPr lang="en-US" sz="2950" dirty="0"/>
          </a:p>
        </p:txBody>
      </p:sp>
      <p:sp>
        <p:nvSpPr>
          <p:cNvPr id="3" name="Shape 1"/>
          <p:cNvSpPr/>
          <p:nvPr/>
        </p:nvSpPr>
        <p:spPr>
          <a:xfrm>
            <a:off x="661475" y="2854821"/>
            <a:ext cx="10868745" cy="982861"/>
          </a:xfrm>
          <a:prstGeom prst="roundRect">
            <a:avLst>
              <a:gd name="adj" fmla="val 8077"/>
            </a:avLst>
          </a:prstGeom>
          <a:solidFill>
            <a:srgbClr val="F2F2F2"/>
          </a:solidFill>
          <a:ln/>
        </p:spPr>
      </p:sp>
      <p:sp>
        <p:nvSpPr>
          <p:cNvPr id="4" name="Text 2"/>
          <p:cNvSpPr/>
          <p:nvPr/>
        </p:nvSpPr>
        <p:spPr>
          <a:xfrm>
            <a:off x="888283" y="3043833"/>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code = "MCCTC"</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print(code[5])</a:t>
            </a:r>
            <a:endParaRPr lang="en-US" sz="1450" dirty="0"/>
          </a:p>
        </p:txBody>
      </p:sp>
      <p:sp>
        <p:nvSpPr>
          <p:cNvPr id="5" name="Shape 3"/>
          <p:cNvSpPr/>
          <p:nvPr/>
        </p:nvSpPr>
        <p:spPr>
          <a:xfrm>
            <a:off x="661475" y="4050308"/>
            <a:ext cx="10868745" cy="680442"/>
          </a:xfrm>
          <a:prstGeom prst="roundRect">
            <a:avLst>
              <a:gd name="adj" fmla="val 11667"/>
            </a:avLst>
          </a:prstGeom>
          <a:solidFill>
            <a:srgbClr val="F2F2F2"/>
          </a:solidFill>
          <a:ln/>
        </p:spPr>
      </p:sp>
      <p:sp>
        <p:nvSpPr>
          <p:cNvPr id="6" name="Text 4"/>
          <p:cNvSpPr/>
          <p:nvPr/>
        </p:nvSpPr>
        <p:spPr>
          <a:xfrm>
            <a:off x="888283" y="4239320"/>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IndexError: string index out of range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29969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Where these tools stop working</a:t>
            </a:r>
            <a:endParaRPr lang="en-US" sz="2950" dirty="0"/>
          </a:p>
        </p:txBody>
      </p:sp>
      <p:sp>
        <p:nvSpPr>
          <p:cNvPr id="3" name="Shape 1"/>
          <p:cNvSpPr/>
          <p:nvPr/>
        </p:nvSpPr>
        <p:spPr>
          <a:xfrm>
            <a:off x="661475" y="3150195"/>
            <a:ext cx="10868745" cy="1285280"/>
          </a:xfrm>
          <a:prstGeom prst="roundRect">
            <a:avLst>
              <a:gd name="adj" fmla="val 6177"/>
            </a:avLst>
          </a:prstGeom>
          <a:solidFill>
            <a:srgbClr val="F2F2F2"/>
          </a:solidFill>
          <a:ln/>
        </p:spPr>
      </p:sp>
      <p:sp>
        <p:nvSpPr>
          <p:cNvPr id="4" name="Text 2"/>
          <p:cNvSpPr/>
          <p:nvPr/>
        </p:nvSpPr>
        <p:spPr>
          <a:xfrm>
            <a:off x="888283" y="3339207"/>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print("mcdonald".title())        # Mcdonald</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print("o'brien".title())         # O'Brien</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print("van der berg".title())    # Van Der Berg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31677"/>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professional habit is not a better method</a:t>
            </a:r>
            <a:endParaRPr lang="en-US" sz="29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265958"/>
            <a:ext cx="283461" cy="283468"/>
          </a:xfrm>
          <a:prstGeom prst="rect">
            <a:avLst/>
          </a:prstGeom>
        </p:spPr>
      </p:pic>
      <p:sp>
        <p:nvSpPr>
          <p:cNvPr id="5" name="Text 1"/>
          <p:cNvSpPr/>
          <p:nvPr/>
        </p:nvSpPr>
        <p:spPr>
          <a:xfrm>
            <a:off x="1275723" y="226010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cleaning rule handles every name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216870"/>
            <a:ext cx="283461" cy="283468"/>
          </a:xfrm>
          <a:prstGeom prst="rect">
            <a:avLst/>
          </a:prstGeom>
        </p:spPr>
      </p:pic>
      <p:sp>
        <p:nvSpPr>
          <p:cNvPr id="7" name="Text 2"/>
          <p:cNvSpPr/>
          <p:nvPr/>
        </p:nvSpPr>
        <p:spPr>
          <a:xfrm>
            <a:off x="1275723" y="3211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will not find one. Stop looking.</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167783"/>
            <a:ext cx="283461" cy="283468"/>
          </a:xfrm>
          <a:prstGeom prst="rect">
            <a:avLst/>
          </a:prstGeom>
        </p:spPr>
      </p:pic>
      <p:sp>
        <p:nvSpPr>
          <p:cNvPr id="9" name="Text 3"/>
          <p:cNvSpPr/>
          <p:nvPr/>
        </p:nvSpPr>
        <p:spPr>
          <a:xfrm>
            <a:off x="1275723" y="416192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Know where yours fails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118695"/>
            <a:ext cx="283461" cy="283468"/>
          </a:xfrm>
          <a:prstGeom prst="rect">
            <a:avLst/>
          </a:prstGeom>
        </p:spPr>
      </p:pic>
      <p:sp>
        <p:nvSpPr>
          <p:cNvPr id="11" name="Text 4"/>
          <p:cNvSpPr/>
          <p:nvPr/>
        </p:nvSpPr>
        <p:spPr>
          <a:xfrm>
            <a:off x="1275723" y="5112841"/>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it down where the next person sees it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49920"/>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Text 1"/>
          <p:cNvSpPr/>
          <p:nvPr/>
        </p:nvSpPr>
        <p:spPr>
          <a:xfrm>
            <a:off x="5233360" y="170586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001738"/>
            <a:ext cx="6296860" cy="25400"/>
          </a:xfrm>
          <a:prstGeom prst="rect">
            <a:avLst/>
          </a:prstGeom>
          <a:solidFill>
            <a:srgbClr val="57A1EB"/>
          </a:solidFill>
          <a:ln/>
        </p:spPr>
      </p:sp>
      <p:sp>
        <p:nvSpPr>
          <p:cNvPr id="6" name="Text 3"/>
          <p:cNvSpPr/>
          <p:nvPr/>
        </p:nvSpPr>
        <p:spPr>
          <a:xfrm>
            <a:off x="5233360" y="2146995"/>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cleaner that handles spaces and capitals</a:t>
            </a:r>
            <a:endParaRPr lang="en-US" sz="1850" dirty="0"/>
          </a:p>
        </p:txBody>
      </p:sp>
      <p:sp>
        <p:nvSpPr>
          <p:cNvPr id="7" name="Text 4"/>
          <p:cNvSpPr/>
          <p:nvPr/>
        </p:nvSpPr>
        <p:spPr>
          <a:xfrm>
            <a:off x="5233360" y="277296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068836"/>
            <a:ext cx="6296860" cy="25400"/>
          </a:xfrm>
          <a:prstGeom prst="rect">
            <a:avLst/>
          </a:prstGeom>
          <a:solidFill>
            <a:srgbClr val="57A1EB"/>
          </a:solidFill>
          <a:ln/>
        </p:spPr>
      </p:sp>
      <p:sp>
        <p:nvSpPr>
          <p:cNvPr id="9" name="Text 6"/>
          <p:cNvSpPr/>
          <p:nvPr/>
        </p:nvSpPr>
        <p:spPr>
          <a:xfrm>
            <a:off x="5233360" y="321409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Prove it with repr, do not trust it</a:t>
            </a:r>
            <a:endParaRPr lang="en-US" sz="1850" dirty="0"/>
          </a:p>
        </p:txBody>
      </p:sp>
      <p:sp>
        <p:nvSpPr>
          <p:cNvPr id="10" name="Text 7"/>
          <p:cNvSpPr/>
          <p:nvPr/>
        </p:nvSpPr>
        <p:spPr>
          <a:xfrm>
            <a:off x="5233360" y="3840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135934"/>
            <a:ext cx="6296860" cy="25400"/>
          </a:xfrm>
          <a:prstGeom prst="rect">
            <a:avLst/>
          </a:prstGeom>
          <a:solidFill>
            <a:srgbClr val="57A1EB"/>
          </a:solidFill>
          <a:ln/>
        </p:spPr>
      </p:sp>
      <p:sp>
        <p:nvSpPr>
          <p:cNvPr id="12" name="Text 9"/>
          <p:cNvSpPr/>
          <p:nvPr/>
        </p:nvSpPr>
        <p:spPr>
          <a:xfrm>
            <a:off x="5233360" y="4281190"/>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lab U1-02, steps eleven through fourteen</a:t>
            </a:r>
            <a:endParaRPr lang="en-US" sz="1850" dirty="0"/>
          </a:p>
        </p:txBody>
      </p:sp>
      <p:sp>
        <p:nvSpPr>
          <p:cNvPr id="13" name="Text 10"/>
          <p:cNvSpPr/>
          <p:nvPr/>
        </p:nvSpPr>
        <p:spPr>
          <a:xfrm>
            <a:off x="5233360" y="490716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203031"/>
            <a:ext cx="6296860" cy="25400"/>
          </a:xfrm>
          <a:prstGeom prst="rect">
            <a:avLst/>
          </a:prstGeom>
          <a:solidFill>
            <a:srgbClr val="57A1EB"/>
          </a:solidFill>
          <a:ln/>
        </p:spPr>
      </p:sp>
      <p:sp>
        <p:nvSpPr>
          <p:cNvPr id="15" name="Text 12"/>
          <p:cNvSpPr/>
          <p:nvPr/>
        </p:nvSpPr>
        <p:spPr>
          <a:xfrm>
            <a:off x="5233360" y="5348288"/>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Step thirteen finds where your cleaner breaks</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2026-09-01T20:13:44Z</dcterms:created>
  <dcterms:modified xsi:type="dcterms:W3CDTF">2026-09-01T20:13:44Z</dcterms:modified>
</cp:coreProperties>
</file>