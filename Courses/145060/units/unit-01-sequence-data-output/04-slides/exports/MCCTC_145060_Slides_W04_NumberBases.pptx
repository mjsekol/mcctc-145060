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1695" cy="6858000"/>
  <p:notesSz cx="6858000" cy="12191695"/>
  <p:embeddedFontLst>
    <p:embeddedFont>
      <p:font typeface="Orbitron Bold"/>
      <p:regular r:id="rId201314"/>
    </p:embeddedFont>
    <p:embeddedFont>
      <p:font typeface="Roboto Condensed Bold"/>
      <p:regular r:id="rId201315"/>
    </p:embeddedFont>
    <p:embeddedFont>
      <p:font typeface="Roboto Condensed"/>
      <p:regular r:id="rId201316"/>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 Id="rId201316" Target="fonts/201316.fntdata" Type="http://schemas.openxmlformats.org/officeDocument/2006/relationships/font"/><Relationship Id="rId201317" Target="fonts/201317.fntdata" Type="http://schemas.openxmlformats.org/officeDocument/2006/relationships/font"/><Relationship Id="rId201318" Target="fonts/201318.fntdata" Type="http://schemas.openxmlformats.org/officeDocument/2006/relationships/font"/><Relationship Id="rId201319" Target="fonts/201319.fntdata" Type="http://schemas.openxmlformats.org/officeDocument/2006/relationships/font"/><Relationship Id="rId201320" Target="fonts/201320.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touch Python today, answer the bell ringer question out loud. Eight switches, each on or off. One switch gives two arrangements. Two give four. Each new switch doubles it. Eight switches give two hundred fifty six. That number is not arbitrary. It is a byte, and every limit you have ever seen that says 255 or 256 comes from counting switches. Today you learn to read the switches directly.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one idea for today. A number written on a page is two things at once: how much, and which counting system you used to write it down. Thirteen and one one zero one are not similar numbers. They are the same number. The way thirteen and trece are the same word in two languages. If you keep that straight, conversion stops being magic and becomes bookkeeping.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have done this since second grade without calling it anything. The one on the left is not worth one. It is in the tens place, so it is worth ten. Each place is worth ten times the place to its right. Binary uses exactly the same idea with one change, and that change is the whole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idea, but each place is worth two times the place to its right instead of ten. Ones, twos, fours, eights. Wherever there is a one, add that place's value. Wherever there is a zero, skip it. Eight plus four plus one is thirteen. That is the entire technique for binary to decimal and there is nothing else to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am going to do what somebody always does. Add up the digits. One plus one plus zero plus one is three. Somebody in here is already objecting. Good. Adding the digits throws away place value, which is the entire idea. The one on the far left is not worth one. It is sitting in the eights place. Three is not a rounding error. It is a completely different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Going the other way, start from the biggest power of two that fits. Thirty two fits in forty two, write a one, ten left over. Sixteen does not fit in ten, write a zero. Eight fits, write a one, two left. Four does not fit, zero. Two fits, one, nothing left. One does not fit, zero. Read the digits down the right side. One zero one zero one zero.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Binary is honest and unreadable. Nobody wants to read thirty two ones and zeros. Hex fixes that, because four binary digits always make exactly one hex digit, so you can translate in chunks. That is why colours on the web look like pound five seven A one E B. Three pairs of hex digits, each pair one byte, each byte a number from zero to two fifty five. That is our course colour, Launch Blue.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Python can do all of this in one call. Use these to check your work, not to replace it. The WebXam asks you to convert by hand, so the skill has to live in your head before it lives in a function. The zero b and zero x at the front are Python labelling which base it is showing you. They are not part of the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one is paper and pencil. Four decimal to binary, four binary to decimal, four involving hex. Show the place value arithmetic every time, because the arithmetic is what I am grading, not the answer. Then open a terminal and check all twelve with bin and int. Count your matches. Build two opens the CLI Toolsmith project, and today is planning only, no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AFAFA"/>
          </a:solidFill>
          <a:ln/>
        </p:spPr>
      </p:sp>
      <p:sp>
        <p:nvSpPr>
          <p:cNvPr id="3" name="Shape 1"/>
          <p:cNvSpPr/>
          <p:nvPr/>
        </p:nvSpPr>
        <p:spPr>
          <a:xfrm>
            <a:off x="0" y="0"/>
            <a:ext cx="12191695" cy="6858000"/>
          </a:xfrm>
          <a:prstGeom prst="rect">
            <a:avLst/>
          </a:prstGeom>
          <a:solidFill>
            <a:srgbClr val="FFFFFF"/>
          </a:solidFill>
          <a:ln/>
        </p:spPr>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e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e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e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2776934"/>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Same Number, Three Ways to Write It</a:t>
            </a:r>
            <a:endParaRPr lang="en-US" sz="3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2226568"/>
            <a:ext cx="6296860"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Eight light switches</a:t>
            </a:r>
            <a:endParaRPr lang="en-US" sz="3700" dirty="0"/>
          </a:p>
        </p:txBody>
      </p:sp>
      <p:sp>
        <p:nvSpPr>
          <p:cNvPr id="4" name="Text 1"/>
          <p:cNvSpPr/>
          <p:nvPr/>
        </p:nvSpPr>
        <p:spPr>
          <a:xfrm>
            <a:off x="661475" y="3100685"/>
            <a:ext cx="6296860" cy="1407914"/>
          </a:xfrm>
          <a:prstGeom prst="rect">
            <a:avLst/>
          </a:prstGeom>
          <a:noFill/>
          <a:ln/>
        </p:spPr>
        <p:txBody>
          <a:bodyPr wrap="square" lIns="0" tIns="0" rIns="0" bIns="0" rtlCol="0" anchor="t">
            <a:normAutofit/>
          </a:bodyPr>
          <a:lstStyle/>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Each switch is on or off</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How many arrangements can eight make</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Work it out, do not guess</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The answer explains half of computing</a:t>
            </a:r>
            <a:endParaRPr lang="en-US" sz="1450" dirty="0"/>
          </a:p>
        </p:txBody>
      </p:sp>
      <p:sp>
        <p:nvSpPr>
          <p:cNvPr id="5" name="Text 2"/>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1931194"/>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A written number is a value plus a base</a:t>
            </a:r>
            <a:endParaRPr lang="en-US" sz="3700" dirty="0"/>
          </a:p>
        </p:txBody>
      </p:sp>
      <p:sp>
        <p:nvSpPr>
          <p:cNvPr id="4" name="Text 1"/>
          <p:cNvSpPr/>
          <p:nvPr/>
        </p:nvSpPr>
        <p:spPr>
          <a:xfrm>
            <a:off x="661475" y="3395960"/>
            <a:ext cx="6296860" cy="1407914"/>
          </a:xfrm>
          <a:prstGeom prst="rect">
            <a:avLst/>
          </a:prstGeom>
          <a:noFill/>
          <a:ln/>
        </p:spPr>
        <p:txBody>
          <a:bodyPr wrap="square" lIns="0" tIns="0" rIns="0" bIns="0" rtlCol="0" anchor="t">
            <a:normAutofit/>
          </a:bodyPr>
          <a:lstStyle/>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The value is the quantity</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The base is how many digits you get</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Decimal has ten. Binary has two</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13 and 1101 are the same value</a:t>
            </a:r>
            <a:endParaRPr lang="en-US" sz="1450" dirty="0"/>
          </a:p>
        </p:txBody>
      </p:sp>
      <p:sp>
        <p:nvSpPr>
          <p:cNvPr id="5" name="Text 2"/>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61475" y="1794073"/>
            <a:ext cx="10868745"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Place value in decimal, which you already know</a:t>
            </a:r>
            <a:endParaRPr lang="en-US" sz="3700" dirty="0"/>
          </a:p>
        </p:txBody>
      </p:sp>
      <p:sp>
        <p:nvSpPr>
          <p:cNvPr id="3" name="Shape 1"/>
          <p:cNvSpPr/>
          <p:nvPr/>
        </p:nvSpPr>
        <p:spPr>
          <a:xfrm>
            <a:off x="661475" y="3353395"/>
            <a:ext cx="10868745" cy="1587698"/>
          </a:xfrm>
          <a:prstGeom prst="roundRect">
            <a:avLst>
              <a:gd name="adj" fmla="val 5000"/>
            </a:avLst>
          </a:prstGeom>
          <a:solidFill>
            <a:srgbClr val="F2F2F2"/>
          </a:solidFill>
          <a:ln/>
        </p:spPr>
      </p:sp>
      <p:sp>
        <p:nvSpPr>
          <p:cNvPr id="4" name="Text 2"/>
          <p:cNvSpPr/>
          <p:nvPr/>
        </p:nvSpPr>
        <p:spPr>
          <a:xfrm>
            <a:off x="888283" y="3542407"/>
            <a:ext cx="10415129" cy="1209675"/>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1      3</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10s    1s</a:t>
            </a:r>
            <a:endParaRPr lang="en-US" sz="1450" dirty="0"/>
          </a:p>
          <a:p>
            <a:pPr algn="l" indent="0" marL="0">
              <a:lnSpc>
                <a:spcPct val="133000"/>
              </a:lnSpc>
              <a:buNone/>
            </a:pP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1 x 10  +  3 x 1  =  13</a:t>
            </a:r>
            <a:endParaRPr lang="en-US" sz="1450" dirty="0"/>
          </a:p>
        </p:txBody>
      </p:sp>
      <p:sp>
        <p:nvSpPr>
          <p:cNvPr id="5" name="Text 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61475" y="2089348"/>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Place value in binary</a:t>
            </a:r>
            <a:endParaRPr lang="en-US" sz="3700" dirty="0"/>
          </a:p>
        </p:txBody>
      </p:sp>
      <p:sp>
        <p:nvSpPr>
          <p:cNvPr id="3" name="Shape 1"/>
          <p:cNvSpPr/>
          <p:nvPr/>
        </p:nvSpPr>
        <p:spPr>
          <a:xfrm>
            <a:off x="661475" y="3058021"/>
            <a:ext cx="10868745" cy="1587698"/>
          </a:xfrm>
          <a:prstGeom prst="roundRect">
            <a:avLst>
              <a:gd name="adj" fmla="val 5000"/>
            </a:avLst>
          </a:prstGeom>
          <a:solidFill>
            <a:srgbClr val="F2F2F2"/>
          </a:solidFill>
          <a:ln/>
        </p:spPr>
      </p:sp>
      <p:sp>
        <p:nvSpPr>
          <p:cNvPr id="4" name="Text 2"/>
          <p:cNvSpPr/>
          <p:nvPr/>
        </p:nvSpPr>
        <p:spPr>
          <a:xfrm>
            <a:off x="888283" y="3247033"/>
            <a:ext cx="10415129" cy="1209675"/>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6A737D"/>
                </a:solidFill>
                <a:latin typeface="Consolas" pitchFamily="34" charset="0"/>
                <a:ea typeface="Consolas" pitchFamily="34" charset="-122"/>
                <a:cs typeface="Consolas" pitchFamily="34" charset="-120"/>
              </a:rPr>
              <a:t>    1      1      0      1</a:t>
            </a:r>
            <a:endParaRPr lang="en-US" sz="1450" dirty="0"/>
          </a:p>
          <a:p>
            <a:pPr algn="l" indent="0" marL="0">
              <a:lnSpc>
                <a:spcPct val="133000"/>
              </a:lnSpc>
              <a:buNone/>
            </a:pPr>
            <a:r>
              <a:rPr lang="en-US" sz="1450" dirty="0">
                <a:solidFill>
                  <a:srgbClr val="6A737D"/>
                </a:solidFill>
                <a:latin typeface="Consolas" pitchFamily="34" charset="0"/>
                <a:ea typeface="Consolas" pitchFamily="34" charset="-122"/>
                <a:cs typeface="Consolas" pitchFamily="34" charset="-120"/>
              </a:rPr>
              <a:t>    8s     4s     2s     1s</a:t>
            </a:r>
            <a:endParaRPr lang="en-US" sz="1450" dirty="0"/>
          </a:p>
          <a:p>
            <a:pPr algn="l" indent="0" marL="0">
              <a:lnSpc>
                <a:spcPct val="133000"/>
              </a:lnSpc>
              <a:buNone/>
            </a:pPr>
            <a:endParaRPr lang="en-US" sz="1450" dirty="0"/>
          </a:p>
          <a:p>
            <a:pPr algn="l" indent="0" marL="0">
              <a:lnSpc>
                <a:spcPct val="133000"/>
              </a:lnSpc>
              <a:buNone/>
            </a:pPr>
            <a:r>
              <a:rPr lang="en-US" sz="1450" dirty="0">
                <a:solidFill>
                  <a:srgbClr val="6A737D"/>
                </a:solidFill>
                <a:latin typeface="Consolas" pitchFamily="34" charset="0"/>
                <a:ea typeface="Consolas" pitchFamily="34" charset="-122"/>
                <a:cs typeface="Consolas" pitchFamily="34" charset="-120"/>
              </a:rPr>
              <a:t>    8  +   4  +   0  +   1  =  13</a:t>
            </a:r>
            <a:endParaRPr lang="en-US" sz="1450" dirty="0"/>
          </a:p>
        </p:txBody>
      </p:sp>
      <p:sp>
        <p:nvSpPr>
          <p:cNvPr id="5" name="Text 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1931194"/>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Now I break it on purpose</a:t>
            </a:r>
            <a:endParaRPr lang="en-US" sz="3700" dirty="0"/>
          </a:p>
        </p:txBody>
      </p:sp>
      <p:sp>
        <p:nvSpPr>
          <p:cNvPr id="4" name="Text 1"/>
          <p:cNvSpPr/>
          <p:nvPr/>
        </p:nvSpPr>
        <p:spPr>
          <a:xfrm>
            <a:off x="661475" y="3395960"/>
            <a:ext cx="6296860" cy="1407914"/>
          </a:xfrm>
          <a:prstGeom prst="rect">
            <a:avLst/>
          </a:prstGeom>
          <a:noFill/>
          <a:ln/>
        </p:spPr>
        <p:txBody>
          <a:bodyPr wrap="square" lIns="0" tIns="0" rIns="0" bIns="0" rtlCol="0" anchor="t">
            <a:normAutofit/>
          </a:bodyPr>
          <a:lstStyle/>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1101 to decimal</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Add the digits: 1 + 1 + 0 + 1</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That gives 3</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Tell me why that is wrong</a:t>
            </a:r>
            <a:endParaRPr lang="en-US" sz="1450" dirty="0"/>
          </a:p>
        </p:txBody>
      </p:sp>
      <p:sp>
        <p:nvSpPr>
          <p:cNvPr id="5" name="Text 2"/>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61475" y="1484511"/>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Decimal to binary, biggest place first</a:t>
            </a:r>
            <a:endParaRPr lang="en-US" sz="3700" dirty="0"/>
          </a:p>
        </p:txBody>
      </p:sp>
      <p:sp>
        <p:nvSpPr>
          <p:cNvPr id="3" name="Shape 1"/>
          <p:cNvSpPr/>
          <p:nvPr/>
        </p:nvSpPr>
        <p:spPr>
          <a:xfrm>
            <a:off x="661475" y="2453184"/>
            <a:ext cx="10868745" cy="2797373"/>
          </a:xfrm>
          <a:prstGeom prst="roundRect">
            <a:avLst>
              <a:gd name="adj" fmla="val 2838"/>
            </a:avLst>
          </a:prstGeom>
          <a:solidFill>
            <a:srgbClr val="F2F2F2"/>
          </a:solidFill>
          <a:ln/>
        </p:spPr>
      </p:sp>
      <p:sp>
        <p:nvSpPr>
          <p:cNvPr id="4" name="Text 2"/>
          <p:cNvSpPr/>
          <p:nvPr/>
        </p:nvSpPr>
        <p:spPr>
          <a:xfrm>
            <a:off x="888283" y="2642195"/>
            <a:ext cx="10415129" cy="2419350"/>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005CC5"/>
                </a:solidFill>
                <a:latin typeface="Consolas" pitchFamily="34" charset="0"/>
                <a:ea typeface="Consolas" pitchFamily="34" charset="-122"/>
                <a:cs typeface="Consolas" pitchFamily="34" charset="-120"/>
              </a:rPr>
              <a:t>42    fits in 32?  yes   remaining 10    digit 1</a:t>
            </a:r>
            <a:endParaRPr lang="en-US" sz="1450" dirty="0"/>
          </a:p>
          <a:p>
            <a:pPr algn="l" indent="0" marL="0">
              <a:lnSpc>
                <a:spcPct val="133000"/>
              </a:lnSpc>
              <a:buNone/>
            </a:pPr>
            <a:r>
              <a:rPr lang="en-US" sz="1450" dirty="0">
                <a:solidFill>
                  <a:srgbClr val="005CC5"/>
                </a:solidFill>
                <a:latin typeface="Consolas" pitchFamily="34" charset="0"/>
                <a:ea typeface="Consolas" pitchFamily="34" charset="-122"/>
                <a:cs typeface="Consolas" pitchFamily="34" charset="-120"/>
              </a:rPr>
              <a:t>      fits in 16?  no                    digit 0</a:t>
            </a:r>
            <a:endParaRPr lang="en-US" sz="1450" dirty="0"/>
          </a:p>
          <a:p>
            <a:pPr algn="l" indent="0" marL="0">
              <a:lnSpc>
                <a:spcPct val="133000"/>
              </a:lnSpc>
              <a:buNone/>
            </a:pPr>
            <a:r>
              <a:rPr lang="en-US" sz="1450" dirty="0">
                <a:solidFill>
                  <a:srgbClr val="005CC5"/>
                </a:solidFill>
                <a:latin typeface="Consolas" pitchFamily="34" charset="0"/>
                <a:ea typeface="Consolas" pitchFamily="34" charset="-122"/>
                <a:cs typeface="Consolas" pitchFamily="34" charset="-120"/>
              </a:rPr>
              <a:t>      fits in  8?  yes   remaining  2    digit 1</a:t>
            </a:r>
            <a:endParaRPr lang="en-US" sz="1450" dirty="0"/>
          </a:p>
          <a:p>
            <a:pPr algn="l" indent="0" marL="0">
              <a:lnSpc>
                <a:spcPct val="133000"/>
              </a:lnSpc>
              <a:buNone/>
            </a:pPr>
            <a:r>
              <a:rPr lang="en-US" sz="1450" dirty="0">
                <a:solidFill>
                  <a:srgbClr val="005CC5"/>
                </a:solidFill>
                <a:latin typeface="Consolas" pitchFamily="34" charset="0"/>
                <a:ea typeface="Consolas" pitchFamily="34" charset="-122"/>
                <a:cs typeface="Consolas" pitchFamily="34" charset="-120"/>
              </a:rPr>
              <a:t>      fits in  4?  no                    digit 0</a:t>
            </a:r>
            <a:endParaRPr lang="en-US" sz="1450" dirty="0"/>
          </a:p>
          <a:p>
            <a:pPr algn="l" indent="0" marL="0">
              <a:lnSpc>
                <a:spcPct val="133000"/>
              </a:lnSpc>
              <a:buNone/>
            </a:pPr>
            <a:r>
              <a:rPr lang="en-US" sz="1450" dirty="0">
                <a:solidFill>
                  <a:srgbClr val="005CC5"/>
                </a:solidFill>
                <a:latin typeface="Consolas" pitchFamily="34" charset="0"/>
                <a:ea typeface="Consolas" pitchFamily="34" charset="-122"/>
                <a:cs typeface="Consolas" pitchFamily="34" charset="-120"/>
              </a:rPr>
              <a:t>      fits in  2?  yes   remaining  0    digit 1</a:t>
            </a:r>
            <a:endParaRPr lang="en-US" sz="1450" dirty="0"/>
          </a:p>
          <a:p>
            <a:pPr algn="l" indent="0" marL="0">
              <a:lnSpc>
                <a:spcPct val="133000"/>
              </a:lnSpc>
              <a:buNone/>
            </a:pPr>
            <a:r>
              <a:rPr lang="en-US" sz="1450" dirty="0">
                <a:solidFill>
                  <a:srgbClr val="005CC5"/>
                </a:solidFill>
                <a:latin typeface="Consolas" pitchFamily="34" charset="0"/>
                <a:ea typeface="Consolas" pitchFamily="34" charset="-122"/>
                <a:cs typeface="Consolas" pitchFamily="34" charset="-120"/>
              </a:rPr>
              <a:t>      fits in  1?  no                    digit 0</a:t>
            </a:r>
            <a:endParaRPr lang="en-US" sz="1450" dirty="0"/>
          </a:p>
          <a:p>
            <a:pPr algn="l" indent="0" marL="0">
              <a:lnSpc>
                <a:spcPct val="133000"/>
              </a:lnSpc>
              <a:buNone/>
            </a:pPr>
            <a:endParaRPr lang="en-US" sz="1450" dirty="0"/>
          </a:p>
          <a:p>
            <a:pPr algn="l" indent="0" marL="0">
              <a:lnSpc>
                <a:spcPct val="133000"/>
              </a:lnSpc>
              <a:buNone/>
            </a:pPr>
            <a:r>
              <a:rPr lang="en-US" sz="1450" dirty="0">
                <a:solidFill>
                  <a:srgbClr val="005CC5"/>
                </a:solidFill>
                <a:latin typeface="Consolas" pitchFamily="34" charset="0"/>
                <a:ea typeface="Consolas" pitchFamily="34" charset="-122"/>
                <a:cs typeface="Consolas" pitchFamily="34" charset="-120"/>
              </a:rPr>
              <a:t>42 in binary is 101010</a:t>
            </a:r>
            <a:endParaRPr lang="en-US" sz="1450" dirty="0"/>
          </a:p>
        </p:txBody>
      </p:sp>
      <p:sp>
        <p:nvSpPr>
          <p:cNvPr id="5" name="Text 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1931194"/>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Why hexadecimal exists</a:t>
            </a:r>
            <a:endParaRPr lang="en-US" sz="3700" dirty="0"/>
          </a:p>
        </p:txBody>
      </p:sp>
      <p:sp>
        <p:nvSpPr>
          <p:cNvPr id="4" name="Text 1"/>
          <p:cNvSpPr/>
          <p:nvPr/>
        </p:nvSpPr>
        <p:spPr>
          <a:xfrm>
            <a:off x="661475" y="3395960"/>
            <a:ext cx="6296860" cy="1407914"/>
          </a:xfrm>
          <a:prstGeom prst="rect">
            <a:avLst/>
          </a:prstGeom>
          <a:noFill/>
          <a:ln/>
        </p:spPr>
        <p:txBody>
          <a:bodyPr wrap="square" lIns="0" tIns="0" rIns="0" bIns="0" rtlCol="0" anchor="t">
            <a:normAutofit/>
          </a:bodyPr>
          <a:lstStyle/>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Base 16: digits 0 to 9, then a to f</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Four binary digits are one hex digit</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Always, exactly</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1111 1111 is ff, which is 255</a:t>
            </a:r>
            <a:endParaRPr lang="en-US" sz="1450" dirty="0"/>
          </a:p>
        </p:txBody>
      </p:sp>
      <p:sp>
        <p:nvSpPr>
          <p:cNvPr id="5" name="Text 2"/>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61475" y="1938139"/>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Checking your hand work with Python</a:t>
            </a:r>
            <a:endParaRPr lang="en-US" sz="3700" dirty="0"/>
          </a:p>
        </p:txBody>
      </p:sp>
      <p:sp>
        <p:nvSpPr>
          <p:cNvPr id="3" name="Shape 1"/>
          <p:cNvSpPr/>
          <p:nvPr/>
        </p:nvSpPr>
        <p:spPr>
          <a:xfrm>
            <a:off x="661475" y="2906812"/>
            <a:ext cx="10868745" cy="1890117"/>
          </a:xfrm>
          <a:prstGeom prst="roundRect">
            <a:avLst>
              <a:gd name="adj" fmla="val 4200"/>
            </a:avLst>
          </a:prstGeom>
          <a:solidFill>
            <a:srgbClr val="F2F2F2"/>
          </a:solidFill>
          <a:ln/>
        </p:spPr>
      </p:sp>
      <p:sp>
        <p:nvSpPr>
          <p:cNvPr id="4" name="Text 2"/>
          <p:cNvSpPr/>
          <p:nvPr/>
        </p:nvSpPr>
        <p:spPr>
          <a:xfrm>
            <a:off x="888283" y="3095823"/>
            <a:ext cx="10415129" cy="1512094"/>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E36209"/>
                </a:solidFill>
                <a:latin typeface="Consolas" pitchFamily="34" charset="0"/>
                <a:ea typeface="Consolas" pitchFamily="34" charset="-122"/>
                <a:cs typeface="Consolas" pitchFamily="34" charset="-120"/>
              </a:rPr>
              <a:t>print(bin(13))          # 0b1101</a:t>
            </a:r>
            <a:endParaRPr lang="en-US" sz="1450" dirty="0"/>
          </a:p>
          <a:p>
            <a:pPr algn="l" indent="0" marL="0">
              <a:lnSpc>
                <a:spcPct val="133000"/>
              </a:lnSpc>
              <a:buNone/>
            </a:pPr>
            <a:r>
              <a:rPr lang="en-US" sz="1450" dirty="0">
                <a:solidFill>
                  <a:srgbClr val="E36209"/>
                </a:solidFill>
                <a:latin typeface="Consolas" pitchFamily="34" charset="0"/>
                <a:ea typeface="Consolas" pitchFamily="34" charset="-122"/>
                <a:cs typeface="Consolas" pitchFamily="34" charset="-120"/>
              </a:rPr>
              <a:t>print(hex(13))          # 0xd</a:t>
            </a:r>
            <a:endParaRPr lang="en-US" sz="1450" dirty="0"/>
          </a:p>
          <a:p>
            <a:pPr algn="l" indent="0" marL="0">
              <a:lnSpc>
                <a:spcPct val="133000"/>
              </a:lnSpc>
              <a:buNone/>
            </a:pPr>
            <a:r>
              <a:rPr lang="en-US" sz="1450" dirty="0">
                <a:solidFill>
                  <a:srgbClr val="E36209"/>
                </a:solidFill>
                <a:latin typeface="Consolas" pitchFamily="34" charset="0"/>
                <a:ea typeface="Consolas" pitchFamily="34" charset="-122"/>
                <a:cs typeface="Consolas" pitchFamily="34" charset="-120"/>
              </a:rPr>
              <a:t>print(int("1101", 2))   # 13</a:t>
            </a:r>
            <a:endParaRPr lang="en-US" sz="1450" dirty="0"/>
          </a:p>
          <a:p>
            <a:pPr algn="l" indent="0" marL="0">
              <a:lnSpc>
                <a:spcPct val="133000"/>
              </a:lnSpc>
              <a:buNone/>
            </a:pPr>
            <a:r>
              <a:rPr lang="en-US" sz="1450" dirty="0">
                <a:solidFill>
                  <a:srgbClr val="E36209"/>
                </a:solidFill>
                <a:latin typeface="Consolas" pitchFamily="34" charset="0"/>
                <a:ea typeface="Consolas" pitchFamily="34" charset="-122"/>
                <a:cs typeface="Consolas" pitchFamily="34" charset="-120"/>
              </a:rPr>
              <a:t>print(int("d", 16))     # 13</a:t>
            </a:r>
            <a:endParaRPr lang="en-US" sz="1450" dirty="0"/>
          </a:p>
          <a:p>
            <a:pPr algn="l" indent="0" marL="0">
              <a:lnSpc>
                <a:spcPct val="133000"/>
              </a:lnSpc>
              <a:buNone/>
            </a:pPr>
            <a:r>
              <a:rPr lang="en-US" sz="1450" dirty="0">
                <a:solidFill>
                  <a:srgbClr val="E36209"/>
                </a:solidFill>
                <a:latin typeface="Consolas" pitchFamily="34" charset="0"/>
                <a:ea typeface="Consolas" pitchFamily="34" charset="-122"/>
                <a:cs typeface="Consolas" pitchFamily="34" charset="-120"/>
              </a:rPr>
              <a:t>print(f"{13:08b}")      # 00001101</a:t>
            </a:r>
            <a:endParaRPr lang="en-US" sz="1450" dirty="0"/>
          </a:p>
        </p:txBody>
      </p:sp>
      <p:sp>
        <p:nvSpPr>
          <p:cNvPr id="5" name="Text 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1931194"/>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What you are about to build</a:t>
            </a:r>
            <a:endParaRPr lang="en-US" sz="3700" dirty="0"/>
          </a:p>
        </p:txBody>
      </p:sp>
      <p:sp>
        <p:nvSpPr>
          <p:cNvPr id="4" name="Text 1"/>
          <p:cNvSpPr/>
          <p:nvPr/>
        </p:nvSpPr>
        <p:spPr>
          <a:xfrm>
            <a:off x="5233360" y="3395960"/>
            <a:ext cx="6296860" cy="1407914"/>
          </a:xfrm>
          <a:prstGeom prst="rect">
            <a:avLst/>
          </a:prstGeom>
          <a:noFill/>
          <a:ln/>
        </p:spPr>
        <p:txBody>
          <a:bodyPr wrap="square" lIns="0" tIns="0" rIns="0" bIns="0" rtlCol="0" anchor="t">
            <a:normAutofit/>
          </a:bodyPr>
          <a:lstStyle/>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Twelve conversions on paper, no computer</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Show the place values every time</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Then check all twelve with Python</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Count how many you got right</a:t>
            </a:r>
            <a:endParaRPr lang="en-US" sz="1450" dirty="0"/>
          </a:p>
        </p:txBody>
      </p:sp>
      <p:sp>
        <p:nvSpPr>
          <p:cNvPr id="5" name="Text 2"/>
          <p:cNvSpPr/>
          <p:nvPr/>
        </p:nvSpPr>
        <p:spPr>
          <a:xfrm>
            <a:off x="4704141"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2026-09-14T17:53:30Z</dcterms:created>
  <dcterms:modified xsi:type="dcterms:W3CDTF">2026-09-14T17:53:30Z</dcterms:modified>
</cp:coreProperties>
</file>