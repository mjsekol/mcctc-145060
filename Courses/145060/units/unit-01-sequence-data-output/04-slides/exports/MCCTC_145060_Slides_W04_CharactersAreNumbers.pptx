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we established that everything in the machine is switches. So here is the problem. Your name is letters. There is no switch position called A. So how does your name get stored at all? The answer is that a group of people agreed on a number for every character, and every computer follows that agreement. Today you learn to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ASCII was the first widely used agreement and it covered one hundred twenty eight characters, which was enough for English letters, digits, and punctuation. It was not enough for the rest of the world. Unicode extended the agreement to essentially every writing system, plus emoji. The first one hundred twenty eight Unicode numbers match ASCII exactly, so A is sixty five in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 gives you the number for a character. chr gives you the character for a number. Notice the third line. The character zero is forty eight, not zero. The digit you type on the keyboard and the number zero are completely different values. You met this exact idea in week two with the string twelve and the number twelve.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alphabet is stored in order, letters are arithmetic. B is one more than A. Twenty five past A is Z. And look at the last line. Uppercase and lowercase are exactly thirty two apart, and thirty two is two to the fifth power, which is one single switch. The people who designed ASCII did that on purpose so a machine could change case by flipping one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Unicode numbers go far past two fifty five. An e with an accent mark is two thirty three. A fire emoji is one hundred twenty eight thousand two hundred ninety three. And len still counts characters, so the word cafe with an accent is four characters long, the same as without one, even though storing the accented version takes more space. How much space is a question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going to crash on most of these machines, and I want you to read the error slowly. Your program is correct. Nothing you wrote is wrong. The terminal is set to an older agreement that can only show two hundred fifty six characters, and the one you asked for is not among them. This is the first failure you have met that is not in your code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line tells you which agreement your terminal is using. On a default Windows terminal it says c p twelve fifty two, which is the older, smaller one. Set it to U T F eight and the same program prints the emoji fine. The fix is in the environment, not in the program. Learning to tell those two apart will save you hours for the rest of your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something fails, ask this before you touch anything. Is my program wrong, or can my environment not do what my program asked? If you rewrite correct code to avoid an environment problem, you have now broken working code and the environment is still wrong. The words charmap and encode in that error are the clue that this is about the output destination, not your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detective work on yourself. Get the number for every character in your own name. Then find a character this terminal cannot display, and copy the exact error into your notes. Then work out the gap between uppercase and lowercase and explain it in terms of binary. Build two is the CLI Toolsmith, where today you write the input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Character Is a Number</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computer cannot store the letter A</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stores switches, on or off</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 how does it store your name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Somebody made an agreement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Today you read the agreement</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744563"/>
            <a:ext cx="5203794"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character is a number by agreement</a:t>
            </a:r>
            <a:endParaRPr lang="en-US" sz="3700" dirty="0"/>
          </a:p>
        </p:txBody>
      </p:sp>
      <p:sp>
        <p:nvSpPr>
          <p:cNvPr id="3" name="Text 1"/>
          <p:cNvSpPr/>
          <p:nvPr/>
        </p:nvSpPr>
        <p:spPr>
          <a:xfrm>
            <a:off x="661475" y="3705523"/>
            <a:ext cx="5203794"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ASCII gave numbers to 128 characters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Unicode extended it to almost every writing system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is 65 in both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agreement is the only reason text works</a:t>
            </a:r>
            <a:endParaRPr lang="en-US" sz="1450" dirty="0"/>
          </a:p>
        </p:txBody>
      </p:sp>
      <p:pic>
        <p:nvPicPr>
          <p:cNvPr id="4" name="Image 0" descr="preencoded.png">    </p:cNvPr>
          <p:cNvPicPr>
            <a:picLocks noChangeAspect="1"/>
          </p:cNvPicPr>
          <p:nvPr/>
        </p:nvPicPr>
        <p:blipFill>
          <a:blip r:embed="rId1"/>
          <a:stretch>
            <a:fillRect/>
          </a:stretch>
        </p:blipFill>
        <p:spPr>
          <a:xfrm>
            <a:off x="6332776" y="765572"/>
            <a:ext cx="5203794" cy="5203924"/>
          </a:xfrm>
          <a:prstGeom prst="rect">
            <a:avLst/>
          </a:prstGeom>
        </p:spPr>
      </p:pic>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Asking Python for the number</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print(ord("A"))    # 65</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print(ord("a"))    # 97</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print(ord("0"))    # 48</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print(ord(" "))    # 32</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print(chr(65))     # A</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print(chr(97))     # a</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42051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alphabet is arithmetic</a:t>
            </a:r>
            <a:endParaRPr lang="en-US" sz="3700" dirty="0"/>
          </a:p>
        </p:txBody>
      </p:sp>
      <p:sp>
        <p:nvSpPr>
          <p:cNvPr id="3" name="Shape 1"/>
          <p:cNvSpPr/>
          <p:nvPr/>
        </p:nvSpPr>
        <p:spPr>
          <a:xfrm>
            <a:off x="661475" y="2507258"/>
            <a:ext cx="5203794" cy="1285280"/>
          </a:xfrm>
          <a:prstGeom prst="roundRect">
            <a:avLst>
              <a:gd name="adj" fmla="val 6177"/>
            </a:avLst>
          </a:prstGeom>
          <a:solidFill>
            <a:srgbClr val="F2F2F2"/>
          </a:solidFill>
          <a:ln/>
        </p:spPr>
      </p:sp>
      <p:sp>
        <p:nvSpPr>
          <p:cNvPr id="4" name="Text 2"/>
          <p:cNvSpPr/>
          <p:nvPr/>
        </p:nvSpPr>
        <p:spPr>
          <a:xfrm>
            <a:off x="888283" y="2696270"/>
            <a:ext cx="47501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print(ord("B"))            # 66</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print(chr(ord("A") + 25))  # Z</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print(ord("a") - ord("A")) # 32</a:t>
            </a:r>
            <a:endParaRPr lang="en-US" sz="1450" dirty="0"/>
          </a:p>
        </p:txBody>
      </p:sp>
      <p:sp>
        <p:nvSpPr>
          <p:cNvPr id="5" name="Shape 3"/>
          <p:cNvSpPr/>
          <p:nvPr/>
        </p:nvSpPr>
        <p:spPr>
          <a:xfrm>
            <a:off x="6332776" y="2507258"/>
            <a:ext cx="2507394" cy="1202829"/>
          </a:xfrm>
          <a:prstGeom prst="roundRect">
            <a:avLst>
              <a:gd name="adj" fmla="val 6600"/>
            </a:avLst>
          </a:prstGeom>
          <a:solidFill>
            <a:srgbClr val="D1E5FA"/>
          </a:solidFill>
          <a:ln w="19050">
            <a:solidFill>
              <a:srgbClr val="B7CBE0"/>
            </a:solidFill>
            <a:prstDash val="solid"/>
          </a:ln>
        </p:spPr>
      </p:sp>
      <p:sp>
        <p:nvSpPr>
          <p:cNvPr id="6" name="Text 4"/>
          <p:cNvSpPr/>
          <p:nvPr/>
        </p:nvSpPr>
        <p:spPr>
          <a:xfrm>
            <a:off x="6540832" y="2715320"/>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ord("B") = 66</a:t>
            </a:r>
            <a:endParaRPr lang="en-US" sz="1850" dirty="0"/>
          </a:p>
        </p:txBody>
      </p:sp>
      <p:sp>
        <p:nvSpPr>
          <p:cNvPr id="7" name="Text 5"/>
          <p:cNvSpPr/>
          <p:nvPr/>
        </p:nvSpPr>
        <p:spPr>
          <a:xfrm>
            <a:off x="6540832" y="3199606"/>
            <a:ext cx="209128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One step past A</a:t>
            </a:r>
            <a:endParaRPr lang="en-US" sz="1450" dirty="0"/>
          </a:p>
        </p:txBody>
      </p:sp>
      <p:sp>
        <p:nvSpPr>
          <p:cNvPr id="8" name="Shape 6"/>
          <p:cNvSpPr/>
          <p:nvPr/>
        </p:nvSpPr>
        <p:spPr>
          <a:xfrm>
            <a:off x="9029176" y="2507258"/>
            <a:ext cx="2507394" cy="1202829"/>
          </a:xfrm>
          <a:prstGeom prst="roundRect">
            <a:avLst>
              <a:gd name="adj" fmla="val 6600"/>
            </a:avLst>
          </a:prstGeom>
          <a:solidFill>
            <a:srgbClr val="D1E5FA"/>
          </a:solidFill>
          <a:ln w="19050">
            <a:solidFill>
              <a:srgbClr val="B7CBE0"/>
            </a:solidFill>
            <a:prstDash val="solid"/>
          </a:ln>
        </p:spPr>
      </p:sp>
      <p:sp>
        <p:nvSpPr>
          <p:cNvPr id="9" name="Text 7"/>
          <p:cNvSpPr/>
          <p:nvPr/>
        </p:nvSpPr>
        <p:spPr>
          <a:xfrm>
            <a:off x="9237233" y="2715320"/>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+ 25 = Z</a:t>
            </a:r>
            <a:endParaRPr lang="en-US" sz="1850" dirty="0"/>
          </a:p>
        </p:txBody>
      </p:sp>
      <p:sp>
        <p:nvSpPr>
          <p:cNvPr id="10" name="Text 8"/>
          <p:cNvSpPr/>
          <p:nvPr/>
        </p:nvSpPr>
        <p:spPr>
          <a:xfrm>
            <a:off x="9237233" y="3199606"/>
            <a:ext cx="209128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26 letters, sequential</a:t>
            </a:r>
            <a:endParaRPr lang="en-US" sz="1450" dirty="0"/>
          </a:p>
        </p:txBody>
      </p:sp>
      <p:sp>
        <p:nvSpPr>
          <p:cNvPr id="11" name="Shape 9"/>
          <p:cNvSpPr/>
          <p:nvPr/>
        </p:nvSpPr>
        <p:spPr>
          <a:xfrm>
            <a:off x="6332776" y="3899098"/>
            <a:ext cx="5203794" cy="1202829"/>
          </a:xfrm>
          <a:prstGeom prst="roundRect">
            <a:avLst>
              <a:gd name="adj" fmla="val 6600"/>
            </a:avLst>
          </a:prstGeom>
          <a:solidFill>
            <a:srgbClr val="D1E5FA"/>
          </a:solidFill>
          <a:ln w="19050">
            <a:solidFill>
              <a:srgbClr val="B7CBE0"/>
            </a:solidFill>
            <a:prstDash val="solid"/>
          </a:ln>
        </p:spPr>
      </p:sp>
      <p:sp>
        <p:nvSpPr>
          <p:cNvPr id="12" name="Text 10"/>
          <p:cNvSpPr/>
          <p:nvPr/>
        </p:nvSpPr>
        <p:spPr>
          <a:xfrm>
            <a:off x="6540832" y="4107160"/>
            <a:ext cx="4787681"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 A = 32</a:t>
            </a:r>
            <a:endParaRPr lang="en-US" sz="1850" dirty="0"/>
          </a:p>
        </p:txBody>
      </p:sp>
      <p:sp>
        <p:nvSpPr>
          <p:cNvPr id="13" name="Text 11"/>
          <p:cNvSpPr/>
          <p:nvPr/>
        </p:nvSpPr>
        <p:spPr>
          <a:xfrm>
            <a:off x="6540832" y="4591447"/>
            <a:ext cx="4787681"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Case gap is a power of two</a:t>
            </a:r>
            <a:endParaRPr lang="en-US" sz="1450" dirty="0"/>
          </a:p>
        </p:txBody>
      </p:sp>
      <p:sp>
        <p:nvSpPr>
          <p:cNvPr id="14" name="Text 1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Unicode goes much further</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e with an accent is 233</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emoji is a number too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len counts characters, not bytes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 characters need more storage than others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9452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it breaks, and it is not your fault</a:t>
            </a:r>
            <a:endParaRPr lang="en-US" sz="3700" dirty="0"/>
          </a:p>
        </p:txBody>
      </p:sp>
      <p:sp>
        <p:nvSpPr>
          <p:cNvPr id="3" name="Shape 1"/>
          <p:cNvSpPr/>
          <p:nvPr/>
        </p:nvSpPr>
        <p:spPr>
          <a:xfrm>
            <a:off x="661475" y="2913955"/>
            <a:ext cx="10868745" cy="680442"/>
          </a:xfrm>
          <a:prstGeom prst="roundRect">
            <a:avLst>
              <a:gd name="adj" fmla="val 11667"/>
            </a:avLst>
          </a:prstGeom>
          <a:solidFill>
            <a:srgbClr val="F2F2F2"/>
          </a:solidFill>
          <a:ln/>
        </p:spPr>
      </p:sp>
      <p:sp>
        <p:nvSpPr>
          <p:cNvPr id="4" name="Text 2"/>
          <p:cNvSpPr/>
          <p:nvPr/>
        </p:nvSpPr>
        <p:spPr>
          <a:xfrm>
            <a:off x="888283" y="3102967"/>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print(chr(128293))</a:t>
            </a:r>
            <a:endParaRPr lang="en-US" sz="1450" dirty="0"/>
          </a:p>
        </p:txBody>
      </p:sp>
      <p:sp>
        <p:nvSpPr>
          <p:cNvPr id="5" name="Shape 3"/>
          <p:cNvSpPr/>
          <p:nvPr/>
        </p:nvSpPr>
        <p:spPr>
          <a:xfrm>
            <a:off x="661475" y="3807023"/>
            <a:ext cx="10868745" cy="982861"/>
          </a:xfrm>
          <a:prstGeom prst="roundRect">
            <a:avLst>
              <a:gd name="adj" fmla="val 8077"/>
            </a:avLst>
          </a:prstGeom>
          <a:solidFill>
            <a:srgbClr val="F2F2F2"/>
          </a:solidFill>
          <a:ln/>
        </p:spPr>
      </p:sp>
      <p:sp>
        <p:nvSpPr>
          <p:cNvPr id="6" name="Text 4"/>
          <p:cNvSpPr/>
          <p:nvPr/>
        </p:nvSpPr>
        <p:spPr>
          <a:xfrm>
            <a:off x="888283" y="3996035"/>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UnicodeEncodeError: 'charmap' codec can't encode character '\U0001f525' in position 0: character maps to &lt;undefined&gt;</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Checking what your terminal can show</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import sys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print(sys.stdout.encoding)    # cp1252</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039938"/>
            <a:ext cx="5203794"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kinds of broken</a:t>
            </a:r>
            <a:endParaRPr lang="en-US" sz="3700" dirty="0"/>
          </a:p>
        </p:txBody>
      </p:sp>
      <p:sp>
        <p:nvSpPr>
          <p:cNvPr id="3" name="Text 1"/>
          <p:cNvSpPr/>
          <p:nvPr/>
        </p:nvSpPr>
        <p:spPr>
          <a:xfrm>
            <a:off x="661475" y="3410248"/>
            <a:ext cx="5203794"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My program is wrong: fix the code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My environment cannot do what I asked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error message tells you which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Changing correct code to dodge it makes it worse</a:t>
            </a:r>
            <a:endParaRPr lang="en-US" sz="14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32776" y="2063552"/>
            <a:ext cx="2507394" cy="1510804"/>
          </a:xfrm>
          <a:prstGeom prst="rect">
            <a:avLst/>
          </a:prstGeom>
        </p:spPr>
      </p:pic>
      <p:sp>
        <p:nvSpPr>
          <p:cNvPr id="5" name="Text 2"/>
          <p:cNvSpPr/>
          <p:nvPr/>
        </p:nvSpPr>
        <p:spPr>
          <a:xfrm>
            <a:off x="6648780" y="2277963"/>
            <a:ext cx="197698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Code error</a:t>
            </a:r>
            <a:endParaRPr lang="en-US" sz="1850" dirty="0"/>
          </a:p>
        </p:txBody>
      </p:sp>
      <p:sp>
        <p:nvSpPr>
          <p:cNvPr id="6" name="Text 3"/>
          <p:cNvSpPr/>
          <p:nvPr/>
        </p:nvSpPr>
        <p:spPr>
          <a:xfrm>
            <a:off x="6648780" y="2762250"/>
            <a:ext cx="1976983"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Fix the code</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9176" y="2063552"/>
            <a:ext cx="2507394" cy="1510804"/>
          </a:xfrm>
          <a:prstGeom prst="rect">
            <a:avLst/>
          </a:prstGeom>
        </p:spPr>
      </p:pic>
      <p:sp>
        <p:nvSpPr>
          <p:cNvPr id="8" name="Text 4"/>
          <p:cNvSpPr/>
          <p:nvPr/>
        </p:nvSpPr>
        <p:spPr>
          <a:xfrm>
            <a:off x="9345180" y="2277963"/>
            <a:ext cx="197698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Environment error</a:t>
            </a:r>
            <a:endParaRPr lang="en-US" sz="1850" dirty="0"/>
          </a:p>
        </p:txBody>
      </p:sp>
      <p:sp>
        <p:nvSpPr>
          <p:cNvPr id="9" name="Text 5"/>
          <p:cNvSpPr/>
          <p:nvPr/>
        </p:nvSpPr>
        <p:spPr>
          <a:xfrm>
            <a:off x="9345180" y="3057525"/>
            <a:ext cx="1976983"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Fix the environment</a:t>
            </a:r>
            <a:endParaRPr lang="en-US" sz="1450" dirty="0"/>
          </a:p>
        </p:txBody>
      </p:sp>
      <p:sp>
        <p:nvSpPr>
          <p:cNvPr id="10"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Print the code point of every character in your name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Find one character your terminal cannot show</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Record the exact error message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Explain the case gap as a power of two</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2026-09-14T17:54:11Z</dcterms:created>
  <dcterms:modified xsi:type="dcterms:W3CDTF">2026-09-14T17:54:11Z</dcterms:modified>
</cp:coreProperties>
</file>