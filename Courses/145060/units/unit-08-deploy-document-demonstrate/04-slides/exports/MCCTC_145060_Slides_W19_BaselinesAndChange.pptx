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Thursday night for somebody in this room. The app works Monday. Then a typo fix, a variable rename that seemed tidy, and four other little things. Friday morning, the day of your demo, the game will not accept a single command. Which of the six broke it? What exactly was running when it worked? If you cannot answer both questions in under a minute, you have a configuration management problem, and today you fix it before you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Ohio calls this configuration management, and it is on your WebXam tomorrow. It sounds like a big company thing. It is a Thursday night thing. Every release gets a name. You know which parts of your app other things depend on. You keep one agreed version you can always go back to. And before you change anything, you list what it touches. Four bullets, one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Patch for a fix. Minor for a feature that breaks nothing. Major when something somebody depends on stops working. In Git, a tag pins that name to one exact commit. And here is the failure mode that catches people. Plain git push does not send tags. Your commits reach GitHub and your tag stays on your laptop. Push the tag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before I run it. Is version one point ten newer than version one point nine? Python says no. And the biggest of these three is one point nine. No error, wrong answer, twice. Strings compare one character at a time, and the character one comes before nine. Split the version and convert each part with int before you compare. This is our running thread again. The dangerous bugs are the ones that do not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code has an inside and an outside. Renaming a variable inside a function is housekeeping. Renaming something on the outside is a change somebody else feels. Paths other people bookmarked. The name of a form field. The PORT variable the host sets. The keys in save files already sitting on someone's disk. Interface control means those only change deliberately, with a version number and a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moves through phases. Requirements, design, development, testing, deployment, maintenance. When a phase ends and people agree on the result, that result can become a baseline, a line you measure every later change against. For you, the baseline is the tagged version your teacher or client accepted. And notice the last phase. The moment your app goes live Monday, you are in maintenance, which is the longest phase any real software lives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decides cmd is tidier than command. They change the form and forget the server, which still reads command. Now a player types north, the browser sends cmd equals north, and the server finds no command at all. Every command, every player, the same reply. The page loads. The server answers normally. Nothing in the log. The game is unplayable, and nobody got an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shortened the error line, because it prints the entire page. Forty four tests passed. One failed, and it is the only test that checks the form and the handler use the same name. Every other test sends command straight to the server, so without this one test, that change sails through the whole suite. The form and the handler are two halves of one interface. Tests written for each half separately cannot see the gap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right way. Before touching anything, list what the change touches. Code, tests, documentation, settings on the host, data already stored, and the people who use it. Then decide the version number. For our cmd rename, the answer is reject it. Nothing gets better for a player. Rejecting a change is a real, respectable outcome of an impact analysis, and often it is the best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U8 two, part three. You get one real change request for Playlist Namer. You write the impact analysis first, predicting what breaks. Then you make the change on a branch, run the checker, and compare what broke with what you predicted. Comparing the two is the point of the lab. Build two today is the grading period exam. Tomorrow you take the WebXam post-test first, then you tag your release and write your change impact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Baselines: The Version You Can Always Come Back To</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 small changes and a broken game</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app went live Monday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Since then: a typo fix, a rename, four more tweaks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Friday morning, nobody can type a command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Which change did it? What did working look like?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ideas that are really one</a:t>
            </a:r>
            <a:endParaRPr lang="en-US" sz="3700" dirty="0"/>
          </a:p>
        </p:txBody>
      </p:sp>
      <p:sp>
        <p:nvSpPr>
          <p:cNvPr id="3" name="Shape 1"/>
          <p:cNvSpPr/>
          <p:nvPr/>
        </p:nvSpPr>
        <p:spPr>
          <a:xfrm>
            <a:off x="661475" y="2630190"/>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Version management</a:t>
            </a:r>
            <a:endParaRPr lang="en-US" sz="1850" dirty="0"/>
          </a:p>
        </p:txBody>
      </p:sp>
      <p:sp>
        <p:nvSpPr>
          <p:cNvPr id="5" name="Text 3"/>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release has a name</a:t>
            </a:r>
            <a:endParaRPr lang="en-US" sz="1450" dirty="0"/>
          </a:p>
        </p:txBody>
      </p:sp>
      <p:sp>
        <p:nvSpPr>
          <p:cNvPr id="6" name="Shape 4"/>
          <p:cNvSpPr/>
          <p:nvPr/>
        </p:nvSpPr>
        <p:spPr>
          <a:xfrm>
            <a:off x="6190301" y="2630190"/>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Interface control</a:t>
            </a:r>
            <a:endParaRPr lang="en-US" sz="1850" dirty="0"/>
          </a:p>
        </p:txBody>
      </p:sp>
      <p:sp>
        <p:nvSpPr>
          <p:cNvPr id="8" name="Text 6"/>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Know what depends on you</a:t>
            </a:r>
            <a:endParaRPr lang="en-US" sz="1450" dirty="0"/>
          </a:p>
        </p:txBody>
      </p:sp>
      <p:sp>
        <p:nvSpPr>
          <p:cNvPr id="9" name="Shape 7"/>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Baseline</a:t>
            </a:r>
            <a:endParaRPr lang="en-US" sz="1850" dirty="0"/>
          </a:p>
        </p:txBody>
      </p:sp>
      <p:sp>
        <p:nvSpPr>
          <p:cNvPr id="11" name="Text 9"/>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 agreed version you can return to</a:t>
            </a:r>
            <a:endParaRPr lang="en-US" sz="1450" dirty="0"/>
          </a:p>
        </p:txBody>
      </p:sp>
      <p:sp>
        <p:nvSpPr>
          <p:cNvPr id="12" name="Shape 10"/>
          <p:cNvSpPr/>
          <p:nvPr/>
        </p:nvSpPr>
        <p:spPr>
          <a:xfrm>
            <a:off x="6190301" y="3946426"/>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154488"/>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Change impact</a:t>
            </a:r>
            <a:endParaRPr lang="en-US" sz="1850" dirty="0"/>
          </a:p>
        </p:txBody>
      </p:sp>
      <p:sp>
        <p:nvSpPr>
          <p:cNvPr id="14" name="Text 12"/>
          <p:cNvSpPr/>
          <p:nvPr/>
        </p:nvSpPr>
        <p:spPr>
          <a:xfrm>
            <a:off x="6398358" y="4563170"/>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Check what breaks before changing</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release has a name</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MAJOR.MINOR.PATCH</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1.4.2  -&gt;  1.4.3   a fix nobody depends on changing</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1.4.2  -&gt;  1.5.0   a new feature, everything old still works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1.4.2  -&gt;  2.0.0   something someone depends on breaks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git tag -a v1.0.0 -m "Storm Relay web 1.0.0: first public release"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git push origin v1.0.0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728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Version numbers are not strings</a:t>
            </a:r>
            <a:endParaRPr lang="en-US" sz="3700" dirty="0"/>
          </a:p>
        </p:txBody>
      </p:sp>
      <p:sp>
        <p:nvSpPr>
          <p:cNvPr id="3" name="Shape 1"/>
          <p:cNvSpPr/>
          <p:nvPr/>
        </p:nvSpPr>
        <p:spPr>
          <a:xfrm>
            <a:off x="661475" y="2859584"/>
            <a:ext cx="5203794" cy="1890117"/>
          </a:xfrm>
          <a:prstGeom prst="roundRect">
            <a:avLst>
              <a:gd name="adj" fmla="val 4200"/>
            </a:avLst>
          </a:prstGeom>
          <a:solidFill>
            <a:srgbClr val="F2F2F2"/>
          </a:solidFill>
          <a:ln/>
        </p:spPr>
      </p:sp>
      <p:sp>
        <p:nvSpPr>
          <p:cNvPr id="4" name="Text 2"/>
          <p:cNvSpPr/>
          <p:nvPr/>
        </p:nvSpPr>
        <p:spPr>
          <a:xfrm>
            <a:off x="888283" y="3048595"/>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print("1.10.0" &gt; "1.9.0")</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print(max(["1.2.5", "1.10.0", "1.9.0"]))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False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1.9.0</a:t>
            </a:r>
            <a:endParaRPr lang="en-US" sz="1450" dirty="0"/>
          </a:p>
        </p:txBody>
      </p:sp>
      <p:sp>
        <p:nvSpPr>
          <p:cNvPr id="5" name="Text 3"/>
          <p:cNvSpPr/>
          <p:nvPr/>
        </p:nvSpPr>
        <p:spPr>
          <a:xfrm>
            <a:off x="6332776" y="2817019"/>
            <a:ext cx="5203794" cy="1694855"/>
          </a:xfrm>
          <a:prstGeom prst="rect">
            <a:avLst/>
          </a:prstGeom>
          <a:noFill/>
          <a:ln/>
        </p:spPr>
        <p:txBody>
          <a:bodyPr wrap="square" lIns="0" tIns="0" rIns="0" bIns="0" rtlCol="0" anchor="t">
            <a:normAutofit/>
          </a:bodyPr>
          <a:lstStyle/>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String comparison sorts character by character. The digit </a:t>
            </a:r>
            <a:pPr algn="l" indent="0" marL="0">
              <a:lnSpc>
                <a:spcPct val="133000"/>
              </a:lnSpc>
              <a:spcAft>
                <a:spcPts val="130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1</a:t>
            </a:r>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 in </a:t>
            </a:r>
            <a:pPr algn="l" indent="0" marL="0">
              <a:lnSpc>
                <a:spcPct val="133000"/>
              </a:lnSpc>
              <a:spcAft>
                <a:spcPts val="130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1.10.0</a:t>
            </a:r>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 is compared to </a:t>
            </a:r>
            <a:pPr algn="l" indent="0" marL="0">
              <a:lnSpc>
                <a:spcPct val="133000"/>
              </a:lnSpc>
              <a:spcAft>
                <a:spcPts val="130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9</a:t>
            </a:r>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 in </a:t>
            </a:r>
            <a:pPr algn="l" indent="0" marL="0">
              <a:lnSpc>
                <a:spcPct val="133000"/>
              </a:lnSpc>
              <a:spcAft>
                <a:spcPts val="130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1.9.0</a:t>
            </a:r>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 before the rest of the number is read.</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Use a proper version-aware library or parse the parts as integers before comparing.</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82414"/>
            <a:ext cx="6296860" cy="978297"/>
          </a:xfrm>
          <a:prstGeom prst="rect">
            <a:avLst/>
          </a:prstGeom>
          <a:noFill/>
          <a:ln/>
        </p:spPr>
        <p:txBody>
          <a:bodyPr wrap="square" lIns="0" tIns="0" rIns="0" bIns="0" rtlCol="0" anchor="t">
            <a:normAutofit/>
          </a:bodyPr>
          <a:lstStyle/>
          <a:p>
            <a:pPr algn="l" indent="0" marL="0">
              <a:lnSpc>
                <a:spcPct val="104000"/>
              </a:lnSpc>
              <a:buNone/>
            </a:pPr>
            <a:r>
              <a:rPr lang="en-US" sz="3050" b="1" dirty="0">
                <a:solidFill>
                  <a:srgbClr val="111111"/>
                </a:solidFill>
                <a:latin typeface="Orbitron Bold" pitchFamily="34" charset="0"/>
                <a:ea typeface="Orbitron Bold" pitchFamily="34" charset="-122"/>
                <a:cs typeface="Orbitron Bold" pitchFamily="34" charset="-120"/>
              </a:rPr>
              <a:t>An interface is anything that depends on you</a:t>
            </a:r>
            <a:endParaRPr lang="en-US" sz="30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755080"/>
            <a:ext cx="6296860" cy="908546"/>
          </a:xfrm>
          <a:prstGeom prst="rect">
            <a:avLst/>
          </a:prstGeom>
        </p:spPr>
      </p:pic>
      <p:sp>
        <p:nvSpPr>
          <p:cNvPr id="5" name="Text 1"/>
          <p:cNvSpPr/>
          <p:nvPr/>
        </p:nvSpPr>
        <p:spPr>
          <a:xfrm>
            <a:off x="913187" y="1930598"/>
            <a:ext cx="5869634" cy="244574"/>
          </a:xfrm>
          <a:prstGeom prst="rect">
            <a:avLst/>
          </a:prstGeom>
          <a:noFill/>
          <a:ln/>
        </p:spPr>
        <p:txBody>
          <a:bodyPr wrap="none" lIns="0" tIns="0" rIns="0" bIns="0" rtlCol="0" anchor="t"/>
          <a:lstStyle/>
          <a:p>
            <a:pPr algn="l" indent="0" marL="0">
              <a:lnSpc>
                <a:spcPct val="104000"/>
              </a:lnSpc>
              <a:buNone/>
            </a:pPr>
            <a:r>
              <a:rPr lang="en-US" sz="1500" b="1" dirty="0">
                <a:solidFill>
                  <a:srgbClr val="1C1C1C"/>
                </a:solidFill>
                <a:latin typeface="Orbitron Bold" pitchFamily="34" charset="0"/>
                <a:ea typeface="Orbitron Bold" pitchFamily="34" charset="-122"/>
                <a:cs typeface="Orbitron Bold" pitchFamily="34" charset="-120"/>
              </a:rPr>
              <a:t>URL paths</a:t>
            </a:r>
            <a:endParaRPr lang="en-US" sz="1500" dirty="0"/>
          </a:p>
        </p:txBody>
      </p:sp>
      <p:sp>
        <p:nvSpPr>
          <p:cNvPr id="6" name="Text 2"/>
          <p:cNvSpPr/>
          <p:nvPr/>
        </p:nvSpPr>
        <p:spPr>
          <a:xfrm>
            <a:off x="913187" y="2252861"/>
            <a:ext cx="5869634" cy="235248"/>
          </a:xfrm>
          <a:prstGeom prst="rect">
            <a:avLst/>
          </a:prstGeom>
          <a:noFill/>
          <a:ln/>
        </p:spPr>
        <p:txBody>
          <a:bodyPr wrap="none" lIns="0" tIns="0" rIns="0" bIns="0" rtlCol="0" anchor="t"/>
          <a:lstStyle/>
          <a:p>
            <a:pPr algn="l" indent="0" marL="0">
              <a:lnSpc>
                <a:spcPct val="122000"/>
              </a:lnSpc>
              <a:buNone/>
            </a:pPr>
            <a:r>
              <a:rPr lang="en-US" sz="1200" dirty="0">
                <a:solidFill>
                  <a:srgbClr val="1C1C1C"/>
                </a:solidFill>
                <a:latin typeface="Roboto Condensed" pitchFamily="34" charset="0"/>
                <a:ea typeface="Roboto Condensed" pitchFamily="34" charset="-122"/>
                <a:cs typeface="Roboto Condensed" pitchFamily="34" charset="-120"/>
              </a:rPr>
              <a:t>Like </a:t>
            </a:r>
            <a:pPr algn="l" indent="0" marL="0">
              <a:lnSpc>
                <a:spcPct val="122000"/>
              </a:lnSpc>
              <a:buNone/>
            </a:pPr>
            <a:r>
              <a:rPr lang="en-US" sz="1200" dirty="0">
                <a:solidFill>
                  <a:srgbClr val="1C1C1C"/>
                </a:solidFill>
                <a:highlight>
                  <a:srgbClr val="F2F2F2"/>
                </a:highlight>
                <a:latin typeface="Consolas" pitchFamily="34" charset="0"/>
                <a:ea typeface="Consolas" pitchFamily="34" charset="-122"/>
                <a:cs typeface="Consolas" pitchFamily="34" charset="-120"/>
              </a:rPr>
              <a:t>/health</a:t>
            </a:r>
            <a:pPr algn="l" indent="0" marL="0">
              <a:lnSpc>
                <a:spcPct val="122000"/>
              </a:lnSpc>
              <a:buNone/>
            </a:pPr>
            <a:r>
              <a:rPr lang="en-US" sz="1200" dirty="0">
                <a:solidFill>
                  <a:srgbClr val="1C1C1C"/>
                </a:solidFill>
                <a:latin typeface="Roboto Condensed" pitchFamily="34" charset="0"/>
                <a:ea typeface="Roboto Condensed" pitchFamily="34" charset="-122"/>
                <a:cs typeface="Roboto Condensed" pitchFamily="34" charset="-120"/>
              </a:rPr>
              <a:t> and </a:t>
            </a:r>
            <a:pPr algn="l" indent="0" marL="0">
              <a:lnSpc>
                <a:spcPct val="122000"/>
              </a:lnSpc>
              <a:buNone/>
            </a:pPr>
            <a:r>
              <a:rPr lang="en-US" sz="1200" dirty="0">
                <a:solidFill>
                  <a:srgbClr val="1C1C1C"/>
                </a:solidFill>
                <a:highlight>
                  <a:srgbClr val="F2F2F2"/>
                </a:highlight>
                <a:latin typeface="Consolas" pitchFamily="34" charset="0"/>
                <a:ea typeface="Consolas" pitchFamily="34" charset="-122"/>
                <a:cs typeface="Consolas" pitchFamily="34" charset="-120"/>
              </a:rPr>
              <a:t>/command</a:t>
            </a:r>
            <a:endParaRPr lang="en-US" sz="12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793206"/>
            <a:ext cx="6296860" cy="908546"/>
          </a:xfrm>
          <a:prstGeom prst="rect">
            <a:avLst/>
          </a:prstGeom>
        </p:spPr>
      </p:pic>
      <p:sp>
        <p:nvSpPr>
          <p:cNvPr id="8" name="Text 3"/>
          <p:cNvSpPr/>
          <p:nvPr/>
        </p:nvSpPr>
        <p:spPr>
          <a:xfrm>
            <a:off x="913187" y="2968724"/>
            <a:ext cx="5869634" cy="244574"/>
          </a:xfrm>
          <a:prstGeom prst="rect">
            <a:avLst/>
          </a:prstGeom>
          <a:noFill/>
          <a:ln/>
        </p:spPr>
        <p:txBody>
          <a:bodyPr wrap="none" lIns="0" tIns="0" rIns="0" bIns="0" rtlCol="0" anchor="t"/>
          <a:lstStyle/>
          <a:p>
            <a:pPr algn="l" indent="0" marL="0">
              <a:lnSpc>
                <a:spcPct val="104000"/>
              </a:lnSpc>
              <a:buNone/>
            </a:pPr>
            <a:r>
              <a:rPr lang="en-US" sz="1500" b="1" dirty="0">
                <a:solidFill>
                  <a:srgbClr val="1C1C1C"/>
                </a:solidFill>
                <a:latin typeface="Orbitron Bold" pitchFamily="34" charset="0"/>
                <a:ea typeface="Orbitron Bold" pitchFamily="34" charset="-122"/>
                <a:cs typeface="Orbitron Bold" pitchFamily="34" charset="-120"/>
              </a:rPr>
              <a:t>Form field names</a:t>
            </a:r>
            <a:endParaRPr lang="en-US" sz="1500" dirty="0"/>
          </a:p>
        </p:txBody>
      </p:sp>
      <p:sp>
        <p:nvSpPr>
          <p:cNvPr id="9" name="Text 4"/>
          <p:cNvSpPr/>
          <p:nvPr/>
        </p:nvSpPr>
        <p:spPr>
          <a:xfrm>
            <a:off x="913187" y="3290987"/>
            <a:ext cx="5869634" cy="235248"/>
          </a:xfrm>
          <a:prstGeom prst="rect">
            <a:avLst/>
          </a:prstGeom>
          <a:noFill/>
          <a:ln/>
        </p:spPr>
        <p:txBody>
          <a:bodyPr wrap="none" lIns="0" tIns="0" rIns="0" bIns="0" rtlCol="0" anchor="t"/>
          <a:lstStyle/>
          <a:p>
            <a:pPr algn="l" indent="0" marL="0">
              <a:lnSpc>
                <a:spcPct val="122000"/>
              </a:lnSpc>
              <a:buNone/>
            </a:pPr>
            <a:r>
              <a:rPr lang="en-US" sz="1200" dirty="0">
                <a:solidFill>
                  <a:srgbClr val="1C1C1C"/>
                </a:solidFill>
                <a:latin typeface="Roboto Condensed" pitchFamily="34" charset="0"/>
                <a:ea typeface="Roboto Condensed" pitchFamily="34" charset="-122"/>
                <a:cs typeface="Roboto Condensed" pitchFamily="34" charset="-120"/>
              </a:rPr>
              <a:t>Like </a:t>
            </a:r>
            <a:pPr algn="l" indent="0" marL="0">
              <a:lnSpc>
                <a:spcPct val="122000"/>
              </a:lnSpc>
              <a:buNone/>
            </a:pPr>
            <a:r>
              <a:rPr lang="en-US" sz="1200" dirty="0">
                <a:solidFill>
                  <a:srgbClr val="1C1C1C"/>
                </a:solidFill>
                <a:highlight>
                  <a:srgbClr val="F2F2F2"/>
                </a:highlight>
                <a:latin typeface="Consolas" pitchFamily="34" charset="0"/>
                <a:ea typeface="Consolas" pitchFamily="34" charset="-122"/>
                <a:cs typeface="Consolas" pitchFamily="34" charset="-120"/>
              </a:rPr>
              <a:t>command</a:t>
            </a:r>
            <a:endParaRPr lang="en-US" sz="12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831332"/>
            <a:ext cx="6296860" cy="908546"/>
          </a:xfrm>
          <a:prstGeom prst="rect">
            <a:avLst/>
          </a:prstGeom>
        </p:spPr>
      </p:pic>
      <p:sp>
        <p:nvSpPr>
          <p:cNvPr id="11" name="Text 5"/>
          <p:cNvSpPr/>
          <p:nvPr/>
        </p:nvSpPr>
        <p:spPr>
          <a:xfrm>
            <a:off x="913187" y="4006850"/>
            <a:ext cx="5869634" cy="244574"/>
          </a:xfrm>
          <a:prstGeom prst="rect">
            <a:avLst/>
          </a:prstGeom>
          <a:noFill/>
          <a:ln/>
        </p:spPr>
        <p:txBody>
          <a:bodyPr wrap="none" lIns="0" tIns="0" rIns="0" bIns="0" rtlCol="0" anchor="t"/>
          <a:lstStyle/>
          <a:p>
            <a:pPr algn="l" indent="0" marL="0">
              <a:lnSpc>
                <a:spcPct val="104000"/>
              </a:lnSpc>
              <a:buNone/>
            </a:pPr>
            <a:r>
              <a:rPr lang="en-US" sz="1500" b="1" dirty="0">
                <a:solidFill>
                  <a:srgbClr val="1C1C1C"/>
                </a:solidFill>
                <a:latin typeface="Orbitron Bold" pitchFamily="34" charset="0"/>
                <a:ea typeface="Orbitron Bold" pitchFamily="34" charset="-122"/>
                <a:cs typeface="Orbitron Bold" pitchFamily="34" charset="-120"/>
              </a:rPr>
              <a:t>Environment variable names</a:t>
            </a:r>
            <a:endParaRPr lang="en-US" sz="1500" dirty="0"/>
          </a:p>
        </p:txBody>
      </p:sp>
      <p:sp>
        <p:nvSpPr>
          <p:cNvPr id="12" name="Text 6"/>
          <p:cNvSpPr/>
          <p:nvPr/>
        </p:nvSpPr>
        <p:spPr>
          <a:xfrm>
            <a:off x="913187" y="4329113"/>
            <a:ext cx="5869634" cy="235248"/>
          </a:xfrm>
          <a:prstGeom prst="rect">
            <a:avLst/>
          </a:prstGeom>
          <a:noFill/>
          <a:ln/>
        </p:spPr>
        <p:txBody>
          <a:bodyPr wrap="none" lIns="0" tIns="0" rIns="0" bIns="0" rtlCol="0" anchor="t"/>
          <a:lstStyle/>
          <a:p>
            <a:pPr algn="l" indent="0" marL="0">
              <a:lnSpc>
                <a:spcPct val="122000"/>
              </a:lnSpc>
              <a:buNone/>
            </a:pPr>
            <a:r>
              <a:rPr lang="en-US" sz="1200" dirty="0">
                <a:solidFill>
                  <a:srgbClr val="1C1C1C"/>
                </a:solidFill>
                <a:latin typeface="Roboto Condensed" pitchFamily="34" charset="0"/>
                <a:ea typeface="Roboto Condensed" pitchFamily="34" charset="-122"/>
                <a:cs typeface="Roboto Condensed" pitchFamily="34" charset="-120"/>
              </a:rPr>
              <a:t>Like </a:t>
            </a:r>
            <a:pPr algn="l" indent="0" marL="0">
              <a:lnSpc>
                <a:spcPct val="122000"/>
              </a:lnSpc>
              <a:buNone/>
            </a:pPr>
            <a:r>
              <a:rPr lang="en-US" sz="1200" dirty="0">
                <a:solidFill>
                  <a:srgbClr val="1C1C1C"/>
                </a:solidFill>
                <a:highlight>
                  <a:srgbClr val="F2F2F2"/>
                </a:highlight>
                <a:latin typeface="Consolas" pitchFamily="34" charset="0"/>
                <a:ea typeface="Consolas" pitchFamily="34" charset="-122"/>
                <a:cs typeface="Consolas" pitchFamily="34" charset="-120"/>
              </a:rPr>
              <a:t>PORT</a:t>
            </a:r>
            <a:endParaRPr lang="en-US" sz="12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4869458"/>
            <a:ext cx="6296860" cy="908546"/>
          </a:xfrm>
          <a:prstGeom prst="rect">
            <a:avLst/>
          </a:prstGeom>
        </p:spPr>
      </p:pic>
      <p:sp>
        <p:nvSpPr>
          <p:cNvPr id="14" name="Text 7"/>
          <p:cNvSpPr/>
          <p:nvPr/>
        </p:nvSpPr>
        <p:spPr>
          <a:xfrm>
            <a:off x="913187" y="5044976"/>
            <a:ext cx="5869634" cy="244574"/>
          </a:xfrm>
          <a:prstGeom prst="rect">
            <a:avLst/>
          </a:prstGeom>
          <a:noFill/>
          <a:ln/>
        </p:spPr>
        <p:txBody>
          <a:bodyPr wrap="none" lIns="0" tIns="0" rIns="0" bIns="0" rtlCol="0" anchor="t"/>
          <a:lstStyle/>
          <a:p>
            <a:pPr algn="l" indent="0" marL="0">
              <a:lnSpc>
                <a:spcPct val="104000"/>
              </a:lnSpc>
              <a:buNone/>
            </a:pPr>
            <a:r>
              <a:rPr lang="en-US" sz="1500" b="1" dirty="0">
                <a:solidFill>
                  <a:srgbClr val="1C1C1C"/>
                </a:solidFill>
                <a:latin typeface="Orbitron Bold" pitchFamily="34" charset="0"/>
                <a:ea typeface="Orbitron Bold" pitchFamily="34" charset="-122"/>
                <a:cs typeface="Orbitron Bold" pitchFamily="34" charset="-120"/>
              </a:rPr>
              <a:t>Save file keys</a:t>
            </a:r>
            <a:endParaRPr lang="en-US" sz="1500" dirty="0"/>
          </a:p>
        </p:txBody>
      </p:sp>
      <p:sp>
        <p:nvSpPr>
          <p:cNvPr id="15" name="Text 8"/>
          <p:cNvSpPr/>
          <p:nvPr/>
        </p:nvSpPr>
        <p:spPr>
          <a:xfrm>
            <a:off x="913187" y="5367238"/>
            <a:ext cx="5869634" cy="235248"/>
          </a:xfrm>
          <a:prstGeom prst="rect">
            <a:avLst/>
          </a:prstGeom>
          <a:noFill/>
          <a:ln/>
        </p:spPr>
        <p:txBody>
          <a:bodyPr wrap="none" lIns="0" tIns="0" rIns="0" bIns="0" rtlCol="0" anchor="t"/>
          <a:lstStyle/>
          <a:p>
            <a:pPr algn="l" indent="0" marL="0">
              <a:lnSpc>
                <a:spcPct val="122000"/>
              </a:lnSpc>
              <a:buNone/>
            </a:pPr>
            <a:r>
              <a:rPr lang="en-US" sz="1200" dirty="0">
                <a:solidFill>
                  <a:srgbClr val="1C1C1C"/>
                </a:solidFill>
                <a:latin typeface="Roboto Condensed" pitchFamily="34" charset="0"/>
                <a:ea typeface="Roboto Condensed" pitchFamily="34" charset="-122"/>
                <a:cs typeface="Roboto Condensed" pitchFamily="34" charset="-120"/>
              </a:rPr>
              <a:t>Like </a:t>
            </a:r>
            <a:pPr algn="l" indent="0" marL="0">
              <a:lnSpc>
                <a:spcPct val="122000"/>
              </a:lnSpc>
              <a:buNone/>
            </a:pPr>
            <a:r>
              <a:rPr lang="en-US" sz="1200" dirty="0">
                <a:solidFill>
                  <a:srgbClr val="1C1C1C"/>
                </a:solidFill>
                <a:highlight>
                  <a:srgbClr val="F2F2F2"/>
                </a:highlight>
                <a:latin typeface="Consolas" pitchFamily="34" charset="0"/>
                <a:ea typeface="Consolas" pitchFamily="34" charset="-122"/>
                <a:cs typeface="Consolas" pitchFamily="34" charset="-120"/>
              </a:rPr>
              <a:t>room</a:t>
            </a:r>
            <a:endParaRPr lang="en-US" sz="1200" dirty="0"/>
          </a:p>
        </p:txBody>
      </p:sp>
      <p:sp>
        <p:nvSpPr>
          <p:cNvPr id="16" name="Text 9"/>
          <p:cNvSpPr/>
          <p:nvPr/>
        </p:nvSpPr>
        <p:spPr>
          <a:xfrm>
            <a:off x="661475" y="5923756"/>
            <a:ext cx="6906444" cy="228898"/>
          </a:xfrm>
          <a:prstGeom prst="rect">
            <a:avLst/>
          </a:prstGeom>
          <a:noFill/>
          <a:ln/>
        </p:spPr>
        <p:txBody>
          <a:bodyPr wrap="none" lIns="0" tIns="0" rIns="0" bIns="0" rtlCol="0" anchor="t"/>
          <a:lstStyle/>
          <a:p>
            <a:pPr algn="l" indent="0" marL="0">
              <a:lnSpc>
                <a:spcPct val="122000"/>
              </a:lnSpc>
              <a:buNone/>
            </a:pPr>
            <a:r>
              <a:rPr lang="en-US" sz="1200" dirty="0">
                <a:solidFill>
                  <a:srgbClr val="1C1C1C"/>
                </a:solidFill>
                <a:latin typeface="Roboto Condensed" pitchFamily="34" charset="0"/>
                <a:ea typeface="Roboto Condensed" pitchFamily="34" charset="-122"/>
                <a:cs typeface="Roboto Condensed" pitchFamily="34" charset="-120"/>
              </a:rPr>
              <a:t>Change these on purpose, never in a cleanup.</a:t>
            </a:r>
            <a:endParaRPr lang="en-US" sz="1200" dirty="0"/>
          </a:p>
        </p:txBody>
      </p:sp>
      <p:sp>
        <p:nvSpPr>
          <p:cNvPr id="17"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646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Baselines and lifecycle phases</a:t>
            </a:r>
            <a:endParaRPr lang="en-US" sz="3700" dirty="0"/>
          </a:p>
        </p:txBody>
      </p:sp>
      <p:pic>
        <p:nvPicPr>
          <p:cNvPr id="3" name="Image 0" descr="preencoded.png">    </p:cNvPr>
          <p:cNvPicPr>
            <a:picLocks noChangeAspect="1"/>
          </p:cNvPicPr>
          <p:nvPr/>
        </p:nvPicPr>
        <p:blipFill>
          <a:blip r:embed="rId1"/>
          <a:stretch>
            <a:fillRect/>
          </a:stretch>
        </p:blipFill>
        <p:spPr>
          <a:xfrm>
            <a:off x="661475" y="2251373"/>
            <a:ext cx="6903269" cy="3106539"/>
          </a:xfrm>
          <a:prstGeom prst="rect">
            <a:avLst/>
          </a:prstGeom>
        </p:spPr>
      </p:pic>
      <p:sp>
        <p:nvSpPr>
          <p:cNvPr id="4" name="Text 1"/>
          <p:cNvSpPr/>
          <p:nvPr/>
        </p:nvSpPr>
        <p:spPr>
          <a:xfrm>
            <a:off x="1701329" y="2380397"/>
            <a:ext cx="1208068" cy="186691"/>
          </a:xfrm>
          <a:prstGeom prst="rect">
            <a:avLst/>
          </a:prstGeom>
          <a:noFill/>
          <a:ln/>
        </p:spPr>
        <p:txBody>
          <a:bodyPr wrap="none" lIns="0" tIns="0" rIns="0" bIns="0" rtlCol="0" anchor="t"/>
          <a:lstStyle/>
          <a:p>
            <a:pPr algn="ctr" indent="0" marL="0">
              <a:lnSpc>
                <a:spcPct val="104000"/>
              </a:lnSpc>
              <a:buNone/>
            </a:pPr>
            <a:r>
              <a:rPr lang="en-US" sz="1150" b="1" dirty="0">
                <a:solidFill>
                  <a:srgbClr val="1C1C1C"/>
                </a:solidFill>
                <a:latin typeface="Orbitron Bold" pitchFamily="34" charset="0"/>
                <a:ea typeface="Orbitron Bold" pitchFamily="34" charset="-122"/>
                <a:cs typeface="Orbitron Bold" pitchFamily="34" charset="-120"/>
              </a:rPr>
              <a:t>Requirements</a:t>
            </a:r>
            <a:endParaRPr lang="en-US" sz="1150" dirty="0"/>
          </a:p>
        </p:txBody>
      </p:sp>
      <p:sp>
        <p:nvSpPr>
          <p:cNvPr id="5" name="Text 2"/>
          <p:cNvSpPr/>
          <p:nvPr/>
        </p:nvSpPr>
        <p:spPr>
          <a:xfrm>
            <a:off x="1701329" y="2620191"/>
            <a:ext cx="1208068" cy="298706"/>
          </a:xfrm>
          <a:prstGeom prst="rect">
            <a:avLst/>
          </a:prstGeom>
          <a:noFill/>
          <a:ln/>
        </p:spPr>
        <p:txBody>
          <a:bodyPr wrap="square" lIns="0" tIns="0" rIns="0" bIns="0" rtlCol="0" anchor="t">
            <a:normAutofit/>
          </a:bodyPr>
          <a:lstStyle/>
          <a:p>
            <a:pPr algn="ctr" indent="0" marL="0">
              <a:lnSpc>
                <a:spcPct val="104000"/>
              </a:lnSpc>
              <a:buNone/>
            </a:pPr>
            <a:r>
              <a:rPr lang="en-US" sz="900" dirty="0">
                <a:solidFill>
                  <a:srgbClr val="1C1C1C"/>
                </a:solidFill>
                <a:latin typeface="Roboto Condensed" pitchFamily="34" charset="0"/>
                <a:ea typeface="Roboto Condensed" pitchFamily="34" charset="-122"/>
                <a:cs typeface="Roboto Condensed" pitchFamily="34" charset="-120"/>
              </a:rPr>
              <a:t>Capture client needs and set baseline</a:t>
            </a:r>
            <a:endParaRPr lang="en-US" sz="900" dirty="0"/>
          </a:p>
        </p:txBody>
      </p:sp>
      <p:sp>
        <p:nvSpPr>
          <p:cNvPr id="6" name="Text 3"/>
          <p:cNvSpPr/>
          <p:nvPr/>
        </p:nvSpPr>
        <p:spPr>
          <a:xfrm>
            <a:off x="2896122" y="4710301"/>
            <a:ext cx="1214706" cy="186691"/>
          </a:xfrm>
          <a:prstGeom prst="rect">
            <a:avLst/>
          </a:prstGeom>
          <a:noFill/>
          <a:ln/>
        </p:spPr>
        <p:txBody>
          <a:bodyPr wrap="none" lIns="0" tIns="0" rIns="0" bIns="0" rtlCol="0" anchor="t"/>
          <a:lstStyle/>
          <a:p>
            <a:pPr algn="ctr" indent="0" marL="0">
              <a:lnSpc>
                <a:spcPct val="104000"/>
              </a:lnSpc>
              <a:buNone/>
            </a:pPr>
            <a:r>
              <a:rPr lang="en-US" sz="1150" b="1" dirty="0">
                <a:solidFill>
                  <a:srgbClr val="1C1C1C"/>
                </a:solidFill>
                <a:latin typeface="Orbitron Bold" pitchFamily="34" charset="0"/>
                <a:ea typeface="Orbitron Bold" pitchFamily="34" charset="-122"/>
                <a:cs typeface="Orbitron Bold" pitchFamily="34" charset="-120"/>
              </a:rPr>
              <a:t>Design</a:t>
            </a:r>
            <a:endParaRPr lang="en-US" sz="1150" dirty="0"/>
          </a:p>
        </p:txBody>
      </p:sp>
      <p:sp>
        <p:nvSpPr>
          <p:cNvPr id="7" name="Text 4"/>
          <p:cNvSpPr/>
          <p:nvPr/>
        </p:nvSpPr>
        <p:spPr>
          <a:xfrm>
            <a:off x="2896122" y="4950096"/>
            <a:ext cx="1214706" cy="298706"/>
          </a:xfrm>
          <a:prstGeom prst="rect">
            <a:avLst/>
          </a:prstGeom>
          <a:noFill/>
          <a:ln/>
        </p:spPr>
        <p:txBody>
          <a:bodyPr wrap="square" lIns="0" tIns="0" rIns="0" bIns="0" rtlCol="0" anchor="t">
            <a:normAutofit/>
          </a:bodyPr>
          <a:lstStyle/>
          <a:p>
            <a:pPr algn="ctr" indent="0" marL="0">
              <a:lnSpc>
                <a:spcPct val="104000"/>
              </a:lnSpc>
              <a:buNone/>
            </a:pPr>
            <a:r>
              <a:rPr lang="en-US" sz="900" dirty="0">
                <a:solidFill>
                  <a:srgbClr val="1C1C1C"/>
                </a:solidFill>
                <a:latin typeface="Roboto Condensed" pitchFamily="34" charset="0"/>
                <a:ea typeface="Roboto Condensed" pitchFamily="34" charset="-122"/>
                <a:cs typeface="Roboto Condensed" pitchFamily="34" charset="-120"/>
              </a:rPr>
              <a:t>Architect solution and review specs</a:t>
            </a:r>
            <a:endParaRPr lang="en-US" sz="900" dirty="0"/>
          </a:p>
        </p:txBody>
      </p:sp>
      <p:sp>
        <p:nvSpPr>
          <p:cNvPr id="8" name="Text 5"/>
          <p:cNvSpPr/>
          <p:nvPr/>
        </p:nvSpPr>
        <p:spPr>
          <a:xfrm>
            <a:off x="4077639" y="2357164"/>
            <a:ext cx="1208069" cy="186691"/>
          </a:xfrm>
          <a:prstGeom prst="rect">
            <a:avLst/>
          </a:prstGeom>
          <a:noFill/>
          <a:ln/>
        </p:spPr>
        <p:txBody>
          <a:bodyPr wrap="none" lIns="0" tIns="0" rIns="0" bIns="0" rtlCol="0" anchor="t"/>
          <a:lstStyle/>
          <a:p>
            <a:pPr algn="ctr" indent="0" marL="0">
              <a:lnSpc>
                <a:spcPct val="104000"/>
              </a:lnSpc>
              <a:buNone/>
            </a:pPr>
            <a:r>
              <a:rPr lang="en-US" sz="1150" b="1" dirty="0">
                <a:solidFill>
                  <a:srgbClr val="1C1C1C"/>
                </a:solidFill>
                <a:latin typeface="Orbitron Bold" pitchFamily="34" charset="0"/>
                <a:ea typeface="Orbitron Bold" pitchFamily="34" charset="-122"/>
                <a:cs typeface="Orbitron Bold" pitchFamily="34" charset="-120"/>
              </a:rPr>
              <a:t>Development</a:t>
            </a:r>
            <a:endParaRPr lang="en-US" sz="1150" dirty="0"/>
          </a:p>
        </p:txBody>
      </p:sp>
      <p:sp>
        <p:nvSpPr>
          <p:cNvPr id="9" name="Text 6"/>
          <p:cNvSpPr/>
          <p:nvPr/>
        </p:nvSpPr>
        <p:spPr>
          <a:xfrm>
            <a:off x="4077639" y="2596959"/>
            <a:ext cx="1208069" cy="298706"/>
          </a:xfrm>
          <a:prstGeom prst="rect">
            <a:avLst/>
          </a:prstGeom>
          <a:noFill/>
          <a:ln/>
        </p:spPr>
        <p:txBody>
          <a:bodyPr wrap="square" lIns="0" tIns="0" rIns="0" bIns="0" rtlCol="0" anchor="t">
            <a:normAutofit/>
          </a:bodyPr>
          <a:lstStyle/>
          <a:p>
            <a:pPr algn="ctr" indent="0" marL="0">
              <a:lnSpc>
                <a:spcPct val="104000"/>
              </a:lnSpc>
              <a:buNone/>
            </a:pPr>
            <a:r>
              <a:rPr lang="en-US" sz="900" dirty="0">
                <a:solidFill>
                  <a:srgbClr val="1C1C1C"/>
                </a:solidFill>
                <a:latin typeface="Roboto Condensed" pitchFamily="34" charset="0"/>
                <a:ea typeface="Roboto Condensed" pitchFamily="34" charset="-122"/>
                <a:cs typeface="Roboto Condensed" pitchFamily="34" charset="-120"/>
              </a:rPr>
              <a:t>Build features and produce tagged builds</a:t>
            </a:r>
            <a:endParaRPr lang="en-US" sz="900" dirty="0"/>
          </a:p>
        </p:txBody>
      </p:sp>
      <p:sp>
        <p:nvSpPr>
          <p:cNvPr id="10" name="Text 7"/>
          <p:cNvSpPr/>
          <p:nvPr/>
        </p:nvSpPr>
        <p:spPr>
          <a:xfrm>
            <a:off x="5272432" y="4710301"/>
            <a:ext cx="1208069" cy="186691"/>
          </a:xfrm>
          <a:prstGeom prst="rect">
            <a:avLst/>
          </a:prstGeom>
          <a:noFill/>
          <a:ln/>
        </p:spPr>
        <p:txBody>
          <a:bodyPr wrap="none" lIns="0" tIns="0" rIns="0" bIns="0" rtlCol="0" anchor="t"/>
          <a:lstStyle/>
          <a:p>
            <a:pPr algn="ctr" indent="0" marL="0">
              <a:lnSpc>
                <a:spcPct val="104000"/>
              </a:lnSpc>
              <a:buNone/>
            </a:pPr>
            <a:r>
              <a:rPr lang="en-US" sz="1150" b="1" dirty="0">
                <a:solidFill>
                  <a:srgbClr val="1C1C1C"/>
                </a:solidFill>
                <a:latin typeface="Orbitron Bold" pitchFamily="34" charset="0"/>
                <a:ea typeface="Orbitron Bold" pitchFamily="34" charset="-122"/>
                <a:cs typeface="Orbitron Bold" pitchFamily="34" charset="-120"/>
              </a:rPr>
              <a:t>Testing</a:t>
            </a:r>
            <a:endParaRPr lang="en-US" sz="1150" dirty="0"/>
          </a:p>
        </p:txBody>
      </p:sp>
      <p:sp>
        <p:nvSpPr>
          <p:cNvPr id="11" name="Text 8"/>
          <p:cNvSpPr/>
          <p:nvPr/>
        </p:nvSpPr>
        <p:spPr>
          <a:xfrm>
            <a:off x="5272432" y="4950096"/>
            <a:ext cx="1208069" cy="298706"/>
          </a:xfrm>
          <a:prstGeom prst="rect">
            <a:avLst/>
          </a:prstGeom>
          <a:noFill/>
          <a:ln/>
        </p:spPr>
        <p:txBody>
          <a:bodyPr wrap="square" lIns="0" tIns="0" rIns="0" bIns="0" rtlCol="0" anchor="t">
            <a:normAutofit/>
          </a:bodyPr>
          <a:lstStyle/>
          <a:p>
            <a:pPr algn="ctr" indent="0" marL="0">
              <a:lnSpc>
                <a:spcPct val="104000"/>
              </a:lnSpc>
              <a:buNone/>
            </a:pPr>
            <a:r>
              <a:rPr lang="en-US" sz="900" dirty="0">
                <a:solidFill>
                  <a:srgbClr val="1C1C1C"/>
                </a:solidFill>
                <a:latin typeface="Roboto Condensed" pitchFamily="34" charset="0"/>
                <a:ea typeface="Roboto Condensed" pitchFamily="34" charset="-122"/>
                <a:cs typeface="Roboto Condensed" pitchFamily="34" charset="-120"/>
              </a:rPr>
              <a:t>Validate quality before release</a:t>
            </a:r>
            <a:endParaRPr lang="en-US" sz="900" dirty="0"/>
          </a:p>
        </p:txBody>
      </p:sp>
      <p:sp>
        <p:nvSpPr>
          <p:cNvPr id="12" name="Text 9"/>
          <p:cNvSpPr/>
          <p:nvPr/>
        </p:nvSpPr>
        <p:spPr>
          <a:xfrm>
            <a:off x="8032251" y="2547838"/>
            <a:ext cx="3504219" cy="261758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Requirements, design, development, testing, deployment, maintenance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baseline can be set when a phase ends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Yours: the tagged release your client accepted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Maintenance starts the second your app is live</a:t>
            </a:r>
            <a:endParaRPr lang="en-US" sz="1450" dirty="0"/>
          </a:p>
        </p:txBody>
      </p:sp>
      <p:sp>
        <p:nvSpPr>
          <p:cNvPr id="13"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452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 one-word cleanup</a:t>
            </a:r>
            <a:endParaRPr lang="en-US" sz="3700" dirty="0"/>
          </a:p>
        </p:txBody>
      </p:sp>
      <p:sp>
        <p:nvSpPr>
          <p:cNvPr id="3" name="Shape 1"/>
          <p:cNvSpPr/>
          <p:nvPr/>
        </p:nvSpPr>
        <p:spPr>
          <a:xfrm>
            <a:off x="661475" y="2913955"/>
            <a:ext cx="10868745" cy="680442"/>
          </a:xfrm>
          <a:prstGeom prst="roundRect">
            <a:avLst>
              <a:gd name="adj" fmla="val 11667"/>
            </a:avLst>
          </a:prstGeom>
          <a:solidFill>
            <a:srgbClr val="F2F2F2"/>
          </a:solidFill>
          <a:ln/>
        </p:spPr>
      </p:sp>
      <p:sp>
        <p:nvSpPr>
          <p:cNvPr id="4" name="Text 2"/>
          <p:cNvSpPr/>
          <p:nvPr/>
        </p:nvSpPr>
        <p:spPr>
          <a:xfrm>
            <a:off x="888283" y="310296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&lt;input type="text" id="command" name="cmd" maxlength="40"&gt;</a:t>
            </a:r>
            <a:endParaRPr lang="en-US" sz="1450" dirty="0"/>
          </a:p>
        </p:txBody>
      </p:sp>
      <p:sp>
        <p:nvSpPr>
          <p:cNvPr id="5" name="Shape 3"/>
          <p:cNvSpPr/>
          <p:nvPr/>
        </p:nvSpPr>
        <p:spPr>
          <a:xfrm>
            <a:off x="661475" y="3807023"/>
            <a:ext cx="10868745" cy="982861"/>
          </a:xfrm>
          <a:prstGeom prst="roundRect">
            <a:avLst>
              <a:gd name="adj" fmla="val 8077"/>
            </a:avLst>
          </a:prstGeom>
          <a:solidFill>
            <a:srgbClr val="F2F2F2"/>
          </a:solidFill>
          <a:ln/>
        </p:spPr>
      </p:sp>
      <p:sp>
        <p:nvSpPr>
          <p:cNvPr id="6" name="Text 4"/>
          <p:cNvSpPr/>
          <p:nvPr/>
        </p:nvSpPr>
        <p:spPr>
          <a:xfrm>
            <a:off x="888283" y="399603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 a command. Type help to see the list.</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test caught it</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-m unittest test_app</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FAIL: test_the_form_sends_the_field_the_handler_reads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AssertionError: 'name="command"' not found in '...the whole page...'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Ran 46 tests in 24.191s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FAILED (failures=1, skipped=1)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51855"/>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Change impact analysis, before you touch it</a:t>
            </a:r>
            <a:endParaRPr lang="en-US" sz="3400" dirty="0"/>
          </a:p>
        </p:txBody>
      </p:sp>
      <p:sp>
        <p:nvSpPr>
          <p:cNvPr id="3" name="Shape 1"/>
          <p:cNvSpPr/>
          <p:nvPr/>
        </p:nvSpPr>
        <p:spPr>
          <a:xfrm>
            <a:off x="661475" y="1417638"/>
            <a:ext cx="392003" cy="392013"/>
          </a:xfrm>
          <a:prstGeom prst="roundRect">
            <a:avLst>
              <a:gd name="adj" fmla="val 18670"/>
            </a:avLst>
          </a:prstGeom>
          <a:solidFill>
            <a:srgbClr val="D1E5FA"/>
          </a:solidFill>
          <a:ln w="19050">
            <a:solidFill>
              <a:srgbClr val="B7CBE0"/>
            </a:solidFill>
            <a:prstDash val="solid"/>
          </a:ln>
        </p:spPr>
      </p:sp>
      <p:sp>
        <p:nvSpPr>
          <p:cNvPr id="4" name="Text 2"/>
          <p:cNvSpPr/>
          <p:nvPr/>
        </p:nvSpPr>
        <p:spPr>
          <a:xfrm>
            <a:off x="726759" y="1450231"/>
            <a:ext cx="261336" cy="326727"/>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1</a:t>
            </a:r>
            <a:endParaRPr lang="en-US" sz="2050" dirty="0"/>
          </a:p>
        </p:txBody>
      </p:sp>
      <p:sp>
        <p:nvSpPr>
          <p:cNvPr id="5" name="Text 3"/>
          <p:cNvSpPr/>
          <p:nvPr/>
        </p:nvSpPr>
        <p:spPr>
          <a:xfrm>
            <a:off x="1214109" y="1477466"/>
            <a:ext cx="10316111"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Code</a:t>
            </a:r>
            <a:endParaRPr lang="en-US" sz="1700" dirty="0"/>
          </a:p>
        </p:txBody>
      </p:sp>
      <p:sp>
        <p:nvSpPr>
          <p:cNvPr id="6" name="Text 4"/>
          <p:cNvSpPr/>
          <p:nvPr/>
        </p:nvSpPr>
        <p:spPr>
          <a:xfrm>
            <a:off x="1214109" y="1845965"/>
            <a:ext cx="10316111"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Which files change together</a:t>
            </a:r>
            <a:endParaRPr lang="en-US" sz="1350" dirty="0"/>
          </a:p>
        </p:txBody>
      </p:sp>
      <p:sp>
        <p:nvSpPr>
          <p:cNvPr id="7" name="Shape 5"/>
          <p:cNvSpPr/>
          <p:nvPr/>
        </p:nvSpPr>
        <p:spPr>
          <a:xfrm>
            <a:off x="661475" y="2435027"/>
            <a:ext cx="392003" cy="392013"/>
          </a:xfrm>
          <a:prstGeom prst="roundRect">
            <a:avLst>
              <a:gd name="adj" fmla="val 18670"/>
            </a:avLst>
          </a:prstGeom>
          <a:solidFill>
            <a:srgbClr val="D1E5FA"/>
          </a:solidFill>
          <a:ln w="19050">
            <a:solidFill>
              <a:srgbClr val="B7CBE0"/>
            </a:solidFill>
            <a:prstDash val="solid"/>
          </a:ln>
        </p:spPr>
      </p:sp>
      <p:sp>
        <p:nvSpPr>
          <p:cNvPr id="8" name="Text 6"/>
          <p:cNvSpPr/>
          <p:nvPr/>
        </p:nvSpPr>
        <p:spPr>
          <a:xfrm>
            <a:off x="726759" y="2467620"/>
            <a:ext cx="261336" cy="326727"/>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2</a:t>
            </a:r>
            <a:endParaRPr lang="en-US" sz="2050" dirty="0"/>
          </a:p>
        </p:txBody>
      </p:sp>
      <p:sp>
        <p:nvSpPr>
          <p:cNvPr id="9" name="Text 7"/>
          <p:cNvSpPr/>
          <p:nvPr/>
        </p:nvSpPr>
        <p:spPr>
          <a:xfrm>
            <a:off x="1214109" y="2494855"/>
            <a:ext cx="10316111"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Tests and docs</a:t>
            </a:r>
            <a:endParaRPr lang="en-US" sz="1700" dirty="0"/>
          </a:p>
        </p:txBody>
      </p:sp>
      <p:sp>
        <p:nvSpPr>
          <p:cNvPr id="10" name="Text 8"/>
          <p:cNvSpPr/>
          <p:nvPr/>
        </p:nvSpPr>
        <p:spPr>
          <a:xfrm>
            <a:off x="1214109" y="2863354"/>
            <a:ext cx="10316111"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What must be updated</a:t>
            </a:r>
            <a:endParaRPr lang="en-US" sz="1350" dirty="0"/>
          </a:p>
        </p:txBody>
      </p:sp>
      <p:sp>
        <p:nvSpPr>
          <p:cNvPr id="11" name="Shape 9"/>
          <p:cNvSpPr/>
          <p:nvPr/>
        </p:nvSpPr>
        <p:spPr>
          <a:xfrm>
            <a:off x="661475" y="3452416"/>
            <a:ext cx="392003" cy="392013"/>
          </a:xfrm>
          <a:prstGeom prst="roundRect">
            <a:avLst>
              <a:gd name="adj" fmla="val 18670"/>
            </a:avLst>
          </a:prstGeom>
          <a:solidFill>
            <a:srgbClr val="D1E5FA"/>
          </a:solidFill>
          <a:ln w="19050">
            <a:solidFill>
              <a:srgbClr val="B7CBE0"/>
            </a:solidFill>
            <a:prstDash val="solid"/>
          </a:ln>
        </p:spPr>
      </p:sp>
      <p:sp>
        <p:nvSpPr>
          <p:cNvPr id="12" name="Text 10"/>
          <p:cNvSpPr/>
          <p:nvPr/>
        </p:nvSpPr>
        <p:spPr>
          <a:xfrm>
            <a:off x="726759" y="3485009"/>
            <a:ext cx="261336" cy="326727"/>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3</a:t>
            </a:r>
            <a:endParaRPr lang="en-US" sz="2050" dirty="0"/>
          </a:p>
        </p:txBody>
      </p:sp>
      <p:sp>
        <p:nvSpPr>
          <p:cNvPr id="13" name="Text 11"/>
          <p:cNvSpPr/>
          <p:nvPr/>
        </p:nvSpPr>
        <p:spPr>
          <a:xfrm>
            <a:off x="1214109" y="3512245"/>
            <a:ext cx="10316111"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Host settings and stored data</a:t>
            </a:r>
            <a:endParaRPr lang="en-US" sz="1700" dirty="0"/>
          </a:p>
        </p:txBody>
      </p:sp>
      <p:sp>
        <p:nvSpPr>
          <p:cNvPr id="14" name="Text 12"/>
          <p:cNvSpPr/>
          <p:nvPr/>
        </p:nvSpPr>
        <p:spPr>
          <a:xfrm>
            <a:off x="1214109" y="3880743"/>
            <a:ext cx="10316111"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What breaks</a:t>
            </a:r>
            <a:endParaRPr lang="en-US" sz="1350" dirty="0"/>
          </a:p>
        </p:txBody>
      </p:sp>
      <p:sp>
        <p:nvSpPr>
          <p:cNvPr id="15" name="Shape 13"/>
          <p:cNvSpPr/>
          <p:nvPr/>
        </p:nvSpPr>
        <p:spPr>
          <a:xfrm>
            <a:off x="661475" y="4469805"/>
            <a:ext cx="392003" cy="392013"/>
          </a:xfrm>
          <a:prstGeom prst="roundRect">
            <a:avLst>
              <a:gd name="adj" fmla="val 18670"/>
            </a:avLst>
          </a:prstGeom>
          <a:solidFill>
            <a:srgbClr val="D1E5FA"/>
          </a:solidFill>
          <a:ln w="19050">
            <a:solidFill>
              <a:srgbClr val="B7CBE0"/>
            </a:solidFill>
            <a:prstDash val="solid"/>
          </a:ln>
        </p:spPr>
      </p:sp>
      <p:sp>
        <p:nvSpPr>
          <p:cNvPr id="16" name="Text 14"/>
          <p:cNvSpPr/>
          <p:nvPr/>
        </p:nvSpPr>
        <p:spPr>
          <a:xfrm>
            <a:off x="726759" y="4502398"/>
            <a:ext cx="261336" cy="326727"/>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4</a:t>
            </a:r>
            <a:endParaRPr lang="en-US" sz="2050" dirty="0"/>
          </a:p>
        </p:txBody>
      </p:sp>
      <p:sp>
        <p:nvSpPr>
          <p:cNvPr id="17" name="Text 15"/>
          <p:cNvSpPr/>
          <p:nvPr/>
        </p:nvSpPr>
        <p:spPr>
          <a:xfrm>
            <a:off x="1214109" y="4529634"/>
            <a:ext cx="10316111"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People</a:t>
            </a:r>
            <a:endParaRPr lang="en-US" sz="1700" dirty="0"/>
          </a:p>
        </p:txBody>
      </p:sp>
      <p:sp>
        <p:nvSpPr>
          <p:cNvPr id="18" name="Text 16"/>
          <p:cNvSpPr/>
          <p:nvPr/>
        </p:nvSpPr>
        <p:spPr>
          <a:xfrm>
            <a:off x="1214109" y="4898132"/>
            <a:ext cx="10316111"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Who notices, and what version number</a:t>
            </a:r>
            <a:endParaRPr lang="en-US" sz="1350" dirty="0"/>
          </a:p>
        </p:txBody>
      </p:sp>
      <p:sp>
        <p:nvSpPr>
          <p:cNvPr id="19" name="Shape 17"/>
          <p:cNvSpPr/>
          <p:nvPr/>
        </p:nvSpPr>
        <p:spPr>
          <a:xfrm>
            <a:off x="661475" y="5487194"/>
            <a:ext cx="392003" cy="392013"/>
          </a:xfrm>
          <a:prstGeom prst="roundRect">
            <a:avLst>
              <a:gd name="adj" fmla="val 18670"/>
            </a:avLst>
          </a:prstGeom>
          <a:solidFill>
            <a:srgbClr val="D1E5FA"/>
          </a:solidFill>
          <a:ln w="19050">
            <a:solidFill>
              <a:srgbClr val="B7CBE0"/>
            </a:solidFill>
            <a:prstDash val="solid"/>
          </a:ln>
        </p:spPr>
      </p:sp>
      <p:sp>
        <p:nvSpPr>
          <p:cNvPr id="20" name="Text 18"/>
          <p:cNvSpPr/>
          <p:nvPr/>
        </p:nvSpPr>
        <p:spPr>
          <a:xfrm>
            <a:off x="726759" y="5519787"/>
            <a:ext cx="261336" cy="326727"/>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5</a:t>
            </a:r>
            <a:endParaRPr lang="en-US" sz="2050" dirty="0"/>
          </a:p>
        </p:txBody>
      </p:sp>
      <p:sp>
        <p:nvSpPr>
          <p:cNvPr id="21" name="Text 19"/>
          <p:cNvSpPr/>
          <p:nvPr/>
        </p:nvSpPr>
        <p:spPr>
          <a:xfrm>
            <a:off x="1214109" y="5547023"/>
            <a:ext cx="10316111"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Decide</a:t>
            </a:r>
            <a:endParaRPr lang="en-US" sz="1700" dirty="0"/>
          </a:p>
        </p:txBody>
      </p:sp>
      <p:sp>
        <p:nvSpPr>
          <p:cNvPr id="22" name="Text 20"/>
          <p:cNvSpPr/>
          <p:nvPr/>
        </p:nvSpPr>
        <p:spPr>
          <a:xfrm>
            <a:off x="1214109" y="5915521"/>
            <a:ext cx="10316111"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Patch, minor, major, or reject it</a:t>
            </a:r>
            <a:endParaRPr lang="en-US" sz="1350" dirty="0"/>
          </a:p>
        </p:txBody>
      </p:sp>
      <p:sp>
        <p:nvSpPr>
          <p:cNvPr id="23" name="Text 2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Lab U8-02 Part 3, one real change request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Predict what breaks, then make it and check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GP2 exam, 50 minutes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Tomorrow: WebXam post-test, then tag your release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2026-09-14T18:53:21Z</dcterms:created>
  <dcterms:modified xsi:type="dcterms:W3CDTF">2026-09-14T18:53:21Z</dcterms:modified>
</cp:coreProperties>
</file>