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built this semester runs on one computer, yours. On Friday you stand up and give people a link, and they open it on their phones. Your laptop is not involved. Today is about the gap between works on my machine and works. Everybody underestimates that gap exactly once, and I would rather you do it today, with me here, than Thursday night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building. The host is which entrances are unlocked. One two seven zero zero one locks every door except the one from inside the building. Zero zero zero zero unlocks them all. The port is the apartment number. Render walks up and knocks on the apartment number it gave you. Wrong apartment, or locked front door, and nobody answers. Render screens change, so anything I say about Render menus today is something I confirmed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app. It is the standard library, the same http dot server module the Unit 7 stub model used, so there is nothing to install. do GET runs every time a browser asks for a page. We send a status, a length, and the body. I am going to run it and ask for the page with curl dot exe, and it is going to work. Watch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request, through one two seven zero zero one, works. Second request, to this machine's own network address, which I got from ipconfig, is refused. Same machine. Same app. Same port. The app was told to accept connections from this machine talking to itself, and nothing else. Render's router is something else. Change one line, the host, to zero zero zero zero, and the second request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 tells us the port through an environment variable called PORT. So we read it, with a sensible default of eight thousand for our laptop. I run it. It says listening on eight thousand. The page loads. Every test I can think of passes. Before I deploy, I am going to do one thing Render does that my laptop never does. I am going to set PORT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it is. With PORT unset, get hands back my default, the number eight thousand. With PORT set, get hands back what the environment holds, the text one zero zero zero zero. Environment variables are always text. You have seen this bug before. Week two, twelve times three gave you one two one two one two. Same bug, and this time it only crashes on the one computer you cannot sit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habit as int around input. Convert at the moment you read the value, so an unconverted port never exists. Notice the default is now the text eight thousand in quotes. That means both paths, laptop and Render, go through int every time, and your laptop is finally testing the path Render uses. Then I add a health route that answers ok, and that is a deployable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twice. The model you called in Unit 7 lives on lab hardware. Render cannot reach it, and opening a lab machine to the internet is not a class project decision. So on Render every model call fails, every single time. Version four of the text adventure already catches that and shows the stored description. That is why it can be deployed. Label the fallback, so nobody thinks a model wrote text it did not write. And never make your health route ask the model, or a healthy app looks dead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 only sees what you pushed. Not your laptop, not the file you forgot to commit. Your requirements file can be a single comment, because the standard library needs nothing installed, and pip finishes cleanly on a file with no packages in it. The start command is exactly what you type in a terminal to start the app. If it does not work from your repository folder on your machine, it will not work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U8 one. You get a small web app that works on your machine and is not ready to deploy. Five changes, and a checker that starts your app the way Render does and tells you exactly what is still wrong. Do not skip the checker, and do not argue with it. Build two, you make the same changes in your own final project, push, and create your Render service. If your deploy fails, read the log before you change anything, and change one thing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jpe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Ship It: Your App on a Public Address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It works on my machine</a:t>
            </a:r>
            <a:endParaRPr lang="en-US" sz="3700" dirty="0"/>
          </a:p>
        </p:txBody>
      </p:sp>
      <p:sp>
        <p:nvSpPr>
          <p:cNvPr id="4" name="Text 1"/>
          <p:cNvSpPr/>
          <p:nvPr/>
        </p:nvSpPr>
        <p:spPr>
          <a:xfrm>
            <a:off x="661475"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text adventure runs for exactly one person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Friday, five people open your link on their phones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is sitting at your keyboard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What has to change?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21023"/>
            <a:ext cx="10868745" cy="553740"/>
          </a:xfrm>
          <a:prstGeom prst="rect">
            <a:avLst/>
          </a:prstGeom>
          <a:noFill/>
          <a:ln/>
        </p:spPr>
        <p:txBody>
          <a:bodyPr wrap="none" lIns="0" tIns="0" rIns="0" bIns="0" rtlCol="0" anchor="t"/>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Two settings decide who can reach you</a:t>
            </a:r>
            <a:endParaRPr lang="en-US" sz="3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10730"/>
            <a:ext cx="3523070" cy="2141637"/>
          </a:xfrm>
          <a:prstGeom prst="rect">
            <a:avLst/>
          </a:prstGeom>
        </p:spPr>
      </p:pic>
      <p:sp>
        <p:nvSpPr>
          <p:cNvPr id="4" name="Text 1"/>
          <p:cNvSpPr/>
          <p:nvPr/>
        </p:nvSpPr>
        <p:spPr>
          <a:xfrm>
            <a:off x="933923" y="1906984"/>
            <a:ext cx="3054373"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Host</a:t>
            </a:r>
            <a:endParaRPr lang="en-US" sz="1700" dirty="0"/>
          </a:p>
        </p:txBody>
      </p:sp>
      <p:sp>
        <p:nvSpPr>
          <p:cNvPr id="5" name="Text 2"/>
          <p:cNvSpPr/>
          <p:nvPr/>
        </p:nvSpPr>
        <p:spPr>
          <a:xfrm>
            <a:off x="933923" y="2349996"/>
            <a:ext cx="3054373"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Which connections your app accepts</a:t>
            </a:r>
            <a:endParaRPr lang="en-US" sz="1350" dirty="0"/>
          </a:p>
        </p:txBody>
      </p:sp>
      <p:sp>
        <p:nvSpPr>
          <p:cNvPr id="6" name="Text 3"/>
          <p:cNvSpPr/>
          <p:nvPr/>
        </p:nvSpPr>
        <p:spPr>
          <a:xfrm>
            <a:off x="933923" y="2774057"/>
            <a:ext cx="3054373" cy="882055"/>
          </a:xfrm>
          <a:prstGeom prst="rect">
            <a:avLst/>
          </a:prstGeom>
          <a:noFill/>
          <a:ln/>
        </p:spPr>
        <p:txBody>
          <a:bodyPr wrap="square" lIns="0" tIns="0" rIns="0" bIns="0" rtlCol="0" anchor="t">
            <a:normAutofit/>
          </a:bodyPr>
          <a:lstStyle/>
          <a:p>
            <a:pPr algn="l" marL="274320" indent="-274320">
              <a:lnSpc>
                <a:spcPct val="129000"/>
              </a:lnSpc>
              <a:buSzPct val="100000"/>
              <a:buChar char="•"/>
            </a:pPr>
            <a:r>
              <a:rPr lang="en-US" sz="1350" dirty="0">
                <a:solidFill>
                  <a:srgbClr val="1C1C1C"/>
                </a:solidFill>
                <a:latin typeface="Roboto Condensed" pitchFamily="34" charset="0"/>
                <a:ea typeface="Roboto Condensed" pitchFamily="34" charset="-122"/>
                <a:cs typeface="Roboto Condensed" pitchFamily="34" charset="-120"/>
              </a:rPr>
              <a:t>127.0.0.1 means this machine only</a:t>
            </a:r>
            <a:endParaRPr lang="en-US" sz="1350" dirty="0"/>
          </a:p>
          <a:p>
            <a:pPr algn="l" marL="274320" indent="-274320">
              <a:lnSpc>
                <a:spcPct val="129000"/>
              </a:lnSpc>
              <a:buSzPct val="100000"/>
              <a:buChar char="•"/>
            </a:pPr>
            <a:r>
              <a:rPr lang="en-US" sz="1350" dirty="0">
                <a:solidFill>
                  <a:srgbClr val="1C1C1C"/>
                </a:solidFill>
                <a:latin typeface="Roboto Condensed" pitchFamily="34" charset="0"/>
                <a:ea typeface="Roboto Condensed" pitchFamily="34" charset="-122"/>
                <a:cs typeface="Roboto Condensed" pitchFamily="34" charset="-120"/>
              </a:rPr>
              <a:t>0.0.0.0 means every connection, including Render's</a:t>
            </a:r>
            <a:endParaRPr lang="en-US" sz="13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4018459"/>
            <a:ext cx="3523070" cy="1808857"/>
          </a:xfrm>
          <a:prstGeom prst="rect">
            <a:avLst/>
          </a:prstGeom>
        </p:spPr>
      </p:pic>
      <p:sp>
        <p:nvSpPr>
          <p:cNvPr id="8" name="Text 4"/>
          <p:cNvSpPr/>
          <p:nvPr/>
        </p:nvSpPr>
        <p:spPr>
          <a:xfrm>
            <a:off x="933923" y="4214713"/>
            <a:ext cx="3054373"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Port</a:t>
            </a:r>
            <a:endParaRPr lang="en-US" sz="1700" dirty="0"/>
          </a:p>
        </p:txBody>
      </p:sp>
      <p:sp>
        <p:nvSpPr>
          <p:cNvPr id="9" name="Text 5"/>
          <p:cNvSpPr/>
          <p:nvPr/>
        </p:nvSpPr>
        <p:spPr>
          <a:xfrm>
            <a:off x="933923" y="4657725"/>
            <a:ext cx="3054373"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The numbered door your app answers</a:t>
            </a:r>
            <a:endParaRPr lang="en-US" sz="1350" dirty="0"/>
          </a:p>
        </p:txBody>
      </p:sp>
      <p:sp>
        <p:nvSpPr>
          <p:cNvPr id="10" name="Text 6"/>
          <p:cNvSpPr/>
          <p:nvPr/>
        </p:nvSpPr>
        <p:spPr>
          <a:xfrm>
            <a:off x="933923" y="5081786"/>
            <a:ext cx="3054373" cy="549275"/>
          </a:xfrm>
          <a:prstGeom prst="rect">
            <a:avLst/>
          </a:prstGeom>
          <a:noFill/>
          <a:ln/>
        </p:spPr>
        <p:txBody>
          <a:bodyPr wrap="square" lIns="0" tIns="0" rIns="0" bIns="0" rtlCol="0" anchor="t">
            <a:normAutofit/>
          </a:bodyPr>
          <a:lstStyle/>
          <a:p>
            <a:pPr algn="l" marL="274320" indent="-274320">
              <a:lnSpc>
                <a:spcPct val="129000"/>
              </a:lnSpc>
              <a:buSzPct val="100000"/>
              <a:buChar char="•"/>
            </a:pPr>
            <a:r>
              <a:rPr lang="en-US" sz="1350" dirty="0">
                <a:solidFill>
                  <a:srgbClr val="1C1C1C"/>
                </a:solidFill>
                <a:latin typeface="Roboto Condensed" pitchFamily="34" charset="0"/>
                <a:ea typeface="Roboto Condensed" pitchFamily="34" charset="-122"/>
                <a:cs typeface="Roboto Condensed" pitchFamily="34" charset="-120"/>
              </a:rPr>
              <a:t>Render picks the port and tells you in PORT</a:t>
            </a:r>
            <a:endParaRPr lang="en-US" sz="1350" dirty="0"/>
          </a:p>
        </p:txBody>
      </p:sp>
      <p:pic>
        <p:nvPicPr>
          <p:cNvPr id="11" name="Image 2" descr="preencoded.png">    </p:cNvPr>
          <p:cNvPicPr>
            <a:picLocks noChangeAspect="1"/>
          </p:cNvPicPr>
          <p:nvPr/>
        </p:nvPicPr>
        <p:blipFill>
          <a:blip r:embed="rId5"/>
          <a:stretch>
            <a:fillRect/>
          </a:stretch>
        </p:blipFill>
        <p:spPr>
          <a:xfrm>
            <a:off x="4623081" y="1810147"/>
            <a:ext cx="6913390" cy="3917652"/>
          </a:xfrm>
          <a:prstGeom prst="rect">
            <a:avLst/>
          </a:prstGeom>
        </p:spPr>
      </p:pic>
      <p:sp>
        <p:nvSpPr>
          <p:cNvPr id="12"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23577"/>
            <a:ext cx="10868745" cy="572195"/>
          </a:xfrm>
          <a:prstGeom prst="rect">
            <a:avLst/>
          </a:prstGeom>
          <a:noFill/>
          <a:ln/>
        </p:spPr>
        <p:txBody>
          <a:bodyPr wrap="none" lIns="0" tIns="0" rIns="0" bIns="0" rtlCol="0" anchor="t"/>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The smallest deployable web app</a:t>
            </a:r>
            <a:endParaRPr lang="en-US" sz="3600" dirty="0"/>
          </a:p>
        </p:txBody>
      </p:sp>
      <p:sp>
        <p:nvSpPr>
          <p:cNvPr id="3" name="Shape 1"/>
          <p:cNvSpPr/>
          <p:nvPr/>
        </p:nvSpPr>
        <p:spPr>
          <a:xfrm>
            <a:off x="661475" y="1450479"/>
            <a:ext cx="10868745" cy="4761012"/>
          </a:xfrm>
          <a:prstGeom prst="roundRect">
            <a:avLst>
              <a:gd name="adj" fmla="val 1615"/>
            </a:avLst>
          </a:prstGeom>
          <a:solidFill>
            <a:srgbClr val="F2F2F2"/>
          </a:solidFill>
          <a:ln/>
        </p:spPr>
      </p:sp>
      <p:sp>
        <p:nvSpPr>
          <p:cNvPr id="4" name="Text 2"/>
          <p:cNvSpPr/>
          <p:nvPr/>
        </p:nvSpPr>
        <p:spPr>
          <a:xfrm>
            <a:off x="881140" y="1633538"/>
            <a:ext cx="10429416" cy="4394895"/>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from http.server import BaseHTTPRequestHandler, HTTPServer</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HOST = "127.0.0.1"</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PORT = 8000</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class OnTheAir(BaseHTTPRequestHandler):</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def do_GET(self):</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body = "Kestrel Ridge relay is on the air.".encode("utf-8")</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self.send_response(200)</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self.send_header("Content-Length", str(len(body)))</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self.end_headers()</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self.wfile.write(body)</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server = HTTPServer((HOST, PORT), OnTheAir)</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server.serve_forever()</a:t>
            </a:r>
            <a:endParaRPr lang="en-US" sz="140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Same app, same machine, different door</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curl.exe -s http://127.0.0.1:8000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Kestrel Ridge relay is on the air.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curl.exe -s -S http://10.200.57.157:8000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curl: (7) Failed to connect to 10.200.57.157:8000 after 2055 ms: Could not connect to server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24470"/>
            <a:ext cx="10868745" cy="1126133"/>
          </a:xfrm>
          <a:prstGeom prst="rect">
            <a:avLst/>
          </a:prstGeom>
          <a:noFill/>
          <a:ln/>
        </p:spPr>
        <p:txBody>
          <a:bodyPr wrap="square" lIns="0" tIns="0" rIns="0" bIns="0" rtlCol="0" anchor="t">
            <a:normAutofit/>
          </a:bodyPr>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The fix that passes every test on your laptop</a:t>
            </a:r>
            <a:endParaRPr lang="en-US" sz="3500" dirty="0"/>
          </a:p>
        </p:txBody>
      </p:sp>
      <p:pic>
        <p:nvPicPr>
          <p:cNvPr id="3" name="Image 0" descr="preencoded.png">    </p:cNvPr>
          <p:cNvPicPr>
            <a:picLocks noChangeAspect="1"/>
          </p:cNvPicPr>
          <p:nvPr/>
        </p:nvPicPr>
        <p:blipFill>
          <a:blip r:embed="rId1"/>
          <a:stretch>
            <a:fillRect/>
          </a:stretch>
        </p:blipFill>
        <p:spPr>
          <a:xfrm>
            <a:off x="661475" y="2101354"/>
            <a:ext cx="6910810" cy="3916164"/>
          </a:xfrm>
          <a:prstGeom prst="rect">
            <a:avLst/>
          </a:prstGeom>
        </p:spPr>
      </p:pic>
      <p:sp>
        <p:nvSpPr>
          <p:cNvPr id="4" name="Shape 1"/>
          <p:cNvSpPr/>
          <p:nvPr/>
        </p:nvSpPr>
        <p:spPr>
          <a:xfrm>
            <a:off x="8018163" y="3302893"/>
            <a:ext cx="3518308" cy="1513086"/>
          </a:xfrm>
          <a:prstGeom prst="roundRect">
            <a:avLst>
              <a:gd name="adj" fmla="val 5001"/>
            </a:avLst>
          </a:prstGeom>
          <a:solidFill>
            <a:srgbClr val="F2F2F2"/>
          </a:solidFill>
          <a:ln/>
        </p:spPr>
      </p:sp>
      <p:sp>
        <p:nvSpPr>
          <p:cNvPr id="5" name="Text 2"/>
          <p:cNvSpPr/>
          <p:nvPr/>
        </p:nvSpPr>
        <p:spPr>
          <a:xfrm>
            <a:off x="8234256" y="3482975"/>
            <a:ext cx="3086122" cy="1152922"/>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import os</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HOST = "0.0.0.0"</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PORT = os.environ.get("PORT", 8000)</a:t>
            </a:r>
            <a:endParaRPr lang="en-US" sz="140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the real error</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$env:PORT = "10000"</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python on_the_air.py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server = HTTPServer((HOST, PORT), OnTheAir)</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TypeError: 'str' object cannot be interpreted as an integer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Convert at the moment you read</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Shape 1"/>
          <p:cNvSpPr/>
          <p:nvPr/>
        </p:nvSpPr>
        <p:spPr>
          <a:xfrm>
            <a:off x="8032251" y="2532757"/>
            <a:ext cx="3504219" cy="982861"/>
          </a:xfrm>
          <a:prstGeom prst="roundRect">
            <a:avLst>
              <a:gd name="adj" fmla="val 8077"/>
            </a:avLst>
          </a:prstGeom>
          <a:solidFill>
            <a:srgbClr val="F2F2F2"/>
          </a:solidFill>
          <a:ln/>
        </p:spPr>
      </p:sp>
      <p:sp>
        <p:nvSpPr>
          <p:cNvPr id="5" name="Text 2"/>
          <p:cNvSpPr/>
          <p:nvPr/>
        </p:nvSpPr>
        <p:spPr>
          <a:xfrm>
            <a:off x="8259060" y="2721769"/>
            <a:ext cx="305060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PORT = int(os.environ.get("PORT", "8000"))</a:t>
            </a:r>
            <a:endParaRPr lang="en-US" sz="1450" dirty="0"/>
          </a:p>
        </p:txBody>
      </p:sp>
      <p:sp>
        <p:nvSpPr>
          <p:cNvPr id="6" name="Shape 3"/>
          <p:cNvSpPr/>
          <p:nvPr/>
        </p:nvSpPr>
        <p:spPr>
          <a:xfrm>
            <a:off x="8032251" y="3728244"/>
            <a:ext cx="3504219" cy="1348184"/>
          </a:xfrm>
          <a:prstGeom prst="roundRect">
            <a:avLst>
              <a:gd name="adj" fmla="val 5888"/>
            </a:avLst>
          </a:prstGeom>
          <a:solidFill>
            <a:srgbClr val="FCF2B5"/>
          </a:solidFill>
          <a:ln/>
        </p:spPr>
      </p:sp>
      <p:pic>
        <p:nvPicPr>
          <p:cNvPr id="7" name="Image 1" descr="preencoded.png">    </p:cNvPr>
          <p:cNvPicPr>
            <a:picLocks noChangeAspect="1"/>
          </p:cNvPicPr>
          <p:nvPr/>
        </p:nvPicPr>
        <p:blipFill>
          <a:blip r:embed="rId2"/>
          <a:stretch>
            <a:fillRect/>
          </a:stretch>
        </p:blipFill>
        <p:spPr>
          <a:xfrm>
            <a:off x="8221258" y="4014986"/>
            <a:ext cx="236234" cy="189012"/>
          </a:xfrm>
          <a:prstGeom prst="rect">
            <a:avLst/>
          </a:prstGeom>
        </p:spPr>
      </p:pic>
      <p:sp>
        <p:nvSpPr>
          <p:cNvPr id="8" name="Text 4"/>
          <p:cNvSpPr/>
          <p:nvPr/>
        </p:nvSpPr>
        <p:spPr>
          <a:xfrm>
            <a:off x="8646499" y="3945533"/>
            <a:ext cx="2700964" cy="913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Always wrap the environment variable in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int()</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before passing it to HTTPServer.</a:t>
            </a:r>
            <a:endParaRPr lang="en-US" sz="1450" dirty="0"/>
          </a:p>
        </p:txBody>
      </p:sp>
      <p:sp>
        <p:nvSpPr>
          <p:cNvPr id="9"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There is no model on Render</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model runs on lab hardware inside the building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Render cannot reach it, and must not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model call on Render fails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app falls back and says so on the page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Health checks never depend on the model</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3436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Render needs from your repository</a:t>
            </a:r>
            <a:endParaRPr lang="en-US" sz="3700" dirty="0"/>
          </a:p>
        </p:txBody>
      </p:sp>
      <p:sp>
        <p:nvSpPr>
          <p:cNvPr id="3" name="Text 1"/>
          <p:cNvSpPr/>
          <p:nvPr/>
        </p:nvSpPr>
        <p:spPr>
          <a:xfrm>
            <a:off x="661475" y="231229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608163"/>
            <a:ext cx="3496877" cy="25400"/>
          </a:xfrm>
          <a:prstGeom prst="rect">
            <a:avLst/>
          </a:prstGeom>
          <a:solidFill>
            <a:srgbClr val="57A1EB"/>
          </a:solidFill>
          <a:ln/>
        </p:spPr>
      </p:sp>
      <p:sp>
        <p:nvSpPr>
          <p:cNvPr id="5" name="Text 3"/>
          <p:cNvSpPr/>
          <p:nvPr/>
        </p:nvSpPr>
        <p:spPr>
          <a:xfrm>
            <a:off x="661475" y="2753420"/>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GitHub</a:t>
            </a:r>
            <a:endParaRPr lang="en-US" sz="1850" dirty="0"/>
          </a:p>
        </p:txBody>
      </p:sp>
      <p:sp>
        <p:nvSpPr>
          <p:cNvPr id="6" name="Text 4"/>
          <p:cNvSpPr/>
          <p:nvPr/>
        </p:nvSpPr>
        <p:spPr>
          <a:xfrm>
            <a:off x="661475" y="3162102"/>
            <a:ext cx="34968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Code pushed to GitHub, because Render builds from there</a:t>
            </a:r>
            <a:endParaRPr lang="en-US" sz="1450" dirty="0"/>
          </a:p>
        </p:txBody>
      </p:sp>
      <p:sp>
        <p:nvSpPr>
          <p:cNvPr id="7" name="Text 5"/>
          <p:cNvSpPr/>
          <p:nvPr/>
        </p:nvSpPr>
        <p:spPr>
          <a:xfrm>
            <a:off x="4347359" y="231229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6"/>
          <p:cNvSpPr/>
          <p:nvPr/>
        </p:nvSpPr>
        <p:spPr>
          <a:xfrm>
            <a:off x="4347359" y="2608163"/>
            <a:ext cx="3496877" cy="25400"/>
          </a:xfrm>
          <a:prstGeom prst="rect">
            <a:avLst/>
          </a:prstGeom>
          <a:solidFill>
            <a:srgbClr val="57A1EB"/>
          </a:solidFill>
          <a:ln/>
        </p:spPr>
      </p:sp>
      <p:sp>
        <p:nvSpPr>
          <p:cNvPr id="9" name="Text 7"/>
          <p:cNvSpPr/>
          <p:nvPr/>
        </p:nvSpPr>
        <p:spPr>
          <a:xfrm>
            <a:off x="4347359" y="2753420"/>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requirements.txt</a:t>
            </a:r>
            <a:endParaRPr lang="en-US" sz="1850" dirty="0"/>
          </a:p>
        </p:txBody>
      </p:sp>
      <p:sp>
        <p:nvSpPr>
          <p:cNvPr id="10" name="Text 8"/>
          <p:cNvSpPr/>
          <p:nvPr/>
        </p:nvSpPr>
        <p:spPr>
          <a:xfrm>
            <a:off x="4347359" y="3162102"/>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Even if it only holds a comment</a:t>
            </a:r>
            <a:endParaRPr lang="en-US" sz="1450" dirty="0"/>
          </a:p>
        </p:txBody>
      </p:sp>
      <p:sp>
        <p:nvSpPr>
          <p:cNvPr id="11" name="Text 9"/>
          <p:cNvSpPr/>
          <p:nvPr/>
        </p:nvSpPr>
        <p:spPr>
          <a:xfrm>
            <a:off x="8033244" y="231229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2" name="Shape 10"/>
          <p:cNvSpPr/>
          <p:nvPr/>
        </p:nvSpPr>
        <p:spPr>
          <a:xfrm>
            <a:off x="8033244" y="2608163"/>
            <a:ext cx="3496877" cy="25400"/>
          </a:xfrm>
          <a:prstGeom prst="rect">
            <a:avLst/>
          </a:prstGeom>
          <a:solidFill>
            <a:srgbClr val="57A1EB"/>
          </a:solidFill>
          <a:ln/>
        </p:spPr>
      </p:sp>
      <p:sp>
        <p:nvSpPr>
          <p:cNvPr id="13" name="Text 11"/>
          <p:cNvSpPr/>
          <p:nvPr/>
        </p:nvSpPr>
        <p:spPr>
          <a:xfrm>
            <a:off x="8033244" y="2753420"/>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Start command</a:t>
            </a:r>
            <a:endParaRPr lang="en-US" sz="1850" dirty="0"/>
          </a:p>
        </p:txBody>
      </p:sp>
      <p:sp>
        <p:nvSpPr>
          <p:cNvPr id="14" name="Text 12"/>
          <p:cNvSpPr/>
          <p:nvPr/>
        </p:nvSpPr>
        <p:spPr>
          <a:xfrm>
            <a:off x="8033244" y="3162102"/>
            <a:ext cx="34968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start command that works from your repository folder</a:t>
            </a:r>
            <a:endParaRPr lang="en-US" sz="1450" dirty="0"/>
          </a:p>
        </p:txBody>
      </p:sp>
      <p:sp>
        <p:nvSpPr>
          <p:cNvPr id="15" name="Text 13"/>
          <p:cNvSpPr/>
          <p:nvPr/>
        </p:nvSpPr>
        <p:spPr>
          <a:xfrm>
            <a:off x="661475" y="409763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6" name="Shape 14"/>
          <p:cNvSpPr/>
          <p:nvPr/>
        </p:nvSpPr>
        <p:spPr>
          <a:xfrm>
            <a:off x="661475" y="4393505"/>
            <a:ext cx="5339820" cy="25400"/>
          </a:xfrm>
          <a:prstGeom prst="rect">
            <a:avLst/>
          </a:prstGeom>
          <a:solidFill>
            <a:srgbClr val="57A1EB"/>
          </a:solidFill>
          <a:ln/>
        </p:spPr>
      </p:sp>
      <p:sp>
        <p:nvSpPr>
          <p:cNvPr id="17" name="Text 15"/>
          <p:cNvSpPr/>
          <p:nvPr/>
        </p:nvSpPr>
        <p:spPr>
          <a:xfrm>
            <a:off x="661475" y="453876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PORT binding</a:t>
            </a:r>
            <a:endParaRPr lang="en-US" sz="1850" dirty="0"/>
          </a:p>
        </p:txBody>
      </p:sp>
      <p:sp>
        <p:nvSpPr>
          <p:cNvPr id="18" name="Text 16"/>
          <p:cNvSpPr/>
          <p:nvPr/>
        </p:nvSpPr>
        <p:spPr>
          <a:xfrm>
            <a:off x="661475" y="494744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PORT read, converted, and bound on 0.0.0.0</a:t>
            </a:r>
            <a:endParaRPr lang="en-US" sz="1450" dirty="0"/>
          </a:p>
        </p:txBody>
      </p:sp>
      <p:sp>
        <p:nvSpPr>
          <p:cNvPr id="19" name="Text 17"/>
          <p:cNvSpPr/>
          <p:nvPr/>
        </p:nvSpPr>
        <p:spPr>
          <a:xfrm>
            <a:off x="6190301" y="409763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20" name="Shape 18"/>
          <p:cNvSpPr/>
          <p:nvPr/>
        </p:nvSpPr>
        <p:spPr>
          <a:xfrm>
            <a:off x="6190301" y="4393505"/>
            <a:ext cx="5339820" cy="25400"/>
          </a:xfrm>
          <a:prstGeom prst="rect">
            <a:avLst/>
          </a:prstGeom>
          <a:solidFill>
            <a:srgbClr val="57A1EB"/>
          </a:solidFill>
          <a:ln/>
        </p:spPr>
      </p:sp>
      <p:sp>
        <p:nvSpPr>
          <p:cNvPr id="21" name="Text 19"/>
          <p:cNvSpPr/>
          <p:nvPr/>
        </p:nvSpPr>
        <p:spPr>
          <a:xfrm>
            <a:off x="6190301" y="453876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/health route</a:t>
            </a:r>
            <a:endParaRPr lang="en-US" sz="1850" dirty="0"/>
          </a:p>
        </p:txBody>
      </p:sp>
      <p:sp>
        <p:nvSpPr>
          <p:cNvPr id="22" name="Text 20"/>
          <p:cNvSpPr/>
          <p:nvPr/>
        </p:nvSpPr>
        <p:spPr>
          <a:xfrm>
            <a:off x="6190301" y="4947444"/>
            <a:ext cx="53398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/health route that answers fast</a:t>
            </a:r>
            <a:endParaRPr lang="en-US" sz="1450" dirty="0"/>
          </a:p>
        </p:txBody>
      </p:sp>
      <p:sp>
        <p:nvSpPr>
          <p:cNvPr id="23" name="Text 2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Lab U8-01, make Playlist Namer deploy-ready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Run check_ready.py until all nine checks pass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the same five changes in your final project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Commit, push, then create your Render service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2026-09-14T18:43:54Z</dcterms:created>
  <dcterms:modified xsi:type="dcterms:W3CDTF">2026-09-14T18:43:54Z</dcterms:modified>
</cp:coreProperties>
</file>