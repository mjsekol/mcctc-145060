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playtest a friend's game, you do everything right, you win, and the last line on the screen is game over. That is a real bug, it does not crash, and by the end of today you will know exactly which line causes it. Last Wednesday you drew the flowchart. Thursday you wrote while playing. Today we turn the whole model into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text adventure, every turn based game, and a surprising amount of real software, a checkout kiosk, a vending machine, a chat bot, runs on this. A while loop around four steps. Show, read, update, check. After the loop ends, report how it ended. Match these four steps against the pseudocode you committed last week. They should line up one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is every value the game has to remember from one turn to the next. It is the State box on your IPO chart. Every state variable gets its value above the while. And look at the last two. Playing and won are both flags, and they answer different questions. Playing is read by the while line. Won is read by the report after the loop. Mixing those two up is today's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three room slice of Storm Relay you modeled on paper. State at the top, above the loop. Inside the loop, step one shows the room. Step two reads exactly one command and cleans it, so NORTH with spaces around it still works. Every turn,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cut the other three movement branches and the quit message to fit the slide. The full file is in the lecture notes. Step three updates state. A move changes room and adds one to moves. A broadcast in the studio sets won and playing. Step four checks for a loss, and it checks playing first, so if you already won this turn, the storm message cannot also print. The first ending wins. Then, after the loop, the report reads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surprises almost everybody. Setting playing to False does not jump out of the loop. The while checks its condition at the top, so every line below the assignment in the same pass still runs. In a game, that is how a player dies and then wins on the same turn. Every time you end the game from inside the loop, read what else still runs that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removed won equals True. North, west, broadcast. The loop stops, because playing is False. And the report says game over, because the report does not read playing. It reads won, and nobody changed won. No error. The player won and the program says they lost. Stopping the loop and recording why it stopped are two separate pieces of state, and this branch updated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that prevents it. Every branch that ends the game sets every flag the ending depends on. When you add a new way to win or lose, trace it all the way down to the report and read the message it will print. And test all three endings every time you change the loop. Not one.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test your game by feeding it a file of commands instead of typing them every time. If the file runs out while the game is still waiting at the prompt, Python reports EOFError, EOF when reading a line. That does not mean your game crashed on its own. It means your script never reached an ending. That is useful information, not a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Locked Out, part one. It is the same pattern in a completely different world, and you will write the state, the loop, the four steps, and the report yourself. Your acceptance test is three runs, one win, one loss, one quit. Build two is the first code of your own adventure, and it starts from the design you committed yesterday, not from a blank file. The loop, every room, movement for every exit on your map, your win state, and the report after the loop. Before you commit, play it to the win and read the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1.png"/><Relationship Id="rId10" Type="http://schemas.openxmlformats.org/officeDocument/2006/relationships/image" Target="../media/image-9-2.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Turn, Over and Over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won. The game says GAME OVER</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reach the studio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type broadcast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screen says you are on the air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it says GAME OVER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error anywhere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517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game loop is four steps</a:t>
            </a:r>
            <a:endParaRPr lang="en-US" sz="3700" dirty="0"/>
          </a:p>
        </p:txBody>
      </p:sp>
      <p:pic>
        <p:nvPicPr>
          <p:cNvPr id="3" name="Image 0" descr="preencoded.png">    </p:cNvPr>
          <p:cNvPicPr>
            <a:picLocks noChangeAspect="1"/>
          </p:cNvPicPr>
          <p:nvPr/>
        </p:nvPicPr>
        <p:blipFill>
          <a:blip r:embed="rId1"/>
          <a:stretch>
            <a:fillRect/>
          </a:stretch>
        </p:blipFill>
        <p:spPr>
          <a:xfrm>
            <a:off x="835500" y="1620441"/>
            <a:ext cx="10520595" cy="3947914"/>
          </a:xfrm>
          <a:prstGeom prst="rect">
            <a:avLst/>
          </a:prstGeom>
        </p:spPr>
      </p:pic>
      <p:sp>
        <p:nvSpPr>
          <p:cNvPr id="4" name="Text 1"/>
          <p:cNvSpPr/>
          <p:nvPr/>
        </p:nvSpPr>
        <p:spPr>
          <a:xfrm>
            <a:off x="9336045" y="4609962"/>
            <a:ext cx="1586822" cy="305688"/>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Repeat</a:t>
            </a:r>
            <a:endParaRPr lang="en-US" sz="1900" dirty="0"/>
          </a:p>
        </p:txBody>
      </p:sp>
      <p:sp>
        <p:nvSpPr>
          <p:cNvPr id="5" name="Text 2"/>
          <p:cNvSpPr/>
          <p:nvPr/>
        </p:nvSpPr>
        <p:spPr>
          <a:xfrm>
            <a:off x="7336215" y="4609962"/>
            <a:ext cx="1586822" cy="305688"/>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Check End</a:t>
            </a:r>
            <a:endParaRPr lang="en-US" sz="1900" dirty="0"/>
          </a:p>
        </p:txBody>
      </p:sp>
      <p:sp>
        <p:nvSpPr>
          <p:cNvPr id="6" name="Text 3"/>
          <p:cNvSpPr/>
          <p:nvPr/>
        </p:nvSpPr>
        <p:spPr>
          <a:xfrm>
            <a:off x="5347253" y="4457118"/>
            <a:ext cx="1586822" cy="611377"/>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Update State</a:t>
            </a:r>
            <a:endParaRPr lang="en-US" sz="1900" dirty="0"/>
          </a:p>
        </p:txBody>
      </p:sp>
      <p:sp>
        <p:nvSpPr>
          <p:cNvPr id="7" name="Text 4"/>
          <p:cNvSpPr/>
          <p:nvPr/>
        </p:nvSpPr>
        <p:spPr>
          <a:xfrm>
            <a:off x="3358291" y="4457118"/>
            <a:ext cx="1586822" cy="611377"/>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Read Command</a:t>
            </a:r>
            <a:endParaRPr lang="en-US" sz="1900" dirty="0"/>
          </a:p>
        </p:txBody>
      </p:sp>
      <p:sp>
        <p:nvSpPr>
          <p:cNvPr id="8" name="Text 5"/>
          <p:cNvSpPr/>
          <p:nvPr/>
        </p:nvSpPr>
        <p:spPr>
          <a:xfrm>
            <a:off x="1325854" y="4457118"/>
            <a:ext cx="1586822" cy="611377"/>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Show State</a:t>
            </a:r>
            <a:endParaRPr lang="en-US" sz="1900" dirty="0"/>
          </a:p>
        </p:txBody>
      </p:sp>
      <p:sp>
        <p:nvSpPr>
          <p:cNvPr id="9" name="Text 6"/>
          <p:cNvSpPr/>
          <p:nvPr/>
        </p:nvSpPr>
        <p:spPr>
          <a:xfrm>
            <a:off x="661475" y="5780980"/>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Repeat while playing. Report how it ended after.</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9760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State is everything the game remembers</a:t>
            </a:r>
            <a:endParaRPr lang="en-US" sz="3700" dirty="0"/>
          </a:p>
        </p:txBody>
      </p:sp>
      <p:sp>
        <p:nvSpPr>
          <p:cNvPr id="3" name="Shape 1"/>
          <p:cNvSpPr/>
          <p:nvPr/>
        </p:nvSpPr>
        <p:spPr>
          <a:xfrm>
            <a:off x="661475" y="2466280"/>
            <a:ext cx="3496877" cy="1442343"/>
          </a:xfrm>
          <a:prstGeom prst="roundRect">
            <a:avLst>
              <a:gd name="adj" fmla="val 5504"/>
            </a:avLst>
          </a:prstGeom>
          <a:solidFill>
            <a:srgbClr val="FFFFFF"/>
          </a:solidFill>
          <a:ln w="25399">
            <a:solidFill>
              <a:srgbClr val="B7CBE0"/>
            </a:solidFill>
            <a:prstDash val="solid"/>
          </a:ln>
        </p:spPr>
      </p:sp>
      <p:sp>
        <p:nvSpPr>
          <p:cNvPr id="4" name="Text 2"/>
          <p:cNvSpPr/>
          <p:nvPr/>
        </p:nvSpPr>
        <p:spPr>
          <a:xfrm>
            <a:off x="875881"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room</a:t>
            </a:r>
            <a:endParaRPr lang="en-US" sz="1850" dirty="0"/>
          </a:p>
        </p:txBody>
      </p:sp>
      <p:sp>
        <p:nvSpPr>
          <p:cNvPr id="5" name="Text 3"/>
          <p:cNvSpPr/>
          <p:nvPr/>
        </p:nvSpPr>
        <p:spPr>
          <a:xfrm>
            <a:off x="875881" y="3089374"/>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Where you are</a:t>
            </a:r>
            <a:endParaRPr lang="en-US" sz="1450" dirty="0"/>
          </a:p>
        </p:txBody>
      </p:sp>
      <p:sp>
        <p:nvSpPr>
          <p:cNvPr id="6" name="Shape 4"/>
          <p:cNvSpPr/>
          <p:nvPr/>
        </p:nvSpPr>
        <p:spPr>
          <a:xfrm>
            <a:off x="4347359" y="2466280"/>
            <a:ext cx="3496877" cy="1442343"/>
          </a:xfrm>
          <a:prstGeom prst="roundRect">
            <a:avLst>
              <a:gd name="adj" fmla="val 5504"/>
            </a:avLst>
          </a:prstGeom>
          <a:solidFill>
            <a:srgbClr val="FFFFFF"/>
          </a:solidFill>
          <a:ln w="25399">
            <a:solidFill>
              <a:srgbClr val="B7CBE0"/>
            </a:solidFill>
            <a:prstDash val="solid"/>
          </a:ln>
        </p:spPr>
      </p:sp>
      <p:sp>
        <p:nvSpPr>
          <p:cNvPr id="7" name="Text 5"/>
          <p:cNvSpPr/>
          <p:nvPr/>
        </p:nvSpPr>
        <p:spPr>
          <a:xfrm>
            <a:off x="4561766"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moves</a:t>
            </a:r>
            <a:endParaRPr lang="en-US" sz="1850" dirty="0"/>
          </a:p>
        </p:txBody>
      </p:sp>
      <p:sp>
        <p:nvSpPr>
          <p:cNvPr id="8" name="Text 6"/>
          <p:cNvSpPr/>
          <p:nvPr/>
        </p:nvSpPr>
        <p:spPr>
          <a:xfrm>
            <a:off x="4561766" y="3089374"/>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How many you have used</a:t>
            </a:r>
            <a:endParaRPr lang="en-US" sz="1450" dirty="0"/>
          </a:p>
        </p:txBody>
      </p:sp>
      <p:sp>
        <p:nvSpPr>
          <p:cNvPr id="9" name="Shape 7"/>
          <p:cNvSpPr/>
          <p:nvPr/>
        </p:nvSpPr>
        <p:spPr>
          <a:xfrm>
            <a:off x="8033244" y="2466280"/>
            <a:ext cx="3496877" cy="1442343"/>
          </a:xfrm>
          <a:prstGeom prst="roundRect">
            <a:avLst>
              <a:gd name="adj" fmla="val 5504"/>
            </a:avLst>
          </a:prstGeom>
          <a:solidFill>
            <a:srgbClr val="FFFFFF"/>
          </a:solidFill>
          <a:ln w="25399">
            <a:solidFill>
              <a:srgbClr val="B7CBE0"/>
            </a:solidFill>
            <a:prstDash val="solid"/>
          </a:ln>
        </p:spPr>
      </p:sp>
      <p:sp>
        <p:nvSpPr>
          <p:cNvPr id="10" name="Text 8"/>
          <p:cNvSpPr/>
          <p:nvPr/>
        </p:nvSpPr>
        <p:spPr>
          <a:xfrm>
            <a:off x="8247650" y="2680692"/>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Inventory flags</a:t>
            </a:r>
            <a:endParaRPr lang="en-US" sz="1850" dirty="0"/>
          </a:p>
        </p:txBody>
      </p:sp>
      <p:sp>
        <p:nvSpPr>
          <p:cNvPr id="11" name="Text 9"/>
          <p:cNvSpPr/>
          <p:nvPr/>
        </p:nvSpPr>
        <p:spPr>
          <a:xfrm>
            <a:off x="8247650" y="3089374"/>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you are carrying, as True or False flags</a:t>
            </a:r>
            <a:endParaRPr lang="en-US" sz="1450" dirty="0"/>
          </a:p>
        </p:txBody>
      </p:sp>
      <p:sp>
        <p:nvSpPr>
          <p:cNvPr id="12" name="Shape 10"/>
          <p:cNvSpPr/>
          <p:nvPr/>
        </p:nvSpPr>
        <p:spPr>
          <a:xfrm>
            <a:off x="661475" y="4097635"/>
            <a:ext cx="5339820" cy="1139924"/>
          </a:xfrm>
          <a:prstGeom prst="roundRect">
            <a:avLst>
              <a:gd name="adj" fmla="val 6964"/>
            </a:avLst>
          </a:prstGeom>
          <a:solidFill>
            <a:srgbClr val="FFFFFF"/>
          </a:solidFill>
          <a:ln w="25399">
            <a:solidFill>
              <a:srgbClr val="B7CBE0"/>
            </a:solidFill>
            <a:prstDash val="solid"/>
          </a:ln>
        </p:spPr>
      </p:sp>
      <p:sp>
        <p:nvSpPr>
          <p:cNvPr id="13" name="Text 11"/>
          <p:cNvSpPr/>
          <p:nvPr/>
        </p:nvSpPr>
        <p:spPr>
          <a:xfrm>
            <a:off x="875881" y="431204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playing</a:t>
            </a:r>
            <a:endParaRPr lang="en-US" sz="1850" dirty="0"/>
          </a:p>
        </p:txBody>
      </p:sp>
      <p:sp>
        <p:nvSpPr>
          <p:cNvPr id="14" name="Text 12"/>
          <p:cNvSpPr/>
          <p:nvPr/>
        </p:nvSpPr>
        <p:spPr>
          <a:xfrm>
            <a:off x="875881" y="472072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Should the loop run another turn</a:t>
            </a:r>
            <a:endParaRPr lang="en-US" sz="1450" dirty="0"/>
          </a:p>
        </p:txBody>
      </p:sp>
      <p:sp>
        <p:nvSpPr>
          <p:cNvPr id="15" name="Shape 13"/>
          <p:cNvSpPr/>
          <p:nvPr/>
        </p:nvSpPr>
        <p:spPr>
          <a:xfrm>
            <a:off x="6190301" y="4097635"/>
            <a:ext cx="5339820" cy="1139924"/>
          </a:xfrm>
          <a:prstGeom prst="roundRect">
            <a:avLst>
              <a:gd name="adj" fmla="val 6964"/>
            </a:avLst>
          </a:prstGeom>
          <a:solidFill>
            <a:srgbClr val="FFFFFF"/>
          </a:solidFill>
          <a:ln w="25399">
            <a:solidFill>
              <a:srgbClr val="B7CBE0"/>
            </a:solidFill>
            <a:prstDash val="solid"/>
          </a:ln>
        </p:spPr>
      </p:sp>
      <p:sp>
        <p:nvSpPr>
          <p:cNvPr id="16" name="Text 14"/>
          <p:cNvSpPr/>
          <p:nvPr/>
        </p:nvSpPr>
        <p:spPr>
          <a:xfrm>
            <a:off x="6404708" y="431204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won</a:t>
            </a:r>
            <a:endParaRPr lang="en-US" sz="1850" dirty="0"/>
          </a:p>
        </p:txBody>
      </p:sp>
      <p:sp>
        <p:nvSpPr>
          <p:cNvPr id="17" name="Text 15"/>
          <p:cNvSpPr/>
          <p:nvPr/>
        </p:nvSpPr>
        <p:spPr>
          <a:xfrm>
            <a:off x="6404708" y="472072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Why did the loop stop</a:t>
            </a:r>
            <a:endParaRPr lang="en-US" sz="14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0820"/>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Steps 1 and 2: show and read</a:t>
            </a:r>
            <a:endParaRPr lang="en-US" sz="3400" dirty="0"/>
          </a:p>
        </p:txBody>
      </p:sp>
      <p:sp>
        <p:nvSpPr>
          <p:cNvPr id="3" name="Shape 1"/>
          <p:cNvSpPr/>
          <p:nvPr/>
        </p:nvSpPr>
        <p:spPr>
          <a:xfrm>
            <a:off x="661475" y="1396603"/>
            <a:ext cx="10868745" cy="4807744"/>
          </a:xfrm>
          <a:prstGeom prst="roundRect">
            <a:avLst>
              <a:gd name="adj" fmla="val 1522"/>
            </a:avLst>
          </a:prstGeom>
          <a:solidFill>
            <a:srgbClr val="F2F2F2"/>
          </a:solidFill>
          <a:ln/>
        </p:spPr>
      </p:sp>
      <p:sp>
        <p:nvSpPr>
          <p:cNvPr id="4" name="Text 2"/>
          <p:cNvSpPr/>
          <p:nvPr/>
        </p:nvSpPr>
        <p:spPr>
          <a:xfrm>
            <a:off x="870524" y="1570831"/>
            <a:ext cx="10450648" cy="4459288"/>
          </a:xfrm>
          <a:prstGeom prst="rect">
            <a:avLst/>
          </a:prstGeom>
          <a:noFill/>
          <a:ln/>
        </p:spPr>
        <p:txBody>
          <a:bodyPr wrap="square" lIns="0" tIns="0" rIns="0" bIns="0" rtlCol="0" anchor="t">
            <a:normAutofit/>
          </a:bodyPr>
          <a:lstStyle/>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room = "lobby"</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moves = 0</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won = False</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playing = True</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while playing:</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print(f"== {room.title()} ==")</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if room == "lobby":</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print("Exits: north.")</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elif room == "hallway":</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print("Exits: south, west.")</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elif room == "studio":</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print("A transmitter hums. Exits: east.")</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command = input("&gt; ").strip().lower()</a:t>
            </a:r>
            <a:endParaRPr lang="en-US" sz="13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70210"/>
            <a:ext cx="10868745" cy="452239"/>
          </a:xfrm>
          <a:prstGeom prst="rect">
            <a:avLst/>
          </a:prstGeom>
          <a:noFill/>
          <a:ln/>
        </p:spPr>
        <p:txBody>
          <a:bodyPr wrap="none" lIns="0" tIns="0" rIns="0" bIns="0" rtlCol="0" anchor="t"/>
          <a:lstStyle/>
          <a:p>
            <a:pPr algn="l" indent="0" marL="0">
              <a:lnSpc>
                <a:spcPct val="104000"/>
              </a:lnSpc>
              <a:buNone/>
            </a:pPr>
            <a:r>
              <a:rPr lang="en-US" sz="2800" b="1" dirty="0">
                <a:solidFill>
                  <a:srgbClr val="111111"/>
                </a:solidFill>
                <a:latin typeface="Orbitron Bold" pitchFamily="34" charset="0"/>
                <a:ea typeface="Orbitron Bold" pitchFamily="34" charset="-122"/>
                <a:cs typeface="Orbitron Bold" pitchFamily="34" charset="-120"/>
              </a:rPr>
              <a:t>Steps 3 and 4: update and check</a:t>
            </a:r>
            <a:endParaRPr lang="en-US" sz="2800" dirty="0"/>
          </a:p>
        </p:txBody>
      </p:sp>
      <p:sp>
        <p:nvSpPr>
          <p:cNvPr id="3" name="Shape 1"/>
          <p:cNvSpPr/>
          <p:nvPr/>
        </p:nvSpPr>
        <p:spPr>
          <a:xfrm>
            <a:off x="661475" y="1244005"/>
            <a:ext cx="10868745" cy="4920853"/>
          </a:xfrm>
          <a:prstGeom prst="roundRect">
            <a:avLst>
              <a:gd name="adj" fmla="val 1235"/>
            </a:avLst>
          </a:prstGeom>
          <a:solidFill>
            <a:srgbClr val="F2F2F2"/>
          </a:solidFill>
          <a:ln/>
        </p:spPr>
      </p:sp>
      <p:sp>
        <p:nvSpPr>
          <p:cNvPr id="4" name="Text 2"/>
          <p:cNvSpPr/>
          <p:nvPr/>
        </p:nvSpPr>
        <p:spPr>
          <a:xfrm>
            <a:off x="835103" y="1388666"/>
            <a:ext cx="10521488" cy="4631531"/>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if command == "north" and room == "lobby":</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room = "hallway"</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moves = moves + 1</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elif command == "broadcast" and room == "studio":</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print("The needle jumps. You are on the air.")</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won = True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playing = False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elif command == "quit":</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playing = False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else: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print("You cannot do that here.")</a:t>
            </a:r>
            <a:endParaRPr lang="en-US" sz="1100" dirty="0"/>
          </a:p>
          <a:p>
            <a:pPr algn="l" indent="0" marL="0">
              <a:lnSpc>
                <a:spcPct val="133000"/>
              </a:lnSpc>
              <a:buNone/>
            </a:pP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if playing and moves == MAX_MOVES:</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print("Thunder cracks overhead. The storm has reached the ridge.")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playing = False</a:t>
            </a:r>
            <a:endParaRPr lang="en-US" sz="1100" dirty="0"/>
          </a:p>
          <a:p>
            <a:pPr algn="l" indent="0" marL="0">
              <a:lnSpc>
                <a:spcPct val="133000"/>
              </a:lnSpc>
              <a:buNone/>
            </a:pP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if won:</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print(f"YOU WIN in {moves} moves.")</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else:</a:t>
            </a:r>
            <a:endParaRPr lang="en-US" sz="1100" dirty="0"/>
          </a:p>
          <a:p>
            <a:pPr algn="l" indent="0" marL="0">
              <a:lnSpc>
                <a:spcPct val="133000"/>
              </a:lnSpc>
              <a:buNone/>
            </a:pPr>
            <a:r>
              <a:rPr lang="en-US" sz="1100" dirty="0">
                <a:solidFill>
                  <a:srgbClr val="24292E"/>
                </a:solidFill>
                <a:latin typeface="Consolas" pitchFamily="34" charset="0"/>
                <a:ea typeface="Consolas" pitchFamily="34" charset="-122"/>
                <a:cs typeface="Consolas" pitchFamily="34" charset="-120"/>
              </a:rPr>
              <a:t>    print("GAME OVER")</a:t>
            </a:r>
            <a:endParaRPr lang="en-US" sz="110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704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playing = False does not stop this turn</a:t>
            </a:r>
            <a:endParaRPr lang="en-US" sz="3700" dirty="0"/>
          </a:p>
        </p:txBody>
      </p:sp>
      <p:sp>
        <p:nvSpPr>
          <p:cNvPr id="3" name="Shape 1"/>
          <p:cNvSpPr/>
          <p:nvPr/>
        </p:nvSpPr>
        <p:spPr>
          <a:xfrm>
            <a:off x="661475" y="2557165"/>
            <a:ext cx="5203794" cy="2494955"/>
          </a:xfrm>
          <a:prstGeom prst="roundRect">
            <a:avLst>
              <a:gd name="adj" fmla="val 3182"/>
            </a:avLst>
          </a:prstGeom>
          <a:solidFill>
            <a:srgbClr val="F2F2F2"/>
          </a:solidFill>
          <a:ln/>
        </p:spPr>
      </p:sp>
      <p:sp>
        <p:nvSpPr>
          <p:cNvPr id="4" name="Text 2"/>
          <p:cNvSpPr/>
          <p:nvPr/>
        </p:nvSpPr>
        <p:spPr>
          <a:xfrm>
            <a:off x="888283" y="2746177"/>
            <a:ext cx="4750177"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playing =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turn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playing: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turn = turn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playing =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print(f"Still finishing turn {turn}")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print("Loop over")</a:t>
            </a:r>
            <a:endParaRPr lang="en-US" sz="1450" dirty="0"/>
          </a:p>
        </p:txBody>
      </p:sp>
      <p:sp>
        <p:nvSpPr>
          <p:cNvPr id="5" name="Shape 3"/>
          <p:cNvSpPr/>
          <p:nvPr/>
        </p:nvSpPr>
        <p:spPr>
          <a:xfrm>
            <a:off x="6332776" y="2557165"/>
            <a:ext cx="5203794" cy="982861"/>
          </a:xfrm>
          <a:prstGeom prst="roundRect">
            <a:avLst>
              <a:gd name="adj" fmla="val 8077"/>
            </a:avLst>
          </a:prstGeom>
          <a:solidFill>
            <a:srgbClr val="F2F2F2"/>
          </a:solidFill>
          <a:ln/>
        </p:spPr>
      </p:sp>
      <p:sp>
        <p:nvSpPr>
          <p:cNvPr id="6" name="Text 4"/>
          <p:cNvSpPr/>
          <p:nvPr/>
        </p:nvSpPr>
        <p:spPr>
          <a:xfrm>
            <a:off x="6559584" y="2746177"/>
            <a:ext cx="47501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Still finishing turn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Loop over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2405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I delete one line</a:t>
            </a:r>
            <a:endParaRPr lang="en-US" sz="3700" dirty="0"/>
          </a:p>
        </p:txBody>
      </p:sp>
      <p:sp>
        <p:nvSpPr>
          <p:cNvPr id="3" name="Shape 1"/>
          <p:cNvSpPr/>
          <p:nvPr/>
        </p:nvSpPr>
        <p:spPr>
          <a:xfrm>
            <a:off x="661475" y="3010793"/>
            <a:ext cx="5203794" cy="1285280"/>
          </a:xfrm>
          <a:prstGeom prst="roundRect">
            <a:avLst>
              <a:gd name="adj" fmla="val 6177"/>
            </a:avLst>
          </a:prstGeom>
          <a:solidFill>
            <a:srgbClr val="F2F2F2"/>
          </a:solidFill>
          <a:ln/>
        </p:spPr>
      </p:sp>
      <p:sp>
        <p:nvSpPr>
          <p:cNvPr id="4" name="Text 2"/>
          <p:cNvSpPr/>
          <p:nvPr/>
        </p:nvSpPr>
        <p:spPr>
          <a:xfrm>
            <a:off x="888283" y="3199805"/>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elif command == "broadcast" and room == "studio":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print("The needle jumps. You are on the air.")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playing = False</a:t>
            </a:r>
            <a:endParaRPr lang="en-US" sz="1450" dirty="0"/>
          </a:p>
        </p:txBody>
      </p:sp>
      <p:sp>
        <p:nvSpPr>
          <p:cNvPr id="5" name="Shape 3"/>
          <p:cNvSpPr/>
          <p:nvPr/>
        </p:nvSpPr>
        <p:spPr>
          <a:xfrm>
            <a:off x="6332776" y="3010793"/>
            <a:ext cx="5203794" cy="1587698"/>
          </a:xfrm>
          <a:prstGeom prst="roundRect">
            <a:avLst>
              <a:gd name="adj" fmla="val 5000"/>
            </a:avLst>
          </a:prstGeom>
          <a:solidFill>
            <a:srgbClr val="F2F2F2"/>
          </a:solidFill>
          <a:ln/>
        </p:spPr>
      </p:sp>
      <p:sp>
        <p:nvSpPr>
          <p:cNvPr id="6" name="Text 4"/>
          <p:cNvSpPr/>
          <p:nvPr/>
        </p:nvSpPr>
        <p:spPr>
          <a:xfrm>
            <a:off x="6559584" y="3199805"/>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&gt; broadcast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The needle jumps. You are on the air.</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GAME OVER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8599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ending sets every flag</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315" y="1664097"/>
            <a:ext cx="283461" cy="283468"/>
          </a:xfrm>
          <a:prstGeom prst="rect">
            <a:avLst/>
          </a:prstGeom>
        </p:spPr>
      </p:pic>
      <p:sp>
        <p:nvSpPr>
          <p:cNvPr id="4" name="Text 1"/>
          <p:cNvSpPr/>
          <p:nvPr/>
        </p:nvSpPr>
        <p:spPr>
          <a:xfrm>
            <a:off x="1275723" y="1654671"/>
            <a:ext cx="10254497"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win sets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won</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and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playing</a:t>
            </a:r>
            <a:endParaRPr lang="en-US" sz="14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315" y="2618581"/>
            <a:ext cx="283461" cy="283468"/>
          </a:xfrm>
          <a:prstGeom prst="rect">
            <a:avLst/>
          </a:prstGeom>
        </p:spPr>
      </p:pic>
      <p:sp>
        <p:nvSpPr>
          <p:cNvPr id="6" name="Text 2"/>
          <p:cNvSpPr/>
          <p:nvPr/>
        </p:nvSpPr>
        <p:spPr>
          <a:xfrm>
            <a:off x="1275723" y="2609155"/>
            <a:ext cx="10254497"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loss sets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playing</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and never touches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won</a:t>
            </a:r>
            <a:endParaRPr lang="en-US" sz="14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315" y="3573066"/>
            <a:ext cx="283461" cy="283468"/>
          </a:xfrm>
          <a:prstGeom prst="rect">
            <a:avLst/>
          </a:prstGeom>
        </p:spPr>
      </p:pic>
      <p:sp>
        <p:nvSpPr>
          <p:cNvPr id="8" name="Text 3"/>
          <p:cNvSpPr/>
          <p:nvPr/>
        </p:nvSpPr>
        <p:spPr>
          <a:xfrm>
            <a:off x="1275723" y="3563640"/>
            <a:ext cx="10254497"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quit sets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playing</a:t>
            </a:r>
            <a:endParaRPr lang="en-US" sz="14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315" y="4527550"/>
            <a:ext cx="283461" cy="283468"/>
          </a:xfrm>
          <a:prstGeom prst="rect">
            <a:avLst/>
          </a:prstGeom>
        </p:spPr>
      </p:pic>
      <p:sp>
        <p:nvSpPr>
          <p:cNvPr id="10" name="Text 4"/>
          <p:cNvSpPr/>
          <p:nvPr/>
        </p:nvSpPr>
        <p:spPr>
          <a:xfrm>
            <a:off x="1275723" y="4518124"/>
            <a:ext cx="1025449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Trace each ending to the final report</a:t>
            </a:r>
            <a:endParaRPr lang="en-US" sz="14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315" y="5482034"/>
            <a:ext cx="283461" cy="283468"/>
          </a:xfrm>
          <a:prstGeom prst="rect">
            <a:avLst/>
          </a:prstGeom>
        </p:spPr>
      </p:pic>
      <p:sp>
        <p:nvSpPr>
          <p:cNvPr id="12" name="Text 5"/>
          <p:cNvSpPr/>
          <p:nvPr/>
        </p:nvSpPr>
        <p:spPr>
          <a:xfrm>
            <a:off x="1275723" y="5472609"/>
            <a:ext cx="1025449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Play to a win, a loss, and a quit</a:t>
            </a:r>
            <a:endParaRPr lang="en-US" sz="14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377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a test script runs out</a:t>
            </a:r>
            <a:endParaRPr lang="en-US" sz="3700" dirty="0"/>
          </a:p>
        </p:txBody>
      </p:sp>
      <p:sp>
        <p:nvSpPr>
          <p:cNvPr id="4" name="Text 1"/>
          <p:cNvSpPr/>
          <p:nvPr/>
        </p:nvSpPr>
        <p:spPr>
          <a:xfrm>
            <a:off x="661475" y="3208536"/>
            <a:ext cx="6296860" cy="178276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Testing by piping commands into your game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game is still asking after the last command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stops with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EOFError: EOF when reading a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game is fine. The script never reached an ending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commands until the script wins or loses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9877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2956421"/>
            <a:ext cx="5339820" cy="1790998"/>
          </a:xfrm>
          <a:prstGeom prst="roundRect">
            <a:avLst>
              <a:gd name="adj" fmla="val 4433"/>
            </a:avLst>
          </a:prstGeom>
          <a:solidFill>
            <a:srgbClr val="D1E5FA"/>
          </a:solidFill>
          <a:ln w="19050">
            <a:solidFill>
              <a:srgbClr val="B7CBE0"/>
            </a:solidFill>
            <a:prstDash val="solid"/>
          </a:ln>
        </p:spPr>
      </p:sp>
      <p:sp>
        <p:nvSpPr>
          <p:cNvPr id="4" name="Text 2"/>
          <p:cNvSpPr/>
          <p:nvPr/>
        </p:nvSpPr>
        <p:spPr>
          <a:xfrm>
            <a:off x="869531" y="3164483"/>
            <a:ext cx="49237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Lab U03-02 Locked Out, Part 1</a:t>
            </a:r>
            <a:endParaRPr lang="en-US" sz="1850" dirty="0"/>
          </a:p>
        </p:txBody>
      </p:sp>
      <p:sp>
        <p:nvSpPr>
          <p:cNvPr id="5" name="Text 3"/>
          <p:cNvSpPr/>
          <p:nvPr/>
        </p:nvSpPr>
        <p:spPr>
          <a:xfrm>
            <a:off x="869531" y="3868440"/>
            <a:ext cx="4923707"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locations, a battery limit, a key to find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Win, lose by battery, and quit must all work</a:t>
            </a:r>
            <a:endParaRPr lang="en-US" sz="1450" dirty="0"/>
          </a:p>
        </p:txBody>
      </p:sp>
      <p:sp>
        <p:nvSpPr>
          <p:cNvPr id="6" name="Shape 4"/>
          <p:cNvSpPr/>
          <p:nvPr/>
        </p:nvSpPr>
        <p:spPr>
          <a:xfrm>
            <a:off x="6190301" y="2956421"/>
            <a:ext cx="5339919" cy="1790998"/>
          </a:xfrm>
          <a:prstGeom prst="roundRect">
            <a:avLst>
              <a:gd name="adj" fmla="val 4433"/>
            </a:avLst>
          </a:prstGeom>
          <a:solidFill>
            <a:srgbClr val="D1E5FA"/>
          </a:solidFill>
          <a:ln w="19050">
            <a:solidFill>
              <a:srgbClr val="B7CBE0"/>
            </a:solidFill>
            <a:prstDash val="solid"/>
          </a:ln>
        </p:spPr>
      </p:sp>
      <p:sp>
        <p:nvSpPr>
          <p:cNvPr id="7" name="Text 5"/>
          <p:cNvSpPr/>
          <p:nvPr/>
        </p:nvSpPr>
        <p:spPr>
          <a:xfrm>
            <a:off x="6398358" y="3164483"/>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v1 first code</a:t>
            </a:r>
            <a:endParaRPr lang="en-US" sz="1850" dirty="0"/>
          </a:p>
        </p:txBody>
      </p:sp>
      <p:sp>
        <p:nvSpPr>
          <p:cNvPr id="8" name="Text 6"/>
          <p:cNvSpPr/>
          <p:nvPr/>
        </p:nvSpPr>
        <p:spPr>
          <a:xfrm>
            <a:off x="6398358" y="3573165"/>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From yesterday's committed design</a:t>
            </a:r>
            <a:endParaRPr lang="en-US" sz="1450" dirty="0"/>
          </a:p>
        </p:txBody>
      </p:sp>
      <p:sp>
        <p:nvSpPr>
          <p:cNvPr id="9" name="Text 7"/>
          <p:cNvSpPr/>
          <p:nvPr/>
        </p:nvSpPr>
        <p:spPr>
          <a:xfrm>
            <a:off x="6398358" y="3988991"/>
            <a:ext cx="4923806" cy="302419"/>
          </a:xfrm>
          <a:prstGeom prst="rect">
            <a:avLst/>
          </a:prstGeom>
          <a:noFill/>
          <a:ln/>
        </p:spPr>
        <p:txBody>
          <a:bodyPr wrap="none" lIns="0" tIns="0" rIns="0" bIns="0" rtlCol="0" anchor="t"/>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Loop, every room, movement, a win state, the report</a:t>
            </a:r>
            <a:endParaRPr lang="en-US" sz="1450" dirty="0"/>
          </a:p>
        </p:txBody>
      </p:sp>
      <p:sp>
        <p:nvSpPr>
          <p:cNvPr id="10"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2026-09-14T19:12:54Z</dcterms:created>
  <dcterms:modified xsi:type="dcterms:W3CDTF">2026-09-14T19:12:54Z</dcterms:modified>
</cp:coreProperties>
</file>