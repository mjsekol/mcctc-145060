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true" autoCompressPictures="0" embedTrueTypeFonts="true">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1695" cy="6858000"/>
  <p:notesSz cx="6858000" cy="12191695"/>
  <p:embeddedFontLst>
    <p:embeddedFont>
      <p:font typeface="Orbitron Bold"/>
      <p:regular r:id="rId201314"/>
    </p:embeddedFont>
    <p:embeddedFont>
      <p:font typeface="Orbitron"/>
      <p:regular r:id="rId201315"/>
    </p:embeddedFont>
    <p:embeddedFont>
      <p:font typeface="Roboto Condensed Bold"/>
      <p:regular r:id="rId201316"/>
    </p:embeddedFont>
    <p:embeddedFont>
      <p:font typeface="Roboto Condensed"/>
      <p:regular r:id="rId201317"/>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 Id="rId201314" Target="fonts/201314.fntdata" Type="http://schemas.openxmlformats.org/officeDocument/2006/relationships/font"/><Relationship Id="rId201315" Target="fonts/201315.fntdata" Type="http://schemas.openxmlformats.org/officeDocument/2006/relationships/font"/><Relationship Id="rId201316" Target="fonts/201316.fntdata" Type="http://schemas.openxmlformats.org/officeDocument/2006/relationships/font"/><Relationship Id="rId201317" Target="fonts/201317.fntdata" Type="http://schemas.openxmlformats.org/officeDocument/2006/relationships/font"/><Relationship Id="rId201318" Target="fonts/201318.fntdata" Type="http://schemas.openxmlformats.org/officeDocument/2006/relationships/font"/><Relationship Id="rId201319" Target="fonts/201319.fntdata" Type="http://schemas.openxmlformats.org/officeDocument/2006/relationships/font"/><Relationship Id="rId201320" Target="fonts/201320.fntdata" Type="http://schemas.openxmlformats.org/officeDocument/2006/relationships/font"/><Relationship Id="rId201321" Target="fonts/201321.fntdata" Type="http://schemas.openxmlformats.org/officeDocument/2006/relationships/font"/></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are somewhere in the lunch line and you want to know how many people are ahead of you. You cannot see the front. You can tap the person ahead of you. That is all. Take thirty seconds with the person next to you and work out a way to get the exact number using only that. Then we will name what you invented.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version most of you came up with. Everyone asks the person ahead the same question. The question travels forward until it reaches the front, where the answer is obvious. Nobody. Zero. Then the answers travel back, and each person adds one. This is recursion. Solving a problem by solving a smaller copy of the same problem.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parts, every time. The base case is the version so small you answer it without asking anyone. The recursive case asks a smaller version and uses that answer. And the questions must move toward the base case. If each question went further back in the line instead of forward, it would never reach the front.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same kind of pseudocode you wrote for your game. Tomorrow you get def, which is how Python writes TO FIND. Thursday you get return, which is how Python writes ANSWER. That is why today is on paper. The syllabus puts recursion in this unit, and Python needs functions to do it, so today you learn how it works and when to use it, and on Thursday you run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Questions go down, answers come back up. Look at steps one through four. Four people, each paused in the middle of their own question, waiting. The computer does exactly this. It keeps a stack of paused tasks, one for every question still waiting for an answer. That stack is the key to everything else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deleted the base case. Trace it. Five asks four, four asks three, one asks zero, zero asks negative one. Nobody ever answers, so nobody finishes, and the stack of paused tasks grows until Python stops it. That error is the real output from a countdown written this way. It printed nine hundred ninety eight lines, from three down to negative nine hundred ninety four, then stopped. You will run it yourself on Thursday. Notice this one crashes. An infinite while loop never does.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Reach for recursion when the data is nested inside itself and you do not know how deep it goes. The size of a folder is its files plus the size of each folder inside it, which is the same question again, one level down. A loop handles the next item in a line. Recursion handles the items inside this item.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example to remember. Somebody learns recursion this week and writes the game as take a turn, then take the next turn by calling the same thing again. It reads beautifully. Look at the trace table. Every turn is paused, waiting for the next turn. Python allows about a thousand paused calls by default and then stops with a RecursionError. A player who explores long enough crashes your game by playing it. A while loop repeats in place. Use loops for repetition. Use recursion for nesting.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honest summary. Anything recursion can do, a loop can also do, sometimes with a lot more bookkeeping. Anything a loop does cleanly, recursion does worse. Professional programmers use recursion for nested data and loops for everything else, and they argue about the cases in between. Know the two ends cold, and on the quiz you will be asked to explain why your game loop is a while.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one starts on paper. Three trace tables from the lecture notes self check, fifteen minutes, then put them away and run your test scripts one more time. Build two is the finish. Your README needs every required section, including known limitations that you actually observed. Your last commit must be pushed before the end of the block, because that is the deadline. Anything you have not pushed does not exist.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AFAFA"/>
          </a:solidFill>
          <a:ln/>
        </p:spPr>
      </p:sp>
      <p:sp>
        <p:nvSpPr>
          <p:cNvPr id="3" name="Shape 1"/>
          <p:cNvSpPr/>
          <p:nvPr/>
        </p:nvSpPr>
        <p:spPr>
          <a:xfrm>
            <a:off x="0" y="0"/>
            <a:ext cx="12191695" cy="6858000"/>
          </a:xfrm>
          <a:prstGeom prst="rect">
            <a:avLst/>
          </a:prstGeom>
          <a:solidFill>
            <a:srgbClr val="FFFFFF"/>
          </a:solidFill>
          <a:ln/>
        </p:spPr>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eg"/><Relationship Id="rId2" Type="http://schemas.openxmlformats.org/officeDocument/2006/relationships/image" Target="../media/image-4-2.png"/><Relationship Id="rId3" Type="http://schemas.openxmlformats.org/officeDocument/2006/relationships/image" Target="../media/image-4-3.svg"/><Relationship Id="rId4" Type="http://schemas.openxmlformats.org/officeDocument/2006/relationships/image" Target="../media/image-4-4.png"/><Relationship Id="rId5" Type="http://schemas.openxmlformats.org/officeDocument/2006/relationships/image" Target="../media/image-4-5.svg"/><Relationship Id="rId6" Type="http://schemas.openxmlformats.org/officeDocument/2006/relationships/image" Target="../media/image-4-2.png"/><Relationship Id="rId7" Type="http://schemas.openxmlformats.org/officeDocument/2006/relationships/image" Target="../media/image-4-3.svg"/><Relationship Id="rId8" Type="http://schemas.openxmlformats.org/officeDocument/2006/relationships/slideLayout" Target="../slideLayouts/slideLayout2.xml"/><Relationship Id="rId9"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e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e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sp>
        <p:nvSpPr>
          <p:cNvPr id="3" name="Text 0"/>
          <p:cNvSpPr/>
          <p:nvPr/>
        </p:nvSpPr>
        <p:spPr>
          <a:xfrm>
            <a:off x="5233360" y="2776934"/>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The Problem Inside the Problem</a:t>
            </a:r>
            <a:endParaRPr lang="en-US" sz="3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19809" y="0"/>
            <a:ext cx="4571886" cy="6858000"/>
          </a:xfrm>
          <a:prstGeom prst="rect">
            <a:avLst/>
          </a:prstGeom>
        </p:spPr>
      </p:pic>
      <p:sp>
        <p:nvSpPr>
          <p:cNvPr id="3" name="Text 0"/>
          <p:cNvSpPr/>
          <p:nvPr/>
        </p:nvSpPr>
        <p:spPr>
          <a:xfrm>
            <a:off x="661475" y="1746945"/>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How many people are ahead of you?</a:t>
            </a:r>
            <a:endParaRPr lang="en-US" sz="3700" dirty="0"/>
          </a:p>
        </p:txBody>
      </p:sp>
      <p:sp>
        <p:nvSpPr>
          <p:cNvPr id="4" name="Text 1"/>
          <p:cNvSpPr/>
          <p:nvPr/>
        </p:nvSpPr>
        <p:spPr>
          <a:xfrm>
            <a:off x="661475" y="3211711"/>
            <a:ext cx="6296860" cy="1776413"/>
          </a:xfrm>
          <a:prstGeom prst="rect">
            <a:avLst/>
          </a:prstGeom>
          <a:noFill/>
          <a:ln/>
        </p:spPr>
        <p:txBody>
          <a:bodyPr wrap="square" lIns="0" tIns="0" rIns="0" bIns="0" rtlCol="0" anchor="t">
            <a:normAutofit/>
          </a:bodyPr>
          <a:lstStyle/>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You are in the lunch line</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You cannot see the front</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You can only ask the person ahead of you</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They cannot see the front either</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How do you get a number?</a:t>
            </a:r>
            <a:endParaRPr lang="en-US" sz="1450" dirty="0"/>
          </a:p>
        </p:txBody>
      </p:sp>
      <p:sp>
        <p:nvSpPr>
          <p:cNvPr id="5" name="Text 2"/>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61475" y="521990"/>
            <a:ext cx="10868745" cy="415330"/>
          </a:xfrm>
          <a:prstGeom prst="rect">
            <a:avLst/>
          </a:prstGeom>
          <a:noFill/>
          <a:ln/>
        </p:spPr>
        <p:txBody>
          <a:bodyPr wrap="none" lIns="0" tIns="0" rIns="0" bIns="0" rtlCol="0" anchor="t"/>
          <a:lstStyle/>
          <a:p>
            <a:pPr algn="l" indent="0" marL="0">
              <a:lnSpc>
                <a:spcPct val="104000"/>
              </a:lnSpc>
              <a:buNone/>
            </a:pPr>
            <a:r>
              <a:rPr lang="en-US" sz="2600" b="1" dirty="0">
                <a:solidFill>
                  <a:srgbClr val="111111"/>
                </a:solidFill>
                <a:latin typeface="Orbitron Bold" pitchFamily="34" charset="0"/>
                <a:ea typeface="Orbitron Bold" pitchFamily="34" charset="-122"/>
                <a:cs typeface="Orbitron Bold" pitchFamily="34" charset="-120"/>
              </a:rPr>
              <a:t>Ask a smaller version of the same question</a:t>
            </a:r>
            <a:endParaRPr lang="en-US" sz="2600" dirty="0"/>
          </a:p>
        </p:txBody>
      </p:sp>
      <p:pic>
        <p:nvPicPr>
          <p:cNvPr id="3" name="Image 0" descr="preencoded.png">    </p:cNvPr>
          <p:cNvPicPr>
            <a:picLocks noChangeAspect="1"/>
          </p:cNvPicPr>
          <p:nvPr/>
        </p:nvPicPr>
        <p:blipFill>
          <a:blip r:embed="rId1"/>
          <a:stretch>
            <a:fillRect/>
          </a:stretch>
        </p:blipFill>
        <p:spPr>
          <a:xfrm>
            <a:off x="835500" y="1124148"/>
            <a:ext cx="10520595" cy="3947914"/>
          </a:xfrm>
          <a:prstGeom prst="rect">
            <a:avLst/>
          </a:prstGeom>
        </p:spPr>
      </p:pic>
      <p:sp>
        <p:nvSpPr>
          <p:cNvPr id="4" name="Text 1"/>
          <p:cNvSpPr/>
          <p:nvPr/>
        </p:nvSpPr>
        <p:spPr>
          <a:xfrm>
            <a:off x="9336045" y="3960826"/>
            <a:ext cx="1586822" cy="611377"/>
          </a:xfrm>
          <a:prstGeom prst="rect">
            <a:avLst/>
          </a:prstGeom>
          <a:noFill/>
          <a:ln/>
        </p:spPr>
        <p:txBody>
          <a:bodyPr wrap="square" lIns="0" tIns="0" rIns="0" bIns="0" rtlCol="0" anchor="t">
            <a:normAutofit/>
          </a:bodyPr>
          <a:lstStyle/>
          <a:p>
            <a:pPr algn="ctr" indent="0" marL="0">
              <a:lnSpc>
                <a:spcPct val="104000"/>
              </a:lnSpc>
              <a:buNone/>
            </a:pPr>
            <a:r>
              <a:rPr lang="en-US" sz="1900" b="1" dirty="0">
                <a:solidFill>
                  <a:srgbClr val="1C1C1C"/>
                </a:solidFill>
                <a:latin typeface="Orbitron Bold" pitchFamily="34" charset="0"/>
                <a:ea typeface="Orbitron Bold" pitchFamily="34" charset="-122"/>
                <a:cs typeface="Orbitron Bold" pitchFamily="34" charset="-120"/>
              </a:rPr>
              <a:t>You hear 3 → 4</a:t>
            </a:r>
            <a:endParaRPr lang="en-US" sz="1900" dirty="0"/>
          </a:p>
        </p:txBody>
      </p:sp>
      <p:sp>
        <p:nvSpPr>
          <p:cNvPr id="5" name="Text 2"/>
          <p:cNvSpPr/>
          <p:nvPr/>
        </p:nvSpPr>
        <p:spPr>
          <a:xfrm>
            <a:off x="7336215" y="4113670"/>
            <a:ext cx="1586822" cy="305688"/>
          </a:xfrm>
          <a:prstGeom prst="rect">
            <a:avLst/>
          </a:prstGeom>
          <a:noFill/>
          <a:ln/>
        </p:spPr>
        <p:txBody>
          <a:bodyPr wrap="none" lIns="0" tIns="0" rIns="0" bIns="0" rtlCol="0" anchor="t"/>
          <a:lstStyle/>
          <a:p>
            <a:pPr algn="ctr" indent="0" marL="0">
              <a:lnSpc>
                <a:spcPct val="104000"/>
              </a:lnSpc>
              <a:buNone/>
            </a:pPr>
            <a:r>
              <a:rPr lang="en-US" sz="1900" b="1" dirty="0">
                <a:solidFill>
                  <a:srgbClr val="1C1C1C"/>
                </a:solidFill>
                <a:latin typeface="Orbitron Bold" pitchFamily="34" charset="0"/>
                <a:ea typeface="Orbitron Bold" pitchFamily="34" charset="-122"/>
                <a:cs typeface="Orbitron Bold" pitchFamily="34" charset="-120"/>
              </a:rPr>
              <a:t>Answers +1</a:t>
            </a:r>
            <a:endParaRPr lang="en-US" sz="1900" dirty="0"/>
          </a:p>
        </p:txBody>
      </p:sp>
      <p:sp>
        <p:nvSpPr>
          <p:cNvPr id="6" name="Text 3"/>
          <p:cNvSpPr/>
          <p:nvPr/>
        </p:nvSpPr>
        <p:spPr>
          <a:xfrm>
            <a:off x="5347253" y="3960826"/>
            <a:ext cx="1586822" cy="611377"/>
          </a:xfrm>
          <a:prstGeom prst="rect">
            <a:avLst/>
          </a:prstGeom>
          <a:noFill/>
          <a:ln/>
        </p:spPr>
        <p:txBody>
          <a:bodyPr wrap="square" lIns="0" tIns="0" rIns="0" bIns="0" rtlCol="0" anchor="t">
            <a:normAutofit/>
          </a:bodyPr>
          <a:lstStyle/>
          <a:p>
            <a:pPr algn="ctr" indent="0" marL="0">
              <a:lnSpc>
                <a:spcPct val="104000"/>
              </a:lnSpc>
              <a:buNone/>
            </a:pPr>
            <a:r>
              <a:rPr lang="en-US" sz="1900" b="1" dirty="0">
                <a:solidFill>
                  <a:srgbClr val="1C1C1C"/>
                </a:solidFill>
                <a:latin typeface="Orbitron Bold" pitchFamily="34" charset="0"/>
                <a:ea typeface="Orbitron Bold" pitchFamily="34" charset="-122"/>
                <a:cs typeface="Orbitron Bold" pitchFamily="34" charset="-120"/>
              </a:rPr>
              <a:t>Front says 0</a:t>
            </a:r>
            <a:endParaRPr lang="en-US" sz="1900" dirty="0"/>
          </a:p>
        </p:txBody>
      </p:sp>
      <p:sp>
        <p:nvSpPr>
          <p:cNvPr id="7" name="Text 4"/>
          <p:cNvSpPr/>
          <p:nvPr/>
        </p:nvSpPr>
        <p:spPr>
          <a:xfrm>
            <a:off x="3358291" y="4113670"/>
            <a:ext cx="1586822" cy="305688"/>
          </a:xfrm>
          <a:prstGeom prst="rect">
            <a:avLst/>
          </a:prstGeom>
          <a:noFill/>
          <a:ln/>
        </p:spPr>
        <p:txBody>
          <a:bodyPr wrap="none" lIns="0" tIns="0" rIns="0" bIns="0" rtlCol="0" anchor="t"/>
          <a:lstStyle/>
          <a:p>
            <a:pPr algn="ctr" indent="0" marL="0">
              <a:lnSpc>
                <a:spcPct val="104000"/>
              </a:lnSpc>
              <a:buNone/>
            </a:pPr>
            <a:r>
              <a:rPr lang="en-US" sz="1900" b="1" dirty="0">
                <a:solidFill>
                  <a:srgbClr val="1C1C1C"/>
                </a:solidFill>
                <a:latin typeface="Orbitron Bold" pitchFamily="34" charset="0"/>
                <a:ea typeface="Orbitron Bold" pitchFamily="34" charset="-122"/>
                <a:cs typeface="Orbitron Bold" pitchFamily="34" charset="-120"/>
              </a:rPr>
              <a:t>They ask</a:t>
            </a:r>
            <a:endParaRPr lang="en-US" sz="1900" dirty="0"/>
          </a:p>
        </p:txBody>
      </p:sp>
      <p:sp>
        <p:nvSpPr>
          <p:cNvPr id="8" name="Text 5"/>
          <p:cNvSpPr/>
          <p:nvPr/>
        </p:nvSpPr>
        <p:spPr>
          <a:xfrm>
            <a:off x="1325854" y="4113670"/>
            <a:ext cx="1586822" cy="305688"/>
          </a:xfrm>
          <a:prstGeom prst="rect">
            <a:avLst/>
          </a:prstGeom>
          <a:noFill/>
          <a:ln/>
        </p:spPr>
        <p:txBody>
          <a:bodyPr wrap="none" lIns="0" tIns="0" rIns="0" bIns="0" rtlCol="0" anchor="t"/>
          <a:lstStyle/>
          <a:p>
            <a:pPr algn="ctr" indent="0" marL="0">
              <a:lnSpc>
                <a:spcPct val="104000"/>
              </a:lnSpc>
              <a:buNone/>
            </a:pPr>
            <a:r>
              <a:rPr lang="en-US" sz="1900" b="1" dirty="0">
                <a:solidFill>
                  <a:srgbClr val="1C1C1C"/>
                </a:solidFill>
                <a:latin typeface="Orbitron Bold" pitchFamily="34" charset="0"/>
                <a:ea typeface="Orbitron Bold" pitchFamily="34" charset="-122"/>
                <a:cs typeface="Orbitron Bold" pitchFamily="34" charset="-120"/>
              </a:rPr>
              <a:t>You ask</a:t>
            </a:r>
            <a:endParaRPr lang="en-US" sz="1900" dirty="0"/>
          </a:p>
        </p:txBody>
      </p:sp>
      <p:sp>
        <p:nvSpPr>
          <p:cNvPr id="9" name="Text 6"/>
          <p:cNvSpPr/>
          <p:nvPr/>
        </p:nvSpPr>
        <p:spPr>
          <a:xfrm>
            <a:off x="661475" y="5177135"/>
            <a:ext cx="10868745" cy="1035943"/>
          </a:xfrm>
          <a:prstGeom prst="rect">
            <a:avLst/>
          </a:prstGeom>
          <a:noFill/>
          <a:ln/>
        </p:spPr>
        <p:txBody>
          <a:bodyPr wrap="square" lIns="0" tIns="0" rIns="0" bIns="0" rtlCol="0" anchor="t">
            <a:normAutofit/>
          </a:bodyPr>
          <a:lstStyle/>
          <a:p>
            <a:pPr algn="l" marL="203200" indent="-203200">
              <a:lnSpc>
                <a:spcPct val="114000"/>
              </a:lnSpc>
              <a:buSzPct val="100000"/>
              <a:buChar char="•"/>
            </a:pPr>
            <a:r>
              <a:rPr lang="en-US" sz="1000" dirty="0">
                <a:solidFill>
                  <a:srgbClr val="1C1C1C"/>
                </a:solidFill>
                <a:latin typeface="Roboto Condensed" pitchFamily="34" charset="0"/>
                <a:ea typeface="Roboto Condensed" pitchFamily="34" charset="-122"/>
                <a:cs typeface="Roboto Condensed" pitchFamily="34" charset="-120"/>
              </a:rPr>
              <a:t>You ask: how many are ahead of you?</a:t>
            </a:r>
            <a:endParaRPr lang="en-US" sz="1000" dirty="0"/>
          </a:p>
          <a:p>
            <a:pPr algn="l" marL="203200" indent="-203200">
              <a:lnSpc>
                <a:spcPct val="114000"/>
              </a:lnSpc>
              <a:buSzPct val="100000"/>
              <a:buChar char="•"/>
            </a:pPr>
            <a:r>
              <a:rPr lang="en-US" sz="1000" dirty="0">
                <a:solidFill>
                  <a:srgbClr val="1C1C1C"/>
                </a:solidFill>
                <a:latin typeface="Roboto Condensed" pitchFamily="34" charset="0"/>
                <a:ea typeface="Roboto Condensed" pitchFamily="34" charset="-122"/>
                <a:cs typeface="Roboto Condensed" pitchFamily="34" charset="-120"/>
              </a:rPr>
              <a:t>They ask the person ahead of them</a:t>
            </a:r>
            <a:endParaRPr lang="en-US" sz="1000" dirty="0"/>
          </a:p>
          <a:p>
            <a:pPr algn="l" marL="203200" indent="-203200">
              <a:lnSpc>
                <a:spcPct val="114000"/>
              </a:lnSpc>
              <a:buSzPct val="100000"/>
              <a:buChar char="•"/>
            </a:pPr>
            <a:r>
              <a:rPr lang="en-US" sz="1000" dirty="0">
                <a:solidFill>
                  <a:srgbClr val="1C1C1C"/>
                </a:solidFill>
                <a:latin typeface="Roboto Condensed" pitchFamily="34" charset="0"/>
                <a:ea typeface="Roboto Condensed" pitchFamily="34" charset="-122"/>
                <a:cs typeface="Roboto Condensed" pitchFamily="34" charset="-120"/>
              </a:rPr>
              <a:t>The person at the front says zero</a:t>
            </a:r>
            <a:endParaRPr lang="en-US" sz="1000" dirty="0"/>
          </a:p>
          <a:p>
            <a:pPr algn="l" marL="203200" indent="-203200">
              <a:lnSpc>
                <a:spcPct val="114000"/>
              </a:lnSpc>
              <a:buSzPct val="100000"/>
              <a:buChar char="•"/>
            </a:pPr>
            <a:r>
              <a:rPr lang="en-US" sz="1000" dirty="0">
                <a:solidFill>
                  <a:srgbClr val="1C1C1C"/>
                </a:solidFill>
                <a:latin typeface="Roboto Condensed" pitchFamily="34" charset="0"/>
                <a:ea typeface="Roboto Condensed" pitchFamily="34" charset="-122"/>
                <a:cs typeface="Roboto Condensed" pitchFamily="34" charset="-120"/>
              </a:rPr>
              <a:t>Each answer comes back plus one</a:t>
            </a:r>
            <a:endParaRPr lang="en-US" sz="1000" dirty="0"/>
          </a:p>
          <a:p>
            <a:pPr algn="l" marL="203200" indent="-203200">
              <a:lnSpc>
                <a:spcPct val="114000"/>
              </a:lnSpc>
              <a:buSzPct val="100000"/>
              <a:buChar char="•"/>
            </a:pPr>
            <a:r>
              <a:rPr lang="en-US" sz="1000" dirty="0">
                <a:solidFill>
                  <a:srgbClr val="1C1C1C"/>
                </a:solidFill>
                <a:latin typeface="Roboto Condensed" pitchFamily="34" charset="0"/>
                <a:ea typeface="Roboto Condensed" pitchFamily="34" charset="-122"/>
                <a:cs typeface="Roboto Condensed" pitchFamily="34" charset="-120"/>
              </a:rPr>
              <a:t>You hear three, add one: four</a:t>
            </a:r>
            <a:endParaRPr lang="en-US" sz="1000" dirty="0"/>
          </a:p>
        </p:txBody>
      </p:sp>
      <p:sp>
        <p:nvSpPr>
          <p:cNvPr id="10" name="Text 7"/>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sp>
        <p:nvSpPr>
          <p:cNvPr id="3" name="Text 0"/>
          <p:cNvSpPr/>
          <p:nvPr/>
        </p:nvSpPr>
        <p:spPr>
          <a:xfrm>
            <a:off x="5233360" y="585093"/>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Every recursion has two parts</a:t>
            </a:r>
            <a:endParaRPr lang="en-US" sz="3700" dirty="0"/>
          </a:p>
        </p:txBody>
      </p:sp>
      <p:pic>
        <p:nvPicPr>
          <p:cNvPr id="4"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233360" y="2049859"/>
            <a:ext cx="6296860" cy="1139924"/>
          </a:xfrm>
          <a:prstGeom prst="rect">
            <a:avLst/>
          </a:prstGeom>
        </p:spPr>
      </p:pic>
      <p:sp>
        <p:nvSpPr>
          <p:cNvPr id="5" name="Text 1"/>
          <p:cNvSpPr/>
          <p:nvPr/>
        </p:nvSpPr>
        <p:spPr>
          <a:xfrm>
            <a:off x="5549364" y="2264271"/>
            <a:ext cx="5766449"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Base case</a:t>
            </a:r>
            <a:endParaRPr lang="en-US" sz="1850" dirty="0"/>
          </a:p>
        </p:txBody>
      </p:sp>
      <p:sp>
        <p:nvSpPr>
          <p:cNvPr id="6" name="Text 2"/>
          <p:cNvSpPr/>
          <p:nvPr/>
        </p:nvSpPr>
        <p:spPr>
          <a:xfrm>
            <a:off x="5549364" y="2672953"/>
            <a:ext cx="5766449" cy="30241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Small enough to answer directly. The person at the front says zero.</a:t>
            </a:r>
            <a:endParaRPr lang="en-US" sz="1450" dirty="0"/>
          </a:p>
        </p:txBody>
      </p:sp>
      <p:pic>
        <p:nvPicPr>
          <p:cNvPr id="7" name="Image 2" descr="preencoded.png">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233360" y="3378795"/>
            <a:ext cx="6296860" cy="1442343"/>
          </a:xfrm>
          <a:prstGeom prst="rect">
            <a:avLst/>
          </a:prstGeom>
        </p:spPr>
      </p:pic>
      <p:sp>
        <p:nvSpPr>
          <p:cNvPr id="8" name="Text 3"/>
          <p:cNvSpPr/>
          <p:nvPr/>
        </p:nvSpPr>
        <p:spPr>
          <a:xfrm>
            <a:off x="5549364" y="3593207"/>
            <a:ext cx="5766449"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Recursive case</a:t>
            </a:r>
            <a:endParaRPr lang="en-US" sz="1850" dirty="0"/>
          </a:p>
        </p:txBody>
      </p:sp>
      <p:sp>
        <p:nvSpPr>
          <p:cNvPr id="9" name="Text 4"/>
          <p:cNvSpPr/>
          <p:nvPr/>
        </p:nvSpPr>
        <p:spPr>
          <a:xfrm>
            <a:off x="5549364" y="4001889"/>
            <a:ext cx="5766449" cy="604838"/>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Ask a smaller question, use the answer. Ask the person ahead, then add one.</a:t>
            </a:r>
            <a:endParaRPr lang="en-US" sz="1450" dirty="0"/>
          </a:p>
        </p:txBody>
      </p:sp>
      <p:pic>
        <p:nvPicPr>
          <p:cNvPr id="10" name="Image 3" descr="preencoded.png">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5233360" y="5010150"/>
            <a:ext cx="6296860" cy="1139924"/>
          </a:xfrm>
          <a:prstGeom prst="rect">
            <a:avLst/>
          </a:prstGeom>
        </p:spPr>
      </p:pic>
      <p:sp>
        <p:nvSpPr>
          <p:cNvPr id="11" name="Text 5"/>
          <p:cNvSpPr/>
          <p:nvPr/>
        </p:nvSpPr>
        <p:spPr>
          <a:xfrm>
            <a:off x="5549364" y="5224562"/>
            <a:ext cx="5766449"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Key rule</a:t>
            </a:r>
            <a:endParaRPr lang="en-US" sz="1850" dirty="0"/>
          </a:p>
        </p:txBody>
      </p:sp>
      <p:sp>
        <p:nvSpPr>
          <p:cNvPr id="12" name="Text 6"/>
          <p:cNvSpPr/>
          <p:nvPr/>
        </p:nvSpPr>
        <p:spPr>
          <a:xfrm>
            <a:off x="5549364" y="5633244"/>
            <a:ext cx="5766449" cy="30241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Every question must move toward the base case.</a:t>
            </a:r>
            <a:endParaRPr lang="en-US" sz="1450" dirty="0"/>
          </a:p>
        </p:txBody>
      </p:sp>
      <p:sp>
        <p:nvSpPr>
          <p:cNvPr id="13" name="Text 7"/>
          <p:cNvSpPr/>
          <p:nvPr/>
        </p:nvSpPr>
        <p:spPr>
          <a:xfrm>
            <a:off x="4704141"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61475" y="1786930"/>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As pseudocode</a:t>
            </a:r>
            <a:endParaRPr lang="en-US" sz="3700" dirty="0"/>
          </a:p>
        </p:txBody>
      </p:sp>
      <p:sp>
        <p:nvSpPr>
          <p:cNvPr id="3" name="Shape 1"/>
          <p:cNvSpPr/>
          <p:nvPr/>
        </p:nvSpPr>
        <p:spPr>
          <a:xfrm>
            <a:off x="661475" y="2755602"/>
            <a:ext cx="10868745" cy="2192536"/>
          </a:xfrm>
          <a:prstGeom prst="roundRect">
            <a:avLst>
              <a:gd name="adj" fmla="val 3621"/>
            </a:avLst>
          </a:prstGeom>
          <a:solidFill>
            <a:srgbClr val="F2F2F2"/>
          </a:solidFill>
          <a:ln/>
        </p:spPr>
      </p:sp>
      <p:sp>
        <p:nvSpPr>
          <p:cNvPr id="4" name="Text 2"/>
          <p:cNvSpPr/>
          <p:nvPr/>
        </p:nvSpPr>
        <p:spPr>
          <a:xfrm>
            <a:off x="888283" y="2944614"/>
            <a:ext cx="10415129" cy="1814513"/>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TO FIND people_ahead(position)</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IF position is 1</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ANSWER 0</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OTHERWISE</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ASK people_ahead(position - 1)</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ANSWER that answer plus 1</a:t>
            </a:r>
            <a:endParaRPr lang="en-US" sz="1450" dirty="0"/>
          </a:p>
        </p:txBody>
      </p:sp>
      <p:sp>
        <p:nvSpPr>
          <p:cNvPr id="5" name="Text 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61475" y="1182092"/>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The trace table</a:t>
            </a:r>
            <a:endParaRPr lang="en-US" sz="3700" dirty="0"/>
          </a:p>
        </p:txBody>
      </p:sp>
      <p:sp>
        <p:nvSpPr>
          <p:cNvPr id="3" name="Shape 1"/>
          <p:cNvSpPr/>
          <p:nvPr/>
        </p:nvSpPr>
        <p:spPr>
          <a:xfrm>
            <a:off x="661475" y="2150765"/>
            <a:ext cx="10868745" cy="3402211"/>
          </a:xfrm>
          <a:prstGeom prst="roundRect">
            <a:avLst>
              <a:gd name="adj" fmla="val 2333"/>
            </a:avLst>
          </a:prstGeom>
          <a:solidFill>
            <a:srgbClr val="F2F2F2"/>
          </a:solidFill>
          <a:ln/>
        </p:spPr>
      </p:sp>
      <p:sp>
        <p:nvSpPr>
          <p:cNvPr id="4" name="Text 2"/>
          <p:cNvSpPr/>
          <p:nvPr/>
        </p:nvSpPr>
        <p:spPr>
          <a:xfrm>
            <a:off x="888283" y="2339777"/>
            <a:ext cx="10415129" cy="3024188"/>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Step  Position  Base case?  What happens</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1     5         No          ask people_ahead(4), WAIT</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2     4         No          ask people_ahead(3), WAIT</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3     3         No          ask people_ahead(2), WAIT</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4     2         No          ask people_ahead(1), WAIT</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5     1         Yes         answer 0</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6     2                     heard 0, answer 1</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7     3                     heard 1, answer 2</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8     4                     heard 2, answer 3</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9     5                     heard 3, answer 4</a:t>
            </a:r>
            <a:endParaRPr lang="en-US" sz="1450" dirty="0"/>
          </a:p>
        </p:txBody>
      </p:sp>
      <p:sp>
        <p:nvSpPr>
          <p:cNvPr id="5" name="Text 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61475" y="1158577"/>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The wrong way: no base case</a:t>
            </a:r>
            <a:endParaRPr lang="en-US" sz="3700" dirty="0"/>
          </a:p>
        </p:txBody>
      </p:sp>
      <p:sp>
        <p:nvSpPr>
          <p:cNvPr id="3" name="Shape 1"/>
          <p:cNvSpPr/>
          <p:nvPr/>
        </p:nvSpPr>
        <p:spPr>
          <a:xfrm>
            <a:off x="661475" y="2127250"/>
            <a:ext cx="10868745" cy="1285280"/>
          </a:xfrm>
          <a:prstGeom prst="roundRect">
            <a:avLst>
              <a:gd name="adj" fmla="val 6177"/>
            </a:avLst>
          </a:prstGeom>
          <a:solidFill>
            <a:srgbClr val="F2F2F2"/>
          </a:solidFill>
          <a:ln/>
        </p:spPr>
      </p:sp>
      <p:sp>
        <p:nvSpPr>
          <p:cNvPr id="4" name="Text 2"/>
          <p:cNvSpPr/>
          <p:nvPr/>
        </p:nvSpPr>
        <p:spPr>
          <a:xfrm>
            <a:off x="888283" y="2316262"/>
            <a:ext cx="10415129" cy="907256"/>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TO FIND people_ahead(position)</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ASK people_ahead(position - 1)</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ANSWER that answer plus 1</a:t>
            </a:r>
            <a:endParaRPr lang="en-US" sz="1450" dirty="0"/>
          </a:p>
        </p:txBody>
      </p:sp>
      <p:sp>
        <p:nvSpPr>
          <p:cNvPr id="5" name="Shape 3"/>
          <p:cNvSpPr/>
          <p:nvPr/>
        </p:nvSpPr>
        <p:spPr>
          <a:xfrm>
            <a:off x="661475" y="3625155"/>
            <a:ext cx="10868745" cy="982861"/>
          </a:xfrm>
          <a:prstGeom prst="roundRect">
            <a:avLst>
              <a:gd name="adj" fmla="val 8077"/>
            </a:avLst>
          </a:prstGeom>
          <a:solidFill>
            <a:srgbClr val="F2F2F2"/>
          </a:solidFill>
          <a:ln/>
        </p:spPr>
      </p:sp>
      <p:sp>
        <p:nvSpPr>
          <p:cNvPr id="6" name="Text 4"/>
          <p:cNvSpPr/>
          <p:nvPr/>
        </p:nvSpPr>
        <p:spPr>
          <a:xfrm>
            <a:off x="888283" y="3814167"/>
            <a:ext cx="10415129" cy="604838"/>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[Previous line repeated 995 more times]</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RecursionError: maximum recursion depth exceeded</a:t>
            </a:r>
            <a:endParaRPr lang="en-US" sz="1450" dirty="0"/>
          </a:p>
        </p:txBody>
      </p:sp>
      <p:sp>
        <p:nvSpPr>
          <p:cNvPr id="7" name="Shape 5"/>
          <p:cNvSpPr/>
          <p:nvPr/>
        </p:nvSpPr>
        <p:spPr>
          <a:xfrm>
            <a:off x="661475" y="4820642"/>
            <a:ext cx="10868745" cy="755948"/>
          </a:xfrm>
          <a:prstGeom prst="roundRect">
            <a:avLst>
              <a:gd name="adj" fmla="val 10502"/>
            </a:avLst>
          </a:prstGeom>
          <a:solidFill>
            <a:srgbClr val="FFB3B4"/>
          </a:solidFill>
          <a:ln/>
        </p:spPr>
      </p:sp>
      <p:pic>
        <p:nvPicPr>
          <p:cNvPr id="8" name="Image 0" descr="preencoded.png">    </p:cNvPr>
          <p:cNvPicPr>
            <a:picLocks noChangeAspect="1"/>
          </p:cNvPicPr>
          <p:nvPr/>
        </p:nvPicPr>
        <p:blipFill>
          <a:blip r:embed="rId1"/>
          <a:stretch>
            <a:fillRect/>
          </a:stretch>
        </p:blipFill>
        <p:spPr>
          <a:xfrm>
            <a:off x="850482" y="5088334"/>
            <a:ext cx="236234" cy="189012"/>
          </a:xfrm>
          <a:prstGeom prst="rect">
            <a:avLst/>
          </a:prstGeom>
        </p:spPr>
      </p:pic>
      <p:sp>
        <p:nvSpPr>
          <p:cNvPr id="9" name="Text 6"/>
          <p:cNvSpPr/>
          <p:nvPr/>
        </p:nvSpPr>
        <p:spPr>
          <a:xfrm>
            <a:off x="1275723" y="5056882"/>
            <a:ext cx="10675075" cy="302419"/>
          </a:xfrm>
          <a:prstGeom prst="rect">
            <a:avLst/>
          </a:prstGeom>
          <a:noFill/>
          <a:ln/>
        </p:spPr>
        <p:txBody>
          <a:bodyPr wrap="none" lIns="0" tIns="0" rIns="0" bIns="0" rtlCol="0" anchor="t"/>
          <a:lstStyle/>
          <a:p>
            <a:pPr algn="l" indent="0" marL="0">
              <a:lnSpc>
                <a:spcPct val="133000"/>
              </a:lnSpc>
              <a:buNone/>
            </a:pPr>
            <a:r>
              <a:rPr lang="en-US" sz="1450" dirty="0">
                <a:solidFill>
                  <a:srgbClr val="000000"/>
                </a:solidFill>
                <a:latin typeface="Roboto Condensed" pitchFamily="34" charset="0"/>
                <a:ea typeface="Roboto Condensed" pitchFamily="34" charset="-122"/>
                <a:cs typeface="Roboto Condensed" pitchFamily="34" charset="-120"/>
              </a:rPr>
              <a:t>Without a base case, the function never stops calling itself.</a:t>
            </a:r>
            <a:endParaRPr lang="en-US" sz="1450" dirty="0"/>
          </a:p>
        </p:txBody>
      </p:sp>
      <p:sp>
        <p:nvSpPr>
          <p:cNvPr id="10" name="Text 7"/>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19809" y="0"/>
            <a:ext cx="4571886" cy="6858000"/>
          </a:xfrm>
          <a:prstGeom prst="rect">
            <a:avLst/>
          </a:prstGeom>
        </p:spPr>
      </p:pic>
      <p:sp>
        <p:nvSpPr>
          <p:cNvPr id="3" name="Text 0"/>
          <p:cNvSpPr/>
          <p:nvPr/>
        </p:nvSpPr>
        <p:spPr>
          <a:xfrm>
            <a:off x="661475" y="1746945"/>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When recursion is the right tool</a:t>
            </a:r>
            <a:endParaRPr lang="en-US" sz="3700" dirty="0"/>
          </a:p>
        </p:txBody>
      </p:sp>
      <p:sp>
        <p:nvSpPr>
          <p:cNvPr id="4" name="Text 1"/>
          <p:cNvSpPr/>
          <p:nvPr/>
        </p:nvSpPr>
        <p:spPr>
          <a:xfrm>
            <a:off x="661475" y="3211711"/>
            <a:ext cx="6296860" cy="1776413"/>
          </a:xfrm>
          <a:prstGeom prst="rect">
            <a:avLst/>
          </a:prstGeom>
          <a:noFill/>
          <a:ln/>
        </p:spPr>
        <p:txBody>
          <a:bodyPr wrap="square" lIns="0" tIns="0" rIns="0" bIns="0" rtlCol="0" anchor="t">
            <a:normAutofit/>
          </a:bodyPr>
          <a:lstStyle/>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Data nested inside itself, depth unknown</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Folders that contain folders</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Replies that have replies</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Brackets made of smaller brackets</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The problem really is a smaller copy of itself</a:t>
            </a:r>
            <a:endParaRPr lang="en-US" sz="1450" dirty="0"/>
          </a:p>
        </p:txBody>
      </p:sp>
      <p:sp>
        <p:nvSpPr>
          <p:cNvPr id="5" name="Text 2"/>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661475" y="761901"/>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When it is the wrong tool: your game loop</a:t>
            </a:r>
            <a:endParaRPr lang="en-US" sz="3700" dirty="0"/>
          </a:p>
        </p:txBody>
      </p:sp>
      <p:sp>
        <p:nvSpPr>
          <p:cNvPr id="3" name="Text 1"/>
          <p:cNvSpPr/>
          <p:nvPr/>
        </p:nvSpPr>
        <p:spPr>
          <a:xfrm>
            <a:off x="661475" y="2514699"/>
            <a:ext cx="3504219" cy="2683669"/>
          </a:xfrm>
          <a:prstGeom prst="rect">
            <a:avLst/>
          </a:prstGeom>
          <a:noFill/>
          <a:ln/>
        </p:spPr>
        <p:txBody>
          <a:bodyPr wrap="square" lIns="0" tIns="0" rIns="0" bIns="0" rtlCol="0" anchor="t">
            <a:normAutofit/>
          </a:bodyPr>
          <a:lstStyle/>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Take a turn, then ask for the next turn</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Every turn waits for the next turn to finish</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1,500 turns means 1,500 paused tasks</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Python stops at about 1,000</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A while loop has no stack. Turn 5,000 costs nothing extra</a:t>
            </a:r>
            <a:endParaRPr lang="en-US" sz="1450" dirty="0"/>
          </a:p>
        </p:txBody>
      </p:sp>
      <p:pic>
        <p:nvPicPr>
          <p:cNvPr id="4" name="Image 0" descr="preencoded.png">    </p:cNvPr>
          <p:cNvPicPr>
            <a:picLocks noChangeAspect="1"/>
          </p:cNvPicPr>
          <p:nvPr/>
        </p:nvPicPr>
        <p:blipFill>
          <a:blip r:embed="rId1"/>
          <a:stretch>
            <a:fillRect/>
          </a:stretch>
        </p:blipFill>
        <p:spPr>
          <a:xfrm>
            <a:off x="4633201" y="1848644"/>
            <a:ext cx="6903269" cy="3911898"/>
          </a:xfrm>
          <a:prstGeom prst="rect">
            <a:avLst/>
          </a:prstGeom>
        </p:spPr>
      </p:pic>
      <p:sp>
        <p:nvSpPr>
          <p:cNvPr id="5" name="Text 2"/>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661475" y="1951137"/>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Loop or recursion</a:t>
            </a:r>
            <a:endParaRPr lang="en-US" sz="3700" dirty="0"/>
          </a:p>
        </p:txBody>
      </p:sp>
      <p:sp>
        <p:nvSpPr>
          <p:cNvPr id="3" name="Shape 1"/>
          <p:cNvSpPr/>
          <p:nvPr/>
        </p:nvSpPr>
        <p:spPr>
          <a:xfrm>
            <a:off x="661475" y="2919809"/>
            <a:ext cx="10868745" cy="1864221"/>
          </a:xfrm>
          <a:prstGeom prst="roundRect">
            <a:avLst>
              <a:gd name="adj" fmla="val 4258"/>
            </a:avLst>
          </a:prstGeom>
          <a:solidFill>
            <a:srgbClr val="D1E5FA"/>
          </a:solidFill>
          <a:ln w="19050">
            <a:solidFill>
              <a:srgbClr val="B7CBE0"/>
            </a:solidFill>
            <a:prstDash val="solid"/>
          </a:ln>
        </p:spPr>
      </p:sp>
      <p:sp>
        <p:nvSpPr>
          <p:cNvPr id="4" name="Shape 2"/>
          <p:cNvSpPr/>
          <p:nvPr/>
        </p:nvSpPr>
        <p:spPr>
          <a:xfrm>
            <a:off x="680524" y="2938859"/>
            <a:ext cx="5415323" cy="1826121"/>
          </a:xfrm>
          <a:custGeom>
            <a:avLst/>
            <a:gdLst/>
            <a:ahLst/>
            <a:cxnLst/>
            <a:rect l="l" t="t" r="r" b="b"/>
            <a:pathLst>
              <a:path w="5415323" h="1826121">
                <a:moveTo>
                  <a:pt x="66156" y="0"/>
                </a:moveTo>
                <a:lnTo>
                  <a:pt x="5415323" y="0"/>
                </a:lnTo>
                <a:lnTo>
                  <a:pt x="5415323" y="1826121"/>
                </a:lnTo>
                <a:lnTo>
                  <a:pt x="66156" y="1826121"/>
                </a:lnTo>
                <a:arcTo hR="66158" wR="66156" stAng="5400000" swAng="5400000"/>
                <a:lnTo>
                  <a:pt x="0" y="66158"/>
                </a:lnTo>
                <a:arcTo hR="66158" wR="66156" stAng="10800000" swAng="5400000"/>
                <a:close/>
              </a:path>
            </a:pathLst>
          </a:custGeom>
          <a:solidFill>
            <a:srgbClr val="D1E5FA"/>
          </a:solidFill>
          <a:ln/>
        </p:spPr>
      </p:sp>
      <p:sp>
        <p:nvSpPr>
          <p:cNvPr id="5" name="Text 3"/>
          <p:cNvSpPr/>
          <p:nvPr/>
        </p:nvSpPr>
        <p:spPr>
          <a:xfrm>
            <a:off x="869531" y="3127871"/>
            <a:ext cx="5037309"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Use a loop</a:t>
            </a:r>
            <a:endParaRPr lang="en-US" sz="1850" dirty="0"/>
          </a:p>
        </p:txBody>
      </p:sp>
      <p:sp>
        <p:nvSpPr>
          <p:cNvPr id="6" name="Text 4"/>
          <p:cNvSpPr/>
          <p:nvPr/>
        </p:nvSpPr>
        <p:spPr>
          <a:xfrm>
            <a:off x="869531" y="3536553"/>
            <a:ext cx="5037309" cy="1039416"/>
          </a:xfrm>
          <a:prstGeom prst="rect">
            <a:avLst/>
          </a:prstGeom>
          <a:noFill/>
          <a:ln/>
        </p:spPr>
        <p:txBody>
          <a:bodyPr wrap="square" lIns="0" tIns="0" rIns="0" bIns="0" rtlCol="0" anchor="t">
            <a:normAutofit/>
          </a:bodyPr>
          <a:lstStyle/>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Until the player quits: loop</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Seven times: loop</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Every character or line: loop</a:t>
            </a:r>
            <a:endParaRPr lang="en-US" sz="1450" dirty="0"/>
          </a:p>
        </p:txBody>
      </p:sp>
      <p:sp>
        <p:nvSpPr>
          <p:cNvPr id="7" name="Shape 5"/>
          <p:cNvSpPr/>
          <p:nvPr/>
        </p:nvSpPr>
        <p:spPr>
          <a:xfrm>
            <a:off x="6095848" y="2938859"/>
            <a:ext cx="5415323" cy="1826121"/>
          </a:xfrm>
          <a:custGeom>
            <a:avLst/>
            <a:gdLst/>
            <a:ahLst/>
            <a:cxnLst/>
            <a:rect l="l" t="t" r="r" b="b"/>
            <a:pathLst>
              <a:path w="5415323" h="1826121">
                <a:moveTo>
                  <a:pt x="0" y="0"/>
                </a:moveTo>
                <a:lnTo>
                  <a:pt x="5349167" y="0"/>
                </a:lnTo>
                <a:arcTo hR="66158" wR="66156" stAng="16200000" swAng="5400000"/>
                <a:lnTo>
                  <a:pt x="5415323" y="1759963"/>
                </a:lnTo>
                <a:arcTo hR="66158" wR="66156" stAng="0" swAng="5400000"/>
                <a:lnTo>
                  <a:pt x="0" y="1826121"/>
                </a:lnTo>
                <a:lnTo>
                  <a:pt x="0" y="0"/>
                </a:lnTo>
                <a:close/>
              </a:path>
            </a:pathLst>
          </a:custGeom>
          <a:solidFill>
            <a:srgbClr val="D1E5FA"/>
          </a:solidFill>
          <a:ln/>
        </p:spPr>
      </p:sp>
      <p:sp>
        <p:nvSpPr>
          <p:cNvPr id="8" name="Shape 6"/>
          <p:cNvSpPr/>
          <p:nvPr/>
        </p:nvSpPr>
        <p:spPr>
          <a:xfrm>
            <a:off x="6095848" y="2938859"/>
            <a:ext cx="25399" cy="1826121"/>
          </a:xfrm>
          <a:prstGeom prst="roundRect">
            <a:avLst>
              <a:gd name="adj" fmla="val 50001"/>
            </a:avLst>
          </a:prstGeom>
          <a:solidFill>
            <a:srgbClr val="B7CBE0"/>
          </a:solidFill>
          <a:ln/>
        </p:spPr>
      </p:sp>
      <p:sp>
        <p:nvSpPr>
          <p:cNvPr id="9" name="Text 7"/>
          <p:cNvSpPr/>
          <p:nvPr/>
        </p:nvSpPr>
        <p:spPr>
          <a:xfrm>
            <a:off x="6284854" y="3127871"/>
            <a:ext cx="5037309"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Use recursion</a:t>
            </a:r>
            <a:endParaRPr lang="en-US" sz="1850" dirty="0"/>
          </a:p>
        </p:txBody>
      </p:sp>
      <p:sp>
        <p:nvSpPr>
          <p:cNvPr id="10" name="Text 8"/>
          <p:cNvSpPr/>
          <p:nvPr/>
        </p:nvSpPr>
        <p:spPr>
          <a:xfrm>
            <a:off x="6284854" y="3536553"/>
            <a:ext cx="5037309" cy="670917"/>
          </a:xfrm>
          <a:prstGeom prst="rect">
            <a:avLst/>
          </a:prstGeom>
          <a:noFill/>
          <a:ln/>
        </p:spPr>
        <p:txBody>
          <a:bodyPr wrap="square" lIns="0" tIns="0" rIns="0" bIns="0" rtlCol="0" anchor="t">
            <a:normAutofit/>
          </a:bodyPr>
          <a:lstStyle/>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Every file in nested folders: recursion</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Anything a loop does cleanly, recursion does worse</a:t>
            </a:r>
            <a:endParaRPr lang="en-US" sz="1450" dirty="0"/>
          </a:p>
        </p:txBody>
      </p:sp>
      <p:sp>
        <p:nvSpPr>
          <p:cNvPr id="11" name="Text 9"/>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661475" y="1494830"/>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What you are about to build</a:t>
            </a:r>
            <a:endParaRPr lang="en-US" sz="3700" dirty="0"/>
          </a:p>
        </p:txBody>
      </p:sp>
      <p:sp>
        <p:nvSpPr>
          <p:cNvPr id="3" name="Text 1"/>
          <p:cNvSpPr/>
          <p:nvPr/>
        </p:nvSpPr>
        <p:spPr>
          <a:xfrm>
            <a:off x="661475" y="2463502"/>
            <a:ext cx="378014" cy="236240"/>
          </a:xfrm>
          <a:prstGeom prst="rect">
            <a:avLst/>
          </a:prstGeom>
          <a:noFill/>
          <a:ln/>
        </p:spPr>
        <p:txBody>
          <a:bodyPr wrap="none" lIns="0" tIns="0" rIns="0" bIns="0" rtlCol="0" anchor="ctr"/>
          <a:lstStyle/>
          <a:p>
            <a:pPr algn="l" indent="0" marL="0">
              <a:lnSpc>
                <a:spcPct val="100000"/>
              </a:lnSpc>
              <a:buNone/>
            </a:pPr>
            <a:r>
              <a:rPr lang="en-US" sz="1450" dirty="0">
                <a:solidFill>
                  <a:srgbClr val="1C1C1C"/>
                </a:solidFill>
                <a:latin typeface="Orbitron" pitchFamily="34" charset="0"/>
                <a:ea typeface="Orbitron" pitchFamily="34" charset="-122"/>
                <a:cs typeface="Orbitron" pitchFamily="34" charset="-120"/>
              </a:rPr>
              <a:t>01</a:t>
            </a:r>
            <a:endParaRPr lang="en-US" sz="1450" dirty="0"/>
          </a:p>
        </p:txBody>
      </p:sp>
      <p:sp>
        <p:nvSpPr>
          <p:cNvPr id="4" name="Shape 2"/>
          <p:cNvSpPr/>
          <p:nvPr/>
        </p:nvSpPr>
        <p:spPr>
          <a:xfrm>
            <a:off x="661475" y="2759373"/>
            <a:ext cx="3496877" cy="25400"/>
          </a:xfrm>
          <a:prstGeom prst="rect">
            <a:avLst/>
          </a:prstGeom>
          <a:solidFill>
            <a:srgbClr val="57A1EB"/>
          </a:solidFill>
          <a:ln/>
        </p:spPr>
      </p:sp>
      <p:sp>
        <p:nvSpPr>
          <p:cNvPr id="5" name="Text 3"/>
          <p:cNvSpPr/>
          <p:nvPr/>
        </p:nvSpPr>
        <p:spPr>
          <a:xfrm>
            <a:off x="661475" y="2904629"/>
            <a:ext cx="3496877"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Build 1</a:t>
            </a:r>
            <a:endParaRPr lang="en-US" sz="1850" dirty="0"/>
          </a:p>
        </p:txBody>
      </p:sp>
      <p:sp>
        <p:nvSpPr>
          <p:cNvPr id="6" name="Text 4"/>
          <p:cNvSpPr/>
          <p:nvPr/>
        </p:nvSpPr>
        <p:spPr>
          <a:xfrm>
            <a:off x="661475" y="3313311"/>
            <a:ext cx="3496877" cy="30241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Three trace tables on paper, 15 minutes</a:t>
            </a:r>
            <a:endParaRPr lang="en-US" sz="1450" dirty="0"/>
          </a:p>
        </p:txBody>
      </p:sp>
      <p:sp>
        <p:nvSpPr>
          <p:cNvPr id="7" name="Text 5"/>
          <p:cNvSpPr/>
          <p:nvPr/>
        </p:nvSpPr>
        <p:spPr>
          <a:xfrm>
            <a:off x="4347359" y="2463502"/>
            <a:ext cx="378014" cy="236240"/>
          </a:xfrm>
          <a:prstGeom prst="rect">
            <a:avLst/>
          </a:prstGeom>
          <a:noFill/>
          <a:ln/>
        </p:spPr>
        <p:txBody>
          <a:bodyPr wrap="none" lIns="0" tIns="0" rIns="0" bIns="0" rtlCol="0" anchor="ctr"/>
          <a:lstStyle/>
          <a:p>
            <a:pPr algn="l" indent="0" marL="0">
              <a:lnSpc>
                <a:spcPct val="100000"/>
              </a:lnSpc>
              <a:buNone/>
            </a:pPr>
            <a:r>
              <a:rPr lang="en-US" sz="1450" dirty="0">
                <a:solidFill>
                  <a:srgbClr val="1C1C1C"/>
                </a:solidFill>
                <a:latin typeface="Orbitron" pitchFamily="34" charset="0"/>
                <a:ea typeface="Orbitron" pitchFamily="34" charset="-122"/>
                <a:cs typeface="Orbitron" pitchFamily="34" charset="-120"/>
              </a:rPr>
              <a:t>02</a:t>
            </a:r>
            <a:endParaRPr lang="en-US" sz="1450" dirty="0"/>
          </a:p>
        </p:txBody>
      </p:sp>
      <p:sp>
        <p:nvSpPr>
          <p:cNvPr id="8" name="Shape 6"/>
          <p:cNvSpPr/>
          <p:nvPr/>
        </p:nvSpPr>
        <p:spPr>
          <a:xfrm>
            <a:off x="4347359" y="2759373"/>
            <a:ext cx="3496877" cy="25400"/>
          </a:xfrm>
          <a:prstGeom prst="rect">
            <a:avLst/>
          </a:prstGeom>
          <a:solidFill>
            <a:srgbClr val="57A1EB"/>
          </a:solidFill>
          <a:ln/>
        </p:spPr>
      </p:sp>
      <p:sp>
        <p:nvSpPr>
          <p:cNvPr id="9" name="Text 7"/>
          <p:cNvSpPr/>
          <p:nvPr/>
        </p:nvSpPr>
        <p:spPr>
          <a:xfrm>
            <a:off x="4347359" y="2904629"/>
            <a:ext cx="3496877"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Run scripts</a:t>
            </a:r>
            <a:endParaRPr lang="en-US" sz="1850" dirty="0"/>
          </a:p>
        </p:txBody>
      </p:sp>
      <p:sp>
        <p:nvSpPr>
          <p:cNvPr id="10" name="Text 8"/>
          <p:cNvSpPr/>
          <p:nvPr/>
        </p:nvSpPr>
        <p:spPr>
          <a:xfrm>
            <a:off x="4347359" y="3313311"/>
            <a:ext cx="3496877" cy="30241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Then run your v1 win and lose scripts</a:t>
            </a:r>
            <a:endParaRPr lang="en-US" sz="1450" dirty="0"/>
          </a:p>
        </p:txBody>
      </p:sp>
      <p:sp>
        <p:nvSpPr>
          <p:cNvPr id="11" name="Text 9"/>
          <p:cNvSpPr/>
          <p:nvPr/>
        </p:nvSpPr>
        <p:spPr>
          <a:xfrm>
            <a:off x="8033244" y="2463502"/>
            <a:ext cx="378014" cy="236240"/>
          </a:xfrm>
          <a:prstGeom prst="rect">
            <a:avLst/>
          </a:prstGeom>
          <a:noFill/>
          <a:ln/>
        </p:spPr>
        <p:txBody>
          <a:bodyPr wrap="none" lIns="0" tIns="0" rIns="0" bIns="0" rtlCol="0" anchor="ctr"/>
          <a:lstStyle/>
          <a:p>
            <a:pPr algn="l" indent="0" marL="0">
              <a:lnSpc>
                <a:spcPct val="100000"/>
              </a:lnSpc>
              <a:buNone/>
            </a:pPr>
            <a:r>
              <a:rPr lang="en-US" sz="1450" dirty="0">
                <a:solidFill>
                  <a:srgbClr val="1C1C1C"/>
                </a:solidFill>
                <a:latin typeface="Orbitron" pitchFamily="34" charset="0"/>
                <a:ea typeface="Orbitron" pitchFamily="34" charset="-122"/>
                <a:cs typeface="Orbitron" pitchFamily="34" charset="-120"/>
              </a:rPr>
              <a:t>03</a:t>
            </a:r>
            <a:endParaRPr lang="en-US" sz="1450" dirty="0"/>
          </a:p>
        </p:txBody>
      </p:sp>
      <p:sp>
        <p:nvSpPr>
          <p:cNvPr id="12" name="Shape 10"/>
          <p:cNvSpPr/>
          <p:nvPr/>
        </p:nvSpPr>
        <p:spPr>
          <a:xfrm>
            <a:off x="8033244" y="2759373"/>
            <a:ext cx="3496877" cy="25400"/>
          </a:xfrm>
          <a:prstGeom prst="rect">
            <a:avLst/>
          </a:prstGeom>
          <a:solidFill>
            <a:srgbClr val="57A1EB"/>
          </a:solidFill>
          <a:ln/>
        </p:spPr>
      </p:sp>
      <p:sp>
        <p:nvSpPr>
          <p:cNvPr id="13" name="Text 11"/>
          <p:cNvSpPr/>
          <p:nvPr/>
        </p:nvSpPr>
        <p:spPr>
          <a:xfrm>
            <a:off x="8033244" y="2904629"/>
            <a:ext cx="3496877"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Build 2</a:t>
            </a:r>
            <a:endParaRPr lang="en-US" sz="1850" dirty="0"/>
          </a:p>
        </p:txBody>
      </p:sp>
      <p:sp>
        <p:nvSpPr>
          <p:cNvPr id="14" name="Text 12"/>
          <p:cNvSpPr/>
          <p:nvPr/>
        </p:nvSpPr>
        <p:spPr>
          <a:xfrm>
            <a:off x="8033244" y="3313311"/>
            <a:ext cx="3496877" cy="30241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Finish text adventure v1</a:t>
            </a:r>
            <a:endParaRPr lang="en-US" sz="1450" dirty="0"/>
          </a:p>
        </p:txBody>
      </p:sp>
      <p:sp>
        <p:nvSpPr>
          <p:cNvPr id="15" name="Text 13"/>
          <p:cNvSpPr/>
          <p:nvPr/>
        </p:nvSpPr>
        <p:spPr>
          <a:xfrm>
            <a:off x="661475" y="3946426"/>
            <a:ext cx="378014" cy="236240"/>
          </a:xfrm>
          <a:prstGeom prst="rect">
            <a:avLst/>
          </a:prstGeom>
          <a:noFill/>
          <a:ln/>
        </p:spPr>
        <p:txBody>
          <a:bodyPr wrap="none" lIns="0" tIns="0" rIns="0" bIns="0" rtlCol="0" anchor="ctr"/>
          <a:lstStyle/>
          <a:p>
            <a:pPr algn="l" indent="0" marL="0">
              <a:lnSpc>
                <a:spcPct val="100000"/>
              </a:lnSpc>
              <a:buNone/>
            </a:pPr>
            <a:r>
              <a:rPr lang="en-US" sz="1450" dirty="0">
                <a:solidFill>
                  <a:srgbClr val="1C1C1C"/>
                </a:solidFill>
                <a:latin typeface="Orbitron" pitchFamily="34" charset="0"/>
                <a:ea typeface="Orbitron" pitchFamily="34" charset="-122"/>
                <a:cs typeface="Orbitron" pitchFamily="34" charset="-120"/>
              </a:rPr>
              <a:t>04</a:t>
            </a:r>
            <a:endParaRPr lang="en-US" sz="1450" dirty="0"/>
          </a:p>
        </p:txBody>
      </p:sp>
      <p:sp>
        <p:nvSpPr>
          <p:cNvPr id="16" name="Shape 14"/>
          <p:cNvSpPr/>
          <p:nvPr/>
        </p:nvSpPr>
        <p:spPr>
          <a:xfrm>
            <a:off x="661475" y="4242296"/>
            <a:ext cx="5339820" cy="25400"/>
          </a:xfrm>
          <a:prstGeom prst="rect">
            <a:avLst/>
          </a:prstGeom>
          <a:solidFill>
            <a:srgbClr val="57A1EB"/>
          </a:solidFill>
          <a:ln/>
        </p:spPr>
      </p:sp>
      <p:sp>
        <p:nvSpPr>
          <p:cNvPr id="17" name="Text 15"/>
          <p:cNvSpPr/>
          <p:nvPr/>
        </p:nvSpPr>
        <p:spPr>
          <a:xfrm>
            <a:off x="661475" y="4387552"/>
            <a:ext cx="5339820"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Final commit</a:t>
            </a:r>
            <a:endParaRPr lang="en-US" sz="1850" dirty="0"/>
          </a:p>
        </p:txBody>
      </p:sp>
      <p:sp>
        <p:nvSpPr>
          <p:cNvPr id="18" name="Text 16"/>
          <p:cNvSpPr/>
          <p:nvPr/>
        </p:nvSpPr>
        <p:spPr>
          <a:xfrm>
            <a:off x="661475" y="4796234"/>
            <a:ext cx="5339820" cy="30241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README, known limitations, final commit and push</a:t>
            </a:r>
            <a:endParaRPr lang="en-US" sz="1450" dirty="0"/>
          </a:p>
        </p:txBody>
      </p:sp>
      <p:sp>
        <p:nvSpPr>
          <p:cNvPr id="19" name="Text 17"/>
          <p:cNvSpPr/>
          <p:nvPr/>
        </p:nvSpPr>
        <p:spPr>
          <a:xfrm>
            <a:off x="6190301" y="3946426"/>
            <a:ext cx="378014" cy="236240"/>
          </a:xfrm>
          <a:prstGeom prst="rect">
            <a:avLst/>
          </a:prstGeom>
          <a:noFill/>
          <a:ln/>
        </p:spPr>
        <p:txBody>
          <a:bodyPr wrap="none" lIns="0" tIns="0" rIns="0" bIns="0" rtlCol="0" anchor="ctr"/>
          <a:lstStyle/>
          <a:p>
            <a:pPr algn="l" indent="0" marL="0">
              <a:lnSpc>
                <a:spcPct val="100000"/>
              </a:lnSpc>
              <a:buNone/>
            </a:pPr>
            <a:r>
              <a:rPr lang="en-US" sz="1450" dirty="0">
                <a:solidFill>
                  <a:srgbClr val="1C1C1C"/>
                </a:solidFill>
                <a:latin typeface="Orbitron" pitchFamily="34" charset="0"/>
                <a:ea typeface="Orbitron" pitchFamily="34" charset="-122"/>
                <a:cs typeface="Orbitron" pitchFamily="34" charset="-120"/>
              </a:rPr>
              <a:t>05</a:t>
            </a:r>
            <a:endParaRPr lang="en-US" sz="1450" dirty="0"/>
          </a:p>
        </p:txBody>
      </p:sp>
      <p:sp>
        <p:nvSpPr>
          <p:cNvPr id="20" name="Shape 18"/>
          <p:cNvSpPr/>
          <p:nvPr/>
        </p:nvSpPr>
        <p:spPr>
          <a:xfrm>
            <a:off x="6190301" y="4242296"/>
            <a:ext cx="5339820" cy="25400"/>
          </a:xfrm>
          <a:prstGeom prst="rect">
            <a:avLst/>
          </a:prstGeom>
          <a:solidFill>
            <a:srgbClr val="57A1EB"/>
          </a:solidFill>
          <a:ln/>
        </p:spPr>
      </p:sp>
      <p:sp>
        <p:nvSpPr>
          <p:cNvPr id="21" name="Text 19"/>
          <p:cNvSpPr/>
          <p:nvPr/>
        </p:nvSpPr>
        <p:spPr>
          <a:xfrm>
            <a:off x="6190301" y="4387552"/>
            <a:ext cx="5339820"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Due</a:t>
            </a:r>
            <a:endParaRPr lang="en-US" sz="1850" dirty="0"/>
          </a:p>
        </p:txBody>
      </p:sp>
      <p:sp>
        <p:nvSpPr>
          <p:cNvPr id="22" name="Text 20"/>
          <p:cNvSpPr/>
          <p:nvPr/>
        </p:nvSpPr>
        <p:spPr>
          <a:xfrm>
            <a:off x="6190301" y="4796234"/>
            <a:ext cx="5339820" cy="30241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At the end of today's block</a:t>
            </a:r>
            <a:endParaRPr lang="en-US" sz="1450" dirty="0"/>
          </a:p>
        </p:txBody>
      </p:sp>
      <p:sp>
        <p:nvSpPr>
          <p:cNvPr id="23" name="Text 21"/>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2026-09-14T18:48:54Z</dcterms:created>
  <dcterms:modified xsi:type="dcterms:W3CDTF">2026-09-14T18:48:54Z</dcterms:modified>
</cp:coreProperties>
</file>