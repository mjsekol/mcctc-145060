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real information comes in two directions at once. Rows and seats. Weeks and days. Players and attempts. One loop walks one direction. To walk both, you put a loop inside a loop. Today you learn the one rule that explains every nested loop, and the one misplaced line that makes a chart stop after its first row while announcing that it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rule with me. The inner loop runs all the way through on every pass of the outer loop. So three outer passes of four inner passes is twelve. It works like a clock. The minute hand goes all the way around before the hour hand moves one step. And indentation is doing all the work. Move a line four spaces left, and it belongs to a different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 the number of lines before I run it. Three week headings, and four practices per week. Fifteen. And watch practice. It starts over at one for every week, because the inner for begins fresh every time the outer loop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4 is back. Letters are numbers, so row zero plus the code for A is A, and row one is B. Now look where row text equals empty string sits. Inside the outer loop, above the inner loop. It resets once per row. And the print is in the outer loop, after the inner loop, so it prints once per row when the row is complete. Those two placements are the whole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text adventure has had nested structures since last week. Which room, then which direction, inside the game loop. That is Unit 2's rule for when nesting is the right call. The next question depends on the answer. Set destination to empty before the room check, and one place handles you cannot go that way, and only a real move adds to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friends, three tries each, to guess a locker digit. Friend one guesses right and the program breaks. Then it goes straight on to friend two. The break ended the inner while only. The outer for never noticed. That is yesterday's rule, the loop it is directly inside. And notice tries equals zero, inside the for, above the while. Every friend gets a fresh three tries. Hold on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chart, written with while loops. Three rows of four seats. Twelve lines, then done. Everything is set up before the loops, the way we always say to. Predict the output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seats instead of twelve. No error. And it says done. Trace it. After row one, seat is five. Row becomes two, and the inner while checks seat less than or equal to four. Seat is still five. Nothing reset it. The inner loop runs zero times for rows two and three. The fix is one line in a different place. Seat equals one goes inside the outer loop, right above the inner loop. And this bug is impossible with for seat in range, because range starts over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catch this in your own code. Predict the line count and then count. Look at the second pass of the outer loop, not the first, because the first pass is always correct when a reset is misplaced. Do not trust a message that says done, because it prints no matter what happened above it. And when you know the inner count, use for, and the bug cannot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takes Monday's training plan and prints it as a grid, one row per week, one column per day, with rest days marked. The grid adds up the minutes a second way, and the two totals have to match. If they do not, one of your loops is wrong, and that is a built in test. Build two is your adventure. At least one lose state a player can reach by playing, blocked moves that cost nothing, and a for loop that does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Loops Inside Loops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seating chart that stopped after one row</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Print seats for 3 rows of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program prints Row 1, seats 1 to 4</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it says Seating chart done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Eight seats are missing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error, and the first row is perfect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7985"/>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rule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422102"/>
            <a:ext cx="6296860" cy="1019373"/>
          </a:xfrm>
          <a:prstGeom prst="rect">
            <a:avLst/>
          </a:prstGeom>
        </p:spPr>
      </p:pic>
      <p:sp>
        <p:nvSpPr>
          <p:cNvPr id="5" name="Text 1"/>
          <p:cNvSpPr/>
          <p:nvPr/>
        </p:nvSpPr>
        <p:spPr>
          <a:xfrm>
            <a:off x="977479" y="1636514"/>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nested loop is a loop inside another loop's body</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630488"/>
            <a:ext cx="6296860" cy="1139924"/>
          </a:xfrm>
          <a:prstGeom prst="rect">
            <a:avLst/>
          </a:prstGeom>
        </p:spPr>
      </p:pic>
      <p:sp>
        <p:nvSpPr>
          <p:cNvPr id="7" name="Text 2"/>
          <p:cNvSpPr/>
          <p:nvPr/>
        </p:nvSpPr>
        <p:spPr>
          <a:xfrm>
            <a:off x="977479" y="2844899"/>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inner loop runs start to finish</a:t>
            </a:r>
            <a:endParaRPr lang="en-US" sz="1850" dirty="0"/>
          </a:p>
        </p:txBody>
      </p:sp>
      <p:sp>
        <p:nvSpPr>
          <p:cNvPr id="8" name="Text 3"/>
          <p:cNvSpPr/>
          <p:nvPr/>
        </p:nvSpPr>
        <p:spPr>
          <a:xfrm>
            <a:off x="977479" y="3253581"/>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On every single pass of the outer loop</a:t>
            </a:r>
            <a:endParaRPr lang="en-US" sz="145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959423"/>
            <a:ext cx="6296860" cy="1019373"/>
          </a:xfrm>
          <a:prstGeom prst="rect">
            <a:avLst/>
          </a:prstGeom>
        </p:spPr>
      </p:pic>
      <p:sp>
        <p:nvSpPr>
          <p:cNvPr id="10" name="Text 4"/>
          <p:cNvSpPr/>
          <p:nvPr/>
        </p:nvSpPr>
        <p:spPr>
          <a:xfrm>
            <a:off x="977479" y="4173835"/>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Inner body runs outer count times inner count</a:t>
            </a:r>
            <a:endParaRPr lang="en-US" sz="1850" dirty="0"/>
          </a:p>
        </p:txBody>
      </p:sp>
      <p:pic>
        <p:nvPicPr>
          <p:cNvPr id="1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167809"/>
            <a:ext cx="6296860" cy="1019373"/>
          </a:xfrm>
          <a:prstGeom prst="rect">
            <a:avLst/>
          </a:prstGeom>
        </p:spPr>
      </p:pic>
      <p:sp>
        <p:nvSpPr>
          <p:cNvPr id="12" name="Text 5"/>
          <p:cNvSpPr/>
          <p:nvPr/>
        </p:nvSpPr>
        <p:spPr>
          <a:xfrm>
            <a:off x="977479" y="5382220"/>
            <a:ext cx="576644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Indentation is the only thing that says what is inside</a:t>
            </a:r>
            <a:endParaRPr lang="en-US" sz="1850" dirty="0"/>
          </a:p>
        </p:txBody>
      </p:sp>
      <p:sp>
        <p:nvSpPr>
          <p:cNvPr id="13"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Weeks and practices</a:t>
            </a:r>
            <a:endParaRPr lang="en-US" sz="3700" dirty="0"/>
          </a:p>
        </p:txBody>
      </p:sp>
      <p:sp>
        <p:nvSpPr>
          <p:cNvPr id="3" name="Shape 1"/>
          <p:cNvSpPr/>
          <p:nvPr/>
        </p:nvSpPr>
        <p:spPr>
          <a:xfrm>
            <a:off x="661475" y="2405955"/>
            <a:ext cx="5203794" cy="1587698"/>
          </a:xfrm>
          <a:prstGeom prst="roundRect">
            <a:avLst>
              <a:gd name="adj" fmla="val 5000"/>
            </a:avLst>
          </a:prstGeom>
          <a:solidFill>
            <a:srgbClr val="F2F2F2"/>
          </a:solidFill>
          <a:ln/>
        </p:spPr>
      </p:sp>
      <p:sp>
        <p:nvSpPr>
          <p:cNvPr id="4" name="Text 2"/>
          <p:cNvSpPr/>
          <p:nvPr/>
        </p:nvSpPr>
        <p:spPr>
          <a:xfrm>
            <a:off x="888283" y="2594967"/>
            <a:ext cx="4750177"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week in range(1, 4):</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print(f"Week {week}:")</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for practice in range(1, 5):</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print(f"  Practice {practice}")</a:t>
            </a:r>
            <a:endParaRPr lang="en-US" sz="1450" dirty="0"/>
          </a:p>
        </p:txBody>
      </p:sp>
      <p:sp>
        <p:nvSpPr>
          <p:cNvPr id="5" name="Shape 3"/>
          <p:cNvSpPr/>
          <p:nvPr/>
        </p:nvSpPr>
        <p:spPr>
          <a:xfrm>
            <a:off x="6332776" y="2405955"/>
            <a:ext cx="5203794" cy="2797373"/>
          </a:xfrm>
          <a:prstGeom prst="roundRect">
            <a:avLst>
              <a:gd name="adj" fmla="val 2838"/>
            </a:avLst>
          </a:prstGeom>
          <a:solidFill>
            <a:srgbClr val="F2F2F2"/>
          </a:solidFill>
          <a:ln/>
        </p:spPr>
      </p:sp>
      <p:sp>
        <p:nvSpPr>
          <p:cNvPr id="6" name="Text 4"/>
          <p:cNvSpPr/>
          <p:nvPr/>
        </p:nvSpPr>
        <p:spPr>
          <a:xfrm>
            <a:off x="6559584"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Week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Practice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Practice 2</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Practice 3</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Practice 4</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Week 2:</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Practice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31921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Building a seat map</a:t>
            </a:r>
            <a:endParaRPr lang="en-US" sz="3700" dirty="0"/>
          </a:p>
        </p:txBody>
      </p:sp>
      <p:sp>
        <p:nvSpPr>
          <p:cNvPr id="3" name="Shape 1"/>
          <p:cNvSpPr/>
          <p:nvPr/>
        </p:nvSpPr>
        <p:spPr>
          <a:xfrm>
            <a:off x="661475" y="2405955"/>
            <a:ext cx="5203794" cy="2797373"/>
          </a:xfrm>
          <a:prstGeom prst="roundRect">
            <a:avLst>
              <a:gd name="adj" fmla="val 2838"/>
            </a:avLst>
          </a:prstGeom>
          <a:solidFill>
            <a:srgbClr val="F2F2F2"/>
          </a:solidFill>
          <a:ln/>
        </p:spPr>
      </p:sp>
      <p:sp>
        <p:nvSpPr>
          <p:cNvPr id="4" name="Text 2"/>
          <p:cNvSpPr/>
          <p:nvPr/>
        </p:nvSpPr>
        <p:spPr>
          <a:xfrm>
            <a:off x="888283" y="2594967"/>
            <a:ext cx="4750177"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ROWS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SEATS_PER_ROW = 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row in range(ROWS):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row_letter = chr(ord("A") + row)</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row_text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seat in range(1, SEATS_PER_ROW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row_text = row_text + f"{row_letter}{seat}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print(row_text.strip())</a:t>
            </a:r>
            <a:endParaRPr lang="en-US" sz="1450" dirty="0"/>
          </a:p>
        </p:txBody>
      </p:sp>
      <p:sp>
        <p:nvSpPr>
          <p:cNvPr id="5" name="Shape 3"/>
          <p:cNvSpPr/>
          <p:nvPr/>
        </p:nvSpPr>
        <p:spPr>
          <a:xfrm>
            <a:off x="6332776" y="2405955"/>
            <a:ext cx="5203794" cy="1285280"/>
          </a:xfrm>
          <a:prstGeom prst="roundRect">
            <a:avLst>
              <a:gd name="adj" fmla="val 6177"/>
            </a:avLst>
          </a:prstGeom>
          <a:solidFill>
            <a:srgbClr val="F2F2F2"/>
          </a:solidFill>
          <a:ln/>
        </p:spPr>
      </p:sp>
      <p:sp>
        <p:nvSpPr>
          <p:cNvPr id="6" name="Text 4"/>
          <p:cNvSpPr/>
          <p:nvPr/>
        </p:nvSpPr>
        <p:spPr>
          <a:xfrm>
            <a:off x="6559584" y="2594967"/>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A1 A2 A3 A4 A5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B1 B2 B3 B4 B5</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C1 C2 C3 C4 C5</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game is already nested</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if on the room, inside the while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if on the direction, inside the room's branch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levels deep, and every level is correct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Keep nesting when the next question depends on the answer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destination = "" first, so a blocked move costs nothing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820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break only leaves one loop</a:t>
            </a:r>
            <a:endParaRPr lang="en-US" sz="3700" dirty="0"/>
          </a:p>
        </p:txBody>
      </p:sp>
      <p:sp>
        <p:nvSpPr>
          <p:cNvPr id="3" name="Shape 1"/>
          <p:cNvSpPr/>
          <p:nvPr/>
        </p:nvSpPr>
        <p:spPr>
          <a:xfrm>
            <a:off x="661475" y="2150765"/>
            <a:ext cx="10868745" cy="3402211"/>
          </a:xfrm>
          <a:prstGeom prst="roundRect">
            <a:avLst>
              <a:gd name="adj" fmla="val 2333"/>
            </a:avLst>
          </a:prstGeom>
          <a:solidFill>
            <a:srgbClr val="F2F2F2"/>
          </a:solidFill>
          <a:ln/>
        </p:spPr>
      </p:sp>
      <p:sp>
        <p:nvSpPr>
          <p:cNvPr id="4" name="Text 2"/>
          <p:cNvSpPr/>
          <p:nvPr/>
        </p:nvSpPr>
        <p:spPr>
          <a:xfrm>
            <a:off x="888283" y="2339777"/>
            <a:ext cx="10415129" cy="3024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SECRET_DIGIT = "7"</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friend in range(1,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print(f"Friend {friend}")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tries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while tries &lt;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tries = tries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guess = input("  Guess a digit: ").strip()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guess == SECRET_DIGIT: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  Correct")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break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 the seating chart</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row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seat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while row &lt;=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while seat &lt;=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print(f"Row {row}, seat {seat}")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seat = seat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row = row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print("Seating chart done")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7284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four seats, and done</a:t>
            </a:r>
            <a:endParaRPr lang="en-US" sz="3700" dirty="0"/>
          </a:p>
        </p:txBody>
      </p:sp>
      <p:sp>
        <p:nvSpPr>
          <p:cNvPr id="3" name="Shape 1"/>
          <p:cNvSpPr/>
          <p:nvPr/>
        </p:nvSpPr>
        <p:spPr>
          <a:xfrm>
            <a:off x="661475" y="2859584"/>
            <a:ext cx="5203794" cy="1890117"/>
          </a:xfrm>
          <a:prstGeom prst="roundRect">
            <a:avLst>
              <a:gd name="adj" fmla="val 4200"/>
            </a:avLst>
          </a:prstGeom>
          <a:solidFill>
            <a:srgbClr val="F2F2F2"/>
          </a:solidFill>
          <a:ln/>
        </p:spPr>
      </p:sp>
      <p:sp>
        <p:nvSpPr>
          <p:cNvPr id="4" name="Text 2"/>
          <p:cNvSpPr/>
          <p:nvPr/>
        </p:nvSpPr>
        <p:spPr>
          <a:xfrm>
            <a:off x="888283" y="3048595"/>
            <a:ext cx="4750177"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Row 1, seat 1</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Row 1, seat 2</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Row 1, seat 3</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Row 1, seat 4</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Seating chart done</a:t>
            </a:r>
            <a:endParaRPr lang="en-US" sz="1450" dirty="0"/>
          </a:p>
        </p:txBody>
      </p:sp>
      <p:sp>
        <p:nvSpPr>
          <p:cNvPr id="5" name="Shape 3"/>
          <p:cNvSpPr/>
          <p:nvPr/>
        </p:nvSpPr>
        <p:spPr>
          <a:xfrm>
            <a:off x="6332776" y="2859584"/>
            <a:ext cx="5203794" cy="1045766"/>
          </a:xfrm>
          <a:prstGeom prst="roundRect">
            <a:avLst>
              <a:gd name="adj" fmla="val 7591"/>
            </a:avLst>
          </a:prstGeom>
          <a:solidFill>
            <a:srgbClr val="FCF2B5"/>
          </a:solidFill>
          <a:ln/>
        </p:spPr>
      </p:sp>
      <p:pic>
        <p:nvPicPr>
          <p:cNvPr id="6" name="Image 0" descr="preencoded.png">    </p:cNvPr>
          <p:cNvPicPr>
            <a:picLocks noChangeAspect="1"/>
          </p:cNvPicPr>
          <p:nvPr/>
        </p:nvPicPr>
        <p:blipFill>
          <a:blip r:embed="rId1"/>
          <a:stretch>
            <a:fillRect/>
          </a:stretch>
        </p:blipFill>
        <p:spPr>
          <a:xfrm>
            <a:off x="6521783" y="3146326"/>
            <a:ext cx="236234" cy="189012"/>
          </a:xfrm>
          <a:prstGeom prst="rect">
            <a:avLst/>
          </a:prstGeom>
        </p:spPr>
      </p:pic>
      <p:sp>
        <p:nvSpPr>
          <p:cNvPr id="7" name="Text 4"/>
          <p:cNvSpPr/>
          <p:nvPr/>
        </p:nvSpPr>
        <p:spPr>
          <a:xfrm>
            <a:off x="6947024" y="3076873"/>
            <a:ext cx="4400539" cy="61118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Eight seats are missing. The inner variable </a:t>
            </a:r>
            <a:pPr algn="l" indent="0" marL="0">
              <a:lnSpc>
                <a:spcPct val="133000"/>
              </a:lnSpc>
              <a:buNone/>
            </a:pPr>
            <a:r>
              <a:rPr lang="en-US" sz="1450" dirty="0">
                <a:solidFill>
                  <a:srgbClr val="000000"/>
                </a:solidFill>
                <a:highlight>
                  <a:srgbClr val="F2F2F2"/>
                </a:highlight>
                <a:latin typeface="Consolas" pitchFamily="34" charset="0"/>
                <a:ea typeface="Consolas" pitchFamily="34" charset="-122"/>
                <a:cs typeface="Consolas" pitchFamily="34" charset="-120"/>
              </a:rPr>
              <a:t>seat</a:t>
            </a:r>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 is never reset before the outer loop's next pass.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04231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Testing a nested loop</a:t>
            </a:r>
            <a:endParaRPr lang="en-US" sz="3700" dirty="0"/>
          </a:p>
        </p:txBody>
      </p:sp>
      <p:sp>
        <p:nvSpPr>
          <p:cNvPr id="4" name="Text 1"/>
          <p:cNvSpPr/>
          <p:nvPr/>
        </p:nvSpPr>
        <p:spPr>
          <a:xfrm>
            <a:off x="5233360" y="2916436"/>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Count the lines: outer count times inner count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Check the SECOND pass of the outer loop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first pass hides reset bugs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done message proves nothing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Prefer for when the inner count is known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05787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Shape 1"/>
          <p:cNvSpPr/>
          <p:nvPr/>
        </p:nvSpPr>
        <p:spPr>
          <a:xfrm>
            <a:off x="5233360" y="2522637"/>
            <a:ext cx="6296860" cy="1958876"/>
          </a:xfrm>
          <a:prstGeom prst="roundRect">
            <a:avLst>
              <a:gd name="adj" fmla="val 4053"/>
            </a:avLst>
          </a:prstGeom>
          <a:solidFill>
            <a:srgbClr val="D1E5FA"/>
          </a:solidFill>
          <a:ln w="19050">
            <a:solidFill>
              <a:srgbClr val="B7CBE0"/>
            </a:solidFill>
            <a:prstDash val="solid"/>
          </a:ln>
        </p:spPr>
      </p:sp>
      <p:sp>
        <p:nvSpPr>
          <p:cNvPr id="5" name="Text 2"/>
          <p:cNvSpPr/>
          <p:nvPr/>
        </p:nvSpPr>
        <p:spPr>
          <a:xfrm>
            <a:off x="5441417" y="2730698"/>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 Lab U03-01 Training Plan, Part 2</a:t>
            </a:r>
            <a:endParaRPr lang="en-US" sz="1850" dirty="0"/>
          </a:p>
        </p:txBody>
      </p:sp>
      <p:sp>
        <p:nvSpPr>
          <p:cNvPr id="6" name="Text 3"/>
          <p:cNvSpPr/>
          <p:nvPr/>
        </p:nvSpPr>
        <p:spPr>
          <a:xfrm>
            <a:off x="5441417" y="3139380"/>
            <a:ext cx="5880747" cy="1134070"/>
          </a:xfrm>
          <a:prstGeom prst="rect">
            <a:avLst/>
          </a:prstGeom>
          <a:noFill/>
          <a:ln/>
        </p:spPr>
        <p:txBody>
          <a:bodyPr wrap="square" lIns="0" tIns="0" rIns="0" bIns="0" rtlCol="0" anchor="t"/>
          <a:lstStyle/>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The same plan as a grid: weeks down, days across</a:t>
            </a:r>
            <a:endParaRPr lang="en-US" sz="1450" dirty="0"/>
          </a:p>
          <a:p>
            <a:pPr algn="l" indent="0" marL="0">
              <a:lnSpc>
                <a:spcPct val="133000"/>
              </a:lnSpc>
              <a:spcAft>
                <a:spcPts val="850"/>
              </a:spcAft>
              <a:buNone/>
            </a:pPr>
            <a:r>
              <a:rPr lang="en-US" sz="1450" dirty="0">
                <a:solidFill>
                  <a:srgbClr val="1C1C1C"/>
                </a:solidFill>
                <a:latin typeface="Roboto Condensed" pitchFamily="34" charset="0"/>
                <a:ea typeface="Roboto Condensed" pitchFamily="34" charset="-122"/>
                <a:cs typeface="Roboto Condensed" pitchFamily="34" charset="-120"/>
              </a:rPr>
              <a:t>Rest days marked on Wednesday and Sunday</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Grid total must equal your Part 1 total</a:t>
            </a:r>
            <a:endParaRPr lang="en-US" sz="1450" dirty="0"/>
          </a:p>
        </p:txBody>
      </p:sp>
      <p:sp>
        <p:nvSpPr>
          <p:cNvPr id="7" name="Shape 4"/>
          <p:cNvSpPr/>
          <p:nvPr/>
        </p:nvSpPr>
        <p:spPr>
          <a:xfrm>
            <a:off x="5233360" y="4670524"/>
            <a:ext cx="6296860" cy="1006673"/>
          </a:xfrm>
          <a:prstGeom prst="roundRect">
            <a:avLst>
              <a:gd name="adj" fmla="val 7886"/>
            </a:avLst>
          </a:prstGeom>
          <a:solidFill>
            <a:srgbClr val="D1E5FA"/>
          </a:solidFill>
          <a:ln w="19050">
            <a:solidFill>
              <a:srgbClr val="B7CBE0"/>
            </a:solidFill>
            <a:prstDash val="solid"/>
          </a:ln>
        </p:spPr>
      </p:sp>
      <p:sp>
        <p:nvSpPr>
          <p:cNvPr id="8" name="Text 5"/>
          <p:cNvSpPr/>
          <p:nvPr/>
        </p:nvSpPr>
        <p:spPr>
          <a:xfrm>
            <a:off x="5441417" y="4878586"/>
            <a:ext cx="588074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 v1 lose states, blocked moves, and a for loop</a:t>
            </a:r>
            <a:endParaRPr lang="en-US" sz="1850" dirty="0"/>
          </a:p>
        </p:txBody>
      </p:sp>
      <p:sp>
        <p:nvSpPr>
          <p:cNvPr id="9" name="Text 6"/>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2026-09-14T18:47:16Z</dcterms:created>
  <dcterms:modified xsi:type="dcterms:W3CDTF">2026-09-14T18:47:16Z</dcterms:modified>
</cp:coreProperties>
</file>