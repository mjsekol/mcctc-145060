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Players type anything. Your job is not to hope they type the right thing. Your job is to keep asking until the answer is usable, and to tell them what went wrong each time. Every form, every kiosk, and every game you have ever used does this. Today you get the two keywords that make it clean, break and continue, and the loop that uses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means we are done with this loop. Jump to the first line after it. Continue means we are done with this pass. Go back to the top and start the next one. Remember the last bullet. It sounds like a detail today and it becomes the whole point tomorrow, when loops go inside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True has no condition that ever turns False on its own, so the only way out is the break, and the only way to reach the break is an answer that passed every check. Order matters. isdecimal is checked before int ever touches the text. If int ran first on the word two, the program would crash and never get to ask again. Check that it can convert, then convert.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there are several checks, continue keeps them flat. Read it as a gate with two guards. Each guard either sends the input back to the top, or lets it through. The break at the bottom is only reachable by input that got past both guards. This is the Storm Relay frequency dial.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is also how a loop stops the moment it has an answer. Forty five, ninety, one thirty five are short, one eighty is enough, so week four. Continue skips one pass, like a rest day. But there is a trap in a while loop. A for gets its next value from range automatically. A while only moves on if the update line runs. Put the update below a continue, and on the skipped day the counter never changes, and the program hangs with no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validation loop written with a condition instead of break. Keep asking while the answer is not yes or not no. That sentence sounds perfect. In the lecture notes this line uses the not equals operator, which does exactly the same thing. I am going to type maybe, and then yes. Predict what happens when I type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refuses yes. It refuses no. It refuses everything, forever, and there is no error. Ctrl C to get out. The dangerous bugs are the ones that do not crash, and this one also does not stop. And notice how you would miss it. Most people test validation by typing garbage. The test that catches this is typing a valid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truth table, the way you did in Unit 2. Any single word is always different from at least one of yes and no. So the or is True for every input, and the loop can never end. In English, not yes or no means neither. Neither is and. This is De Morgan's law showing up somewhere that getting it wrong freezes a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Reasonable programmers disagree about this, and both sides have a point. Break puts the exit right at the decision and needs no extra variable. A flag puts the ending in the while line, where a reader looks first, and gives you one exit. Our rule for this course. Short validation loops use break. Game loops use a flag, because a game loop is long, has several endings, and has to report which one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finishes Locked Out. You add a keypad validation loop that accepts exactly four digits or the word cancel, and a wrong but well formed code costs one of three tries. A typo like one two does not cost a try. Build two is your own game. Every possible thing a player types must get a sensible response, including an empty line, a word that is not a command, and a command in capitals. Test with a valid answer, not only garbage.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5.jpe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2.png"/><Relationship Id="rId5" Type="http://schemas.openxmlformats.org/officeDocument/2006/relationships/image" Target="../media/image-10-3.svg"/><Relationship Id="rId6" Type="http://schemas.openxmlformats.org/officeDocument/2006/relationships/image" Target="../media/image-10-6.png"/><Relationship Id="rId7" Type="http://schemas.openxmlformats.org/officeDocument/2006/relationships/image" Target="../media/image-10-7.sv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jpe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Keep Asking Until It Makes Sense</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06402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Somebody will type loud</a:t>
            </a:r>
            <a:endParaRPr lang="en-US" sz="3700" dirty="0"/>
          </a:p>
        </p:txBody>
      </p:sp>
      <p:sp>
        <p:nvSpPr>
          <p:cNvPr id="3" name="Shape 1"/>
          <p:cNvSpPr/>
          <p:nvPr/>
        </p:nvSpPr>
        <p:spPr>
          <a:xfrm>
            <a:off x="661475" y="2032695"/>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1275723" y="209758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Your game asks for a frequency</a:t>
            </a:r>
            <a:endParaRPr lang="en-US" sz="1850" dirty="0"/>
          </a:p>
        </p:txBody>
      </p:sp>
      <p:sp>
        <p:nvSpPr>
          <p:cNvPr id="5" name="Shape 3"/>
          <p:cNvSpPr/>
          <p:nvPr/>
        </p:nvSpPr>
        <p:spPr>
          <a:xfrm>
            <a:off x="661475" y="2835970"/>
            <a:ext cx="425241" cy="425252"/>
          </a:xfrm>
          <a:prstGeom prst="roundRect">
            <a:avLst>
              <a:gd name="adj" fmla="val 18669"/>
            </a:avLst>
          </a:prstGeom>
          <a:solidFill>
            <a:srgbClr val="D1E5FA"/>
          </a:solidFill>
          <a:ln w="19050">
            <a:solidFill>
              <a:srgbClr val="B7CBE0"/>
            </a:solidFill>
            <a:prstDash val="solid"/>
          </a:ln>
        </p:spPr>
      </p:sp>
      <p:sp>
        <p:nvSpPr>
          <p:cNvPr id="6" name="Text 4"/>
          <p:cNvSpPr/>
          <p:nvPr/>
        </p:nvSpPr>
        <p:spPr>
          <a:xfrm>
            <a:off x="1275723" y="2900859"/>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player types loud</a:t>
            </a:r>
            <a:endParaRPr lang="en-US" sz="1850" dirty="0"/>
          </a:p>
        </p:txBody>
      </p:sp>
      <p:sp>
        <p:nvSpPr>
          <p:cNvPr id="7" name="Shape 5"/>
          <p:cNvSpPr/>
          <p:nvPr/>
        </p:nvSpPr>
        <p:spPr>
          <a:xfrm>
            <a:off x="661475" y="3639245"/>
            <a:ext cx="425241" cy="425252"/>
          </a:xfrm>
          <a:prstGeom prst="roundRect">
            <a:avLst>
              <a:gd name="adj" fmla="val 18669"/>
            </a:avLst>
          </a:prstGeom>
          <a:solidFill>
            <a:srgbClr val="D1E5FA"/>
          </a:solidFill>
          <a:ln w="19050">
            <a:solidFill>
              <a:srgbClr val="B7CBE0"/>
            </a:solidFill>
            <a:prstDash val="solid"/>
          </a:ln>
        </p:spPr>
      </p:sp>
      <p:sp>
        <p:nvSpPr>
          <p:cNvPr id="8" name="Text 6"/>
          <p:cNvSpPr/>
          <p:nvPr/>
        </p:nvSpPr>
        <p:spPr>
          <a:xfrm>
            <a:off x="1275723" y="370413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Another types 2000</a:t>
            </a:r>
            <a:endParaRPr lang="en-US" sz="1850" dirty="0"/>
          </a:p>
        </p:txBody>
      </p:sp>
      <p:sp>
        <p:nvSpPr>
          <p:cNvPr id="9" name="Shape 7"/>
          <p:cNvSpPr/>
          <p:nvPr/>
        </p:nvSpPr>
        <p:spPr>
          <a:xfrm>
            <a:off x="661475" y="4442520"/>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1275723" y="4507409"/>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Another presses Enter on nothing</a:t>
            </a:r>
            <a:endParaRPr lang="en-US" sz="1850" dirty="0"/>
          </a:p>
        </p:txBody>
      </p:sp>
      <p:sp>
        <p:nvSpPr>
          <p:cNvPr id="11" name="Shape 9"/>
          <p:cNvSpPr/>
          <p:nvPr/>
        </p:nvSpPr>
        <p:spPr>
          <a:xfrm>
            <a:off x="661475" y="5245795"/>
            <a:ext cx="425241" cy="425252"/>
          </a:xfrm>
          <a:prstGeom prst="roundRect">
            <a:avLst>
              <a:gd name="adj" fmla="val 18669"/>
            </a:avLst>
          </a:prstGeom>
          <a:solidFill>
            <a:srgbClr val="D1E5FA"/>
          </a:solidFill>
          <a:ln w="19050">
            <a:solidFill>
              <a:srgbClr val="B7CBE0"/>
            </a:solidFill>
            <a:prstDash val="solid"/>
          </a:ln>
        </p:spPr>
      </p:sp>
      <p:sp>
        <p:nvSpPr>
          <p:cNvPr id="12" name="Text 10"/>
          <p:cNvSpPr/>
          <p:nvPr/>
        </p:nvSpPr>
        <p:spPr>
          <a:xfrm>
            <a:off x="1275723" y="531068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Right now your program crashes or shrugs</a:t>
            </a:r>
            <a:endParaRPr lang="en-US" sz="18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26157"/>
            <a:ext cx="10868745" cy="581422"/>
          </a:xfrm>
          <a:prstGeom prst="rect">
            <a:avLst/>
          </a:prstGeom>
          <a:noFill/>
          <a:ln/>
        </p:spPr>
        <p:txBody>
          <a:bodyPr wrap="none" lIns="0" tIns="0" rIns="0" bIns="0" rtlCol="0" anchor="t"/>
          <a:lstStyle/>
          <a:p>
            <a:pPr algn="l" indent="0" marL="0">
              <a:lnSpc>
                <a:spcPct val="104000"/>
              </a:lnSpc>
              <a:buNone/>
            </a:pPr>
            <a:r>
              <a:rPr lang="en-US" sz="3650" b="1" dirty="0">
                <a:solidFill>
                  <a:srgbClr val="111111"/>
                </a:solidFill>
                <a:latin typeface="Orbitron Bold" pitchFamily="34" charset="0"/>
                <a:ea typeface="Orbitron Bold" pitchFamily="34" charset="-122"/>
                <a:cs typeface="Orbitron Bold" pitchFamily="34" charset="-120"/>
              </a:rPr>
              <a:t>Two words that change a loop from inside</a:t>
            </a:r>
            <a:endParaRPr lang="en-US" sz="36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675408"/>
            <a:ext cx="3509081" cy="1778000"/>
          </a:xfrm>
          <a:prstGeom prst="rect">
            <a:avLst/>
          </a:prstGeom>
        </p:spPr>
      </p:pic>
      <p:sp>
        <p:nvSpPr>
          <p:cNvPr id="4" name="Text 1"/>
          <p:cNvSpPr/>
          <p:nvPr/>
        </p:nvSpPr>
        <p:spPr>
          <a:xfrm>
            <a:off x="974502" y="1886843"/>
            <a:ext cx="2984624" cy="581422"/>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57A1EB"/>
                </a:solidFill>
                <a:latin typeface="Orbitron Bold" pitchFamily="34" charset="0"/>
                <a:ea typeface="Orbitron Bold" pitchFamily="34" charset="-122"/>
                <a:cs typeface="Orbitron Bold" pitchFamily="34" charset="-120"/>
              </a:rPr>
              <a:t>break</a:t>
            </a:r>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 ends the loop right now</a:t>
            </a:r>
            <a:endParaRPr lang="en-US" sz="1800" dirty="0"/>
          </a:p>
        </p:txBody>
      </p:sp>
      <p:sp>
        <p:nvSpPr>
          <p:cNvPr id="5" name="Text 2"/>
          <p:cNvSpPr/>
          <p:nvPr/>
        </p:nvSpPr>
        <p:spPr>
          <a:xfrm>
            <a:off x="974502" y="2651423"/>
            <a:ext cx="2984624" cy="590550"/>
          </a:xfrm>
          <a:prstGeom prst="rect">
            <a:avLst/>
          </a:prstGeom>
          <a:noFill/>
          <a:ln/>
        </p:spPr>
        <p:txBody>
          <a:bodyPr wrap="square" lIns="0" tIns="0" rIns="0" bIns="0" rtlCol="0" anchor="t">
            <a:normAutofit/>
          </a:bodyPr>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The program continues after the loop</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3636566"/>
            <a:ext cx="3509081" cy="1778000"/>
          </a:xfrm>
          <a:prstGeom prst="rect">
            <a:avLst/>
          </a:prstGeom>
        </p:spPr>
      </p:pic>
      <p:sp>
        <p:nvSpPr>
          <p:cNvPr id="7" name="Text 3"/>
          <p:cNvSpPr/>
          <p:nvPr/>
        </p:nvSpPr>
        <p:spPr>
          <a:xfrm>
            <a:off x="974502" y="3848001"/>
            <a:ext cx="2984624" cy="581422"/>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B0001D"/>
                </a:solidFill>
                <a:latin typeface="Orbitron Bold" pitchFamily="34" charset="0"/>
                <a:ea typeface="Orbitron Bold" pitchFamily="34" charset="-122"/>
                <a:cs typeface="Orbitron Bold" pitchFamily="34" charset="-120"/>
              </a:rPr>
              <a:t>continue</a:t>
            </a:r>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 ends this pass right now</a:t>
            </a:r>
            <a:endParaRPr lang="en-US" sz="1800" dirty="0"/>
          </a:p>
        </p:txBody>
      </p:sp>
      <p:sp>
        <p:nvSpPr>
          <p:cNvPr id="8" name="Text 4"/>
          <p:cNvSpPr/>
          <p:nvPr/>
        </p:nvSpPr>
        <p:spPr>
          <a:xfrm>
            <a:off x="974502" y="4612580"/>
            <a:ext cx="2984624" cy="590550"/>
          </a:xfrm>
          <a:prstGeom prst="rect">
            <a:avLst/>
          </a:prstGeom>
          <a:noFill/>
          <a:ln/>
        </p:spPr>
        <p:txBody>
          <a:bodyPr wrap="square" lIns="0" tIns="0" rIns="0" bIns="0" rtlCol="0" anchor="t">
            <a:normAutofit/>
          </a:bodyPr>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The program goes back to the top for the next pass</a:t>
            </a:r>
            <a:endParaRPr lang="en-US" sz="1450" dirty="0"/>
          </a:p>
        </p:txBody>
      </p:sp>
      <p:pic>
        <p:nvPicPr>
          <p:cNvPr id="9" name="Image 2" descr="preencoded.png">    </p:cNvPr>
          <p:cNvPicPr>
            <a:picLocks noChangeAspect="1"/>
          </p:cNvPicPr>
          <p:nvPr/>
        </p:nvPicPr>
        <p:blipFill>
          <a:blip r:embed="rId5"/>
          <a:stretch>
            <a:fillRect/>
          </a:stretch>
        </p:blipFill>
        <p:spPr>
          <a:xfrm>
            <a:off x="4630721" y="1588294"/>
            <a:ext cx="6905849" cy="3913386"/>
          </a:xfrm>
          <a:prstGeom prst="rect">
            <a:avLst/>
          </a:prstGeom>
        </p:spPr>
      </p:pic>
      <p:sp>
        <p:nvSpPr>
          <p:cNvPr id="10" name="Text 5"/>
          <p:cNvSpPr/>
          <p:nvPr/>
        </p:nvSpPr>
        <p:spPr>
          <a:xfrm>
            <a:off x="661475" y="5913636"/>
            <a:ext cx="11478330"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Both apply to the loop they are directly inside.</a:t>
            </a:r>
            <a:endParaRPr lang="en-US" sz="1450" dirty="0"/>
          </a:p>
        </p:txBody>
      </p:sp>
      <p:sp>
        <p:nvSpPr>
          <p:cNvPr id="11"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72846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validation loop pattern</a:t>
            </a:r>
            <a:endParaRPr lang="en-US" sz="3700" dirty="0"/>
          </a:p>
        </p:txBody>
      </p:sp>
      <p:sp>
        <p:nvSpPr>
          <p:cNvPr id="3" name="Shape 1"/>
          <p:cNvSpPr/>
          <p:nvPr/>
        </p:nvSpPr>
        <p:spPr>
          <a:xfrm>
            <a:off x="661475" y="1697137"/>
            <a:ext cx="10868745" cy="4309467"/>
          </a:xfrm>
          <a:prstGeom prst="roundRect">
            <a:avLst>
              <a:gd name="adj" fmla="val 1842"/>
            </a:avLst>
          </a:prstGeom>
          <a:solidFill>
            <a:srgbClr val="F2F2F2"/>
          </a:solidFill>
          <a:ln/>
        </p:spPr>
      </p:sp>
      <p:sp>
        <p:nvSpPr>
          <p:cNvPr id="4" name="Text 2"/>
          <p:cNvSpPr/>
          <p:nvPr/>
        </p:nvSpPr>
        <p:spPr>
          <a:xfrm>
            <a:off x="888283" y="1886148"/>
            <a:ext cx="10415129" cy="393144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MAX_TICKETS = 8</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while True: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tickets_text = input(f"How many tickets, 1 to {MAX_TICKETS}? ").strip()</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not tickets_text.isdecimal():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print("Type a whole number, like 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elif int(tickets_text) &lt; 1 or int(tickets_text) &gt; MAX_TICKETS: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print(f"You can buy between 1 and {MAX_TICKETS} tickets.")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break</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tickets = int(tickets_text)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print(f"Ordering {tickets} tickets at $12 each: ${tickets * 12}")</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854571"/>
            <a:ext cx="10868745" cy="563066"/>
          </a:xfrm>
          <a:prstGeom prst="rect">
            <a:avLst/>
          </a:prstGeom>
          <a:noFill/>
          <a:ln/>
        </p:spPr>
        <p:txBody>
          <a:bodyPr wrap="none" lIns="0" tIns="0" rIns="0" bIns="0" rtlCol="0" anchor="t"/>
          <a:lstStyle/>
          <a:p>
            <a:pPr algn="l" indent="0" marL="0">
              <a:lnSpc>
                <a:spcPct val="104000"/>
              </a:lnSpc>
              <a:buNone/>
            </a:pPr>
            <a:r>
              <a:rPr lang="en-US" sz="3500" b="1" dirty="0">
                <a:solidFill>
                  <a:srgbClr val="111111"/>
                </a:solidFill>
                <a:latin typeface="Orbitron Bold" pitchFamily="34" charset="0"/>
                <a:ea typeface="Orbitron Bold" pitchFamily="34" charset="-122"/>
                <a:cs typeface="Orbitron Bold" pitchFamily="34" charset="-120"/>
              </a:rPr>
              <a:t>Guards with continue</a:t>
            </a:r>
            <a:endParaRPr lang="en-US" sz="3500" dirty="0"/>
          </a:p>
        </p:txBody>
      </p:sp>
      <p:sp>
        <p:nvSpPr>
          <p:cNvPr id="3" name="Shape 1"/>
          <p:cNvSpPr/>
          <p:nvPr/>
        </p:nvSpPr>
        <p:spPr>
          <a:xfrm>
            <a:off x="661475" y="1868388"/>
            <a:ext cx="5214609" cy="3818930"/>
          </a:xfrm>
          <a:prstGeom prst="roundRect">
            <a:avLst>
              <a:gd name="adj" fmla="val 1981"/>
            </a:avLst>
          </a:prstGeom>
          <a:solidFill>
            <a:srgbClr val="F2F2F2"/>
          </a:solidFill>
          <a:ln/>
        </p:spPr>
      </p:sp>
      <p:sp>
        <p:nvSpPr>
          <p:cNvPr id="4" name="Text 2"/>
          <p:cNvSpPr/>
          <p:nvPr/>
        </p:nvSpPr>
        <p:spPr>
          <a:xfrm>
            <a:off x="877568" y="2048470"/>
            <a:ext cx="4782423" cy="3458766"/>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while True:</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frequency_text = input("Frequency in kHz: ").strip()</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if not frequency_text.isdecimal():</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print("The dial takes whole numbers only, like 880.")</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continue</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frequency = int(frequency_text)</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if frequency &lt; LOWEST_FREQUENCY or frequency &gt; HIGHEST_FREQUENCY:</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print(f"The dial only runs from {LOWEST_FREQUENCY} to {HIGHEST_FREQUENCY} kHz.")</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continue</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break</a:t>
            </a:r>
            <a:endParaRPr lang="en-US" sz="1400" dirty="0"/>
          </a:p>
        </p:txBody>
      </p:sp>
      <p:sp>
        <p:nvSpPr>
          <p:cNvPr id="5" name="Shape 3"/>
          <p:cNvSpPr/>
          <p:nvPr/>
        </p:nvSpPr>
        <p:spPr>
          <a:xfrm>
            <a:off x="6321961" y="1868388"/>
            <a:ext cx="5214609" cy="1801316"/>
          </a:xfrm>
          <a:prstGeom prst="roundRect">
            <a:avLst>
              <a:gd name="adj" fmla="val 4201"/>
            </a:avLst>
          </a:prstGeom>
          <a:solidFill>
            <a:srgbClr val="F2F2F2"/>
          </a:solidFill>
          <a:ln/>
        </p:spPr>
      </p:sp>
      <p:sp>
        <p:nvSpPr>
          <p:cNvPr id="6" name="Text 4"/>
          <p:cNvSpPr/>
          <p:nvPr/>
        </p:nvSpPr>
        <p:spPr>
          <a:xfrm>
            <a:off x="6538054" y="2048470"/>
            <a:ext cx="4782423" cy="1441152"/>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005CC5"/>
                </a:solidFill>
                <a:latin typeface="Consolas" pitchFamily="34" charset="0"/>
                <a:ea typeface="Consolas" pitchFamily="34" charset="-122"/>
                <a:cs typeface="Consolas" pitchFamily="34" charset="-120"/>
              </a:rPr>
              <a:t>Frequency in kHz: loud</a:t>
            </a:r>
            <a:endParaRPr lang="en-US" sz="1400" dirty="0"/>
          </a:p>
          <a:p>
            <a:pPr algn="l" indent="0" marL="0">
              <a:lnSpc>
                <a:spcPct val="133000"/>
              </a:lnSpc>
              <a:buNone/>
            </a:pPr>
            <a:r>
              <a:rPr lang="en-US" sz="1400" dirty="0">
                <a:solidFill>
                  <a:srgbClr val="005CC5"/>
                </a:solidFill>
                <a:latin typeface="Consolas" pitchFamily="34" charset="0"/>
                <a:ea typeface="Consolas" pitchFamily="34" charset="-122"/>
                <a:cs typeface="Consolas" pitchFamily="34" charset="-120"/>
              </a:rPr>
              <a:t>The dial takes whole numbers only, like 880.</a:t>
            </a:r>
            <a:endParaRPr lang="en-US" sz="1400" dirty="0"/>
          </a:p>
          <a:p>
            <a:pPr algn="l" indent="0" marL="0">
              <a:lnSpc>
                <a:spcPct val="133000"/>
              </a:lnSpc>
              <a:buNone/>
            </a:pPr>
            <a:r>
              <a:rPr lang="en-US" sz="1400" dirty="0">
                <a:solidFill>
                  <a:srgbClr val="005CC5"/>
                </a:solidFill>
                <a:latin typeface="Consolas" pitchFamily="34" charset="0"/>
                <a:ea typeface="Consolas" pitchFamily="34" charset="-122"/>
                <a:cs typeface="Consolas" pitchFamily="34" charset="-120"/>
              </a:rPr>
              <a:t>Frequency in kHz: 2000</a:t>
            </a:r>
            <a:endParaRPr lang="en-US" sz="1400" dirty="0"/>
          </a:p>
          <a:p>
            <a:pPr algn="l" indent="0" marL="0">
              <a:lnSpc>
                <a:spcPct val="133000"/>
              </a:lnSpc>
              <a:buNone/>
            </a:pPr>
            <a:r>
              <a:rPr lang="en-US" sz="1400" dirty="0">
                <a:solidFill>
                  <a:srgbClr val="005CC5"/>
                </a:solidFill>
                <a:latin typeface="Consolas" pitchFamily="34" charset="0"/>
                <a:ea typeface="Consolas" pitchFamily="34" charset="-122"/>
                <a:cs typeface="Consolas" pitchFamily="34" charset="-120"/>
              </a:rPr>
              <a:t>The dial only runs from 530 to 1700 kHz.</a:t>
            </a:r>
            <a:endParaRPr lang="en-US" sz="1400" dirty="0"/>
          </a:p>
          <a:p>
            <a:pPr algn="l" indent="0" marL="0">
              <a:lnSpc>
                <a:spcPct val="133000"/>
              </a:lnSpc>
              <a:buNone/>
            </a:pPr>
            <a:r>
              <a:rPr lang="en-US" sz="1400" dirty="0">
                <a:solidFill>
                  <a:srgbClr val="005CC5"/>
                </a:solidFill>
                <a:latin typeface="Consolas" pitchFamily="34" charset="0"/>
                <a:ea typeface="Consolas" pitchFamily="34" charset="-122"/>
                <a:cs typeface="Consolas" pitchFamily="34" charset="-120"/>
              </a:rPr>
              <a:t>Frequency in kHz: 1470</a:t>
            </a:r>
            <a:endParaRPr lang="en-US" sz="140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59842"/>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break as a search, continue as a skip</a:t>
            </a:r>
            <a:endParaRPr lang="en-US" sz="3700" dirty="0"/>
          </a:p>
        </p:txBody>
      </p:sp>
      <p:sp>
        <p:nvSpPr>
          <p:cNvPr id="4" name="Shape 1"/>
          <p:cNvSpPr/>
          <p:nvPr/>
        </p:nvSpPr>
        <p:spPr>
          <a:xfrm>
            <a:off x="661475" y="2424609"/>
            <a:ext cx="3053877" cy="2034480"/>
          </a:xfrm>
          <a:prstGeom prst="roundRect">
            <a:avLst>
              <a:gd name="adj" fmla="val 3902"/>
            </a:avLst>
          </a:prstGeom>
          <a:solidFill>
            <a:srgbClr val="D1E5FA"/>
          </a:solidFill>
          <a:ln w="19050">
            <a:solidFill>
              <a:srgbClr val="B7CBE0"/>
            </a:solidFill>
            <a:prstDash val="solid"/>
          </a:ln>
        </p:spPr>
      </p:sp>
      <p:sp>
        <p:nvSpPr>
          <p:cNvPr id="5" name="Text 2"/>
          <p:cNvSpPr/>
          <p:nvPr/>
        </p:nvSpPr>
        <p:spPr>
          <a:xfrm>
            <a:off x="869531" y="2632670"/>
            <a:ext cx="2637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break on enough</a:t>
            </a:r>
            <a:endParaRPr lang="en-US" sz="1850" dirty="0"/>
          </a:p>
        </p:txBody>
      </p:sp>
      <p:sp>
        <p:nvSpPr>
          <p:cNvPr id="6" name="Text 3"/>
          <p:cNvSpPr/>
          <p:nvPr/>
        </p:nvSpPr>
        <p:spPr>
          <a:xfrm>
            <a:off x="869531" y="3041352"/>
            <a:ext cx="2637764"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Save $45 a week for $140 shoes: break on enough. Nobody knows the week in advance, so while True.</a:t>
            </a:r>
            <a:endParaRPr lang="en-US" sz="1450" dirty="0"/>
          </a:p>
        </p:txBody>
      </p:sp>
      <p:sp>
        <p:nvSpPr>
          <p:cNvPr id="7" name="Shape 4"/>
          <p:cNvSpPr/>
          <p:nvPr/>
        </p:nvSpPr>
        <p:spPr>
          <a:xfrm>
            <a:off x="3904359" y="2424609"/>
            <a:ext cx="3053976" cy="2034480"/>
          </a:xfrm>
          <a:prstGeom prst="roundRect">
            <a:avLst>
              <a:gd name="adj" fmla="val 3902"/>
            </a:avLst>
          </a:prstGeom>
          <a:solidFill>
            <a:srgbClr val="D1E5FA"/>
          </a:solidFill>
          <a:ln w="19050">
            <a:solidFill>
              <a:srgbClr val="B7CBE0"/>
            </a:solidFill>
            <a:prstDash val="solid"/>
          </a:ln>
        </p:spPr>
      </p:sp>
      <p:sp>
        <p:nvSpPr>
          <p:cNvPr id="8" name="Text 5"/>
          <p:cNvSpPr/>
          <p:nvPr/>
        </p:nvSpPr>
        <p:spPr>
          <a:xfrm>
            <a:off x="4112415" y="2632670"/>
            <a:ext cx="2637863"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continue as a skip</a:t>
            </a:r>
            <a:endParaRPr lang="en-US" sz="1850" dirty="0"/>
          </a:p>
        </p:txBody>
      </p:sp>
      <p:sp>
        <p:nvSpPr>
          <p:cNvPr id="9" name="Text 6"/>
          <p:cNvSpPr/>
          <p:nvPr/>
        </p:nvSpPr>
        <p:spPr>
          <a:xfrm>
            <a:off x="4112415" y="3041352"/>
            <a:ext cx="2637863"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Rest on day 4 of a 7-day plan: continue. In a while, update the counter BEFORE continue.</a:t>
            </a:r>
            <a:endParaRPr lang="en-US" sz="1450" dirty="0"/>
          </a:p>
        </p:txBody>
      </p:sp>
      <p:sp>
        <p:nvSpPr>
          <p:cNvPr id="10" name="Shape 7"/>
          <p:cNvSpPr/>
          <p:nvPr/>
        </p:nvSpPr>
        <p:spPr>
          <a:xfrm>
            <a:off x="661475" y="4648101"/>
            <a:ext cx="6296860" cy="1127224"/>
          </a:xfrm>
          <a:prstGeom prst="roundRect">
            <a:avLst>
              <a:gd name="adj" fmla="val 7043"/>
            </a:avLst>
          </a:prstGeom>
          <a:solidFill>
            <a:srgbClr val="D1E5FA"/>
          </a:solidFill>
          <a:ln w="19050">
            <a:solidFill>
              <a:srgbClr val="B7CBE0"/>
            </a:solidFill>
            <a:prstDash val="solid"/>
          </a:ln>
        </p:spPr>
      </p:sp>
      <p:sp>
        <p:nvSpPr>
          <p:cNvPr id="11" name="Text 8"/>
          <p:cNvSpPr/>
          <p:nvPr/>
        </p:nvSpPr>
        <p:spPr>
          <a:xfrm>
            <a:off x="869531" y="4856163"/>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Watch the counter</a:t>
            </a:r>
            <a:endParaRPr lang="en-US" sz="1850" dirty="0"/>
          </a:p>
        </p:txBody>
      </p:sp>
      <p:sp>
        <p:nvSpPr>
          <p:cNvPr id="12" name="Text 9"/>
          <p:cNvSpPr/>
          <p:nvPr/>
        </p:nvSpPr>
        <p:spPr>
          <a:xfrm>
            <a:off x="869531" y="5264845"/>
            <a:ext cx="588074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Otherwise the skipped pass skips the update, forever.</a:t>
            </a:r>
            <a:endParaRPr lang="en-US" sz="1450" dirty="0"/>
          </a:p>
        </p:txBody>
      </p:sp>
      <p:sp>
        <p:nvSpPr>
          <p:cNvPr id="13" name="Text 10"/>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 play again</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answer = input("Play again? (yes/no) ").strip().lower()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while not answer == "yes" or not answer == "no":</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print("Please type yes or no.")</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answer = input("Play again? (yes/no) ").strip().lower()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print(f"You chose {answer}.")</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76190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nothing gets through</a:t>
            </a:r>
            <a:endParaRPr lang="en-US" sz="3700" dirty="0"/>
          </a:p>
        </p:txBody>
      </p:sp>
      <p:pic>
        <p:nvPicPr>
          <p:cNvPr id="3" name="Image 0" descr="preencoded.png">    </p:cNvPr>
          <p:cNvPicPr>
            <a:picLocks noChangeAspect="1"/>
          </p:cNvPicPr>
          <p:nvPr/>
        </p:nvPicPr>
        <p:blipFill>
          <a:blip r:embed="rId1"/>
          <a:stretch>
            <a:fillRect/>
          </a:stretch>
        </p:blipFill>
        <p:spPr>
          <a:xfrm>
            <a:off x="661475" y="1848644"/>
            <a:ext cx="6903269" cy="3911898"/>
          </a:xfrm>
          <a:prstGeom prst="rect">
            <a:avLst/>
          </a:prstGeom>
        </p:spPr>
      </p:pic>
      <p:sp>
        <p:nvSpPr>
          <p:cNvPr id="4" name="Shape 1"/>
          <p:cNvSpPr/>
          <p:nvPr/>
        </p:nvSpPr>
        <p:spPr>
          <a:xfrm>
            <a:off x="8032251" y="2557066"/>
            <a:ext cx="3504219" cy="2494955"/>
          </a:xfrm>
          <a:prstGeom prst="roundRect">
            <a:avLst>
              <a:gd name="adj" fmla="val 3182"/>
            </a:avLst>
          </a:prstGeom>
          <a:solidFill>
            <a:srgbClr val="F2F2F2"/>
          </a:solidFill>
          <a:ln/>
        </p:spPr>
      </p:sp>
      <p:sp>
        <p:nvSpPr>
          <p:cNvPr id="5" name="Text 2"/>
          <p:cNvSpPr/>
          <p:nvPr/>
        </p:nvSpPr>
        <p:spPr>
          <a:xfrm>
            <a:off x="8259060" y="2746077"/>
            <a:ext cx="3050603"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Play again? (yes/no) maybe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Please type yes or no.</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Play again? (yes/no) yes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Please type yes or no.</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Play again? (yes/no) no</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Please type yes or no.</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Play again? (yes/no)</a:t>
            </a:r>
            <a:endParaRPr lang="en-US" sz="1450" dirty="0"/>
          </a:p>
        </p:txBody>
      </p:sp>
      <p:sp>
        <p:nvSpPr>
          <p:cNvPr id="6"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41704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truth table says why</a:t>
            </a:r>
            <a:endParaRPr lang="en-US" sz="3700" dirty="0"/>
          </a:p>
        </p:txBody>
      </p:sp>
      <p:sp>
        <p:nvSpPr>
          <p:cNvPr id="3" name="Shape 1"/>
          <p:cNvSpPr/>
          <p:nvPr/>
        </p:nvSpPr>
        <p:spPr>
          <a:xfrm>
            <a:off x="661475" y="2385715"/>
            <a:ext cx="3496877" cy="1442343"/>
          </a:xfrm>
          <a:prstGeom prst="roundRect">
            <a:avLst>
              <a:gd name="adj" fmla="val 5504"/>
            </a:avLst>
          </a:prstGeom>
          <a:solidFill>
            <a:srgbClr val="FFFFFF"/>
          </a:solidFill>
          <a:ln w="25399">
            <a:solidFill>
              <a:srgbClr val="B7CBE0"/>
            </a:solidFill>
            <a:prstDash val="solid"/>
          </a:ln>
        </p:spPr>
      </p:sp>
      <p:sp>
        <p:nvSpPr>
          <p:cNvPr id="4" name="Text 2"/>
          <p:cNvSpPr/>
          <p:nvPr/>
        </p:nvSpPr>
        <p:spPr>
          <a:xfrm>
            <a:off x="875881" y="2600127"/>
            <a:ext cx="3068065"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highlight>
                  <a:srgbClr val="F2F2F2"/>
                </a:highlight>
                <a:latin typeface="Consolas" pitchFamily="34" charset="0"/>
                <a:ea typeface="Consolas" pitchFamily="34" charset="-122"/>
                <a:cs typeface="Consolas" pitchFamily="34" charset="-120"/>
              </a:rPr>
              <a:t>yes</a:t>
            </a:r>
            <a:endParaRPr lang="en-US" sz="1850" dirty="0"/>
          </a:p>
        </p:txBody>
      </p:sp>
      <p:sp>
        <p:nvSpPr>
          <p:cNvPr id="5" name="Text 3"/>
          <p:cNvSpPr/>
          <p:nvPr/>
        </p:nvSpPr>
        <p:spPr>
          <a:xfrm>
            <a:off x="875881" y="3008809"/>
            <a:ext cx="306806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not yes is False, not no is True. or gives True</a:t>
            </a:r>
            <a:endParaRPr lang="en-US" sz="1450" dirty="0"/>
          </a:p>
        </p:txBody>
      </p:sp>
      <p:sp>
        <p:nvSpPr>
          <p:cNvPr id="6" name="Shape 4"/>
          <p:cNvSpPr/>
          <p:nvPr/>
        </p:nvSpPr>
        <p:spPr>
          <a:xfrm>
            <a:off x="4347359" y="2385715"/>
            <a:ext cx="3496877" cy="1442343"/>
          </a:xfrm>
          <a:prstGeom prst="roundRect">
            <a:avLst>
              <a:gd name="adj" fmla="val 5504"/>
            </a:avLst>
          </a:prstGeom>
          <a:solidFill>
            <a:srgbClr val="FFFFFF"/>
          </a:solidFill>
          <a:ln w="25399">
            <a:solidFill>
              <a:srgbClr val="B7CBE0"/>
            </a:solidFill>
            <a:prstDash val="solid"/>
          </a:ln>
        </p:spPr>
      </p:sp>
      <p:sp>
        <p:nvSpPr>
          <p:cNvPr id="7" name="Text 5"/>
          <p:cNvSpPr/>
          <p:nvPr/>
        </p:nvSpPr>
        <p:spPr>
          <a:xfrm>
            <a:off x="4561766" y="2600127"/>
            <a:ext cx="3068065"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highlight>
                  <a:srgbClr val="F2F2F2"/>
                </a:highlight>
                <a:latin typeface="Consolas" pitchFamily="34" charset="0"/>
                <a:ea typeface="Consolas" pitchFamily="34" charset="-122"/>
                <a:cs typeface="Consolas" pitchFamily="34" charset="-120"/>
              </a:rPr>
              <a:t>no</a:t>
            </a:r>
            <a:endParaRPr lang="en-US" sz="1850" dirty="0"/>
          </a:p>
        </p:txBody>
      </p:sp>
      <p:sp>
        <p:nvSpPr>
          <p:cNvPr id="8" name="Text 6"/>
          <p:cNvSpPr/>
          <p:nvPr/>
        </p:nvSpPr>
        <p:spPr>
          <a:xfrm>
            <a:off x="4561766" y="3008809"/>
            <a:ext cx="306806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not yes is True, not no is False. or gives True</a:t>
            </a:r>
            <a:endParaRPr lang="en-US" sz="1450" dirty="0"/>
          </a:p>
        </p:txBody>
      </p:sp>
      <p:sp>
        <p:nvSpPr>
          <p:cNvPr id="9" name="Shape 7"/>
          <p:cNvSpPr/>
          <p:nvPr/>
        </p:nvSpPr>
        <p:spPr>
          <a:xfrm>
            <a:off x="8033244" y="2385715"/>
            <a:ext cx="3496877" cy="1442343"/>
          </a:xfrm>
          <a:prstGeom prst="roundRect">
            <a:avLst>
              <a:gd name="adj" fmla="val 5504"/>
            </a:avLst>
          </a:prstGeom>
          <a:solidFill>
            <a:srgbClr val="FFFFFF"/>
          </a:solidFill>
          <a:ln w="25399">
            <a:solidFill>
              <a:srgbClr val="B7CBE0"/>
            </a:solidFill>
            <a:prstDash val="solid"/>
          </a:ln>
        </p:spPr>
      </p:sp>
      <p:sp>
        <p:nvSpPr>
          <p:cNvPr id="10" name="Text 8"/>
          <p:cNvSpPr/>
          <p:nvPr/>
        </p:nvSpPr>
        <p:spPr>
          <a:xfrm>
            <a:off x="8247650" y="2600127"/>
            <a:ext cx="3068065"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highlight>
                  <a:srgbClr val="F2F2F2"/>
                </a:highlight>
                <a:latin typeface="Consolas" pitchFamily="34" charset="0"/>
                <a:ea typeface="Consolas" pitchFamily="34" charset="-122"/>
                <a:cs typeface="Consolas" pitchFamily="34" charset="-120"/>
              </a:rPr>
              <a:t>maybe</a:t>
            </a:r>
            <a:endParaRPr lang="en-US" sz="1850" dirty="0"/>
          </a:p>
        </p:txBody>
      </p:sp>
      <p:sp>
        <p:nvSpPr>
          <p:cNvPr id="11" name="Text 9"/>
          <p:cNvSpPr/>
          <p:nvPr/>
        </p:nvSpPr>
        <p:spPr>
          <a:xfrm>
            <a:off x="8247650" y="3008809"/>
            <a:ext cx="3068065"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both True. or gives True</a:t>
            </a:r>
            <a:endParaRPr lang="en-US" sz="1450" dirty="0"/>
          </a:p>
        </p:txBody>
      </p:sp>
      <p:sp>
        <p:nvSpPr>
          <p:cNvPr id="12" name="Text 10"/>
          <p:cNvSpPr/>
          <p:nvPr/>
        </p:nvSpPr>
        <p:spPr>
          <a:xfrm>
            <a:off x="661475" y="4040684"/>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condition is True for every possible word.</a:t>
            </a:r>
            <a:endParaRPr lang="en-US" sz="1450" dirty="0"/>
          </a:p>
        </p:txBody>
      </p:sp>
      <p:sp>
        <p:nvSpPr>
          <p:cNvPr id="13" name="Shape 11"/>
          <p:cNvSpPr/>
          <p:nvPr/>
        </p:nvSpPr>
        <p:spPr>
          <a:xfrm>
            <a:off x="661475" y="4555728"/>
            <a:ext cx="10868745" cy="762298"/>
          </a:xfrm>
          <a:prstGeom prst="roundRect">
            <a:avLst>
              <a:gd name="adj" fmla="val 10414"/>
            </a:avLst>
          </a:prstGeom>
          <a:solidFill>
            <a:srgbClr val="D1E5FA"/>
          </a:solidFill>
          <a:ln/>
        </p:spPr>
      </p:sp>
      <p:pic>
        <p:nvPicPr>
          <p:cNvPr id="14" name="Image 0" descr="preencoded.png">    </p:cNvPr>
          <p:cNvPicPr>
            <a:picLocks noChangeAspect="1"/>
          </p:cNvPicPr>
          <p:nvPr/>
        </p:nvPicPr>
        <p:blipFill>
          <a:blip r:embed="rId1"/>
          <a:stretch>
            <a:fillRect/>
          </a:stretch>
        </p:blipFill>
        <p:spPr>
          <a:xfrm>
            <a:off x="850482" y="4823420"/>
            <a:ext cx="236234" cy="189012"/>
          </a:xfrm>
          <a:prstGeom prst="rect">
            <a:avLst/>
          </a:prstGeom>
        </p:spPr>
      </p:pic>
      <p:sp>
        <p:nvSpPr>
          <p:cNvPr id="15" name="Text 12"/>
          <p:cNvSpPr/>
          <p:nvPr/>
        </p:nvSpPr>
        <p:spPr>
          <a:xfrm>
            <a:off x="1275723" y="4791968"/>
            <a:ext cx="10675075" cy="30876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Fix: change </a:t>
            </a:r>
            <a:pPr algn="l" indent="0" marL="0">
              <a:lnSpc>
                <a:spcPct val="133000"/>
              </a:lnSpc>
              <a:buNone/>
            </a:pPr>
            <a:r>
              <a:rPr lang="en-US" sz="1450" dirty="0">
                <a:solidFill>
                  <a:srgbClr val="000000"/>
                </a:solidFill>
                <a:highlight>
                  <a:srgbClr val="F2F2F2"/>
                </a:highlight>
                <a:latin typeface="Consolas" pitchFamily="34" charset="0"/>
                <a:ea typeface="Consolas" pitchFamily="34" charset="-122"/>
                <a:cs typeface="Consolas" pitchFamily="34" charset="-120"/>
              </a:rPr>
              <a:t>or</a:t>
            </a:r>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 to </a:t>
            </a:r>
            <a:pPr algn="l" indent="0" marL="0">
              <a:lnSpc>
                <a:spcPct val="133000"/>
              </a:lnSpc>
              <a:buNone/>
            </a:pPr>
            <a:r>
              <a:rPr lang="en-US" sz="1450" dirty="0">
                <a:solidFill>
                  <a:srgbClr val="000000"/>
                </a:solidFill>
                <a:highlight>
                  <a:srgbClr val="F2F2F2"/>
                </a:highlight>
                <a:latin typeface="Consolas" pitchFamily="34" charset="0"/>
                <a:ea typeface="Consolas" pitchFamily="34" charset="-122"/>
                <a:cs typeface="Consolas" pitchFamily="34" charset="-120"/>
              </a:rPr>
              <a:t>and</a:t>
            </a:r>
            <a:endParaRPr lang="en-US" sz="145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07334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break or a flag</a:t>
            </a:r>
            <a:endParaRPr lang="en-US" sz="3700" dirty="0"/>
          </a:p>
        </p:txBody>
      </p:sp>
      <p:sp>
        <p:nvSpPr>
          <p:cNvPr id="4" name="Shape 1"/>
          <p:cNvSpPr/>
          <p:nvPr/>
        </p:nvSpPr>
        <p:spPr>
          <a:xfrm>
            <a:off x="661475" y="1947466"/>
            <a:ext cx="6296860" cy="2216348"/>
          </a:xfrm>
          <a:prstGeom prst="roundRect">
            <a:avLst>
              <a:gd name="adj" fmla="val 3582"/>
            </a:avLst>
          </a:prstGeom>
          <a:solidFill>
            <a:srgbClr val="D1E5FA"/>
          </a:solidFill>
          <a:ln w="19050">
            <a:solidFill>
              <a:srgbClr val="B7CBE0"/>
            </a:solidFill>
            <a:prstDash val="solid"/>
          </a:ln>
        </p:spPr>
      </p:sp>
      <p:sp>
        <p:nvSpPr>
          <p:cNvPr id="5" name="Shape 2"/>
          <p:cNvSpPr/>
          <p:nvPr/>
        </p:nvSpPr>
        <p:spPr>
          <a:xfrm>
            <a:off x="680524" y="1966516"/>
            <a:ext cx="6258761" cy="1089124"/>
          </a:xfrm>
          <a:custGeom>
            <a:avLst/>
            <a:gdLst/>
            <a:ahLst/>
            <a:cxnLst/>
            <a:rect l="l" t="t" r="r" b="b"/>
            <a:pathLst>
              <a:path w="6258761" h="1089124">
                <a:moveTo>
                  <a:pt x="66156" y="0"/>
                </a:moveTo>
                <a:lnTo>
                  <a:pt x="6192604" y="0"/>
                </a:lnTo>
                <a:arcTo hR="66158" wR="66156" stAng="16200000" swAng="5400000"/>
                <a:lnTo>
                  <a:pt x="6258761" y="1089124"/>
                </a:lnTo>
                <a:lnTo>
                  <a:pt x="0" y="1089124"/>
                </a:lnTo>
                <a:lnTo>
                  <a:pt x="0" y="66158"/>
                </a:lnTo>
                <a:arcTo hR="66158" wR="66156" stAng="10800000" swAng="5400000"/>
                <a:close/>
              </a:path>
            </a:pathLst>
          </a:custGeom>
          <a:solidFill>
            <a:srgbClr val="D1E5FA"/>
          </a:solidFill>
          <a:ln/>
        </p:spPr>
      </p:sp>
      <p:sp>
        <p:nvSpPr>
          <p:cNvPr id="6" name="Text 3"/>
          <p:cNvSpPr/>
          <p:nvPr/>
        </p:nvSpPr>
        <p:spPr>
          <a:xfrm>
            <a:off x="869531" y="2155527"/>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break</a:t>
            </a:r>
            <a:endParaRPr lang="en-US" sz="1850" dirty="0"/>
          </a:p>
        </p:txBody>
      </p:sp>
      <p:sp>
        <p:nvSpPr>
          <p:cNvPr id="7" name="Text 4"/>
          <p:cNvSpPr/>
          <p:nvPr/>
        </p:nvSpPr>
        <p:spPr>
          <a:xfrm>
            <a:off x="869531" y="2564209"/>
            <a:ext cx="588074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exit sits exactly where the decision is</a:t>
            </a:r>
            <a:endParaRPr lang="en-US" sz="1450" dirty="0"/>
          </a:p>
        </p:txBody>
      </p:sp>
      <p:sp>
        <p:nvSpPr>
          <p:cNvPr id="8" name="Shape 5"/>
          <p:cNvSpPr/>
          <p:nvPr/>
        </p:nvSpPr>
        <p:spPr>
          <a:xfrm>
            <a:off x="680524" y="3055640"/>
            <a:ext cx="6258761" cy="1089124"/>
          </a:xfrm>
          <a:custGeom>
            <a:avLst/>
            <a:gdLst/>
            <a:ahLst/>
            <a:cxnLst/>
            <a:rect l="l" t="t" r="r" b="b"/>
            <a:pathLst>
              <a:path w="6258761" h="1089124">
                <a:moveTo>
                  <a:pt x="0" y="0"/>
                </a:moveTo>
                <a:lnTo>
                  <a:pt x="6258761" y="0"/>
                </a:lnTo>
                <a:lnTo>
                  <a:pt x="6258761" y="1022966"/>
                </a:lnTo>
                <a:arcTo hR="66158" wR="66156" stAng="0" swAng="5400000"/>
                <a:lnTo>
                  <a:pt x="66156" y="1089124"/>
                </a:lnTo>
                <a:arcTo hR="66158" wR="66156" stAng="5400000" swAng="5400000"/>
                <a:lnTo>
                  <a:pt x="0" y="0"/>
                </a:lnTo>
                <a:close/>
              </a:path>
            </a:pathLst>
          </a:custGeom>
          <a:solidFill>
            <a:srgbClr val="D1E5FA"/>
          </a:solidFill>
          <a:ln/>
        </p:spPr>
      </p:sp>
      <p:sp>
        <p:nvSpPr>
          <p:cNvPr id="9" name="Shape 6"/>
          <p:cNvSpPr/>
          <p:nvPr/>
        </p:nvSpPr>
        <p:spPr>
          <a:xfrm>
            <a:off x="680524" y="3055640"/>
            <a:ext cx="6258761" cy="25400"/>
          </a:xfrm>
          <a:prstGeom prst="roundRect">
            <a:avLst>
              <a:gd name="adj" fmla="val 49999"/>
            </a:avLst>
          </a:prstGeom>
          <a:solidFill>
            <a:srgbClr val="B7CBE0"/>
          </a:solidFill>
          <a:ln/>
        </p:spPr>
      </p:sp>
      <p:sp>
        <p:nvSpPr>
          <p:cNvPr id="10" name="Text 7"/>
          <p:cNvSpPr/>
          <p:nvPr/>
        </p:nvSpPr>
        <p:spPr>
          <a:xfrm>
            <a:off x="869531" y="3244652"/>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flag</a:t>
            </a:r>
            <a:endParaRPr lang="en-US" sz="1850" dirty="0"/>
          </a:p>
        </p:txBody>
      </p:sp>
      <p:sp>
        <p:nvSpPr>
          <p:cNvPr id="11" name="Text 8"/>
          <p:cNvSpPr/>
          <p:nvPr/>
        </p:nvSpPr>
        <p:spPr>
          <a:xfrm>
            <a:off x="869531" y="3653334"/>
            <a:ext cx="588074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while line says how the loop ends</a:t>
            </a:r>
            <a:endParaRPr lang="en-US" sz="1450" dirty="0"/>
          </a:p>
        </p:txBody>
      </p:sp>
      <p:pic>
        <p:nvPicPr>
          <p:cNvPr id="12"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6075" y="4351040"/>
            <a:ext cx="3055663" cy="655638"/>
          </a:xfrm>
          <a:prstGeom prst="rect">
            <a:avLst/>
          </a:prstGeom>
        </p:spPr>
      </p:pic>
      <p:sp>
        <p:nvSpPr>
          <p:cNvPr id="13" name="Text 9"/>
          <p:cNvSpPr/>
          <p:nvPr/>
        </p:nvSpPr>
        <p:spPr>
          <a:xfrm>
            <a:off x="901281" y="4376440"/>
            <a:ext cx="2790458"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One exit reads more clearly than three breaks</a:t>
            </a:r>
            <a:endParaRPr lang="en-US" sz="1450" dirty="0"/>
          </a:p>
        </p:txBody>
      </p:sp>
      <p:pic>
        <p:nvPicPr>
          <p:cNvPr id="14"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02573" y="4351040"/>
            <a:ext cx="3055762" cy="655638"/>
          </a:xfrm>
          <a:prstGeom prst="rect">
            <a:avLst/>
          </a:prstGeom>
        </p:spPr>
      </p:pic>
      <p:sp>
        <p:nvSpPr>
          <p:cNvPr id="15" name="Text 10"/>
          <p:cNvSpPr/>
          <p:nvPr/>
        </p:nvSpPr>
        <p:spPr>
          <a:xfrm>
            <a:off x="4167778" y="4376440"/>
            <a:ext cx="279055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Short validation loops in this course: break</a:t>
            </a:r>
            <a:endParaRPr lang="en-US" sz="1450" dirty="0"/>
          </a:p>
        </p:txBody>
      </p:sp>
      <p:pic>
        <p:nvPicPr>
          <p:cNvPr id="16"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6075" y="5333901"/>
            <a:ext cx="6322259" cy="353219"/>
          </a:xfrm>
          <a:prstGeom prst="rect">
            <a:avLst/>
          </a:prstGeom>
        </p:spPr>
      </p:pic>
      <p:sp>
        <p:nvSpPr>
          <p:cNvPr id="17" name="Text 11"/>
          <p:cNvSpPr/>
          <p:nvPr/>
        </p:nvSpPr>
        <p:spPr>
          <a:xfrm>
            <a:off x="901281" y="5359301"/>
            <a:ext cx="605705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Game loops in this course: a playing flag</a:t>
            </a:r>
            <a:endParaRPr lang="en-US" sz="1450" dirty="0"/>
          </a:p>
        </p:txBody>
      </p:sp>
      <p:sp>
        <p:nvSpPr>
          <p:cNvPr id="18" name="Text 1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620316"/>
            <a:ext cx="10868745" cy="553740"/>
          </a:xfrm>
          <a:prstGeom prst="rect">
            <a:avLst/>
          </a:prstGeom>
          <a:noFill/>
          <a:ln/>
        </p:spPr>
        <p:txBody>
          <a:bodyPr wrap="none" lIns="0" tIns="0" rIns="0" bIns="0" rtlCol="0" anchor="t"/>
          <a:lstStyle/>
          <a:p>
            <a:pPr algn="l" indent="0" marL="0">
              <a:lnSpc>
                <a:spcPct val="104000"/>
              </a:lnSpc>
              <a:buNone/>
            </a:pPr>
            <a:r>
              <a:rPr lang="en-US" sz="3450" b="1" dirty="0">
                <a:solidFill>
                  <a:srgbClr val="111111"/>
                </a:solidFill>
                <a:latin typeface="Orbitron Bold" pitchFamily="34" charset="0"/>
                <a:ea typeface="Orbitron Bold" pitchFamily="34" charset="-122"/>
                <a:cs typeface="Orbitron Bold" pitchFamily="34" charset="-120"/>
              </a:rPr>
              <a:t>What you are about to build</a:t>
            </a:r>
            <a:endParaRPr lang="en-US" sz="34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610023"/>
            <a:ext cx="3523070" cy="2213273"/>
          </a:xfrm>
          <a:prstGeom prst="rect">
            <a:avLst/>
          </a:prstGeom>
        </p:spPr>
      </p:pic>
      <p:sp>
        <p:nvSpPr>
          <p:cNvPr id="4" name="Text 1"/>
          <p:cNvSpPr/>
          <p:nvPr/>
        </p:nvSpPr>
        <p:spPr>
          <a:xfrm>
            <a:off x="892450" y="2550517"/>
            <a:ext cx="265800" cy="332184"/>
          </a:xfrm>
          <a:prstGeom prst="rect">
            <a:avLst/>
          </a:prstGeom>
          <a:noFill/>
          <a:ln/>
        </p:spPr>
        <p:txBody>
          <a:bodyPr wrap="none" lIns="0" tIns="0" rIns="0" bIns="0" rtlCol="0" anchor="ctr"/>
          <a:lstStyle/>
          <a:p>
            <a:pPr algn="ctr" indent="0" marL="0">
              <a:lnSpc>
                <a:spcPct val="100000"/>
              </a:lnSpc>
              <a:buNone/>
            </a:pPr>
            <a:r>
              <a:rPr lang="en-US" sz="2050" b="1" dirty="0">
                <a:solidFill>
                  <a:srgbClr val="1C1C1C"/>
                </a:solidFill>
                <a:latin typeface="Orbitron Bold" pitchFamily="34" charset="0"/>
                <a:ea typeface="Orbitron Bold" pitchFamily="34" charset="-122"/>
                <a:cs typeface="Orbitron Bold" pitchFamily="34" charset="-120"/>
              </a:rPr>
              <a:t>1</a:t>
            </a:r>
            <a:endParaRPr lang="en-US" sz="2050" dirty="0"/>
          </a:p>
        </p:txBody>
      </p:sp>
      <p:sp>
        <p:nvSpPr>
          <p:cNvPr id="5" name="Text 2"/>
          <p:cNvSpPr/>
          <p:nvPr/>
        </p:nvSpPr>
        <p:spPr>
          <a:xfrm>
            <a:off x="1555413" y="1806277"/>
            <a:ext cx="2432882" cy="830759"/>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Build 1: Lab U03-02 Locked Out, Part 2</a:t>
            </a:r>
            <a:endParaRPr lang="en-US" sz="1700" dirty="0"/>
          </a:p>
        </p:txBody>
      </p:sp>
      <p:sp>
        <p:nvSpPr>
          <p:cNvPr id="6" name="Text 3"/>
          <p:cNvSpPr/>
          <p:nvPr/>
        </p:nvSpPr>
        <p:spPr>
          <a:xfrm>
            <a:off x="1555413" y="2803128"/>
            <a:ext cx="2432882" cy="823913"/>
          </a:xfrm>
          <a:prstGeom prst="rect">
            <a:avLst/>
          </a:prstGeom>
          <a:noFill/>
          <a:ln/>
        </p:spPr>
        <p:txBody>
          <a:bodyPr wrap="square" lIns="0" tIns="0" rIns="0" bIns="0" rtlCol="0" anchor="t">
            <a:normAutofit/>
          </a:bodyPr>
          <a:lstStyle/>
          <a:p>
            <a:pPr algn="l" indent="0" marL="0">
              <a:lnSpc>
                <a:spcPct val="129000"/>
              </a:lnSpc>
              <a:buNone/>
            </a:pPr>
            <a:r>
              <a:rPr lang="en-US" sz="1350" dirty="0">
                <a:solidFill>
                  <a:srgbClr val="1C1C1C"/>
                </a:solidFill>
                <a:latin typeface="Roboto Condensed" pitchFamily="34" charset="0"/>
                <a:ea typeface="Roboto Condensed" pitchFamily="34" charset="-122"/>
                <a:cs typeface="Roboto Condensed" pitchFamily="34" charset="-120"/>
              </a:rPr>
              <a:t>The lockbox keypad: 4 digits, cancel, 3 tries. A badly typed code never counts as a guess.</a:t>
            </a:r>
            <a:endParaRPr lang="en-US" sz="13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3989388"/>
            <a:ext cx="3523070" cy="1938635"/>
          </a:xfrm>
          <a:prstGeom prst="rect">
            <a:avLst/>
          </a:prstGeom>
        </p:spPr>
      </p:pic>
      <p:sp>
        <p:nvSpPr>
          <p:cNvPr id="8" name="Text 4"/>
          <p:cNvSpPr/>
          <p:nvPr/>
        </p:nvSpPr>
        <p:spPr>
          <a:xfrm>
            <a:off x="892450" y="4792563"/>
            <a:ext cx="265800" cy="332184"/>
          </a:xfrm>
          <a:prstGeom prst="rect">
            <a:avLst/>
          </a:prstGeom>
          <a:noFill/>
          <a:ln/>
        </p:spPr>
        <p:txBody>
          <a:bodyPr wrap="none" lIns="0" tIns="0" rIns="0" bIns="0" rtlCol="0" anchor="ctr"/>
          <a:lstStyle/>
          <a:p>
            <a:pPr algn="ctr" indent="0" marL="0">
              <a:lnSpc>
                <a:spcPct val="100000"/>
              </a:lnSpc>
              <a:buNone/>
            </a:pPr>
            <a:r>
              <a:rPr lang="en-US" sz="2050" b="1" dirty="0">
                <a:solidFill>
                  <a:srgbClr val="1C1C1C"/>
                </a:solidFill>
                <a:latin typeface="Orbitron Bold" pitchFamily="34" charset="0"/>
                <a:ea typeface="Orbitron Bold" pitchFamily="34" charset="-122"/>
                <a:cs typeface="Orbitron Bold" pitchFamily="34" charset="-120"/>
              </a:rPr>
              <a:t>2</a:t>
            </a:r>
            <a:endParaRPr lang="en-US" sz="2050" dirty="0"/>
          </a:p>
        </p:txBody>
      </p:sp>
      <p:sp>
        <p:nvSpPr>
          <p:cNvPr id="9" name="Text 5"/>
          <p:cNvSpPr/>
          <p:nvPr/>
        </p:nvSpPr>
        <p:spPr>
          <a:xfrm>
            <a:off x="1555413" y="4185642"/>
            <a:ext cx="2432882" cy="830759"/>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Build 2: v1 input handling for every command</a:t>
            </a:r>
            <a:endParaRPr lang="en-US" sz="1700" dirty="0"/>
          </a:p>
        </p:txBody>
      </p:sp>
      <p:sp>
        <p:nvSpPr>
          <p:cNvPr id="10" name="Text 6"/>
          <p:cNvSpPr/>
          <p:nvPr/>
        </p:nvSpPr>
        <p:spPr>
          <a:xfrm>
            <a:off x="1555413" y="5182493"/>
            <a:ext cx="2432882" cy="549275"/>
          </a:xfrm>
          <a:prstGeom prst="rect">
            <a:avLst/>
          </a:prstGeom>
          <a:noFill/>
          <a:ln/>
        </p:spPr>
        <p:txBody>
          <a:bodyPr wrap="square" lIns="0" tIns="0" rIns="0" bIns="0" rtlCol="0" anchor="t">
            <a:normAutofit/>
          </a:bodyPr>
          <a:lstStyle/>
          <a:p>
            <a:pPr algn="l" indent="0" marL="0">
              <a:lnSpc>
                <a:spcPct val="129000"/>
              </a:lnSpc>
              <a:buNone/>
            </a:pPr>
            <a:r>
              <a:rPr lang="en-US" sz="1350" dirty="0">
                <a:solidFill>
                  <a:srgbClr val="1C1C1C"/>
                </a:solidFill>
                <a:latin typeface="Roboto Condensed" pitchFamily="34" charset="0"/>
                <a:ea typeface="Roboto Condensed" pitchFamily="34" charset="-122"/>
                <a:cs typeface="Roboto Condensed" pitchFamily="34" charset="-120"/>
              </a:rPr>
              <a:t>Empty, unknown, and shouting commands all get a message.</a:t>
            </a:r>
            <a:endParaRPr lang="en-US" sz="1350" dirty="0"/>
          </a:p>
        </p:txBody>
      </p:sp>
      <p:pic>
        <p:nvPicPr>
          <p:cNvPr id="11" name="Image 2" descr="preencoded.png">    </p:cNvPr>
          <p:cNvPicPr>
            <a:picLocks noChangeAspect="1"/>
          </p:cNvPicPr>
          <p:nvPr/>
        </p:nvPicPr>
        <p:blipFill>
          <a:blip r:embed="rId5"/>
          <a:stretch>
            <a:fillRect/>
          </a:stretch>
        </p:blipFill>
        <p:spPr>
          <a:xfrm>
            <a:off x="4623081" y="1810147"/>
            <a:ext cx="6913390" cy="3917652"/>
          </a:xfrm>
          <a:prstGeom prst="rect">
            <a:avLst/>
          </a:prstGeom>
        </p:spPr>
      </p:pic>
      <p:sp>
        <p:nvSpPr>
          <p:cNvPr id="12"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2026-09-14T18:50:42Z</dcterms:created>
  <dcterms:modified xsi:type="dcterms:W3CDTF">2026-09-14T18:50:42Z</dcterms:modified>
</cp:coreProperties>
</file>