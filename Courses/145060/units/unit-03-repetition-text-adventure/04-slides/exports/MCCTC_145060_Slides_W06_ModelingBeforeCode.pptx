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is a text adventure, and it is the biggest program you have written. Here is how big programs usually go wrong. You start typing, it grows, and on day three you discover one room has no exit, or there is no way to lose, or the game never ends. Every one of those problems is visible on paper in ten minutes. Today you write no Python. That is the lesson, not a gap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answers a different question. The IPO chart is inputs, process, outputs. The flowchart is order. Pseudocode is the steps written precisely enough to become code. And a decision tree you already know, because your Decision Engine is one. The WebXam outcome is 5.1.3, model the solution with graphic tools and pseudocode, and the syllabus says your model comes before your adventure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turn of a three-room slice of Storm Relay, our class adventure. Inputs, process, outputs. And for a game, a fourth list, state, the things the program remembers from one turn to the next. Here is the rule that matters. If a value shows up in the process column and it is not an input and not in state, it does not exist. Remember that for slide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shapes carry almost every flowchart you will ever draw. The one that causes trouble is the diamond. A decision needs one arrow out for every possible answer, and each arrow needs a label. And any arrow that points back up to an earlier step is a loop. The game loop is one big arrow that goes back to the top after every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show me a flowchart, run these two checks. First, every diamond has an arrow for every answer. If a diamond only has a yes arrow, the no answer goes nowhere, and your code will do whatever you happen to type. Second, there is at least one path from inside the loop to the End oval. If there is not, the game can never finish. Tomorrow you will see exactly what that does to a real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Pseudocode is the flowchart written as precise, indented English. Match every line to a shape. Every if and the while are diamonds. Every set and add is a rectangle. Every input and display is a parallelogram. While playing means repeat this block as long as playing is True. You have never written a loop in Python, and you do not need to, to model one. Tomorrow this exact line becomes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move step hides a second decision. Where does a move go? That depends on the room first and the direction second, and which directions you check depends on the room. That is a decision tree, and last Thursday's rule says keep the nesting when the next question depends on the answer. You can already write this in Python with an if on the room and an if on the direction inside each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Pseudocode fails when it hides a decision inside a vague phrase. If the player can win is not a condition. It is a wish. Which room, which values, compared to what. The test for good pseudocode is simple to say and hard to pass. Hand it to a classmate. If they have to ask you a single question before they can type the Python, it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skipped the IPO chart and coded the dark basement rule from memory. They never listed the flashlight in state. It crashes, but only when a player walks down the stairs, which might be the forty-first thing somebody tries. On paper this was a missing row in a chart. Ten seconds to fix. And the worse version does not crash at all. It is a path through the game where nobody can win and nothing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the IPO chart with state, and the flowchart for the three-room slice of Storm Relay. Run both checks on your own diagram before you show it to anybody. Build 2 is pseudocode that matches your flowchart line for line, and the decision tree for moves. No Python today. Keep all of it, because tomorrow the while line in your pseudocode becomes the first loop you ever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Draw It Before You Build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days in, there is no way to lose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start typing a text adventure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grows for three days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you notice: nobody can ever lose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fix means rewriting half of it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tools, four questions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IPO chart</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goes in, happens, comes out</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Flowchart</a:t>
            </a:r>
            <a:endParaRPr lang="en-US" sz="1850" dirty="0"/>
          </a:p>
        </p:txBody>
      </p:sp>
      <p:sp>
        <p:nvSpPr>
          <p:cNvPr id="10" name="Text 6"/>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order, where it splits or repeats</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2" name="Text 7"/>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Pseudocode</a:t>
            </a:r>
            <a:endParaRPr lang="en-US" sz="1850" dirty="0"/>
          </a:p>
        </p:txBody>
      </p:sp>
      <p:sp>
        <p:nvSpPr>
          <p:cNvPr id="14" name="Text 9"/>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Precise steps, one per line</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6" name="Text 10"/>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Decision tree</a:t>
            </a:r>
            <a:endParaRPr lang="en-US" sz="1850" dirty="0"/>
          </a:p>
        </p:txBody>
      </p:sp>
      <p:sp>
        <p:nvSpPr>
          <p:cNvPr id="18" name="Text 12"/>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Which question comes next</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IPO chart, plus state</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INPUT                PROCESS                               OUTPUT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command typed        clean the command                     room description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decide: move, broadcast, quit, other  blocked-move message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move: change room, add 1 to moves     thunder warning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check moves against the storm limit   win or lose message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STATE (remembered between turns)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room     starts as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moves    starts as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playing  starts as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Flowchart shapes</a:t>
            </a:r>
            <a:endParaRPr lang="en-US" sz="3700" dirty="0"/>
          </a:p>
        </p:txBody>
      </p:sp>
      <p:sp>
        <p:nvSpPr>
          <p:cNvPr id="3" name="Shape 1"/>
          <p:cNvSpPr/>
          <p:nvPr/>
        </p:nvSpPr>
        <p:spPr>
          <a:xfrm>
            <a:off x="661475" y="2630190"/>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Oval</a:t>
            </a:r>
            <a:endParaRPr lang="en-US" sz="1850" dirty="0"/>
          </a:p>
        </p:txBody>
      </p:sp>
      <p:sp>
        <p:nvSpPr>
          <p:cNvPr id="5" name="Text 3"/>
          <p:cNvSpPr/>
          <p:nvPr/>
        </p:nvSpPr>
        <p:spPr>
          <a:xfrm>
            <a:off x="869531" y="3246934"/>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Start or end</a:t>
            </a:r>
            <a:endParaRPr lang="en-US" sz="1450" dirty="0"/>
          </a:p>
        </p:txBody>
      </p:sp>
      <p:sp>
        <p:nvSpPr>
          <p:cNvPr id="6" name="Shape 4"/>
          <p:cNvSpPr/>
          <p:nvPr/>
        </p:nvSpPr>
        <p:spPr>
          <a:xfrm>
            <a:off x="4347359" y="2630190"/>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2838252"/>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Parallelogram</a:t>
            </a:r>
            <a:endParaRPr lang="en-US" sz="1850" dirty="0"/>
          </a:p>
        </p:txBody>
      </p:sp>
      <p:sp>
        <p:nvSpPr>
          <p:cNvPr id="8" name="Text 6"/>
          <p:cNvSpPr/>
          <p:nvPr/>
        </p:nvSpPr>
        <p:spPr>
          <a:xfrm>
            <a:off x="4555416" y="3246934"/>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Input or output</a:t>
            </a:r>
            <a:endParaRPr lang="en-US" sz="1450" dirty="0"/>
          </a:p>
        </p:txBody>
      </p:sp>
      <p:sp>
        <p:nvSpPr>
          <p:cNvPr id="9" name="Shape 7"/>
          <p:cNvSpPr/>
          <p:nvPr/>
        </p:nvSpPr>
        <p:spPr>
          <a:xfrm>
            <a:off x="8033244" y="2630190"/>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2838252"/>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Rectangle</a:t>
            </a:r>
            <a:endParaRPr lang="en-US" sz="1850" dirty="0"/>
          </a:p>
        </p:txBody>
      </p:sp>
      <p:sp>
        <p:nvSpPr>
          <p:cNvPr id="11" name="Text 9"/>
          <p:cNvSpPr/>
          <p:nvPr/>
        </p:nvSpPr>
        <p:spPr>
          <a:xfrm>
            <a:off x="8241300" y="3246934"/>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process step</a:t>
            </a:r>
            <a:endParaRPr lang="en-US" sz="1450" dirty="0"/>
          </a:p>
        </p:txBody>
      </p:sp>
      <p:sp>
        <p:nvSpPr>
          <p:cNvPr id="12" name="Shape 10"/>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Diamond</a:t>
            </a:r>
            <a:endParaRPr lang="en-US" sz="1850" dirty="0"/>
          </a:p>
        </p:txBody>
      </p:sp>
      <p:sp>
        <p:nvSpPr>
          <p:cNvPr id="14" name="Text 12"/>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decision, one labeled arrow per answer</a:t>
            </a:r>
            <a:endParaRPr lang="en-US" sz="1450" dirty="0"/>
          </a:p>
        </p:txBody>
      </p:sp>
      <p:sp>
        <p:nvSpPr>
          <p:cNvPr id="15" name="Shape 13"/>
          <p:cNvSpPr/>
          <p:nvPr/>
        </p:nvSpPr>
        <p:spPr>
          <a:xfrm>
            <a:off x="6190301" y="3946426"/>
            <a:ext cx="5339820" cy="1127224"/>
          </a:xfrm>
          <a:prstGeom prst="roundRect">
            <a:avLst>
              <a:gd name="adj" fmla="val 7043"/>
            </a:avLst>
          </a:prstGeom>
          <a:solidFill>
            <a:srgbClr val="D1E5FA"/>
          </a:solidFill>
          <a:ln w="19050">
            <a:solidFill>
              <a:srgbClr val="B7CBE0"/>
            </a:solidFill>
            <a:prstDash val="solid"/>
          </a:ln>
        </p:spPr>
      </p:sp>
      <p:sp>
        <p:nvSpPr>
          <p:cNvPr id="16" name="Text 14"/>
          <p:cNvSpPr/>
          <p:nvPr/>
        </p:nvSpPr>
        <p:spPr>
          <a:xfrm>
            <a:off x="6398358"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Arrow pointing back up</a:t>
            </a:r>
            <a:endParaRPr lang="en-US" sz="1850" dirty="0"/>
          </a:p>
        </p:txBody>
      </p:sp>
      <p:sp>
        <p:nvSpPr>
          <p:cNvPr id="17" name="Text 15"/>
          <p:cNvSpPr/>
          <p:nvPr/>
        </p:nvSpPr>
        <p:spPr>
          <a:xfrm>
            <a:off x="6398358"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loop</a:t>
            </a:r>
            <a:endParaRPr lang="en-US" sz="14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57926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checks every game-loop flowchart must pass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56657"/>
            <a:ext cx="2507394" cy="1517948"/>
          </a:xfrm>
          <a:prstGeom prst="rect">
            <a:avLst/>
          </a:prstGeom>
        </p:spPr>
      </p:pic>
      <p:sp>
        <p:nvSpPr>
          <p:cNvPr id="4" name="Text 1"/>
          <p:cNvSpPr/>
          <p:nvPr/>
        </p:nvSpPr>
        <p:spPr>
          <a:xfrm>
            <a:off x="977479" y="3471069"/>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1</a:t>
            </a:r>
            <a:endParaRPr lang="en-US" sz="1850" dirty="0"/>
          </a:p>
        </p:txBody>
      </p:sp>
      <p:sp>
        <p:nvSpPr>
          <p:cNvPr id="5" name="Text 2"/>
          <p:cNvSpPr/>
          <p:nvPr/>
        </p:nvSpPr>
        <p:spPr>
          <a:xfrm>
            <a:off x="977479" y="3955355"/>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diamond has an arrow for every answer</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7875" y="3256657"/>
            <a:ext cx="2507394" cy="1517948"/>
          </a:xfrm>
          <a:prstGeom prst="rect">
            <a:avLst/>
          </a:prstGeom>
        </p:spPr>
      </p:pic>
      <p:sp>
        <p:nvSpPr>
          <p:cNvPr id="7" name="Text 3"/>
          <p:cNvSpPr/>
          <p:nvPr/>
        </p:nvSpPr>
        <p:spPr>
          <a:xfrm>
            <a:off x="3673879" y="3471069"/>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2</a:t>
            </a:r>
            <a:endParaRPr lang="en-US" sz="1850" dirty="0"/>
          </a:p>
        </p:txBody>
      </p:sp>
      <p:sp>
        <p:nvSpPr>
          <p:cNvPr id="8" name="Text 4"/>
          <p:cNvSpPr/>
          <p:nvPr/>
        </p:nvSpPr>
        <p:spPr>
          <a:xfrm>
            <a:off x="3673879" y="3955355"/>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At least one path from inside the loop to End</a:t>
            </a:r>
            <a:endParaRPr lang="en-US" sz="1450" dirty="0"/>
          </a:p>
        </p:txBody>
      </p:sp>
      <p:sp>
        <p:nvSpPr>
          <p:cNvPr id="9" name="Shape 5"/>
          <p:cNvSpPr/>
          <p:nvPr/>
        </p:nvSpPr>
        <p:spPr>
          <a:xfrm>
            <a:off x="6332776" y="3256657"/>
            <a:ext cx="5203794" cy="736997"/>
          </a:xfrm>
          <a:prstGeom prst="roundRect">
            <a:avLst>
              <a:gd name="adj" fmla="val 10772"/>
            </a:avLst>
          </a:prstGeom>
          <a:solidFill>
            <a:srgbClr val="FCF2B5"/>
          </a:solidFill>
          <a:ln/>
        </p:spPr>
      </p:sp>
      <p:pic>
        <p:nvPicPr>
          <p:cNvPr id="10" name="Image 2" descr="preencoded.png">    </p:cNvPr>
          <p:cNvPicPr>
            <a:picLocks noChangeAspect="1"/>
          </p:cNvPicPr>
          <p:nvPr/>
        </p:nvPicPr>
        <p:blipFill>
          <a:blip r:embed="rId5"/>
          <a:stretch>
            <a:fillRect/>
          </a:stretch>
        </p:blipFill>
        <p:spPr>
          <a:xfrm>
            <a:off x="6521783" y="3543399"/>
            <a:ext cx="236234" cy="189012"/>
          </a:xfrm>
          <a:prstGeom prst="rect">
            <a:avLst/>
          </a:prstGeom>
        </p:spPr>
      </p:pic>
      <p:sp>
        <p:nvSpPr>
          <p:cNvPr id="11" name="Text 6"/>
          <p:cNvSpPr/>
          <p:nvPr/>
        </p:nvSpPr>
        <p:spPr>
          <a:xfrm>
            <a:off x="6947024" y="3473946"/>
            <a:ext cx="5010124"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 diamond with one arrow is a dead end</a:t>
            </a:r>
            <a:endParaRPr lang="en-US" sz="1450" dirty="0"/>
          </a:p>
        </p:txBody>
      </p:sp>
      <p:sp>
        <p:nvSpPr>
          <p:cNvPr id="12" name="Shape 7"/>
          <p:cNvSpPr/>
          <p:nvPr/>
        </p:nvSpPr>
        <p:spPr>
          <a:xfrm>
            <a:off x="6332776" y="4206280"/>
            <a:ext cx="5203794" cy="736997"/>
          </a:xfrm>
          <a:prstGeom prst="roundRect">
            <a:avLst>
              <a:gd name="adj" fmla="val 10772"/>
            </a:avLst>
          </a:prstGeom>
          <a:solidFill>
            <a:srgbClr val="FFB3B4"/>
          </a:solidFill>
          <a:ln/>
        </p:spPr>
      </p:sp>
      <p:pic>
        <p:nvPicPr>
          <p:cNvPr id="13" name="Image 3" descr="preencoded.png">    </p:cNvPr>
          <p:cNvPicPr>
            <a:picLocks noChangeAspect="1"/>
          </p:cNvPicPr>
          <p:nvPr/>
        </p:nvPicPr>
        <p:blipFill>
          <a:blip r:embed="rId6"/>
          <a:stretch>
            <a:fillRect/>
          </a:stretch>
        </p:blipFill>
        <p:spPr>
          <a:xfrm>
            <a:off x="6521783" y="4493022"/>
            <a:ext cx="236234" cy="189012"/>
          </a:xfrm>
          <a:prstGeom prst="rect">
            <a:avLst/>
          </a:prstGeom>
        </p:spPr>
      </p:pic>
      <p:sp>
        <p:nvSpPr>
          <p:cNvPr id="14" name="Text 8"/>
          <p:cNvSpPr/>
          <p:nvPr/>
        </p:nvSpPr>
        <p:spPr>
          <a:xfrm>
            <a:off x="6947024" y="4423569"/>
            <a:ext cx="5010124"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 loop with no exit never finishes</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31713"/>
            <a:ext cx="10868745" cy="424458"/>
          </a:xfrm>
          <a:prstGeom prst="rect">
            <a:avLst/>
          </a:prstGeom>
          <a:noFill/>
          <a:ln/>
        </p:spPr>
        <p:txBody>
          <a:bodyPr wrap="none" lIns="0" tIns="0" rIns="0" bIns="0" rtlCol="0" anchor="t"/>
          <a:lstStyle/>
          <a:p>
            <a:pPr algn="l" indent="0" marL="0">
              <a:lnSpc>
                <a:spcPct val="104000"/>
              </a:lnSpc>
              <a:buNone/>
            </a:pPr>
            <a:r>
              <a:rPr lang="en-US" sz="2650" b="1" dirty="0">
                <a:solidFill>
                  <a:srgbClr val="111111"/>
                </a:solidFill>
                <a:latin typeface="Orbitron Bold" pitchFamily="34" charset="0"/>
                <a:ea typeface="Orbitron Bold" pitchFamily="34" charset="-122"/>
                <a:cs typeface="Orbitron Bold" pitchFamily="34" charset="-120"/>
              </a:rPr>
              <a:t>The same loop as pseudocode</a:t>
            </a:r>
            <a:endParaRPr lang="en-US" sz="2650" dirty="0"/>
          </a:p>
        </p:txBody>
      </p:sp>
      <p:sp>
        <p:nvSpPr>
          <p:cNvPr id="3" name="Shape 1"/>
          <p:cNvSpPr/>
          <p:nvPr/>
        </p:nvSpPr>
        <p:spPr>
          <a:xfrm>
            <a:off x="661475" y="1151434"/>
            <a:ext cx="10868745" cy="5052020"/>
          </a:xfrm>
          <a:prstGeom prst="roundRect">
            <a:avLst>
              <a:gd name="adj" fmla="val 1129"/>
            </a:avLst>
          </a:prstGeom>
          <a:solidFill>
            <a:srgbClr val="F2F2F2"/>
          </a:solidFill>
          <a:ln/>
        </p:spPr>
      </p:sp>
      <p:sp>
        <p:nvSpPr>
          <p:cNvPr id="4" name="Text 2"/>
          <p:cNvSpPr/>
          <p:nvPr/>
        </p:nvSpPr>
        <p:spPr>
          <a:xfrm>
            <a:off x="824487" y="1287264"/>
            <a:ext cx="10542721" cy="47803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SET room TO "lobby"</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SET moves TO 0</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SET playing TO True</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WHILE playing</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DISPLAY the description of room</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INPUT command, cleaned to lowercase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IF command is "quit"</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SET playing TO False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ELSE IF command is a direction AND room has an exit that way</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SET room TO the destination</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ADD 1 TO moves</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IF moves equals MAX_MOVES</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DISPLAY "The storm has reached the ridge."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SET playing TO False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ELSE IF command is "broadcast" AND room is "studio"</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DISPLAY the win message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SET playing TO False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ELSE</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DISPLAY "You cannot do that here."</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DISPLAY "GAME OVER"</a:t>
            </a:r>
            <a:endParaRPr lang="en-US" sz="10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0274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decision tree for one decision</a:t>
            </a:r>
            <a:endParaRPr lang="en-US" sz="3700" dirty="0"/>
          </a:p>
        </p:txBody>
      </p:sp>
      <p:pic>
        <p:nvPicPr>
          <p:cNvPr id="3" name="Image 0" descr="preencoded.png">    </p:cNvPr>
          <p:cNvPicPr>
            <a:picLocks noChangeAspect="1"/>
          </p:cNvPicPr>
          <p:nvPr/>
        </p:nvPicPr>
        <p:blipFill>
          <a:blip r:embed="rId1"/>
          <a:stretch>
            <a:fillRect/>
          </a:stretch>
        </p:blipFill>
        <p:spPr>
          <a:xfrm>
            <a:off x="661475" y="2389485"/>
            <a:ext cx="6903269" cy="2830215"/>
          </a:xfrm>
          <a:prstGeom prst="rect">
            <a:avLst/>
          </a:prstGeom>
        </p:spPr>
      </p:pic>
      <p:sp>
        <p:nvSpPr>
          <p:cNvPr id="4" name="Text 1"/>
          <p:cNvSpPr/>
          <p:nvPr/>
        </p:nvSpPr>
        <p:spPr>
          <a:xfrm>
            <a:off x="3656222" y="2761199"/>
            <a:ext cx="1644789" cy="205604"/>
          </a:xfrm>
          <a:prstGeom prst="rect">
            <a:avLst/>
          </a:prstGeom>
          <a:noFill/>
          <a:ln/>
        </p:spPr>
        <p:txBody>
          <a:bodyPr wrap="none" lIns="0" tIns="0" rIns="0" bIns="0" rtlCol="0" anchor="t"/>
          <a:lstStyle/>
          <a:p>
            <a:pPr algn="l"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Studio</a:t>
            </a:r>
            <a:endParaRPr lang="en-US" sz="1250" dirty="0"/>
          </a:p>
        </p:txBody>
      </p:sp>
      <p:sp>
        <p:nvSpPr>
          <p:cNvPr id="5" name="Text 2"/>
          <p:cNvSpPr/>
          <p:nvPr/>
        </p:nvSpPr>
        <p:spPr>
          <a:xfrm>
            <a:off x="3656222" y="3025285"/>
            <a:ext cx="3326129" cy="164483"/>
          </a:xfrm>
          <a:prstGeom prst="rect">
            <a:avLst/>
          </a:prstGeom>
          <a:noFill/>
          <a:ln/>
        </p:spPr>
        <p:txBody>
          <a:bodyPr wrap="none" lIns="0" tIns="0" rIns="0" bIns="0" rtlCol="0" anchor="t"/>
          <a:lstStyle/>
          <a:p>
            <a:pPr algn="l" indent="0" marL="0">
              <a:lnSpc>
                <a:spcPct val="104000"/>
              </a:lnSpc>
              <a:buNone/>
            </a:pPr>
            <a:r>
              <a:rPr lang="en-US" sz="1000" dirty="0">
                <a:solidFill>
                  <a:srgbClr val="1C1C1C"/>
                </a:solidFill>
                <a:latin typeface="Roboto Condensed" pitchFamily="34" charset="0"/>
                <a:ea typeface="Roboto Condensed" pitchFamily="34" charset="-122"/>
                <a:cs typeface="Roboto Condensed" pitchFamily="34" charset="-120"/>
              </a:rPr>
              <a:t>East to hallway or blocked</a:t>
            </a:r>
            <a:endParaRPr lang="en-US" sz="1000" dirty="0"/>
          </a:p>
        </p:txBody>
      </p:sp>
      <p:sp>
        <p:nvSpPr>
          <p:cNvPr id="6" name="Text 3"/>
          <p:cNvSpPr/>
          <p:nvPr/>
        </p:nvSpPr>
        <p:spPr>
          <a:xfrm>
            <a:off x="3656222" y="3579958"/>
            <a:ext cx="1644789" cy="205604"/>
          </a:xfrm>
          <a:prstGeom prst="rect">
            <a:avLst/>
          </a:prstGeom>
          <a:noFill/>
          <a:ln/>
        </p:spPr>
        <p:txBody>
          <a:bodyPr wrap="none" lIns="0" tIns="0" rIns="0" bIns="0" rtlCol="0" anchor="t"/>
          <a:lstStyle/>
          <a:p>
            <a:pPr algn="l"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Hallway</a:t>
            </a:r>
            <a:endParaRPr lang="en-US" sz="1250" dirty="0"/>
          </a:p>
        </p:txBody>
      </p:sp>
      <p:sp>
        <p:nvSpPr>
          <p:cNvPr id="7" name="Text 4"/>
          <p:cNvSpPr/>
          <p:nvPr/>
        </p:nvSpPr>
        <p:spPr>
          <a:xfrm>
            <a:off x="3656222" y="3844045"/>
            <a:ext cx="3326129" cy="164483"/>
          </a:xfrm>
          <a:prstGeom prst="rect">
            <a:avLst/>
          </a:prstGeom>
          <a:noFill/>
          <a:ln/>
        </p:spPr>
        <p:txBody>
          <a:bodyPr wrap="none" lIns="0" tIns="0" rIns="0" bIns="0" rtlCol="0" anchor="t"/>
          <a:lstStyle/>
          <a:p>
            <a:pPr algn="l" indent="0" marL="0">
              <a:lnSpc>
                <a:spcPct val="104000"/>
              </a:lnSpc>
              <a:buNone/>
            </a:pPr>
            <a:r>
              <a:rPr lang="en-US" sz="1000" dirty="0">
                <a:solidFill>
                  <a:srgbClr val="1C1C1C"/>
                </a:solidFill>
                <a:latin typeface="Roboto Condensed" pitchFamily="34" charset="0"/>
                <a:ea typeface="Roboto Condensed" pitchFamily="34" charset="-122"/>
                <a:cs typeface="Roboto Condensed" pitchFamily="34" charset="-120"/>
              </a:rPr>
              <a:t>South to lobby, west to studio</a:t>
            </a:r>
            <a:endParaRPr lang="en-US" sz="1000" dirty="0"/>
          </a:p>
        </p:txBody>
      </p:sp>
      <p:sp>
        <p:nvSpPr>
          <p:cNvPr id="8" name="Text 5"/>
          <p:cNvSpPr/>
          <p:nvPr/>
        </p:nvSpPr>
        <p:spPr>
          <a:xfrm>
            <a:off x="3656222" y="4406029"/>
            <a:ext cx="1644789" cy="205604"/>
          </a:xfrm>
          <a:prstGeom prst="rect">
            <a:avLst/>
          </a:prstGeom>
          <a:noFill/>
          <a:ln/>
        </p:spPr>
        <p:txBody>
          <a:bodyPr wrap="none" lIns="0" tIns="0" rIns="0" bIns="0" rtlCol="0" anchor="t"/>
          <a:lstStyle/>
          <a:p>
            <a:pPr algn="l" indent="0" marL="0">
              <a:lnSpc>
                <a:spcPct val="104000"/>
              </a:lnSpc>
              <a:buNone/>
            </a:pPr>
            <a:r>
              <a:rPr lang="en-US" sz="1250" b="1" dirty="0">
                <a:solidFill>
                  <a:srgbClr val="1C1C1C"/>
                </a:solidFill>
                <a:latin typeface="Orbitron Bold" pitchFamily="34" charset="0"/>
                <a:ea typeface="Orbitron Bold" pitchFamily="34" charset="-122"/>
                <a:cs typeface="Orbitron Bold" pitchFamily="34" charset="-120"/>
              </a:rPr>
              <a:t>Lobby</a:t>
            </a:r>
            <a:endParaRPr lang="en-US" sz="1250" dirty="0"/>
          </a:p>
        </p:txBody>
      </p:sp>
      <p:sp>
        <p:nvSpPr>
          <p:cNvPr id="9" name="Text 6"/>
          <p:cNvSpPr/>
          <p:nvPr/>
        </p:nvSpPr>
        <p:spPr>
          <a:xfrm>
            <a:off x="3656222" y="4670115"/>
            <a:ext cx="3326129" cy="164483"/>
          </a:xfrm>
          <a:prstGeom prst="rect">
            <a:avLst/>
          </a:prstGeom>
          <a:noFill/>
          <a:ln/>
        </p:spPr>
        <p:txBody>
          <a:bodyPr wrap="none" lIns="0" tIns="0" rIns="0" bIns="0" rtlCol="0" anchor="t"/>
          <a:lstStyle/>
          <a:p>
            <a:pPr algn="l" indent="0" marL="0">
              <a:lnSpc>
                <a:spcPct val="104000"/>
              </a:lnSpc>
              <a:buNone/>
            </a:pPr>
            <a:r>
              <a:rPr lang="en-US" sz="1000" dirty="0">
                <a:solidFill>
                  <a:srgbClr val="1C1C1C"/>
                </a:solidFill>
                <a:latin typeface="Roboto Condensed" pitchFamily="34" charset="0"/>
                <a:ea typeface="Roboto Condensed" pitchFamily="34" charset="-122"/>
                <a:cs typeface="Roboto Condensed" pitchFamily="34" charset="-120"/>
              </a:rPr>
              <a:t>North to hallway or blocked</a:t>
            </a:r>
            <a:endParaRPr lang="en-US" sz="1000" dirty="0"/>
          </a:p>
        </p:txBody>
      </p:sp>
      <p:sp>
        <p:nvSpPr>
          <p:cNvPr id="10" name="Shape 7"/>
          <p:cNvSpPr/>
          <p:nvPr/>
        </p:nvSpPr>
        <p:spPr>
          <a:xfrm>
            <a:off x="8032251" y="2405856"/>
            <a:ext cx="3504219" cy="2797373"/>
          </a:xfrm>
          <a:prstGeom prst="roundRect">
            <a:avLst>
              <a:gd name="adj" fmla="val 2838"/>
            </a:avLst>
          </a:prstGeom>
          <a:solidFill>
            <a:srgbClr val="F2F2F2"/>
          </a:solidFill>
          <a:ln/>
        </p:spPr>
      </p:sp>
      <p:sp>
        <p:nvSpPr>
          <p:cNvPr id="11" name="Text 8"/>
          <p:cNvSpPr/>
          <p:nvPr/>
        </p:nvSpPr>
        <p:spPr>
          <a:xfrm>
            <a:off x="8259060" y="2594868"/>
            <a:ext cx="3050603"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Which room are you in?</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lobby    -&gt; north?  yes: hallway   no: blocked</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hallway  -&gt; south?  yes: lobby</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west?   yes: studio</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other:  blocked</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studio   -&gt; east?   yes: hallway   no: blocked</a:t>
            </a:r>
            <a:endParaRPr lang="en-US" sz="14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56605"/>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Precise enough to code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43348"/>
            <a:ext cx="2917851" cy="1215529"/>
          </a:xfrm>
          <a:prstGeom prst="rect">
            <a:avLst/>
          </a:prstGeom>
        </p:spPr>
      </p:pic>
      <p:sp>
        <p:nvSpPr>
          <p:cNvPr id="5" name="Text 1"/>
          <p:cNvSpPr/>
          <p:nvPr/>
        </p:nvSpPr>
        <p:spPr>
          <a:xfrm>
            <a:off x="977479" y="2557760"/>
            <a:ext cx="238744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precise</a:t>
            </a:r>
            <a:endParaRPr lang="en-US" sz="1850" dirty="0"/>
          </a:p>
        </p:txBody>
      </p:sp>
      <p:sp>
        <p:nvSpPr>
          <p:cNvPr id="6" name="Text 2"/>
          <p:cNvSpPr/>
          <p:nvPr/>
        </p:nvSpPr>
        <p:spPr>
          <a:xfrm>
            <a:off x="977479" y="3042047"/>
            <a:ext cx="2387441"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IF the player can win</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747889"/>
            <a:ext cx="2917851" cy="1517948"/>
          </a:xfrm>
          <a:prstGeom prst="rect">
            <a:avLst/>
          </a:prstGeom>
        </p:spPr>
      </p:pic>
      <p:sp>
        <p:nvSpPr>
          <p:cNvPr id="8" name="Text 3"/>
          <p:cNvSpPr/>
          <p:nvPr/>
        </p:nvSpPr>
        <p:spPr>
          <a:xfrm>
            <a:off x="977479" y="3962301"/>
            <a:ext cx="238744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Precise</a:t>
            </a:r>
            <a:endParaRPr lang="en-US" sz="1850" dirty="0"/>
          </a:p>
        </p:txBody>
      </p:sp>
      <p:sp>
        <p:nvSpPr>
          <p:cNvPr id="9" name="Text 4"/>
          <p:cNvSpPr/>
          <p:nvPr/>
        </p:nvSpPr>
        <p:spPr>
          <a:xfrm>
            <a:off x="977479" y="4446588"/>
            <a:ext cx="238744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IF room is studio AND power_on is True</a:t>
            </a:r>
            <a:endParaRPr lang="en-US" sz="1450" dirty="0"/>
          </a:p>
        </p:txBody>
      </p:sp>
      <p:sp>
        <p:nvSpPr>
          <p:cNvPr id="10" name="Text 5"/>
          <p:cNvSpPr/>
          <p:nvPr/>
        </p:nvSpPr>
        <p:spPr>
          <a:xfrm>
            <a:off x="4046833" y="2300784"/>
            <a:ext cx="2917851" cy="1275755"/>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value must be an input or in state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classmate should not need to ask you anything</a:t>
            </a:r>
            <a:endParaRPr lang="en-US" sz="14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4265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code from an incomplete model</a:t>
            </a:r>
            <a:endParaRPr lang="en-US" sz="3700" dirty="0"/>
          </a:p>
        </p:txBody>
      </p:sp>
      <p:sp>
        <p:nvSpPr>
          <p:cNvPr id="3" name="Shape 1"/>
          <p:cNvSpPr/>
          <p:nvPr/>
        </p:nvSpPr>
        <p:spPr>
          <a:xfrm>
            <a:off x="661475" y="2301974"/>
            <a:ext cx="10868745" cy="2797373"/>
          </a:xfrm>
          <a:prstGeom prst="roundRect">
            <a:avLst>
              <a:gd name="adj" fmla="val 2838"/>
            </a:avLst>
          </a:prstGeom>
          <a:solidFill>
            <a:srgbClr val="F2F2F2"/>
          </a:solidFill>
          <a:ln/>
        </p:spPr>
      </p:sp>
      <p:sp>
        <p:nvSpPr>
          <p:cNvPr id="4" name="Text 2"/>
          <p:cNvSpPr/>
          <p:nvPr/>
        </p:nvSpPr>
        <p:spPr>
          <a:xfrm>
            <a:off x="888283" y="2490986"/>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room = "hallway"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command = input("&gt; ").strip().lower()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command == "down":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has_flashlight: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print("Your flashlight finds the basement stairs.")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 step into total darkness.")</a:t>
            </a:r>
            <a:endParaRPr lang="en-US" sz="1450" dirty="0"/>
          </a:p>
        </p:txBody>
      </p:sp>
      <p:sp>
        <p:nvSpPr>
          <p:cNvPr id="5" name="Shape 3"/>
          <p:cNvSpPr/>
          <p:nvPr/>
        </p:nvSpPr>
        <p:spPr>
          <a:xfrm>
            <a:off x="661475" y="5311973"/>
            <a:ext cx="10868745" cy="680442"/>
          </a:xfrm>
          <a:prstGeom prst="roundRect">
            <a:avLst>
              <a:gd name="adj" fmla="val 11667"/>
            </a:avLst>
          </a:prstGeom>
          <a:solidFill>
            <a:srgbClr val="F2F2F2"/>
          </a:solidFill>
          <a:ln/>
        </p:spPr>
      </p:sp>
      <p:sp>
        <p:nvSpPr>
          <p:cNvPr id="6" name="Text 4"/>
          <p:cNvSpPr/>
          <p:nvPr/>
        </p:nvSpPr>
        <p:spPr>
          <a:xfrm>
            <a:off x="888283" y="550098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NameError: name 'has_flashlight' is not defined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79834"/>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What you are about to build</a:t>
            </a:r>
            <a:endParaRPr lang="en-US" sz="3650" dirty="0"/>
          </a:p>
        </p:txBody>
      </p:sp>
      <p:sp>
        <p:nvSpPr>
          <p:cNvPr id="4" name="Shape 1"/>
          <p:cNvSpPr/>
          <p:nvPr/>
        </p:nvSpPr>
        <p:spPr>
          <a:xfrm>
            <a:off x="5233360" y="2017415"/>
            <a:ext cx="418593" cy="418604"/>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3060" y="20522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6" name="Text 3"/>
          <p:cNvSpPr/>
          <p:nvPr/>
        </p:nvSpPr>
        <p:spPr>
          <a:xfrm>
            <a:off x="5835107" y="2081312"/>
            <a:ext cx="5695113"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Build 1</a:t>
            </a:r>
            <a:endParaRPr lang="en-US" sz="1800" dirty="0"/>
          </a:p>
        </p:txBody>
      </p:sp>
      <p:sp>
        <p:nvSpPr>
          <p:cNvPr id="7" name="Text 4"/>
          <p:cNvSpPr/>
          <p:nvPr/>
        </p:nvSpPr>
        <p:spPr>
          <a:xfrm>
            <a:off x="5835107" y="2481858"/>
            <a:ext cx="5695113"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IPO chart and flowchart for the slice</a:t>
            </a:r>
            <a:endParaRPr lang="en-US" sz="1450" dirty="0"/>
          </a:p>
        </p:txBody>
      </p:sp>
      <p:sp>
        <p:nvSpPr>
          <p:cNvPr id="8" name="Shape 5"/>
          <p:cNvSpPr/>
          <p:nvPr/>
        </p:nvSpPr>
        <p:spPr>
          <a:xfrm>
            <a:off x="5233360" y="3143448"/>
            <a:ext cx="418593" cy="418604"/>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303060" y="3178274"/>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10" name="Text 7"/>
          <p:cNvSpPr/>
          <p:nvPr/>
        </p:nvSpPr>
        <p:spPr>
          <a:xfrm>
            <a:off x="5835107" y="3207345"/>
            <a:ext cx="5695113"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Pass both checks</a:t>
            </a:r>
            <a:endParaRPr lang="en-US" sz="1800" dirty="0"/>
          </a:p>
        </p:txBody>
      </p:sp>
      <p:sp>
        <p:nvSpPr>
          <p:cNvPr id="11" name="Text 8"/>
          <p:cNvSpPr/>
          <p:nvPr/>
        </p:nvSpPr>
        <p:spPr>
          <a:xfrm>
            <a:off x="5835107" y="3607891"/>
            <a:ext cx="5695113"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Before you move on</a:t>
            </a:r>
            <a:endParaRPr lang="en-US" sz="1450" dirty="0"/>
          </a:p>
        </p:txBody>
      </p:sp>
      <p:sp>
        <p:nvSpPr>
          <p:cNvPr id="12" name="Shape 9"/>
          <p:cNvSpPr/>
          <p:nvPr/>
        </p:nvSpPr>
        <p:spPr>
          <a:xfrm>
            <a:off x="5233360" y="4269482"/>
            <a:ext cx="418593" cy="418604"/>
          </a:xfrm>
          <a:prstGeom prst="roundRect">
            <a:avLst>
              <a:gd name="adj" fmla="val 18669"/>
            </a:avLst>
          </a:prstGeom>
          <a:solidFill>
            <a:srgbClr val="D1E5FA"/>
          </a:solidFill>
          <a:ln w="19050">
            <a:solidFill>
              <a:srgbClr val="B7CBE0"/>
            </a:solidFill>
            <a:prstDash val="solid"/>
          </a:ln>
        </p:spPr>
      </p:sp>
      <p:sp>
        <p:nvSpPr>
          <p:cNvPr id="13" name="Text 10"/>
          <p:cNvSpPr/>
          <p:nvPr/>
        </p:nvSpPr>
        <p:spPr>
          <a:xfrm>
            <a:off x="5303060" y="4304308"/>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4" name="Text 11"/>
          <p:cNvSpPr/>
          <p:nvPr/>
        </p:nvSpPr>
        <p:spPr>
          <a:xfrm>
            <a:off x="5835107" y="4333379"/>
            <a:ext cx="5695113"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Build 2</a:t>
            </a:r>
            <a:endParaRPr lang="en-US" sz="1800" dirty="0"/>
          </a:p>
        </p:txBody>
      </p:sp>
      <p:sp>
        <p:nvSpPr>
          <p:cNvPr id="15" name="Text 12"/>
          <p:cNvSpPr/>
          <p:nvPr/>
        </p:nvSpPr>
        <p:spPr>
          <a:xfrm>
            <a:off x="5835107" y="4733925"/>
            <a:ext cx="5695113"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Pseudocode and the move decision tree</a:t>
            </a:r>
            <a:endParaRPr lang="en-US" sz="1450" dirty="0"/>
          </a:p>
        </p:txBody>
      </p:sp>
      <p:sp>
        <p:nvSpPr>
          <p:cNvPr id="16" name="Shape 13"/>
          <p:cNvSpPr/>
          <p:nvPr/>
        </p:nvSpPr>
        <p:spPr>
          <a:xfrm>
            <a:off x="5233360" y="5395516"/>
            <a:ext cx="418593" cy="418604"/>
          </a:xfrm>
          <a:prstGeom prst="roundRect">
            <a:avLst>
              <a:gd name="adj" fmla="val 18669"/>
            </a:avLst>
          </a:prstGeom>
          <a:solidFill>
            <a:srgbClr val="D1E5FA"/>
          </a:solidFill>
          <a:ln w="19050">
            <a:solidFill>
              <a:srgbClr val="B7CBE0"/>
            </a:solidFill>
            <a:prstDash val="solid"/>
          </a:ln>
        </p:spPr>
      </p:sp>
      <p:sp>
        <p:nvSpPr>
          <p:cNvPr id="17" name="Text 14"/>
          <p:cNvSpPr/>
          <p:nvPr/>
        </p:nvSpPr>
        <p:spPr>
          <a:xfrm>
            <a:off x="5303060" y="54303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4</a:t>
            </a:r>
            <a:endParaRPr lang="en-US" sz="2150" dirty="0"/>
          </a:p>
        </p:txBody>
      </p:sp>
      <p:sp>
        <p:nvSpPr>
          <p:cNvPr id="18" name="Text 15"/>
          <p:cNvSpPr/>
          <p:nvPr/>
        </p:nvSpPr>
        <p:spPr>
          <a:xfrm>
            <a:off x="5835107" y="5459413"/>
            <a:ext cx="5695113"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 Python today</a:t>
            </a:r>
            <a:endParaRPr lang="en-US" sz="1800" dirty="0"/>
          </a:p>
        </p:txBody>
      </p:sp>
      <p:sp>
        <p:nvSpPr>
          <p:cNvPr id="19" name="Text 16"/>
          <p:cNvSpPr/>
          <p:nvPr/>
        </p:nvSpPr>
        <p:spPr>
          <a:xfrm>
            <a:off x="5835107" y="5859959"/>
            <a:ext cx="5695113"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Tomorrow the loop becomes code</a:t>
            </a:r>
            <a:endParaRPr lang="en-US" sz="1450" dirty="0"/>
          </a:p>
        </p:txBody>
      </p:sp>
      <p:sp>
        <p:nvSpPr>
          <p:cNvPr id="20" name="Text 1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2026-09-14T18:19:48Z</dcterms:created>
  <dcterms:modified xsi:type="dcterms:W3CDTF">2026-09-14T18:19:48Z</dcterms:modified>
</cp:coreProperties>
</file>