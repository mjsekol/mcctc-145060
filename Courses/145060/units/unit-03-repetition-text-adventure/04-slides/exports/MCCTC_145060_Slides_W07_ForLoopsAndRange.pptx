
<file path=[Content_Types].xml><?xml version="1.0" encoding="utf-8"?>
<Types xmlns="http://schemas.openxmlformats.org/package/2006/content-types">
  <Default Extension="fntdata" ContentType="application/x-fontdata"/>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true" autoCompressPictures="0" embedTrueTypeFonts="true">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Lst>
  <p:notesMasterIdLst>
    <p:notesMasterId r:id="rId13"/>
  </p:notesMasterIdLst>
  <p:sldSz cx="12191695" cy="6858000"/>
  <p:notesSz cx="6858000" cy="12191695"/>
  <p:embeddedFontLst>
    <p:embeddedFont>
      <p:font typeface="Orbitron Bold"/>
      <p:regular r:id="rId201314"/>
    </p:embeddedFont>
    <p:embeddedFont>
      <p:font typeface="Roboto Condensed Bold"/>
      <p:regular r:id="rId201315"/>
    </p:embeddedFont>
    <p:embeddedFont>
      <p:font typeface="Roboto Condensed"/>
      <p:regular r:id="rId201316"/>
    </p:embeddedFont>
  </p:embeddedFontLst>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notesMaster" Target="notesMasters/notesMaster1.xml"/><Relationship Id="rId14" Type="http://schemas.openxmlformats.org/officeDocument/2006/relationships/presProps" Target="presProps.xml"/><Relationship Id="rId15" Type="http://schemas.openxmlformats.org/officeDocument/2006/relationships/viewProps" Target="viewProps.xml"/><Relationship Id="rId16" Type="http://schemas.openxmlformats.org/officeDocument/2006/relationships/theme" Target="theme/theme1.xml"/><Relationship Id="rId17" Type="http://schemas.openxmlformats.org/officeDocument/2006/relationships/tableStyles" Target="tableStyles.xml"/><Relationship Id="rId201314" Target="fonts/201314.fntdata" Type="http://schemas.openxmlformats.org/officeDocument/2006/relationships/font"/><Relationship Id="rId201315" Target="fonts/201315.fntdata" Type="http://schemas.openxmlformats.org/officeDocument/2006/relationships/font"/><Relationship Id="rId201316" Target="fonts/201316.fntdata" Type="http://schemas.openxmlformats.org/officeDocument/2006/relationships/font"/><Relationship Id="rId201317" Target="fonts/201317.fntdata" Type="http://schemas.openxmlformats.org/officeDocument/2006/relationships/font"/><Relationship Id="rId201318" Target="fonts/201318.fntdata" Type="http://schemas.openxmlformats.org/officeDocument/2006/relationships/font"/><Relationship Id="rId201319" Target="fonts/201319.fntdata" Type="http://schemas.openxmlformats.org/officeDocument/2006/relationships/font"/><Relationship Id="rId201320" Target="fonts/201320.fntdata" Type="http://schemas.openxmlformats.org/officeDocument/2006/relationships/font"/></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On Thursday you learned the while loop, and you learned that it asks three things of you every single time. Set the counter. Check it. Change it. Most loops you will ever write have a simpler shape than a game loop. Do this seven times. Do this once for every character. For that shape, Python has a loop that does all three jobs for you, and today you learn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Both of these print the same seven lines. Look at what is missing from the second one. No day equals one. No day equals day plus one. The range supplies every value day will take, in order, and there is no update line to forget. The most common infinite loop in this course is a while with a missing update. A for loop over a range cannot have 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 condition to write and no counter to update, because the sequence decides both. On every pass, the loop variable holds the next item. When the items run out, the loop is over. The sequence you will use most is range. But a string is also a sequence, so a for loop can walk through every character of a username without a single index number.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rule you already know from Week 3. A slice runs from here up to but not including there. So does range. One number means this many, starting at zero. Two numbers means from the first up to but not including the second. A third number is the step, and a negative step is the only way range counts down. Say it with me. Up to but not including.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Storm Relay the emergency message repeats so a listener who tunes in late still hears it. The number of repeats is a constant. Memorize the plus one. When you count from one and want the last number to be the limit itself, the stop is the limit plus one. Change the constant to five and you get one of five through five of five with no other edit.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Each pass, character holds one character of the username. The if inside runs once per character. Everything from Unit 2 still works inside a loop. And underscores is an accumulator. It is set to zero before the loop, it is updated inside, and after the loop it holds a result built from every pass. Set it inside the loop and it resets every pass.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 want seven days. Days one through seven. I am going to type the seven, because seven is the number in my head. Before I run it, predict how many lines print. Write the number down. Then we count.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Six days. No error. And it says week complete. Range stopped before seven, exactly like it always does. This is Thursday's practice that ran two laps instead of three, and it is Week 3's year that came out as two zero two. The dangerous bugs are the ones that do not crash. The defense is counting, not staring. Count the output lines of every new loop at least once. The version that does crash is range of a string from input, which gives a TypeError saying a str cannot be interpreted as an integer.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One test question decides it. Before the loop starts, can the program know how many passes it will make? If yes, for. If no, while. Nobody knows how many commands a player will type, so the game loop is a while. Everybody knows the broadcast repeats three times, so that is a for. Your text adventure will have both.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Build one is the training plan lab, part one. You will ask for starting minutes, a weekly increase, and the number of weeks, and a for loop will print the whole plan and a season total. Step five tells you to remove the plus one and record what happens. Do it, even though you know what happens now. Build two is the design of your own text adventure. On Wednesday you modeled Storm Relay. Today you make the same four models for your world, and you commit them before adventure dot py exists. I will be checking the order in your history.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Slide master 1">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FAFAFA"/>
          </a:solidFill>
          <a:ln/>
        </p:spPr>
      </p:sp>
      <p:sp>
        <p:nvSpPr>
          <p:cNvPr id="3" name="Shape 1"/>
          <p:cNvSpPr/>
          <p:nvPr/>
        </p:nvSpPr>
        <p:spPr>
          <a:xfrm>
            <a:off x="0" y="0"/>
            <a:ext cx="12191695" cy="6858000"/>
          </a:xfrm>
          <a:prstGeom prst="rect">
            <a:avLst/>
          </a:prstGeom>
          <a:solidFill>
            <a:srgbClr val="FFFFFF"/>
          </a:solidFill>
          <a:ln/>
        </p:spPr>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jpeg"/><Relationship Id="rId2" Type="http://schemas.openxmlformats.org/officeDocument/2006/relationships/slideLayout" Target="../slideLayouts/slideLayout2.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jpeg"/><Relationship Id="rId2" Type="http://schemas.openxmlformats.org/officeDocument/2006/relationships/slideLayout" Target="../slideLayouts/slideLayout2.xml"/><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jpeg"/><Relationship Id="rId2" Type="http://schemas.openxmlformats.org/officeDocument/2006/relationships/slideLayout" Target="../slideLayouts/slideLayout2.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image" Target="../media/image-5-2.svg"/><Relationship Id="rId3" Type="http://schemas.openxmlformats.org/officeDocument/2006/relationships/image" Target="../media/image-5-1.png"/><Relationship Id="rId4" Type="http://schemas.openxmlformats.org/officeDocument/2006/relationships/image" Target="../media/image-5-2.svg"/><Relationship Id="rId5" Type="http://schemas.openxmlformats.org/officeDocument/2006/relationships/image" Target="../media/image-5-1.png"/><Relationship Id="rId6" Type="http://schemas.openxmlformats.org/officeDocument/2006/relationships/image" Target="../media/image-5-2.svg"/><Relationship Id="rId7" Type="http://schemas.openxmlformats.org/officeDocument/2006/relationships/image" Target="../media/image-5-1.png"/><Relationship Id="rId8" Type="http://schemas.openxmlformats.org/officeDocument/2006/relationships/image" Target="../media/image-5-2.svg"/><Relationship Id="rId9" Type="http://schemas.openxmlformats.org/officeDocument/2006/relationships/image" Target="../media/image-5-9.jpeg"/><Relationship Id="rId10" Type="http://schemas.openxmlformats.org/officeDocument/2006/relationships/slideLayout" Target="../slideLayouts/slideLayout2.xml"/><Relationship Id="rId11"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2.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jpeg"/><Relationship Id="rId2" Type="http://schemas.openxmlformats.org/officeDocument/2006/relationships/slideLayout" Target="../slideLayouts/slideLayout2.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jpeg"/><Relationship Id="rId2" Type="http://schemas.openxmlformats.org/officeDocument/2006/relationships/slideLayout" Target="../slideLayouts/slideLayout2.xml"/><Relationship Id="rId3" Type="http://schemas.openxmlformats.org/officeDocument/2006/relationships/notesSlide" Target="../notesSlides/notesSlide11.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4571886" cy="6858000"/>
          </a:xfrm>
          <a:prstGeom prst="rect">
            <a:avLst/>
          </a:prstGeom>
        </p:spPr>
      </p:pic>
      <p:sp>
        <p:nvSpPr>
          <p:cNvPr id="3" name="Text 0"/>
          <p:cNvSpPr/>
          <p:nvPr/>
        </p:nvSpPr>
        <p:spPr>
          <a:xfrm>
            <a:off x="5233360" y="3072209"/>
            <a:ext cx="6296860" cy="590649"/>
          </a:xfrm>
          <a:prstGeom prst="rect">
            <a:avLst/>
          </a:prstGeom>
          <a:noFill/>
          <a:ln/>
        </p:spPr>
        <p:txBody>
          <a:bodyPr wrap="none" lIns="0" tIns="0" rIns="0" bIns="0" rtlCol="0" anchor="t"/>
          <a:lstStyle/>
          <a:p>
            <a:pPr algn="l" indent="0" marL="0">
              <a:lnSpc>
                <a:spcPct val="104000"/>
              </a:lnSpc>
              <a:buNone/>
            </a:pPr>
            <a:r>
              <a:rPr lang="en-US" sz="3700" b="1" dirty="0">
                <a:solidFill>
                  <a:srgbClr val="111111"/>
                </a:solidFill>
                <a:latin typeface="Orbitron Bold" pitchFamily="34" charset="0"/>
                <a:ea typeface="Orbitron Bold" pitchFamily="34" charset="-122"/>
                <a:cs typeface="Orbitron Bold" pitchFamily="34" charset="-120"/>
              </a:rPr>
              <a:t>Count It For Me</a:t>
            </a:r>
            <a:endParaRPr lang="en-US" sz="37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4571886" cy="6858000"/>
          </a:xfrm>
          <a:prstGeom prst="rect">
            <a:avLst/>
          </a:prstGeom>
        </p:spPr>
      </p:pic>
      <p:sp>
        <p:nvSpPr>
          <p:cNvPr id="3" name="Text 0"/>
          <p:cNvSpPr/>
          <p:nvPr/>
        </p:nvSpPr>
        <p:spPr>
          <a:xfrm>
            <a:off x="5233360" y="1746945"/>
            <a:ext cx="6296860" cy="1181298"/>
          </a:xfrm>
          <a:prstGeom prst="rect">
            <a:avLst/>
          </a:prstGeom>
          <a:noFill/>
          <a:ln/>
        </p:spPr>
        <p:txBody>
          <a:bodyPr wrap="square" lIns="0" tIns="0" rIns="0" bIns="0" rtlCol="0" anchor="t">
            <a:normAutofit/>
          </a:bodyPr>
          <a:lstStyle/>
          <a:p>
            <a:pPr algn="l" indent="0" marL="0">
              <a:lnSpc>
                <a:spcPct val="104000"/>
              </a:lnSpc>
              <a:buNone/>
            </a:pPr>
            <a:r>
              <a:rPr lang="en-US" sz="3700" b="1" dirty="0">
                <a:solidFill>
                  <a:srgbClr val="111111"/>
                </a:solidFill>
                <a:latin typeface="Orbitron Bold" pitchFamily="34" charset="0"/>
                <a:ea typeface="Orbitron Bold" pitchFamily="34" charset="-122"/>
                <a:cs typeface="Orbitron Bold" pitchFamily="34" charset="-120"/>
              </a:rPr>
              <a:t>Seven days, three chances to mess up</a:t>
            </a:r>
            <a:endParaRPr lang="en-US" sz="3700" dirty="0"/>
          </a:p>
        </p:txBody>
      </p:sp>
      <p:sp>
        <p:nvSpPr>
          <p:cNvPr id="4" name="Text 1"/>
          <p:cNvSpPr/>
          <p:nvPr/>
        </p:nvSpPr>
        <p:spPr>
          <a:xfrm>
            <a:off x="5233360" y="3211711"/>
            <a:ext cx="6296860" cy="1776413"/>
          </a:xfrm>
          <a:prstGeom prst="rect">
            <a:avLst/>
          </a:prstGeom>
          <a:noFill/>
          <a:ln/>
        </p:spPr>
        <p:txBody>
          <a:bodyPr wrap="square" lIns="0" tIns="0" rIns="0" bIns="0" rtlCol="0" anchor="t">
            <a:normAutofit/>
          </a:bodyPr>
          <a:lstStyle/>
          <a:p>
            <a:pPr algn="l" marL="294640" indent="-294640">
              <a:lnSpc>
                <a:spcPct val="133000"/>
              </a:lnSpc>
              <a:buSzPct val="100000"/>
              <a:buChar char="•"/>
            </a:pPr>
            <a:r>
              <a:rPr lang="en-US" sz="1450" dirty="0">
                <a:solidFill>
                  <a:srgbClr val="1C1C1C"/>
                </a:solidFill>
                <a:latin typeface="Roboto Condensed" pitchFamily="34" charset="0"/>
                <a:ea typeface="Roboto Condensed" pitchFamily="34" charset="-122"/>
                <a:cs typeface="Roboto Condensed" pitchFamily="34" charset="-120"/>
              </a:rPr>
              <a:t>Print a pushup plan for seven days</a:t>
            </a:r>
            <a:endParaRPr lang="en-US" sz="1450" dirty="0"/>
          </a:p>
          <a:p>
            <a:pPr algn="l" marL="294640" indent="-294640">
              <a:lnSpc>
                <a:spcPct val="133000"/>
              </a:lnSpc>
              <a:buSzPct val="100000"/>
              <a:buChar char="•"/>
            </a:pPr>
            <a:r>
              <a:rPr lang="en-US" sz="1450" dirty="0">
                <a:solidFill>
                  <a:srgbClr val="1C1C1C"/>
                </a:solidFill>
                <a:latin typeface="Roboto Condensed" pitchFamily="34" charset="0"/>
                <a:ea typeface="Roboto Condensed" pitchFamily="34" charset="-122"/>
                <a:cs typeface="Roboto Condensed" pitchFamily="34" charset="-120"/>
              </a:rPr>
              <a:t>Thursday's while loop needs a start value</a:t>
            </a:r>
            <a:endParaRPr lang="en-US" sz="1450" dirty="0"/>
          </a:p>
          <a:p>
            <a:pPr algn="l" marL="294640" indent="-294640">
              <a:lnSpc>
                <a:spcPct val="133000"/>
              </a:lnSpc>
              <a:buSzPct val="100000"/>
              <a:buChar char="•"/>
            </a:pPr>
            <a:r>
              <a:rPr lang="en-US" sz="1450" dirty="0">
                <a:solidFill>
                  <a:srgbClr val="1C1C1C"/>
                </a:solidFill>
                <a:latin typeface="Roboto Condensed" pitchFamily="34" charset="0"/>
                <a:ea typeface="Roboto Condensed" pitchFamily="34" charset="-122"/>
                <a:cs typeface="Roboto Condensed" pitchFamily="34" charset="-120"/>
              </a:rPr>
              <a:t>A condition, and an update line</a:t>
            </a:r>
            <a:endParaRPr lang="en-US" sz="1450" dirty="0"/>
          </a:p>
          <a:p>
            <a:pPr algn="l" marL="294640" indent="-294640">
              <a:lnSpc>
                <a:spcPct val="133000"/>
              </a:lnSpc>
              <a:buSzPct val="100000"/>
              <a:buChar char="•"/>
            </a:pPr>
            <a:r>
              <a:rPr lang="en-US" sz="1450" dirty="0">
                <a:solidFill>
                  <a:srgbClr val="1C1C1C"/>
                </a:solidFill>
                <a:latin typeface="Roboto Condensed" pitchFamily="34" charset="0"/>
                <a:ea typeface="Roboto Condensed" pitchFamily="34" charset="-122"/>
                <a:cs typeface="Roboto Condensed" pitchFamily="34" charset="-120"/>
              </a:rPr>
              <a:t>Forget the update and it never stops</a:t>
            </a:r>
            <a:endParaRPr lang="en-US" sz="1450" dirty="0"/>
          </a:p>
          <a:p>
            <a:pPr algn="l" marL="294640" indent="-294640">
              <a:lnSpc>
                <a:spcPct val="133000"/>
              </a:lnSpc>
              <a:buSzPct val="100000"/>
              <a:buChar char="•"/>
            </a:pPr>
            <a:r>
              <a:rPr lang="en-US" sz="1450" dirty="0">
                <a:solidFill>
                  <a:srgbClr val="1C1C1C"/>
                </a:solidFill>
                <a:latin typeface="Roboto Condensed" pitchFamily="34" charset="0"/>
                <a:ea typeface="Roboto Condensed" pitchFamily="34" charset="-122"/>
                <a:cs typeface="Roboto Condensed" pitchFamily="34" charset="-120"/>
              </a:rPr>
              <a:t>Get the condition wrong and a day disappears</a:t>
            </a:r>
            <a:endParaRPr lang="en-US" sz="1450" dirty="0"/>
          </a:p>
        </p:txBody>
      </p:sp>
      <p:sp>
        <p:nvSpPr>
          <p:cNvPr id="5" name="Text 2"/>
          <p:cNvSpPr/>
          <p:nvPr/>
        </p:nvSpPr>
        <p:spPr>
          <a:xfrm>
            <a:off x="4704141" y="6457255"/>
            <a:ext cx="3640642" cy="158750"/>
          </a:xfrm>
          <a:prstGeom prst="rect">
            <a:avLst/>
          </a:prstGeom>
          <a:noFill/>
          <a:ln/>
        </p:spPr>
        <p:txBody>
          <a:bodyPr wrap="none" lIns="99235" tIns="0" rIns="59541" bIns="0" rtlCol="0" anchor="t"/>
          <a:lstStyle/>
          <a:p>
            <a:pPr algn="l" indent="0" marL="0">
              <a:lnSpc>
                <a:spcPct val="100000"/>
              </a:lnSpc>
              <a:buNone/>
            </a:pPr>
            <a:r>
              <a:rPr lang="en-US" sz="1000" dirty="0">
                <a:solidFill>
                  <a:srgbClr val="1C1C1C"/>
                </a:solidFill>
                <a:latin typeface="Roboto Condensed" pitchFamily="34" charset="0"/>
                <a:ea typeface="Roboto Condensed" pitchFamily="34" charset="-122"/>
                <a:cs typeface="Roboto Condensed" pitchFamily="34" charset="-120"/>
              </a:rPr>
              <a:t>MCCTC | AI Automation &amp; Software Development</a:t>
            </a:r>
            <a:endParaRPr lang="en-US" sz="10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nvSpPr>
        <p:spPr>
          <a:xfrm>
            <a:off x="661475" y="1333302"/>
            <a:ext cx="10868745" cy="590649"/>
          </a:xfrm>
          <a:prstGeom prst="rect">
            <a:avLst/>
          </a:prstGeom>
          <a:noFill/>
          <a:ln/>
        </p:spPr>
        <p:txBody>
          <a:bodyPr wrap="none" lIns="0" tIns="0" rIns="0" bIns="0" rtlCol="0" anchor="t"/>
          <a:lstStyle/>
          <a:p>
            <a:pPr algn="l" indent="0" marL="0">
              <a:lnSpc>
                <a:spcPct val="104000"/>
              </a:lnSpc>
              <a:buNone/>
            </a:pPr>
            <a:r>
              <a:rPr lang="en-US" sz="3700" b="1" dirty="0">
                <a:solidFill>
                  <a:srgbClr val="111111"/>
                </a:solidFill>
                <a:latin typeface="Orbitron Bold" pitchFamily="34" charset="0"/>
                <a:ea typeface="Orbitron Bold" pitchFamily="34" charset="-122"/>
                <a:cs typeface="Orbitron Bold" pitchFamily="34" charset="-120"/>
              </a:rPr>
              <a:t>The same loop, twice</a:t>
            </a:r>
            <a:endParaRPr lang="en-US" sz="3700" dirty="0"/>
          </a:p>
        </p:txBody>
      </p:sp>
      <p:sp>
        <p:nvSpPr>
          <p:cNvPr id="3" name="Shape 1"/>
          <p:cNvSpPr/>
          <p:nvPr/>
        </p:nvSpPr>
        <p:spPr>
          <a:xfrm>
            <a:off x="661475" y="2301974"/>
            <a:ext cx="10868745" cy="3099792"/>
          </a:xfrm>
          <a:prstGeom prst="roundRect">
            <a:avLst>
              <a:gd name="adj" fmla="val 2561"/>
            </a:avLst>
          </a:prstGeom>
          <a:solidFill>
            <a:srgbClr val="F2F2F2"/>
          </a:solidFill>
          <a:ln/>
        </p:spPr>
      </p:sp>
      <p:sp>
        <p:nvSpPr>
          <p:cNvPr id="4" name="Text 2"/>
          <p:cNvSpPr/>
          <p:nvPr/>
        </p:nvSpPr>
        <p:spPr>
          <a:xfrm>
            <a:off x="888283" y="2490986"/>
            <a:ext cx="10415129" cy="2721769"/>
          </a:xfrm>
          <a:prstGeom prst="rect">
            <a:avLst/>
          </a:prstGeom>
          <a:noFill/>
          <a:ln/>
        </p:spPr>
        <p:txBody>
          <a:bodyPr wrap="square" lIns="0" tIns="0" rIns="0" bIns="0" rtlCol="0" anchor="t">
            <a:normAutofit/>
          </a:bodyPr>
          <a:lstStyle/>
          <a:p>
            <a:pPr algn="l" indent="0" marL="0">
              <a:lnSpc>
                <a:spcPct val="133000"/>
              </a:lnSpc>
              <a:buNone/>
            </a:pPr>
            <a:r>
              <a:rPr lang="en-US" sz="1450" dirty="0">
                <a:solidFill>
                  <a:srgbClr val="6A737D"/>
                </a:solidFill>
                <a:latin typeface="Consolas" pitchFamily="34" charset="0"/>
                <a:ea typeface="Consolas" pitchFamily="34" charset="-122"/>
                <a:cs typeface="Consolas" pitchFamily="34" charset="-120"/>
              </a:rPr>
              <a:t># Thursday</a:t>
            </a:r>
            <a:endParaRPr lang="en-US" sz="1450" dirty="0"/>
          </a:p>
          <a:p>
            <a:pPr algn="l" indent="0" marL="0">
              <a:lnSpc>
                <a:spcPct val="133000"/>
              </a:lnSpc>
              <a:buNone/>
            </a:pPr>
            <a:r>
              <a:rPr lang="en-US" sz="1450" dirty="0">
                <a:solidFill>
                  <a:srgbClr val="6A737D"/>
                </a:solidFill>
                <a:latin typeface="Consolas" pitchFamily="34" charset="0"/>
                <a:ea typeface="Consolas" pitchFamily="34" charset="-122"/>
                <a:cs typeface="Consolas" pitchFamily="34" charset="-120"/>
              </a:rPr>
              <a:t>day = 1</a:t>
            </a:r>
            <a:endParaRPr lang="en-US" sz="1450" dirty="0"/>
          </a:p>
          <a:p>
            <a:pPr algn="l" indent="0" marL="0">
              <a:lnSpc>
                <a:spcPct val="133000"/>
              </a:lnSpc>
              <a:buNone/>
            </a:pPr>
            <a:r>
              <a:rPr lang="en-US" sz="1450" dirty="0">
                <a:solidFill>
                  <a:srgbClr val="6A737D"/>
                </a:solidFill>
                <a:latin typeface="Consolas" pitchFamily="34" charset="0"/>
                <a:ea typeface="Consolas" pitchFamily="34" charset="-122"/>
                <a:cs typeface="Consolas" pitchFamily="34" charset="-120"/>
              </a:rPr>
              <a:t>while day &lt;= 7:</a:t>
            </a:r>
            <a:endParaRPr lang="en-US" sz="1450" dirty="0"/>
          </a:p>
          <a:p>
            <a:pPr algn="l" indent="0" marL="0">
              <a:lnSpc>
                <a:spcPct val="133000"/>
              </a:lnSpc>
              <a:buNone/>
            </a:pPr>
            <a:r>
              <a:rPr lang="en-US" sz="1450" dirty="0">
                <a:solidFill>
                  <a:srgbClr val="6A737D"/>
                </a:solidFill>
                <a:latin typeface="Consolas" pitchFamily="34" charset="0"/>
                <a:ea typeface="Consolas" pitchFamily="34" charset="-122"/>
                <a:cs typeface="Consolas" pitchFamily="34" charset="-120"/>
              </a:rPr>
              <a:t>    print(f"Day {day}: 20 pushups")</a:t>
            </a:r>
            <a:endParaRPr lang="en-US" sz="1450" dirty="0"/>
          </a:p>
          <a:p>
            <a:pPr algn="l" indent="0" marL="0">
              <a:lnSpc>
                <a:spcPct val="133000"/>
              </a:lnSpc>
              <a:buNone/>
            </a:pPr>
            <a:r>
              <a:rPr lang="en-US" sz="1450" dirty="0">
                <a:solidFill>
                  <a:srgbClr val="6A737D"/>
                </a:solidFill>
                <a:latin typeface="Consolas" pitchFamily="34" charset="0"/>
                <a:ea typeface="Consolas" pitchFamily="34" charset="-122"/>
                <a:cs typeface="Consolas" pitchFamily="34" charset="-120"/>
              </a:rPr>
              <a:t>    day = day + 1</a:t>
            </a:r>
            <a:endParaRPr lang="en-US" sz="1450" dirty="0"/>
          </a:p>
          <a:p>
            <a:pPr algn="l" indent="0" marL="0">
              <a:lnSpc>
                <a:spcPct val="133000"/>
              </a:lnSpc>
              <a:buNone/>
            </a:pPr>
            <a:endParaRPr lang="en-US" sz="1450" dirty="0"/>
          </a:p>
          <a:p>
            <a:pPr algn="l" indent="0" marL="0">
              <a:lnSpc>
                <a:spcPct val="133000"/>
              </a:lnSpc>
              <a:buNone/>
            </a:pPr>
            <a:r>
              <a:rPr lang="en-US" sz="1450" dirty="0">
                <a:solidFill>
                  <a:srgbClr val="6A737D"/>
                </a:solidFill>
                <a:latin typeface="Consolas" pitchFamily="34" charset="0"/>
                <a:ea typeface="Consolas" pitchFamily="34" charset="-122"/>
                <a:cs typeface="Consolas" pitchFamily="34" charset="-120"/>
              </a:rPr>
              <a:t># Today</a:t>
            </a:r>
            <a:endParaRPr lang="en-US" sz="1450" dirty="0"/>
          </a:p>
          <a:p>
            <a:pPr algn="l" indent="0" marL="0">
              <a:lnSpc>
                <a:spcPct val="133000"/>
              </a:lnSpc>
              <a:buNone/>
            </a:pPr>
            <a:r>
              <a:rPr lang="en-US" sz="1450" dirty="0">
                <a:solidFill>
                  <a:srgbClr val="6A737D"/>
                </a:solidFill>
                <a:latin typeface="Consolas" pitchFamily="34" charset="0"/>
                <a:ea typeface="Consolas" pitchFamily="34" charset="-122"/>
                <a:cs typeface="Consolas" pitchFamily="34" charset="-120"/>
              </a:rPr>
              <a:t>for day in range(1, 8):</a:t>
            </a:r>
            <a:endParaRPr lang="en-US" sz="1450" dirty="0"/>
          </a:p>
          <a:p>
            <a:pPr algn="l" indent="0" marL="0">
              <a:lnSpc>
                <a:spcPct val="133000"/>
              </a:lnSpc>
              <a:buNone/>
            </a:pPr>
            <a:r>
              <a:rPr lang="en-US" sz="1450" dirty="0">
                <a:solidFill>
                  <a:srgbClr val="6A737D"/>
                </a:solidFill>
                <a:latin typeface="Consolas" pitchFamily="34" charset="0"/>
                <a:ea typeface="Consolas" pitchFamily="34" charset="-122"/>
                <a:cs typeface="Consolas" pitchFamily="34" charset="-120"/>
              </a:rPr>
              <a:t>    print(f"Day {day}: 20 pushups")</a:t>
            </a:r>
            <a:endParaRPr lang="en-US" sz="1450" dirty="0"/>
          </a:p>
        </p:txBody>
      </p:sp>
      <p:sp>
        <p:nvSpPr>
          <p:cNvPr id="5" name="Text 3"/>
          <p:cNvSpPr/>
          <p:nvPr/>
        </p:nvSpPr>
        <p:spPr>
          <a:xfrm>
            <a:off x="132255" y="6457255"/>
            <a:ext cx="3640642" cy="158750"/>
          </a:xfrm>
          <a:prstGeom prst="rect">
            <a:avLst/>
          </a:prstGeom>
          <a:noFill/>
          <a:ln/>
        </p:spPr>
        <p:txBody>
          <a:bodyPr wrap="none" lIns="99235" tIns="0" rIns="59541" bIns="0" rtlCol="0" anchor="t"/>
          <a:lstStyle/>
          <a:p>
            <a:pPr algn="l" indent="0" marL="0">
              <a:lnSpc>
                <a:spcPct val="100000"/>
              </a:lnSpc>
              <a:buNone/>
            </a:pPr>
            <a:r>
              <a:rPr lang="en-US" sz="1000" dirty="0">
                <a:solidFill>
                  <a:srgbClr val="1C1C1C"/>
                </a:solidFill>
                <a:latin typeface="Roboto Condensed" pitchFamily="34" charset="0"/>
                <a:ea typeface="Roboto Condensed" pitchFamily="34" charset="-122"/>
                <a:cs typeface="Roboto Condensed" pitchFamily="34" charset="-120"/>
              </a:rPr>
              <a:t>MCCTC | AI Automation &amp; Software Development</a:t>
            </a:r>
            <a:endParaRPr lang="en-US" sz="10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4571886" cy="6858000"/>
          </a:xfrm>
          <a:prstGeom prst="rect">
            <a:avLst/>
          </a:prstGeom>
        </p:spPr>
      </p:pic>
      <p:sp>
        <p:nvSpPr>
          <p:cNvPr id="3" name="Text 0"/>
          <p:cNvSpPr/>
          <p:nvPr/>
        </p:nvSpPr>
        <p:spPr>
          <a:xfrm>
            <a:off x="5233360" y="2042319"/>
            <a:ext cx="6296860" cy="590649"/>
          </a:xfrm>
          <a:prstGeom prst="rect">
            <a:avLst/>
          </a:prstGeom>
          <a:noFill/>
          <a:ln/>
        </p:spPr>
        <p:txBody>
          <a:bodyPr wrap="none" lIns="0" tIns="0" rIns="0" bIns="0" rtlCol="0" anchor="t"/>
          <a:lstStyle/>
          <a:p>
            <a:pPr algn="l" indent="0" marL="0">
              <a:lnSpc>
                <a:spcPct val="104000"/>
              </a:lnSpc>
              <a:buNone/>
            </a:pPr>
            <a:r>
              <a:rPr lang="en-US" sz="3700" b="1" dirty="0">
                <a:solidFill>
                  <a:srgbClr val="111111"/>
                </a:solidFill>
                <a:latin typeface="Orbitron Bold" pitchFamily="34" charset="0"/>
                <a:ea typeface="Orbitron Bold" pitchFamily="34" charset="-122"/>
                <a:cs typeface="Orbitron Bold" pitchFamily="34" charset="-120"/>
              </a:rPr>
              <a:t>How for works</a:t>
            </a:r>
            <a:endParaRPr lang="en-US" sz="3700" dirty="0"/>
          </a:p>
        </p:txBody>
      </p:sp>
      <p:sp>
        <p:nvSpPr>
          <p:cNvPr id="4" name="Text 1"/>
          <p:cNvSpPr/>
          <p:nvPr/>
        </p:nvSpPr>
        <p:spPr>
          <a:xfrm>
            <a:off x="5233360" y="2916436"/>
            <a:ext cx="6296860" cy="1776413"/>
          </a:xfrm>
          <a:prstGeom prst="rect">
            <a:avLst/>
          </a:prstGeom>
          <a:noFill/>
          <a:ln/>
        </p:spPr>
        <p:txBody>
          <a:bodyPr wrap="square" lIns="0" tIns="0" rIns="0" bIns="0" rtlCol="0" anchor="t">
            <a:normAutofit/>
          </a:bodyPr>
          <a:lstStyle/>
          <a:p>
            <a:pPr algn="l" marL="294640" indent="-294640">
              <a:lnSpc>
                <a:spcPct val="133000"/>
              </a:lnSpc>
              <a:buSzPct val="100000"/>
              <a:buChar char="•"/>
            </a:pPr>
            <a:r>
              <a:rPr lang="en-US" sz="1450" dirty="0">
                <a:solidFill>
                  <a:srgbClr val="1C1C1C"/>
                </a:solidFill>
                <a:latin typeface="Roboto Condensed" pitchFamily="34" charset="0"/>
                <a:ea typeface="Roboto Condensed" pitchFamily="34" charset="-122"/>
                <a:cs typeface="Roboto Condensed" pitchFamily="34" charset="-120"/>
              </a:rPr>
              <a:t>A for loop walks a sequence, one item per pass</a:t>
            </a:r>
            <a:endParaRPr lang="en-US" sz="1450" dirty="0"/>
          </a:p>
          <a:p>
            <a:pPr algn="l" marL="294640" indent="-294640">
              <a:lnSpc>
                <a:spcPct val="133000"/>
              </a:lnSpc>
              <a:buSzPct val="100000"/>
              <a:buChar char="•"/>
            </a:pPr>
            <a:r>
              <a:rPr lang="en-US" sz="1450" dirty="0">
                <a:solidFill>
                  <a:srgbClr val="1C1C1C"/>
                </a:solidFill>
                <a:latin typeface="Roboto Condensed" pitchFamily="34" charset="0"/>
                <a:ea typeface="Roboto Condensed" pitchFamily="34" charset="-122"/>
                <a:cs typeface="Roboto Condensed" pitchFamily="34" charset="-120"/>
              </a:rPr>
              <a:t>The loop variable holds the current item</a:t>
            </a:r>
            <a:endParaRPr lang="en-US" sz="1450" dirty="0"/>
          </a:p>
          <a:p>
            <a:pPr algn="l" marL="294640" indent="-294640">
              <a:lnSpc>
                <a:spcPct val="133000"/>
              </a:lnSpc>
              <a:buSzPct val="100000"/>
              <a:buChar char="•"/>
            </a:pPr>
            <a:r>
              <a:rPr lang="en-US" sz="1450" dirty="0">
                <a:solidFill>
                  <a:srgbClr val="1C1C1C"/>
                </a:solidFill>
                <a:latin typeface="Roboto Condensed" pitchFamily="34" charset="0"/>
                <a:ea typeface="Roboto Condensed" pitchFamily="34" charset="-122"/>
                <a:cs typeface="Roboto Condensed" pitchFamily="34" charset="-120"/>
              </a:rPr>
              <a:t>When the sequence runs out, the loop ends</a:t>
            </a:r>
            <a:endParaRPr lang="en-US" sz="1450" dirty="0"/>
          </a:p>
          <a:p>
            <a:pPr algn="l" marL="294640" indent="-294640">
              <a:lnSpc>
                <a:spcPct val="133000"/>
              </a:lnSpc>
              <a:buSzPct val="100000"/>
              <a:buChar char="•"/>
            </a:pPr>
            <a:r>
              <a:rPr lang="en-US" sz="1450" dirty="0">
                <a:solidFill>
                  <a:srgbClr val="1C1C1C"/>
                </a:solidFill>
                <a:latin typeface="Roboto Condensed" pitchFamily="34" charset="0"/>
                <a:ea typeface="Roboto Condensed" pitchFamily="34" charset="-122"/>
                <a:cs typeface="Roboto Condensed" pitchFamily="34" charset="-120"/>
              </a:rPr>
              <a:t>range produces a sequence of whole numbers</a:t>
            </a:r>
            <a:endParaRPr lang="en-US" sz="1450" dirty="0"/>
          </a:p>
          <a:p>
            <a:pPr algn="l" marL="294640" indent="-294640">
              <a:lnSpc>
                <a:spcPct val="133000"/>
              </a:lnSpc>
              <a:buSzPct val="100000"/>
              <a:buChar char="•"/>
            </a:pPr>
            <a:r>
              <a:rPr lang="en-US" sz="1450" dirty="0">
                <a:solidFill>
                  <a:srgbClr val="1C1C1C"/>
                </a:solidFill>
                <a:latin typeface="Roboto Condensed" pitchFamily="34" charset="0"/>
                <a:ea typeface="Roboto Condensed" pitchFamily="34" charset="-122"/>
                <a:cs typeface="Roboto Condensed" pitchFamily="34" charset="-120"/>
              </a:rPr>
              <a:t>A string is a sequence of characters</a:t>
            </a:r>
            <a:endParaRPr lang="en-US" sz="1450" dirty="0"/>
          </a:p>
        </p:txBody>
      </p:sp>
      <p:sp>
        <p:nvSpPr>
          <p:cNvPr id="5" name="Text 2"/>
          <p:cNvSpPr/>
          <p:nvPr/>
        </p:nvSpPr>
        <p:spPr>
          <a:xfrm>
            <a:off x="4704141" y="6457255"/>
            <a:ext cx="3640642" cy="158750"/>
          </a:xfrm>
          <a:prstGeom prst="rect">
            <a:avLst/>
          </a:prstGeom>
          <a:noFill/>
          <a:ln/>
        </p:spPr>
        <p:txBody>
          <a:bodyPr wrap="none" lIns="99235" tIns="0" rIns="59541" bIns="0" rtlCol="0" anchor="t"/>
          <a:lstStyle/>
          <a:p>
            <a:pPr algn="l" indent="0" marL="0">
              <a:lnSpc>
                <a:spcPct val="100000"/>
              </a:lnSpc>
              <a:buNone/>
            </a:pPr>
            <a:r>
              <a:rPr lang="en-US" sz="1000" dirty="0">
                <a:solidFill>
                  <a:srgbClr val="1C1C1C"/>
                </a:solidFill>
                <a:latin typeface="Roboto Condensed" pitchFamily="34" charset="0"/>
                <a:ea typeface="Roboto Condensed" pitchFamily="34" charset="-122"/>
                <a:cs typeface="Roboto Condensed" pitchFamily="34" charset="-120"/>
              </a:rPr>
              <a:t>MCCTC | AI Automation &amp; Software Development</a:t>
            </a:r>
            <a:endParaRPr lang="en-US" sz="10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nvSpPr>
        <p:spPr>
          <a:xfrm>
            <a:off x="661475" y="581223"/>
            <a:ext cx="10868745" cy="516731"/>
          </a:xfrm>
          <a:prstGeom prst="rect">
            <a:avLst/>
          </a:prstGeom>
          <a:noFill/>
          <a:ln/>
        </p:spPr>
        <p:txBody>
          <a:bodyPr wrap="none" lIns="0" tIns="0" rIns="0" bIns="0" rtlCol="0" anchor="t"/>
          <a:lstStyle/>
          <a:p>
            <a:pPr algn="l" indent="0" marL="0">
              <a:lnSpc>
                <a:spcPct val="104000"/>
              </a:lnSpc>
              <a:buNone/>
            </a:pPr>
            <a:r>
              <a:rPr lang="en-US" sz="3250" b="1" dirty="0">
                <a:solidFill>
                  <a:srgbClr val="111111"/>
                </a:solidFill>
                <a:latin typeface="Orbitron Bold" pitchFamily="34" charset="0"/>
                <a:ea typeface="Orbitron Bold" pitchFamily="34" charset="-122"/>
                <a:cs typeface="Orbitron Bold" pitchFamily="34" charset="-120"/>
              </a:rPr>
              <a:t>range stops before its stop number</a:t>
            </a:r>
            <a:endParaRPr lang="en-US" sz="3250" dirty="0"/>
          </a:p>
        </p:txBody>
      </p:sp>
      <p:pic>
        <p:nvPicPr>
          <p:cNvPr id="3" name="Image 0" descr="preencoded.png">    </p:cNvPr>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661475" y="1477665"/>
            <a:ext cx="3541822" cy="1019870"/>
          </a:xfrm>
          <a:prstGeom prst="rect">
            <a:avLst/>
          </a:prstGeom>
        </p:spPr>
      </p:pic>
      <p:sp>
        <p:nvSpPr>
          <p:cNvPr id="4" name="Text 1"/>
          <p:cNvSpPr/>
          <p:nvPr/>
        </p:nvSpPr>
        <p:spPr>
          <a:xfrm>
            <a:off x="922017" y="1662013"/>
            <a:ext cx="3096937" cy="258465"/>
          </a:xfrm>
          <a:prstGeom prst="rect">
            <a:avLst/>
          </a:prstGeom>
          <a:noFill/>
          <a:ln/>
        </p:spPr>
        <p:txBody>
          <a:bodyPr wrap="none" lIns="0" tIns="0" rIns="0" bIns="0" rtlCol="0" anchor="t"/>
          <a:lstStyle/>
          <a:p>
            <a:pPr algn="l" indent="0" marL="0">
              <a:lnSpc>
                <a:spcPct val="104000"/>
              </a:lnSpc>
              <a:buNone/>
            </a:pPr>
            <a:r>
              <a:rPr lang="en-US" sz="1600" b="1" dirty="0">
                <a:solidFill>
                  <a:srgbClr val="1C1C1C"/>
                </a:solidFill>
                <a:latin typeface="Orbitron Bold" pitchFamily="34" charset="0"/>
                <a:ea typeface="Orbitron Bold" pitchFamily="34" charset="-122"/>
                <a:cs typeface="Orbitron Bold" pitchFamily="34" charset="-120"/>
              </a:rPr>
              <a:t>range(5)</a:t>
            </a:r>
            <a:endParaRPr lang="en-US" sz="1600" dirty="0"/>
          </a:p>
        </p:txBody>
      </p:sp>
      <p:sp>
        <p:nvSpPr>
          <p:cNvPr id="5" name="Text 2"/>
          <p:cNvSpPr/>
          <p:nvPr/>
        </p:nvSpPr>
        <p:spPr>
          <a:xfrm>
            <a:off x="922017" y="2065139"/>
            <a:ext cx="3096937" cy="248047"/>
          </a:xfrm>
          <a:prstGeom prst="rect">
            <a:avLst/>
          </a:prstGeom>
          <a:noFill/>
          <a:ln/>
        </p:spPr>
        <p:txBody>
          <a:bodyPr wrap="none" lIns="0" tIns="0" rIns="0" bIns="0" rtlCol="0" anchor="t"/>
          <a:lstStyle/>
          <a:p>
            <a:pPr algn="l" indent="0" marL="0">
              <a:lnSpc>
                <a:spcPct val="125000"/>
              </a:lnSpc>
              <a:buNone/>
            </a:pPr>
            <a:r>
              <a:rPr lang="en-US" sz="1300" dirty="0">
                <a:solidFill>
                  <a:srgbClr val="1C1C1C"/>
                </a:solidFill>
                <a:latin typeface="Roboto Condensed" pitchFamily="34" charset="0"/>
                <a:ea typeface="Roboto Condensed" pitchFamily="34" charset="-122"/>
                <a:cs typeface="Roboto Condensed" pitchFamily="34" charset="-120"/>
              </a:rPr>
              <a:t>gives 0, 1, 2, 3, 4</a:t>
            </a:r>
            <a:endParaRPr lang="en-US" sz="1300" dirty="0"/>
          </a:p>
        </p:txBody>
      </p:sp>
      <p:pic>
        <p:nvPicPr>
          <p:cNvPr id="6" name="Image 1" descr="preencoded.png">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661475" y="2642195"/>
            <a:ext cx="3541822" cy="1019870"/>
          </a:xfrm>
          <a:prstGeom prst="rect">
            <a:avLst/>
          </a:prstGeom>
        </p:spPr>
      </p:pic>
      <p:sp>
        <p:nvSpPr>
          <p:cNvPr id="7" name="Text 3"/>
          <p:cNvSpPr/>
          <p:nvPr/>
        </p:nvSpPr>
        <p:spPr>
          <a:xfrm>
            <a:off x="922017" y="2826544"/>
            <a:ext cx="3096937" cy="258465"/>
          </a:xfrm>
          <a:prstGeom prst="rect">
            <a:avLst/>
          </a:prstGeom>
          <a:noFill/>
          <a:ln/>
        </p:spPr>
        <p:txBody>
          <a:bodyPr wrap="none" lIns="0" tIns="0" rIns="0" bIns="0" rtlCol="0" anchor="t"/>
          <a:lstStyle/>
          <a:p>
            <a:pPr algn="l" indent="0" marL="0">
              <a:lnSpc>
                <a:spcPct val="104000"/>
              </a:lnSpc>
              <a:buNone/>
            </a:pPr>
            <a:r>
              <a:rPr lang="en-US" sz="1600" b="1" dirty="0">
                <a:solidFill>
                  <a:srgbClr val="1C1C1C"/>
                </a:solidFill>
                <a:latin typeface="Orbitron Bold" pitchFamily="34" charset="0"/>
                <a:ea typeface="Orbitron Bold" pitchFamily="34" charset="-122"/>
                <a:cs typeface="Orbitron Bold" pitchFamily="34" charset="-120"/>
              </a:rPr>
              <a:t>range(1, 8)</a:t>
            </a:r>
            <a:endParaRPr lang="en-US" sz="1600" dirty="0"/>
          </a:p>
        </p:txBody>
      </p:sp>
      <p:sp>
        <p:nvSpPr>
          <p:cNvPr id="8" name="Text 4"/>
          <p:cNvSpPr/>
          <p:nvPr/>
        </p:nvSpPr>
        <p:spPr>
          <a:xfrm>
            <a:off x="922017" y="3229670"/>
            <a:ext cx="3096937" cy="248047"/>
          </a:xfrm>
          <a:prstGeom prst="rect">
            <a:avLst/>
          </a:prstGeom>
          <a:noFill/>
          <a:ln/>
        </p:spPr>
        <p:txBody>
          <a:bodyPr wrap="none" lIns="0" tIns="0" rIns="0" bIns="0" rtlCol="0" anchor="t"/>
          <a:lstStyle/>
          <a:p>
            <a:pPr algn="l" indent="0" marL="0">
              <a:lnSpc>
                <a:spcPct val="125000"/>
              </a:lnSpc>
              <a:buNone/>
            </a:pPr>
            <a:r>
              <a:rPr lang="en-US" sz="1300" dirty="0">
                <a:solidFill>
                  <a:srgbClr val="1C1C1C"/>
                </a:solidFill>
                <a:latin typeface="Roboto Condensed" pitchFamily="34" charset="0"/>
                <a:ea typeface="Roboto Condensed" pitchFamily="34" charset="-122"/>
                <a:cs typeface="Roboto Condensed" pitchFamily="34" charset="-120"/>
              </a:rPr>
              <a:t>gives 1 through 7</a:t>
            </a:r>
            <a:endParaRPr lang="en-US" sz="1300" dirty="0"/>
          </a:p>
        </p:txBody>
      </p:sp>
      <p:pic>
        <p:nvPicPr>
          <p:cNvPr id="9" name="Image 2" descr="preencoded.png">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661475" y="3806726"/>
            <a:ext cx="3541822" cy="1019870"/>
          </a:xfrm>
          <a:prstGeom prst="rect">
            <a:avLst/>
          </a:prstGeom>
        </p:spPr>
      </p:pic>
      <p:sp>
        <p:nvSpPr>
          <p:cNvPr id="10" name="Text 5"/>
          <p:cNvSpPr/>
          <p:nvPr/>
        </p:nvSpPr>
        <p:spPr>
          <a:xfrm>
            <a:off x="922017" y="3991074"/>
            <a:ext cx="3096937" cy="258465"/>
          </a:xfrm>
          <a:prstGeom prst="rect">
            <a:avLst/>
          </a:prstGeom>
          <a:noFill/>
          <a:ln/>
        </p:spPr>
        <p:txBody>
          <a:bodyPr wrap="none" lIns="0" tIns="0" rIns="0" bIns="0" rtlCol="0" anchor="t"/>
          <a:lstStyle/>
          <a:p>
            <a:pPr algn="l" indent="0" marL="0">
              <a:lnSpc>
                <a:spcPct val="104000"/>
              </a:lnSpc>
              <a:buNone/>
            </a:pPr>
            <a:r>
              <a:rPr lang="en-US" sz="1600" b="1" dirty="0">
                <a:solidFill>
                  <a:srgbClr val="1C1C1C"/>
                </a:solidFill>
                <a:latin typeface="Orbitron Bold" pitchFamily="34" charset="0"/>
                <a:ea typeface="Orbitron Bold" pitchFamily="34" charset="-122"/>
                <a:cs typeface="Orbitron Bold" pitchFamily="34" charset="-120"/>
              </a:rPr>
              <a:t>range(10, 31, 5)</a:t>
            </a:r>
            <a:endParaRPr lang="en-US" sz="1600" dirty="0"/>
          </a:p>
        </p:txBody>
      </p:sp>
      <p:sp>
        <p:nvSpPr>
          <p:cNvPr id="11" name="Text 6"/>
          <p:cNvSpPr/>
          <p:nvPr/>
        </p:nvSpPr>
        <p:spPr>
          <a:xfrm>
            <a:off x="922017" y="4394200"/>
            <a:ext cx="3096937" cy="248047"/>
          </a:xfrm>
          <a:prstGeom prst="rect">
            <a:avLst/>
          </a:prstGeom>
          <a:noFill/>
          <a:ln/>
        </p:spPr>
        <p:txBody>
          <a:bodyPr wrap="none" lIns="0" tIns="0" rIns="0" bIns="0" rtlCol="0" anchor="t"/>
          <a:lstStyle/>
          <a:p>
            <a:pPr algn="l" indent="0" marL="0">
              <a:lnSpc>
                <a:spcPct val="125000"/>
              </a:lnSpc>
              <a:buNone/>
            </a:pPr>
            <a:r>
              <a:rPr lang="en-US" sz="1300" dirty="0">
                <a:solidFill>
                  <a:srgbClr val="1C1C1C"/>
                </a:solidFill>
                <a:latin typeface="Roboto Condensed" pitchFamily="34" charset="0"/>
                <a:ea typeface="Roboto Condensed" pitchFamily="34" charset="-122"/>
                <a:cs typeface="Roboto Condensed" pitchFamily="34" charset="-120"/>
              </a:rPr>
              <a:t>gives 10, 15, 20, 25, 30</a:t>
            </a:r>
            <a:endParaRPr lang="en-US" sz="1300" dirty="0"/>
          </a:p>
        </p:txBody>
      </p:sp>
      <p:pic>
        <p:nvPicPr>
          <p:cNvPr id="12" name="Image 3" descr="preencoded.png">    </p:cNvPr>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a:off x="661475" y="4971256"/>
            <a:ext cx="3541822" cy="1019870"/>
          </a:xfrm>
          <a:prstGeom prst="rect">
            <a:avLst/>
          </a:prstGeom>
        </p:spPr>
      </p:pic>
      <p:sp>
        <p:nvSpPr>
          <p:cNvPr id="13" name="Text 7"/>
          <p:cNvSpPr/>
          <p:nvPr/>
        </p:nvSpPr>
        <p:spPr>
          <a:xfrm>
            <a:off x="922017" y="5155605"/>
            <a:ext cx="3096937" cy="258465"/>
          </a:xfrm>
          <a:prstGeom prst="rect">
            <a:avLst/>
          </a:prstGeom>
          <a:noFill/>
          <a:ln/>
        </p:spPr>
        <p:txBody>
          <a:bodyPr wrap="none" lIns="0" tIns="0" rIns="0" bIns="0" rtlCol="0" anchor="t"/>
          <a:lstStyle/>
          <a:p>
            <a:pPr algn="l" indent="0" marL="0">
              <a:lnSpc>
                <a:spcPct val="104000"/>
              </a:lnSpc>
              <a:buNone/>
            </a:pPr>
            <a:r>
              <a:rPr lang="en-US" sz="1600" b="1" dirty="0">
                <a:solidFill>
                  <a:srgbClr val="1C1C1C"/>
                </a:solidFill>
                <a:latin typeface="Orbitron Bold" pitchFamily="34" charset="0"/>
                <a:ea typeface="Orbitron Bold" pitchFamily="34" charset="-122"/>
                <a:cs typeface="Orbitron Bold" pitchFamily="34" charset="-120"/>
              </a:rPr>
              <a:t>range(5, 0, -1)</a:t>
            </a:r>
            <a:endParaRPr lang="en-US" sz="1600" dirty="0"/>
          </a:p>
        </p:txBody>
      </p:sp>
      <p:sp>
        <p:nvSpPr>
          <p:cNvPr id="14" name="Text 8"/>
          <p:cNvSpPr/>
          <p:nvPr/>
        </p:nvSpPr>
        <p:spPr>
          <a:xfrm>
            <a:off x="922017" y="5558730"/>
            <a:ext cx="3096937" cy="248047"/>
          </a:xfrm>
          <a:prstGeom prst="rect">
            <a:avLst/>
          </a:prstGeom>
          <a:noFill/>
          <a:ln/>
        </p:spPr>
        <p:txBody>
          <a:bodyPr wrap="none" lIns="0" tIns="0" rIns="0" bIns="0" rtlCol="0" anchor="t"/>
          <a:lstStyle/>
          <a:p>
            <a:pPr algn="l" indent="0" marL="0">
              <a:lnSpc>
                <a:spcPct val="125000"/>
              </a:lnSpc>
              <a:buNone/>
            </a:pPr>
            <a:r>
              <a:rPr lang="en-US" sz="1300" dirty="0">
                <a:solidFill>
                  <a:srgbClr val="1C1C1C"/>
                </a:solidFill>
                <a:latin typeface="Roboto Condensed" pitchFamily="34" charset="0"/>
                <a:ea typeface="Roboto Condensed" pitchFamily="34" charset="-122"/>
                <a:cs typeface="Roboto Condensed" pitchFamily="34" charset="-120"/>
              </a:rPr>
              <a:t>counts down 5 to 1</a:t>
            </a:r>
            <a:endParaRPr lang="en-US" sz="1300" dirty="0"/>
          </a:p>
        </p:txBody>
      </p:sp>
      <p:pic>
        <p:nvPicPr>
          <p:cNvPr id="15" name="Image 4" descr="preencoded.png">    </p:cNvPr>
          <p:cNvPicPr>
            <a:picLocks noChangeAspect="1"/>
          </p:cNvPicPr>
          <p:nvPr/>
        </p:nvPicPr>
        <p:blipFill>
          <a:blip r:embed="rId9"/>
          <a:stretch>
            <a:fillRect/>
          </a:stretch>
        </p:blipFill>
        <p:spPr>
          <a:xfrm>
            <a:off x="4613060" y="1583630"/>
            <a:ext cx="6923410" cy="3923308"/>
          </a:xfrm>
          <a:prstGeom prst="rect">
            <a:avLst/>
          </a:prstGeom>
        </p:spPr>
      </p:pic>
      <p:sp>
        <p:nvSpPr>
          <p:cNvPr id="16" name="Text 9"/>
          <p:cNvSpPr/>
          <p:nvPr/>
        </p:nvSpPr>
        <p:spPr>
          <a:xfrm>
            <a:off x="4613060" y="5669657"/>
            <a:ext cx="7532995" cy="248047"/>
          </a:xfrm>
          <a:prstGeom prst="rect">
            <a:avLst/>
          </a:prstGeom>
          <a:noFill/>
          <a:ln/>
        </p:spPr>
        <p:txBody>
          <a:bodyPr wrap="none" lIns="0" tIns="0" rIns="0" bIns="0" rtlCol="0" anchor="t"/>
          <a:lstStyle/>
          <a:p>
            <a:pPr algn="l" indent="0" marL="0">
              <a:lnSpc>
                <a:spcPct val="125000"/>
              </a:lnSpc>
              <a:buNone/>
            </a:pPr>
            <a:r>
              <a:rPr lang="en-US" sz="1300" dirty="0">
                <a:solidFill>
                  <a:srgbClr val="1C1C1C"/>
                </a:solidFill>
                <a:latin typeface="Roboto Condensed" pitchFamily="34" charset="0"/>
                <a:ea typeface="Roboto Condensed" pitchFamily="34" charset="-122"/>
                <a:cs typeface="Roboto Condensed" pitchFamily="34" charset="-120"/>
              </a:rPr>
              <a:t>Up to but not including. Same as a slice.</a:t>
            </a:r>
            <a:endParaRPr lang="en-US" sz="1300" dirty="0"/>
          </a:p>
        </p:txBody>
      </p:sp>
      <p:sp>
        <p:nvSpPr>
          <p:cNvPr id="17" name="Text 10"/>
          <p:cNvSpPr/>
          <p:nvPr/>
        </p:nvSpPr>
        <p:spPr>
          <a:xfrm>
            <a:off x="132255" y="6457255"/>
            <a:ext cx="3640642" cy="158750"/>
          </a:xfrm>
          <a:prstGeom prst="rect">
            <a:avLst/>
          </a:prstGeom>
          <a:noFill/>
          <a:ln/>
        </p:spPr>
        <p:txBody>
          <a:bodyPr wrap="none" lIns="99235" tIns="0" rIns="59541" bIns="0" rtlCol="0" anchor="t"/>
          <a:lstStyle/>
          <a:p>
            <a:pPr algn="l" indent="0" marL="0">
              <a:lnSpc>
                <a:spcPct val="100000"/>
              </a:lnSpc>
              <a:buNone/>
            </a:pPr>
            <a:r>
              <a:rPr lang="en-US" sz="1000" dirty="0">
                <a:solidFill>
                  <a:srgbClr val="1C1C1C"/>
                </a:solidFill>
                <a:latin typeface="Roboto Condensed" pitchFamily="34" charset="0"/>
                <a:ea typeface="Roboto Condensed" pitchFamily="34" charset="-122"/>
                <a:cs typeface="Roboto Condensed" pitchFamily="34" charset="-120"/>
              </a:rPr>
              <a:t>MCCTC | AI Automation &amp; Software Development</a:t>
            </a:r>
            <a:endParaRPr lang="en-US" sz="10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nvSpPr>
        <p:spPr>
          <a:xfrm>
            <a:off x="661475" y="1189236"/>
            <a:ext cx="10868745" cy="590649"/>
          </a:xfrm>
          <a:prstGeom prst="rect">
            <a:avLst/>
          </a:prstGeom>
          <a:noFill/>
          <a:ln/>
        </p:spPr>
        <p:txBody>
          <a:bodyPr wrap="none" lIns="0" tIns="0" rIns="0" bIns="0" rtlCol="0" anchor="t"/>
          <a:lstStyle/>
          <a:p>
            <a:pPr algn="l" indent="0" marL="0">
              <a:lnSpc>
                <a:spcPct val="104000"/>
              </a:lnSpc>
              <a:buNone/>
            </a:pPr>
            <a:r>
              <a:rPr lang="en-US" sz="3700" b="1" dirty="0">
                <a:solidFill>
                  <a:srgbClr val="111111"/>
                </a:solidFill>
                <a:latin typeface="Orbitron Bold" pitchFamily="34" charset="0"/>
                <a:ea typeface="Orbitron Bold" pitchFamily="34" charset="-122"/>
                <a:cs typeface="Orbitron Bold" pitchFamily="34" charset="-120"/>
              </a:rPr>
              <a:t>Repeating a broadcast</a:t>
            </a:r>
            <a:endParaRPr lang="en-US" sz="3700" dirty="0"/>
          </a:p>
        </p:txBody>
      </p:sp>
      <p:sp>
        <p:nvSpPr>
          <p:cNvPr id="3" name="Shape 1"/>
          <p:cNvSpPr/>
          <p:nvPr/>
        </p:nvSpPr>
        <p:spPr>
          <a:xfrm>
            <a:off x="661475" y="2157909"/>
            <a:ext cx="10868745" cy="1890117"/>
          </a:xfrm>
          <a:prstGeom prst="roundRect">
            <a:avLst>
              <a:gd name="adj" fmla="val 4200"/>
            </a:avLst>
          </a:prstGeom>
          <a:solidFill>
            <a:srgbClr val="F2F2F2"/>
          </a:solidFill>
          <a:ln/>
        </p:spPr>
      </p:sp>
      <p:sp>
        <p:nvSpPr>
          <p:cNvPr id="4" name="Text 2"/>
          <p:cNvSpPr/>
          <p:nvPr/>
        </p:nvSpPr>
        <p:spPr>
          <a:xfrm>
            <a:off x="888283" y="2346920"/>
            <a:ext cx="10415129" cy="1512094"/>
          </a:xfrm>
          <a:prstGeom prst="rect">
            <a:avLst/>
          </a:prstGeom>
          <a:noFill/>
          <a:ln/>
        </p:spPr>
        <p:txBody>
          <a:bodyPr wrap="square" lIns="0" tIns="0" rIns="0" bIns="0" rtlCol="0" anchor="t">
            <a:normAutofit/>
          </a:bodyPr>
          <a:lstStyle/>
          <a:p>
            <a:pPr algn="l" indent="0" marL="0">
              <a:lnSpc>
                <a:spcPct val="133000"/>
              </a:lnSpc>
              <a:buNone/>
            </a:pPr>
            <a:r>
              <a:rPr lang="en-US" sz="1450" dirty="0">
                <a:solidFill>
                  <a:srgbClr val="24292E"/>
                </a:solidFill>
                <a:latin typeface="Consolas" pitchFamily="34" charset="0"/>
                <a:ea typeface="Consolas" pitchFamily="34" charset="-122"/>
                <a:cs typeface="Consolas" pitchFamily="34" charset="-120"/>
              </a:rPr>
              <a:t>BROADCAST_REPEATS = 3</a:t>
            </a:r>
            <a:endParaRPr lang="en-US" sz="1450" dirty="0"/>
          </a:p>
          <a:p>
            <a:pPr algn="l" indent="0" marL="0">
              <a:lnSpc>
                <a:spcPct val="133000"/>
              </a:lnSpc>
              <a:buNone/>
            </a:pPr>
            <a:r>
              <a:rPr lang="en-US" sz="1450" dirty="0">
                <a:solidFill>
                  <a:srgbClr val="24292E"/>
                </a:solidFill>
                <a:latin typeface="Consolas" pitchFamily="34" charset="0"/>
                <a:ea typeface="Consolas" pitchFamily="34" charset="-122"/>
                <a:cs typeface="Consolas" pitchFamily="34" charset="-120"/>
              </a:rPr>
              <a:t>EMERGENCY_FREQUENCY = 1470</a:t>
            </a:r>
            <a:endParaRPr lang="en-US" sz="1450" dirty="0"/>
          </a:p>
          <a:p>
            <a:pPr algn="l" indent="0" marL="0">
              <a:lnSpc>
                <a:spcPct val="133000"/>
              </a:lnSpc>
              <a:buNone/>
            </a:pPr>
            <a:endParaRPr lang="en-US" sz="1450" dirty="0"/>
          </a:p>
          <a:p>
            <a:pPr algn="l" indent="0" marL="0">
              <a:lnSpc>
                <a:spcPct val="133000"/>
              </a:lnSpc>
              <a:buNone/>
            </a:pPr>
            <a:r>
              <a:rPr lang="en-US" sz="1450" dirty="0">
                <a:solidFill>
                  <a:srgbClr val="24292E"/>
                </a:solidFill>
                <a:latin typeface="Consolas" pitchFamily="34" charset="0"/>
                <a:ea typeface="Consolas" pitchFamily="34" charset="-122"/>
                <a:cs typeface="Consolas" pitchFamily="34" charset="-120"/>
              </a:rPr>
              <a:t>for repeat in range(1, BROADCAST_REPEATS + 1):</a:t>
            </a:r>
            <a:endParaRPr lang="en-US" sz="1450" dirty="0"/>
          </a:p>
          <a:p>
            <a:pPr algn="l" indent="0" marL="0">
              <a:lnSpc>
                <a:spcPct val="133000"/>
              </a:lnSpc>
              <a:buNone/>
            </a:pPr>
            <a:r>
              <a:rPr lang="en-US" sz="1450" dirty="0">
                <a:solidFill>
                  <a:srgbClr val="24292E"/>
                </a:solidFill>
                <a:latin typeface="Consolas" pitchFamily="34" charset="0"/>
                <a:ea typeface="Consolas" pitchFamily="34" charset="-122"/>
                <a:cs typeface="Consolas" pitchFamily="34" charset="-120"/>
              </a:rPr>
              <a:t>    print(f"({repeat} of {BROADCAST_REPEATS}) This is Kestrel Ridge relay on {EMERGENCY_FREQUENCY} kHz.")</a:t>
            </a:r>
            <a:endParaRPr lang="en-US" sz="1450" dirty="0"/>
          </a:p>
        </p:txBody>
      </p:sp>
      <p:sp>
        <p:nvSpPr>
          <p:cNvPr id="5" name="Shape 3"/>
          <p:cNvSpPr/>
          <p:nvPr/>
        </p:nvSpPr>
        <p:spPr>
          <a:xfrm>
            <a:off x="661475" y="4260652"/>
            <a:ext cx="10868745" cy="1285280"/>
          </a:xfrm>
          <a:prstGeom prst="roundRect">
            <a:avLst>
              <a:gd name="adj" fmla="val 6177"/>
            </a:avLst>
          </a:prstGeom>
          <a:solidFill>
            <a:srgbClr val="F2F2F2"/>
          </a:solidFill>
          <a:ln/>
        </p:spPr>
      </p:sp>
      <p:sp>
        <p:nvSpPr>
          <p:cNvPr id="6" name="Text 4"/>
          <p:cNvSpPr/>
          <p:nvPr/>
        </p:nvSpPr>
        <p:spPr>
          <a:xfrm>
            <a:off x="888283" y="4449663"/>
            <a:ext cx="10415129" cy="907256"/>
          </a:xfrm>
          <a:prstGeom prst="rect">
            <a:avLst/>
          </a:prstGeom>
          <a:noFill/>
          <a:ln/>
        </p:spPr>
        <p:txBody>
          <a:bodyPr wrap="square" lIns="0" tIns="0" rIns="0" bIns="0" rtlCol="0" anchor="t">
            <a:normAutofit/>
          </a:bodyPr>
          <a:lstStyle/>
          <a:p>
            <a:pPr algn="l" indent="0" marL="0">
              <a:lnSpc>
                <a:spcPct val="133000"/>
              </a:lnSpc>
              <a:buNone/>
            </a:pPr>
            <a:r>
              <a:rPr lang="en-US" sz="1450" dirty="0">
                <a:solidFill>
                  <a:srgbClr val="24292E"/>
                </a:solidFill>
                <a:latin typeface="Consolas" pitchFamily="34" charset="0"/>
                <a:ea typeface="Consolas" pitchFamily="34" charset="-122"/>
                <a:cs typeface="Consolas" pitchFamily="34" charset="-120"/>
              </a:rPr>
              <a:t>(1 of 3) This is Kestrel Ridge relay on 1470 kHz.</a:t>
            </a:r>
            <a:endParaRPr lang="en-US" sz="1450" dirty="0"/>
          </a:p>
          <a:p>
            <a:pPr algn="l" indent="0" marL="0">
              <a:lnSpc>
                <a:spcPct val="133000"/>
              </a:lnSpc>
              <a:buNone/>
            </a:pPr>
            <a:r>
              <a:rPr lang="en-US" sz="1450" dirty="0">
                <a:solidFill>
                  <a:srgbClr val="24292E"/>
                </a:solidFill>
                <a:latin typeface="Consolas" pitchFamily="34" charset="0"/>
                <a:ea typeface="Consolas" pitchFamily="34" charset="-122"/>
                <a:cs typeface="Consolas" pitchFamily="34" charset="-120"/>
              </a:rPr>
              <a:t>(2 of 3) This is Kestrel Ridge relay on 1470 kHz.</a:t>
            </a:r>
            <a:endParaRPr lang="en-US" sz="1450" dirty="0"/>
          </a:p>
          <a:p>
            <a:pPr algn="l" indent="0" marL="0">
              <a:lnSpc>
                <a:spcPct val="133000"/>
              </a:lnSpc>
              <a:buNone/>
            </a:pPr>
            <a:r>
              <a:rPr lang="en-US" sz="1450" dirty="0">
                <a:solidFill>
                  <a:srgbClr val="24292E"/>
                </a:solidFill>
                <a:latin typeface="Consolas" pitchFamily="34" charset="0"/>
                <a:ea typeface="Consolas" pitchFamily="34" charset="-122"/>
                <a:cs typeface="Consolas" pitchFamily="34" charset="-120"/>
              </a:rPr>
              <a:t>(3 of 3) This is Kestrel Ridge relay on 1470 kHz.</a:t>
            </a:r>
            <a:endParaRPr lang="en-US" sz="1450" dirty="0"/>
          </a:p>
        </p:txBody>
      </p:sp>
      <p:sp>
        <p:nvSpPr>
          <p:cNvPr id="7" name="Text 5"/>
          <p:cNvSpPr/>
          <p:nvPr/>
        </p:nvSpPr>
        <p:spPr>
          <a:xfrm>
            <a:off x="132255" y="6457255"/>
            <a:ext cx="3640642" cy="158750"/>
          </a:xfrm>
          <a:prstGeom prst="rect">
            <a:avLst/>
          </a:prstGeom>
          <a:noFill/>
          <a:ln/>
        </p:spPr>
        <p:txBody>
          <a:bodyPr wrap="none" lIns="99235" tIns="0" rIns="59541" bIns="0" rtlCol="0" anchor="t"/>
          <a:lstStyle/>
          <a:p>
            <a:pPr algn="l" indent="0" marL="0">
              <a:lnSpc>
                <a:spcPct val="100000"/>
              </a:lnSpc>
              <a:buNone/>
            </a:pPr>
            <a:r>
              <a:rPr lang="en-US" sz="1000" dirty="0">
                <a:solidFill>
                  <a:srgbClr val="1C1C1C"/>
                </a:solidFill>
                <a:latin typeface="Roboto Condensed" pitchFamily="34" charset="0"/>
                <a:ea typeface="Roboto Condensed" pitchFamily="34" charset="-122"/>
                <a:cs typeface="Roboto Condensed" pitchFamily="34" charset="-120"/>
              </a:rPr>
              <a:t>MCCTC | AI Automation &amp; Software Development</a:t>
            </a:r>
            <a:endParaRPr lang="en-US" sz="10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nvSpPr>
        <p:spPr>
          <a:xfrm>
            <a:off x="661475" y="1340445"/>
            <a:ext cx="10868745" cy="590649"/>
          </a:xfrm>
          <a:prstGeom prst="rect">
            <a:avLst/>
          </a:prstGeom>
          <a:noFill/>
          <a:ln/>
        </p:spPr>
        <p:txBody>
          <a:bodyPr wrap="none" lIns="0" tIns="0" rIns="0" bIns="0" rtlCol="0" anchor="t"/>
          <a:lstStyle/>
          <a:p>
            <a:pPr algn="l" indent="0" marL="0">
              <a:lnSpc>
                <a:spcPct val="104000"/>
              </a:lnSpc>
              <a:buNone/>
            </a:pPr>
            <a:r>
              <a:rPr lang="en-US" sz="3700" b="1" dirty="0">
                <a:solidFill>
                  <a:srgbClr val="111111"/>
                </a:solidFill>
                <a:latin typeface="Orbitron Bold" pitchFamily="34" charset="0"/>
                <a:ea typeface="Orbitron Bold" pitchFamily="34" charset="-122"/>
                <a:cs typeface="Orbitron Bold" pitchFamily="34" charset="-120"/>
              </a:rPr>
              <a:t>Walking a string, with an accumulator</a:t>
            </a:r>
            <a:endParaRPr lang="en-US" sz="3700" dirty="0"/>
          </a:p>
        </p:txBody>
      </p:sp>
      <p:sp>
        <p:nvSpPr>
          <p:cNvPr id="3" name="Shape 1"/>
          <p:cNvSpPr/>
          <p:nvPr/>
        </p:nvSpPr>
        <p:spPr>
          <a:xfrm>
            <a:off x="661475" y="2309118"/>
            <a:ext cx="10868745" cy="2192536"/>
          </a:xfrm>
          <a:prstGeom prst="roundRect">
            <a:avLst>
              <a:gd name="adj" fmla="val 3621"/>
            </a:avLst>
          </a:prstGeom>
          <a:solidFill>
            <a:srgbClr val="F2F2F2"/>
          </a:solidFill>
          <a:ln/>
        </p:spPr>
      </p:sp>
      <p:sp>
        <p:nvSpPr>
          <p:cNvPr id="4" name="Text 2"/>
          <p:cNvSpPr/>
          <p:nvPr/>
        </p:nvSpPr>
        <p:spPr>
          <a:xfrm>
            <a:off x="888283" y="2498130"/>
            <a:ext cx="10415129" cy="1814513"/>
          </a:xfrm>
          <a:prstGeom prst="rect">
            <a:avLst/>
          </a:prstGeom>
          <a:noFill/>
          <a:ln/>
        </p:spPr>
        <p:txBody>
          <a:bodyPr wrap="square" lIns="0" tIns="0" rIns="0" bIns="0" rtlCol="0" anchor="t">
            <a:normAutofit/>
          </a:bodyPr>
          <a:lstStyle/>
          <a:p>
            <a:pPr algn="l" indent="0" marL="0">
              <a:lnSpc>
                <a:spcPct val="133000"/>
              </a:lnSpc>
              <a:buNone/>
            </a:pPr>
            <a:r>
              <a:rPr lang="en-US" sz="1450" dirty="0">
                <a:solidFill>
                  <a:srgbClr val="24292E"/>
                </a:solidFill>
                <a:latin typeface="Consolas" pitchFamily="34" charset="0"/>
                <a:ea typeface="Consolas" pitchFamily="34" charset="-122"/>
                <a:cs typeface="Consolas" pitchFamily="34" charset="-120"/>
              </a:rPr>
              <a:t>username = "xX_SkaterAva_Xx"</a:t>
            </a:r>
            <a:endParaRPr lang="en-US" sz="1450" dirty="0"/>
          </a:p>
          <a:p>
            <a:pPr algn="l" indent="0" marL="0">
              <a:lnSpc>
                <a:spcPct val="133000"/>
              </a:lnSpc>
              <a:buNone/>
            </a:pPr>
            <a:r>
              <a:rPr lang="en-US" sz="1450" dirty="0">
                <a:solidFill>
                  <a:srgbClr val="24292E"/>
                </a:solidFill>
                <a:latin typeface="Consolas" pitchFamily="34" charset="0"/>
                <a:ea typeface="Consolas" pitchFamily="34" charset="-122"/>
                <a:cs typeface="Consolas" pitchFamily="34" charset="-120"/>
              </a:rPr>
              <a:t>underscores = 0</a:t>
            </a:r>
            <a:endParaRPr lang="en-US" sz="1450" dirty="0"/>
          </a:p>
          <a:p>
            <a:pPr algn="l" indent="0" marL="0">
              <a:lnSpc>
                <a:spcPct val="133000"/>
              </a:lnSpc>
              <a:buNone/>
            </a:pPr>
            <a:r>
              <a:rPr lang="en-US" sz="1450" dirty="0">
                <a:solidFill>
                  <a:srgbClr val="24292E"/>
                </a:solidFill>
                <a:latin typeface="Consolas" pitchFamily="34" charset="0"/>
                <a:ea typeface="Consolas" pitchFamily="34" charset="-122"/>
                <a:cs typeface="Consolas" pitchFamily="34" charset="-120"/>
              </a:rPr>
              <a:t>for character in username:</a:t>
            </a:r>
            <a:endParaRPr lang="en-US" sz="1450" dirty="0"/>
          </a:p>
          <a:p>
            <a:pPr algn="l" indent="0" marL="0">
              <a:lnSpc>
                <a:spcPct val="133000"/>
              </a:lnSpc>
              <a:buNone/>
            </a:pPr>
            <a:r>
              <a:rPr lang="en-US" sz="1450" dirty="0">
                <a:solidFill>
                  <a:srgbClr val="24292E"/>
                </a:solidFill>
                <a:latin typeface="Consolas" pitchFamily="34" charset="0"/>
                <a:ea typeface="Consolas" pitchFamily="34" charset="-122"/>
                <a:cs typeface="Consolas" pitchFamily="34" charset="-120"/>
              </a:rPr>
              <a:t>    if character == "_":</a:t>
            </a:r>
            <a:endParaRPr lang="en-US" sz="1450" dirty="0"/>
          </a:p>
          <a:p>
            <a:pPr algn="l" indent="0" marL="0">
              <a:lnSpc>
                <a:spcPct val="133000"/>
              </a:lnSpc>
              <a:buNone/>
            </a:pPr>
            <a:r>
              <a:rPr lang="en-US" sz="1450" dirty="0">
                <a:solidFill>
                  <a:srgbClr val="24292E"/>
                </a:solidFill>
                <a:latin typeface="Consolas" pitchFamily="34" charset="0"/>
                <a:ea typeface="Consolas" pitchFamily="34" charset="-122"/>
                <a:cs typeface="Consolas" pitchFamily="34" charset="-120"/>
              </a:rPr>
              <a:t>        underscores = underscores + 1</a:t>
            </a:r>
            <a:endParaRPr lang="en-US" sz="1450" dirty="0"/>
          </a:p>
          <a:p>
            <a:pPr algn="l" indent="0" marL="0">
              <a:lnSpc>
                <a:spcPct val="133000"/>
              </a:lnSpc>
              <a:buNone/>
            </a:pPr>
            <a:r>
              <a:rPr lang="en-US" sz="1450" dirty="0">
                <a:solidFill>
                  <a:srgbClr val="24292E"/>
                </a:solidFill>
                <a:latin typeface="Consolas" pitchFamily="34" charset="0"/>
                <a:ea typeface="Consolas" pitchFamily="34" charset="-122"/>
                <a:cs typeface="Consolas" pitchFamily="34" charset="-120"/>
              </a:rPr>
              <a:t>print(f"{username} has {underscores} underscores")</a:t>
            </a:r>
            <a:endParaRPr lang="en-US" sz="1450" dirty="0"/>
          </a:p>
        </p:txBody>
      </p:sp>
      <p:sp>
        <p:nvSpPr>
          <p:cNvPr id="5" name="Shape 3"/>
          <p:cNvSpPr/>
          <p:nvPr/>
        </p:nvSpPr>
        <p:spPr>
          <a:xfrm>
            <a:off x="661475" y="4714280"/>
            <a:ext cx="10868745" cy="680442"/>
          </a:xfrm>
          <a:prstGeom prst="roundRect">
            <a:avLst>
              <a:gd name="adj" fmla="val 11667"/>
            </a:avLst>
          </a:prstGeom>
          <a:solidFill>
            <a:srgbClr val="F2F2F2"/>
          </a:solidFill>
          <a:ln/>
        </p:spPr>
      </p:sp>
      <p:sp>
        <p:nvSpPr>
          <p:cNvPr id="6" name="Text 4"/>
          <p:cNvSpPr/>
          <p:nvPr/>
        </p:nvSpPr>
        <p:spPr>
          <a:xfrm>
            <a:off x="888283" y="4903291"/>
            <a:ext cx="11024713" cy="302419"/>
          </a:xfrm>
          <a:prstGeom prst="rect">
            <a:avLst/>
          </a:prstGeom>
          <a:noFill/>
          <a:ln/>
        </p:spPr>
        <p:txBody>
          <a:bodyPr wrap="none" lIns="0" tIns="0" rIns="0" bIns="0" rtlCol="0" anchor="t"/>
          <a:lstStyle/>
          <a:p>
            <a:pPr algn="l" indent="0" marL="0">
              <a:lnSpc>
                <a:spcPct val="133000"/>
              </a:lnSpc>
              <a:buNone/>
            </a:pPr>
            <a:r>
              <a:rPr lang="en-US" sz="1450" dirty="0">
                <a:solidFill>
                  <a:srgbClr val="24292E"/>
                </a:solidFill>
                <a:latin typeface="Consolas" pitchFamily="34" charset="0"/>
                <a:ea typeface="Consolas" pitchFamily="34" charset="-122"/>
                <a:cs typeface="Consolas" pitchFamily="34" charset="-120"/>
              </a:rPr>
              <a:t>xX_SkaterAva_Xx has 2 underscores</a:t>
            </a:r>
            <a:endParaRPr lang="en-US" sz="1450" dirty="0"/>
          </a:p>
        </p:txBody>
      </p:sp>
      <p:sp>
        <p:nvSpPr>
          <p:cNvPr id="7" name="Text 5"/>
          <p:cNvSpPr/>
          <p:nvPr/>
        </p:nvSpPr>
        <p:spPr>
          <a:xfrm>
            <a:off x="132255" y="6457255"/>
            <a:ext cx="3640642" cy="158750"/>
          </a:xfrm>
          <a:prstGeom prst="rect">
            <a:avLst/>
          </a:prstGeom>
          <a:noFill/>
          <a:ln/>
        </p:spPr>
        <p:txBody>
          <a:bodyPr wrap="none" lIns="99235" tIns="0" rIns="59541" bIns="0" rtlCol="0" anchor="t"/>
          <a:lstStyle/>
          <a:p>
            <a:pPr algn="l" indent="0" marL="0">
              <a:lnSpc>
                <a:spcPct val="100000"/>
              </a:lnSpc>
              <a:buNone/>
            </a:pPr>
            <a:r>
              <a:rPr lang="en-US" sz="1000" dirty="0">
                <a:solidFill>
                  <a:srgbClr val="1C1C1C"/>
                </a:solidFill>
                <a:latin typeface="Roboto Condensed" pitchFamily="34" charset="0"/>
                <a:ea typeface="Roboto Condensed" pitchFamily="34" charset="-122"/>
                <a:cs typeface="Roboto Condensed" pitchFamily="34" charset="-120"/>
              </a:rPr>
              <a:t>MCCTC | AI Automation &amp; Software Development</a:t>
            </a:r>
            <a:endParaRPr lang="en-US" sz="10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nvSpPr>
        <p:spPr>
          <a:xfrm>
            <a:off x="661475" y="1756271"/>
            <a:ext cx="10868745" cy="590649"/>
          </a:xfrm>
          <a:prstGeom prst="rect">
            <a:avLst/>
          </a:prstGeom>
          <a:noFill/>
          <a:ln/>
        </p:spPr>
        <p:txBody>
          <a:bodyPr wrap="none" lIns="0" tIns="0" rIns="0" bIns="0" rtlCol="0" anchor="t"/>
          <a:lstStyle/>
          <a:p>
            <a:pPr algn="l" indent="0" marL="0">
              <a:lnSpc>
                <a:spcPct val="104000"/>
              </a:lnSpc>
              <a:buNone/>
            </a:pPr>
            <a:r>
              <a:rPr lang="en-US" sz="3700" b="1" dirty="0">
                <a:solidFill>
                  <a:srgbClr val="111111"/>
                </a:solidFill>
                <a:latin typeface="Orbitron Bold" pitchFamily="34" charset="0"/>
                <a:ea typeface="Orbitron Bold" pitchFamily="34" charset="-122"/>
                <a:cs typeface="Orbitron Bold" pitchFamily="34" charset="-120"/>
              </a:rPr>
              <a:t>Watch this: the plan for the week</a:t>
            </a:r>
            <a:endParaRPr lang="en-US" sz="3700" dirty="0"/>
          </a:p>
        </p:txBody>
      </p:sp>
      <p:sp>
        <p:nvSpPr>
          <p:cNvPr id="3" name="Shape 1"/>
          <p:cNvSpPr/>
          <p:nvPr/>
        </p:nvSpPr>
        <p:spPr>
          <a:xfrm>
            <a:off x="661475" y="2724944"/>
            <a:ext cx="10868745" cy="1285280"/>
          </a:xfrm>
          <a:prstGeom prst="roundRect">
            <a:avLst>
              <a:gd name="adj" fmla="val 6177"/>
            </a:avLst>
          </a:prstGeom>
          <a:solidFill>
            <a:srgbClr val="F2F2F2"/>
          </a:solidFill>
          <a:ln/>
        </p:spPr>
      </p:sp>
      <p:sp>
        <p:nvSpPr>
          <p:cNvPr id="4" name="Text 2"/>
          <p:cNvSpPr/>
          <p:nvPr/>
        </p:nvSpPr>
        <p:spPr>
          <a:xfrm>
            <a:off x="888283" y="2913955"/>
            <a:ext cx="10415129" cy="907256"/>
          </a:xfrm>
          <a:prstGeom prst="rect">
            <a:avLst/>
          </a:prstGeom>
          <a:noFill/>
          <a:ln/>
        </p:spPr>
        <p:txBody>
          <a:bodyPr wrap="square" lIns="0" tIns="0" rIns="0" bIns="0" rtlCol="0" anchor="t">
            <a:normAutofit/>
          </a:bodyPr>
          <a:lstStyle/>
          <a:p>
            <a:pPr algn="l" indent="0" marL="0">
              <a:lnSpc>
                <a:spcPct val="133000"/>
              </a:lnSpc>
              <a:buNone/>
            </a:pPr>
            <a:r>
              <a:rPr lang="en-US" sz="1450" dirty="0">
                <a:solidFill>
                  <a:srgbClr val="D73A49"/>
                </a:solidFill>
                <a:latin typeface="Consolas" pitchFamily="34" charset="0"/>
                <a:ea typeface="Consolas" pitchFamily="34" charset="-122"/>
                <a:cs typeface="Consolas" pitchFamily="34" charset="-120"/>
              </a:rPr>
              <a:t>for day in range(1, 7):</a:t>
            </a:r>
            <a:endParaRPr lang="en-US" sz="1450" dirty="0"/>
          </a:p>
          <a:p>
            <a:pPr algn="l" indent="0" marL="0">
              <a:lnSpc>
                <a:spcPct val="133000"/>
              </a:lnSpc>
              <a:buNone/>
            </a:pPr>
            <a:r>
              <a:rPr lang="en-US" sz="1450" dirty="0">
                <a:solidFill>
                  <a:srgbClr val="D73A49"/>
                </a:solidFill>
                <a:latin typeface="Consolas" pitchFamily="34" charset="0"/>
                <a:ea typeface="Consolas" pitchFamily="34" charset="-122"/>
                <a:cs typeface="Consolas" pitchFamily="34" charset="-120"/>
              </a:rPr>
              <a:t>    print(f"Day {day}: 20 pushups")</a:t>
            </a:r>
            <a:endParaRPr lang="en-US" sz="1450" dirty="0"/>
          </a:p>
          <a:p>
            <a:pPr algn="l" indent="0" marL="0">
              <a:lnSpc>
                <a:spcPct val="133000"/>
              </a:lnSpc>
              <a:buNone/>
            </a:pPr>
            <a:r>
              <a:rPr lang="en-US" sz="1450" dirty="0">
                <a:solidFill>
                  <a:srgbClr val="D73A49"/>
                </a:solidFill>
                <a:latin typeface="Consolas" pitchFamily="34" charset="0"/>
                <a:ea typeface="Consolas" pitchFamily="34" charset="-122"/>
                <a:cs typeface="Consolas" pitchFamily="34" charset="-120"/>
              </a:rPr>
              <a:t>print("Week complete")</a:t>
            </a:r>
            <a:endParaRPr lang="en-US" sz="1450" dirty="0"/>
          </a:p>
        </p:txBody>
      </p:sp>
      <p:sp>
        <p:nvSpPr>
          <p:cNvPr id="5" name="Shape 3"/>
          <p:cNvSpPr/>
          <p:nvPr/>
        </p:nvSpPr>
        <p:spPr>
          <a:xfrm>
            <a:off x="661475" y="4222849"/>
            <a:ext cx="10868745" cy="755948"/>
          </a:xfrm>
          <a:prstGeom prst="roundRect">
            <a:avLst>
              <a:gd name="adj" fmla="val 10502"/>
            </a:avLst>
          </a:prstGeom>
          <a:solidFill>
            <a:srgbClr val="FCF2B5"/>
          </a:solidFill>
          <a:ln/>
        </p:spPr>
      </p:sp>
      <p:pic>
        <p:nvPicPr>
          <p:cNvPr id="6" name="Image 0" descr="preencoded.png">    </p:cNvPr>
          <p:cNvPicPr>
            <a:picLocks noChangeAspect="1"/>
          </p:cNvPicPr>
          <p:nvPr/>
        </p:nvPicPr>
        <p:blipFill>
          <a:blip r:embed="rId1"/>
          <a:stretch>
            <a:fillRect/>
          </a:stretch>
        </p:blipFill>
        <p:spPr>
          <a:xfrm>
            <a:off x="850482" y="4490541"/>
            <a:ext cx="236234" cy="189012"/>
          </a:xfrm>
          <a:prstGeom prst="rect">
            <a:avLst/>
          </a:prstGeom>
        </p:spPr>
      </p:pic>
      <p:sp>
        <p:nvSpPr>
          <p:cNvPr id="7" name="Text 4"/>
          <p:cNvSpPr/>
          <p:nvPr/>
        </p:nvSpPr>
        <p:spPr>
          <a:xfrm>
            <a:off x="1275723" y="4459089"/>
            <a:ext cx="10675075" cy="302419"/>
          </a:xfrm>
          <a:prstGeom prst="rect">
            <a:avLst/>
          </a:prstGeom>
          <a:noFill/>
          <a:ln/>
        </p:spPr>
        <p:txBody>
          <a:bodyPr wrap="none" lIns="0" tIns="0" rIns="0" bIns="0" rtlCol="0" anchor="t"/>
          <a:lstStyle/>
          <a:p>
            <a:pPr algn="l" indent="0" marL="0">
              <a:lnSpc>
                <a:spcPct val="133000"/>
              </a:lnSpc>
              <a:buNone/>
            </a:pPr>
            <a:r>
              <a:rPr lang="en-US" sz="1450" dirty="0">
                <a:solidFill>
                  <a:srgbClr val="000000"/>
                </a:solidFill>
                <a:latin typeface="Roboto Condensed" pitchFamily="34" charset="0"/>
                <a:ea typeface="Roboto Condensed" pitchFamily="34" charset="-122"/>
                <a:cs typeface="Roboto Condensed" pitchFamily="34" charset="-120"/>
              </a:rPr>
              <a:t>range(1, 7) stops before 7. Day 7 is missing.</a:t>
            </a:r>
            <a:endParaRPr lang="en-US" sz="1450" dirty="0"/>
          </a:p>
        </p:txBody>
      </p:sp>
      <p:sp>
        <p:nvSpPr>
          <p:cNvPr id="8" name="Text 5"/>
          <p:cNvSpPr/>
          <p:nvPr/>
        </p:nvSpPr>
        <p:spPr>
          <a:xfrm>
            <a:off x="132255" y="6457255"/>
            <a:ext cx="3640642" cy="158750"/>
          </a:xfrm>
          <a:prstGeom prst="rect">
            <a:avLst/>
          </a:prstGeom>
          <a:noFill/>
          <a:ln/>
        </p:spPr>
        <p:txBody>
          <a:bodyPr wrap="none" lIns="99235" tIns="0" rIns="59541" bIns="0" rtlCol="0" anchor="t"/>
          <a:lstStyle/>
          <a:p>
            <a:pPr algn="l" indent="0" marL="0">
              <a:lnSpc>
                <a:spcPct val="100000"/>
              </a:lnSpc>
              <a:buNone/>
            </a:pPr>
            <a:r>
              <a:rPr lang="en-US" sz="1000" dirty="0">
                <a:solidFill>
                  <a:srgbClr val="1C1C1C"/>
                </a:solidFill>
                <a:latin typeface="Roboto Condensed" pitchFamily="34" charset="0"/>
                <a:ea typeface="Roboto Condensed" pitchFamily="34" charset="-122"/>
                <a:cs typeface="Roboto Condensed" pitchFamily="34" charset="-120"/>
              </a:rPr>
              <a:t>MCCTC | AI Automation &amp; Software Development</a:t>
            </a:r>
            <a:endParaRPr lang="en-US" sz="10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nvSpPr>
        <p:spPr>
          <a:xfrm>
            <a:off x="661475" y="540445"/>
            <a:ext cx="10868745" cy="526058"/>
          </a:xfrm>
          <a:prstGeom prst="rect">
            <a:avLst/>
          </a:prstGeom>
          <a:noFill/>
          <a:ln/>
        </p:spPr>
        <p:txBody>
          <a:bodyPr wrap="none" lIns="0" tIns="0" rIns="0" bIns="0" rtlCol="0" anchor="t"/>
          <a:lstStyle/>
          <a:p>
            <a:pPr algn="l" indent="0" marL="0">
              <a:lnSpc>
                <a:spcPct val="104000"/>
              </a:lnSpc>
              <a:buNone/>
            </a:pPr>
            <a:r>
              <a:rPr lang="en-US" sz="3300" b="1" dirty="0">
                <a:solidFill>
                  <a:srgbClr val="111111"/>
                </a:solidFill>
                <a:latin typeface="Orbitron Bold" pitchFamily="34" charset="0"/>
                <a:ea typeface="Orbitron Bold" pitchFamily="34" charset="-122"/>
                <a:cs typeface="Orbitron Bold" pitchFamily="34" charset="-120"/>
              </a:rPr>
              <a:t>The wrong way: six days and no error</a:t>
            </a:r>
            <a:endParaRPr lang="en-US" sz="3300" dirty="0"/>
          </a:p>
        </p:txBody>
      </p:sp>
      <p:sp>
        <p:nvSpPr>
          <p:cNvPr id="3" name="Shape 1"/>
          <p:cNvSpPr/>
          <p:nvPr/>
        </p:nvSpPr>
        <p:spPr>
          <a:xfrm>
            <a:off x="661475" y="2631877"/>
            <a:ext cx="3537060" cy="2222202"/>
          </a:xfrm>
          <a:prstGeom prst="roundRect">
            <a:avLst>
              <a:gd name="adj" fmla="val 3182"/>
            </a:avLst>
          </a:prstGeom>
          <a:solidFill>
            <a:srgbClr val="F2F2F2"/>
          </a:solidFill>
          <a:ln/>
        </p:spPr>
      </p:sp>
      <p:sp>
        <p:nvSpPr>
          <p:cNvPr id="4" name="Text 2"/>
          <p:cNvSpPr/>
          <p:nvPr/>
        </p:nvSpPr>
        <p:spPr>
          <a:xfrm>
            <a:off x="863479" y="2800152"/>
            <a:ext cx="3133051" cy="1885652"/>
          </a:xfrm>
          <a:prstGeom prst="rect">
            <a:avLst/>
          </a:prstGeom>
          <a:noFill/>
          <a:ln/>
        </p:spPr>
        <p:txBody>
          <a:bodyPr wrap="square" lIns="0" tIns="0" rIns="0" bIns="0" rtlCol="0" anchor="t">
            <a:normAutofit/>
          </a:bodyPr>
          <a:lstStyle/>
          <a:p>
            <a:pPr algn="l" indent="0" marL="0">
              <a:lnSpc>
                <a:spcPct val="133000"/>
              </a:lnSpc>
              <a:buNone/>
            </a:pPr>
            <a:r>
              <a:rPr lang="en-US" sz="1300" dirty="0">
                <a:solidFill>
                  <a:srgbClr val="D73A49"/>
                </a:solidFill>
                <a:latin typeface="Consolas" pitchFamily="34" charset="0"/>
                <a:ea typeface="Consolas" pitchFamily="34" charset="-122"/>
                <a:cs typeface="Consolas" pitchFamily="34" charset="-120"/>
              </a:rPr>
              <a:t>Day 1: 20 pushups</a:t>
            </a:r>
            <a:endParaRPr lang="en-US" sz="1300" dirty="0"/>
          </a:p>
          <a:p>
            <a:pPr algn="l" indent="0" marL="0">
              <a:lnSpc>
                <a:spcPct val="133000"/>
              </a:lnSpc>
              <a:buNone/>
            </a:pPr>
            <a:r>
              <a:rPr lang="en-US" sz="1300" dirty="0">
                <a:solidFill>
                  <a:srgbClr val="D73A49"/>
                </a:solidFill>
                <a:latin typeface="Consolas" pitchFamily="34" charset="0"/>
                <a:ea typeface="Consolas" pitchFamily="34" charset="-122"/>
                <a:cs typeface="Consolas" pitchFamily="34" charset="-120"/>
              </a:rPr>
              <a:t>Day 2: 20 pushups</a:t>
            </a:r>
            <a:endParaRPr lang="en-US" sz="1300" dirty="0"/>
          </a:p>
          <a:p>
            <a:pPr algn="l" indent="0" marL="0">
              <a:lnSpc>
                <a:spcPct val="133000"/>
              </a:lnSpc>
              <a:buNone/>
            </a:pPr>
            <a:r>
              <a:rPr lang="en-US" sz="1300" dirty="0">
                <a:solidFill>
                  <a:srgbClr val="D73A49"/>
                </a:solidFill>
                <a:latin typeface="Consolas" pitchFamily="34" charset="0"/>
                <a:ea typeface="Consolas" pitchFamily="34" charset="-122"/>
                <a:cs typeface="Consolas" pitchFamily="34" charset="-120"/>
              </a:rPr>
              <a:t>Day 3: 20 pushups</a:t>
            </a:r>
            <a:endParaRPr lang="en-US" sz="1300" dirty="0"/>
          </a:p>
          <a:p>
            <a:pPr algn="l" indent="0" marL="0">
              <a:lnSpc>
                <a:spcPct val="133000"/>
              </a:lnSpc>
              <a:buNone/>
            </a:pPr>
            <a:r>
              <a:rPr lang="en-US" sz="1300" dirty="0">
                <a:solidFill>
                  <a:srgbClr val="D73A49"/>
                </a:solidFill>
                <a:latin typeface="Consolas" pitchFamily="34" charset="0"/>
                <a:ea typeface="Consolas" pitchFamily="34" charset="-122"/>
                <a:cs typeface="Consolas" pitchFamily="34" charset="-120"/>
              </a:rPr>
              <a:t>Day 4: 20 pushups</a:t>
            </a:r>
            <a:endParaRPr lang="en-US" sz="1300" dirty="0"/>
          </a:p>
          <a:p>
            <a:pPr algn="l" indent="0" marL="0">
              <a:lnSpc>
                <a:spcPct val="133000"/>
              </a:lnSpc>
              <a:buNone/>
            </a:pPr>
            <a:r>
              <a:rPr lang="en-US" sz="1300" dirty="0">
                <a:solidFill>
                  <a:srgbClr val="D73A49"/>
                </a:solidFill>
                <a:latin typeface="Consolas" pitchFamily="34" charset="0"/>
                <a:ea typeface="Consolas" pitchFamily="34" charset="-122"/>
                <a:cs typeface="Consolas" pitchFamily="34" charset="-120"/>
              </a:rPr>
              <a:t>Day 5: 20 pushups</a:t>
            </a:r>
            <a:endParaRPr lang="en-US" sz="1300" dirty="0"/>
          </a:p>
          <a:p>
            <a:pPr algn="l" indent="0" marL="0">
              <a:lnSpc>
                <a:spcPct val="133000"/>
              </a:lnSpc>
              <a:buNone/>
            </a:pPr>
            <a:r>
              <a:rPr lang="en-US" sz="1300" dirty="0">
                <a:solidFill>
                  <a:srgbClr val="D73A49"/>
                </a:solidFill>
                <a:latin typeface="Consolas" pitchFamily="34" charset="0"/>
                <a:ea typeface="Consolas" pitchFamily="34" charset="-122"/>
                <a:cs typeface="Consolas" pitchFamily="34" charset="-120"/>
              </a:rPr>
              <a:t>Day 6: 20 pushups</a:t>
            </a:r>
            <a:endParaRPr lang="en-US" sz="1300" dirty="0"/>
          </a:p>
          <a:p>
            <a:pPr algn="l" indent="0" marL="0">
              <a:lnSpc>
                <a:spcPct val="133000"/>
              </a:lnSpc>
              <a:buNone/>
            </a:pPr>
            <a:r>
              <a:rPr lang="en-US" sz="1300" dirty="0">
                <a:solidFill>
                  <a:srgbClr val="D73A49"/>
                </a:solidFill>
                <a:latin typeface="Consolas" pitchFamily="34" charset="0"/>
                <a:ea typeface="Consolas" pitchFamily="34" charset="-122"/>
                <a:cs typeface="Consolas" pitchFamily="34" charset="-120"/>
              </a:rPr>
              <a:t>Week complete</a:t>
            </a:r>
            <a:endParaRPr lang="en-US" sz="1300" dirty="0"/>
          </a:p>
        </p:txBody>
      </p:sp>
      <p:pic>
        <p:nvPicPr>
          <p:cNvPr id="5" name="Image 0" descr="preencoded.png">    </p:cNvPr>
          <p:cNvPicPr>
            <a:picLocks noChangeAspect="1"/>
          </p:cNvPicPr>
          <p:nvPr/>
        </p:nvPicPr>
        <p:blipFill>
          <a:blip r:embed="rId1"/>
          <a:stretch>
            <a:fillRect/>
          </a:stretch>
        </p:blipFill>
        <p:spPr>
          <a:xfrm>
            <a:off x="4615640" y="1460004"/>
            <a:ext cx="6920831" cy="3921820"/>
          </a:xfrm>
          <a:prstGeom prst="rect">
            <a:avLst/>
          </a:prstGeom>
        </p:spPr>
      </p:pic>
      <p:sp>
        <p:nvSpPr>
          <p:cNvPr id="6" name="Text 3"/>
          <p:cNvSpPr/>
          <p:nvPr/>
        </p:nvSpPr>
        <p:spPr>
          <a:xfrm>
            <a:off x="4615640" y="5550495"/>
            <a:ext cx="6920831" cy="509191"/>
          </a:xfrm>
          <a:prstGeom prst="rect">
            <a:avLst/>
          </a:prstGeom>
          <a:noFill/>
          <a:ln/>
        </p:spPr>
        <p:txBody>
          <a:bodyPr wrap="square" lIns="0" tIns="0" rIns="0" bIns="0" rtlCol="0" anchor="t">
            <a:normAutofit/>
          </a:bodyPr>
          <a:lstStyle/>
          <a:p>
            <a:pPr algn="l" indent="0" marL="0">
              <a:lnSpc>
                <a:spcPct val="126000"/>
              </a:lnSpc>
              <a:buNone/>
            </a:pPr>
            <a:r>
              <a:rPr lang="en-US" sz="1300" dirty="0">
                <a:solidFill>
                  <a:srgbClr val="1C1C1C"/>
                </a:solidFill>
                <a:latin typeface="Roboto Condensed" pitchFamily="34" charset="0"/>
                <a:ea typeface="Roboto Condensed" pitchFamily="34" charset="-122"/>
                <a:cs typeface="Roboto Condensed" pitchFamily="34" charset="-120"/>
              </a:rPr>
              <a:t>Six days printed. No error message. Python does exactly what the code says, not what you meant.</a:t>
            </a:r>
            <a:endParaRPr lang="en-US" sz="1300" dirty="0"/>
          </a:p>
        </p:txBody>
      </p:sp>
      <p:sp>
        <p:nvSpPr>
          <p:cNvPr id="7" name="Text 4"/>
          <p:cNvSpPr/>
          <p:nvPr/>
        </p:nvSpPr>
        <p:spPr>
          <a:xfrm>
            <a:off x="132255" y="6457255"/>
            <a:ext cx="3640642" cy="158750"/>
          </a:xfrm>
          <a:prstGeom prst="rect">
            <a:avLst/>
          </a:prstGeom>
          <a:noFill/>
          <a:ln/>
        </p:spPr>
        <p:txBody>
          <a:bodyPr wrap="none" lIns="99235" tIns="0" rIns="59541" bIns="0" rtlCol="0" anchor="t"/>
          <a:lstStyle/>
          <a:p>
            <a:pPr algn="l" indent="0" marL="0">
              <a:lnSpc>
                <a:spcPct val="100000"/>
              </a:lnSpc>
              <a:buNone/>
            </a:pPr>
            <a:r>
              <a:rPr lang="en-US" sz="1000" dirty="0">
                <a:solidFill>
                  <a:srgbClr val="1C1C1C"/>
                </a:solidFill>
                <a:latin typeface="Roboto Condensed" pitchFamily="34" charset="0"/>
                <a:ea typeface="Roboto Condensed" pitchFamily="34" charset="-122"/>
                <a:cs typeface="Roboto Condensed" pitchFamily="34" charset="-120"/>
              </a:rPr>
              <a:t>MCCTC | AI Automation &amp; Software Development</a:t>
            </a:r>
            <a:endParaRPr lang="en-US" sz="10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nvSpPr>
        <p:spPr>
          <a:xfrm>
            <a:off x="661475" y="1951137"/>
            <a:ext cx="10868745" cy="590649"/>
          </a:xfrm>
          <a:prstGeom prst="rect">
            <a:avLst/>
          </a:prstGeom>
          <a:noFill/>
          <a:ln/>
        </p:spPr>
        <p:txBody>
          <a:bodyPr wrap="none" lIns="0" tIns="0" rIns="0" bIns="0" rtlCol="0" anchor="t"/>
          <a:lstStyle/>
          <a:p>
            <a:pPr algn="l" indent="0" marL="0">
              <a:lnSpc>
                <a:spcPct val="104000"/>
              </a:lnSpc>
              <a:buNone/>
            </a:pPr>
            <a:r>
              <a:rPr lang="en-US" sz="3700" b="1" dirty="0">
                <a:solidFill>
                  <a:srgbClr val="111111"/>
                </a:solidFill>
                <a:latin typeface="Orbitron Bold" pitchFamily="34" charset="0"/>
                <a:ea typeface="Orbitron Bold" pitchFamily="34" charset="-122"/>
                <a:cs typeface="Orbitron Bold" pitchFamily="34" charset="-120"/>
              </a:rPr>
              <a:t>for or while</a:t>
            </a:r>
            <a:endParaRPr lang="en-US" sz="3700" dirty="0"/>
          </a:p>
        </p:txBody>
      </p:sp>
      <p:sp>
        <p:nvSpPr>
          <p:cNvPr id="3" name="Shape 1"/>
          <p:cNvSpPr/>
          <p:nvPr/>
        </p:nvSpPr>
        <p:spPr>
          <a:xfrm>
            <a:off x="661475" y="2919809"/>
            <a:ext cx="10868745" cy="1864221"/>
          </a:xfrm>
          <a:prstGeom prst="roundRect">
            <a:avLst>
              <a:gd name="adj" fmla="val 4258"/>
            </a:avLst>
          </a:prstGeom>
          <a:solidFill>
            <a:srgbClr val="D1E5FA"/>
          </a:solidFill>
          <a:ln w="19050">
            <a:solidFill>
              <a:srgbClr val="B7CBE0"/>
            </a:solidFill>
            <a:prstDash val="solid"/>
          </a:ln>
        </p:spPr>
      </p:sp>
      <p:sp>
        <p:nvSpPr>
          <p:cNvPr id="4" name="Shape 2"/>
          <p:cNvSpPr/>
          <p:nvPr/>
        </p:nvSpPr>
        <p:spPr>
          <a:xfrm>
            <a:off x="680524" y="2938859"/>
            <a:ext cx="5415323" cy="1826121"/>
          </a:xfrm>
          <a:custGeom>
            <a:avLst/>
            <a:gdLst/>
            <a:ahLst/>
            <a:cxnLst/>
            <a:rect l="l" t="t" r="r" b="b"/>
            <a:pathLst>
              <a:path w="5415323" h="1826121">
                <a:moveTo>
                  <a:pt x="66156" y="0"/>
                </a:moveTo>
                <a:lnTo>
                  <a:pt x="5415323" y="0"/>
                </a:lnTo>
                <a:lnTo>
                  <a:pt x="5415323" y="1826121"/>
                </a:lnTo>
                <a:lnTo>
                  <a:pt x="66156" y="1826121"/>
                </a:lnTo>
                <a:arcTo hR="66158" wR="66156" stAng="5400000" swAng="5400000"/>
                <a:lnTo>
                  <a:pt x="0" y="66158"/>
                </a:lnTo>
                <a:arcTo hR="66158" wR="66156" stAng="10800000" swAng="5400000"/>
                <a:close/>
              </a:path>
            </a:pathLst>
          </a:custGeom>
          <a:solidFill>
            <a:srgbClr val="D1E5FA"/>
          </a:solidFill>
          <a:ln/>
        </p:spPr>
      </p:sp>
      <p:sp>
        <p:nvSpPr>
          <p:cNvPr id="5" name="Text 3"/>
          <p:cNvSpPr/>
          <p:nvPr/>
        </p:nvSpPr>
        <p:spPr>
          <a:xfrm>
            <a:off x="869531" y="3127871"/>
            <a:ext cx="5037309" cy="295275"/>
          </a:xfrm>
          <a:prstGeom prst="rect">
            <a:avLst/>
          </a:prstGeom>
          <a:noFill/>
          <a:ln/>
        </p:spPr>
        <p:txBody>
          <a:bodyPr wrap="none" lIns="0" tIns="0" rIns="0" bIns="0" rtlCol="0" anchor="t"/>
          <a:lstStyle/>
          <a:p>
            <a:pPr algn="l" indent="0" marL="0">
              <a:lnSpc>
                <a:spcPct val="104000"/>
              </a:lnSpc>
              <a:buNone/>
            </a:pPr>
            <a:r>
              <a:rPr lang="en-US" sz="1850" b="1" dirty="0">
                <a:solidFill>
                  <a:srgbClr val="57A1EB"/>
                </a:solidFill>
                <a:latin typeface="Orbitron Bold" pitchFamily="34" charset="0"/>
                <a:ea typeface="Orbitron Bold" pitchFamily="34" charset="-122"/>
                <a:cs typeface="Orbitron Bold" pitchFamily="34" charset="-120"/>
              </a:rPr>
              <a:t>for</a:t>
            </a:r>
            <a:endParaRPr lang="en-US" sz="1850" dirty="0"/>
          </a:p>
        </p:txBody>
      </p:sp>
      <p:sp>
        <p:nvSpPr>
          <p:cNvPr id="6" name="Text 4"/>
          <p:cNvSpPr/>
          <p:nvPr/>
        </p:nvSpPr>
        <p:spPr>
          <a:xfrm>
            <a:off x="869531" y="3536553"/>
            <a:ext cx="5037309" cy="1039416"/>
          </a:xfrm>
          <a:prstGeom prst="rect">
            <a:avLst/>
          </a:prstGeom>
          <a:noFill/>
          <a:ln/>
        </p:spPr>
        <p:txBody>
          <a:bodyPr wrap="square" lIns="0" tIns="0" rIns="0" bIns="0" rtlCol="0" anchor="t">
            <a:normAutofit/>
          </a:bodyPr>
          <a:lstStyle/>
          <a:p>
            <a:pPr algn="l" marL="294640" indent="-294640">
              <a:lnSpc>
                <a:spcPct val="133000"/>
              </a:lnSpc>
              <a:buSzPct val="100000"/>
              <a:buChar char="•"/>
            </a:pPr>
            <a:r>
              <a:rPr lang="en-US" sz="1450" dirty="0">
                <a:solidFill>
                  <a:srgbClr val="1C1C1C"/>
                </a:solidFill>
                <a:latin typeface="Roboto Condensed" pitchFamily="34" charset="0"/>
                <a:ea typeface="Roboto Condensed" pitchFamily="34" charset="-122"/>
                <a:cs typeface="Roboto Condensed" pitchFamily="34" charset="-120"/>
              </a:rPr>
              <a:t>Known number of passes before the loop starts</a:t>
            </a:r>
            <a:endParaRPr lang="en-US" sz="1450" dirty="0"/>
          </a:p>
          <a:p>
            <a:pPr algn="l" marL="294640" indent="-294640">
              <a:lnSpc>
                <a:spcPct val="133000"/>
              </a:lnSpc>
              <a:buSzPct val="100000"/>
              <a:buChar char="•"/>
            </a:pPr>
            <a:r>
              <a:rPr lang="en-US" sz="1450" dirty="0">
                <a:solidFill>
                  <a:srgbClr val="1C1C1C"/>
                </a:solidFill>
                <a:latin typeface="Roboto Condensed" pitchFamily="34" charset="0"/>
                <a:ea typeface="Roboto Condensed" pitchFamily="34" charset="-122"/>
                <a:cs typeface="Roboto Condensed" pitchFamily="34" charset="-120"/>
              </a:rPr>
              <a:t>Once per character in a string</a:t>
            </a:r>
            <a:endParaRPr lang="en-US" sz="1450" dirty="0"/>
          </a:p>
          <a:p>
            <a:pPr algn="l" marL="294640" indent="-294640">
              <a:lnSpc>
                <a:spcPct val="133000"/>
              </a:lnSpc>
              <a:buSzPct val="100000"/>
              <a:buChar char="•"/>
            </a:pPr>
            <a:r>
              <a:rPr lang="en-US" sz="1450" dirty="0">
                <a:solidFill>
                  <a:srgbClr val="1C1C1C"/>
                </a:solidFill>
                <a:latin typeface="Roboto Condensed" pitchFamily="34" charset="0"/>
                <a:ea typeface="Roboto Condensed" pitchFamily="34" charset="-122"/>
                <a:cs typeface="Roboto Condensed" pitchFamily="34" charset="-120"/>
              </a:rPr>
              <a:t>The broadcast repeat is a for</a:t>
            </a:r>
            <a:endParaRPr lang="en-US" sz="1450" dirty="0"/>
          </a:p>
        </p:txBody>
      </p:sp>
      <p:sp>
        <p:nvSpPr>
          <p:cNvPr id="7" name="Shape 5"/>
          <p:cNvSpPr/>
          <p:nvPr/>
        </p:nvSpPr>
        <p:spPr>
          <a:xfrm>
            <a:off x="6095848" y="2938859"/>
            <a:ext cx="5415323" cy="1826121"/>
          </a:xfrm>
          <a:custGeom>
            <a:avLst/>
            <a:gdLst/>
            <a:ahLst/>
            <a:cxnLst/>
            <a:rect l="l" t="t" r="r" b="b"/>
            <a:pathLst>
              <a:path w="5415323" h="1826121">
                <a:moveTo>
                  <a:pt x="0" y="0"/>
                </a:moveTo>
                <a:lnTo>
                  <a:pt x="5349167" y="0"/>
                </a:lnTo>
                <a:arcTo hR="66158" wR="66156" stAng="16200000" swAng="5400000"/>
                <a:lnTo>
                  <a:pt x="5415323" y="1759963"/>
                </a:lnTo>
                <a:arcTo hR="66158" wR="66156" stAng="0" swAng="5400000"/>
                <a:lnTo>
                  <a:pt x="0" y="1826121"/>
                </a:lnTo>
                <a:lnTo>
                  <a:pt x="0" y="0"/>
                </a:lnTo>
                <a:close/>
              </a:path>
            </a:pathLst>
          </a:custGeom>
          <a:solidFill>
            <a:srgbClr val="D1E5FA"/>
          </a:solidFill>
          <a:ln/>
        </p:spPr>
      </p:sp>
      <p:sp>
        <p:nvSpPr>
          <p:cNvPr id="8" name="Shape 6"/>
          <p:cNvSpPr/>
          <p:nvPr/>
        </p:nvSpPr>
        <p:spPr>
          <a:xfrm>
            <a:off x="6095848" y="2938859"/>
            <a:ext cx="25399" cy="1826121"/>
          </a:xfrm>
          <a:prstGeom prst="roundRect">
            <a:avLst>
              <a:gd name="adj" fmla="val 50001"/>
            </a:avLst>
          </a:prstGeom>
          <a:solidFill>
            <a:srgbClr val="B7CBE0"/>
          </a:solidFill>
          <a:ln/>
        </p:spPr>
      </p:sp>
      <p:sp>
        <p:nvSpPr>
          <p:cNvPr id="9" name="Text 7"/>
          <p:cNvSpPr/>
          <p:nvPr/>
        </p:nvSpPr>
        <p:spPr>
          <a:xfrm>
            <a:off x="6284854" y="3127871"/>
            <a:ext cx="5037309" cy="295275"/>
          </a:xfrm>
          <a:prstGeom prst="rect">
            <a:avLst/>
          </a:prstGeom>
          <a:noFill/>
          <a:ln/>
        </p:spPr>
        <p:txBody>
          <a:bodyPr wrap="none" lIns="0" tIns="0" rIns="0" bIns="0" rtlCol="0" anchor="t"/>
          <a:lstStyle/>
          <a:p>
            <a:pPr algn="l" indent="0" marL="0">
              <a:lnSpc>
                <a:spcPct val="104000"/>
              </a:lnSpc>
              <a:buNone/>
            </a:pPr>
            <a:r>
              <a:rPr lang="en-US" sz="1850" b="1" dirty="0">
                <a:solidFill>
                  <a:srgbClr val="B0001D"/>
                </a:solidFill>
                <a:latin typeface="Orbitron Bold" pitchFamily="34" charset="0"/>
                <a:ea typeface="Orbitron Bold" pitchFamily="34" charset="-122"/>
                <a:cs typeface="Orbitron Bold" pitchFamily="34" charset="-120"/>
              </a:rPr>
              <a:t>while</a:t>
            </a:r>
            <a:endParaRPr lang="en-US" sz="1850" dirty="0"/>
          </a:p>
        </p:txBody>
      </p:sp>
      <p:sp>
        <p:nvSpPr>
          <p:cNvPr id="10" name="Text 8"/>
          <p:cNvSpPr/>
          <p:nvPr/>
        </p:nvSpPr>
        <p:spPr>
          <a:xfrm>
            <a:off x="6284854" y="3536553"/>
            <a:ext cx="5037309" cy="1039416"/>
          </a:xfrm>
          <a:prstGeom prst="rect">
            <a:avLst/>
          </a:prstGeom>
          <a:noFill/>
          <a:ln/>
        </p:spPr>
        <p:txBody>
          <a:bodyPr wrap="square" lIns="0" tIns="0" rIns="0" bIns="0" rtlCol="0" anchor="t">
            <a:normAutofit/>
          </a:bodyPr>
          <a:lstStyle/>
          <a:p>
            <a:pPr algn="l" marL="294640" indent="-294640">
              <a:lnSpc>
                <a:spcPct val="133000"/>
              </a:lnSpc>
              <a:buSzPct val="100000"/>
              <a:buChar char="•"/>
            </a:pPr>
            <a:r>
              <a:rPr lang="en-US" sz="1450" dirty="0">
                <a:solidFill>
                  <a:srgbClr val="1C1C1C"/>
                </a:solidFill>
                <a:latin typeface="Roboto Condensed" pitchFamily="34" charset="0"/>
                <a:ea typeface="Roboto Condensed" pitchFamily="34" charset="-122"/>
                <a:cs typeface="Roboto Condensed" pitchFamily="34" charset="-120"/>
              </a:rPr>
              <a:t>Until the player types quit</a:t>
            </a:r>
            <a:endParaRPr lang="en-US" sz="1450" dirty="0"/>
          </a:p>
          <a:p>
            <a:pPr algn="l" marL="294640" indent="-294640">
              <a:lnSpc>
                <a:spcPct val="133000"/>
              </a:lnSpc>
              <a:buSzPct val="100000"/>
              <a:buChar char="•"/>
            </a:pPr>
            <a:r>
              <a:rPr lang="en-US" sz="1450" dirty="0">
                <a:solidFill>
                  <a:srgbClr val="1C1C1C"/>
                </a:solidFill>
                <a:latin typeface="Roboto Condensed" pitchFamily="34" charset="0"/>
                <a:ea typeface="Roboto Condensed" pitchFamily="34" charset="-122"/>
                <a:cs typeface="Roboto Condensed" pitchFamily="34" charset="-120"/>
              </a:rPr>
              <a:t>Until the answer is valid</a:t>
            </a:r>
            <a:endParaRPr lang="en-US" sz="1450" dirty="0"/>
          </a:p>
          <a:p>
            <a:pPr algn="l" marL="294640" indent="-294640">
              <a:lnSpc>
                <a:spcPct val="133000"/>
              </a:lnSpc>
              <a:buSzPct val="100000"/>
              <a:buChar char="•"/>
            </a:pPr>
            <a:r>
              <a:rPr lang="en-US" sz="1450" dirty="0">
                <a:solidFill>
                  <a:srgbClr val="1C1C1C"/>
                </a:solidFill>
                <a:latin typeface="Roboto Condensed" pitchFamily="34" charset="0"/>
                <a:ea typeface="Roboto Condensed" pitchFamily="34" charset="-122"/>
                <a:cs typeface="Roboto Condensed" pitchFamily="34" charset="-120"/>
              </a:rPr>
              <a:t>Your game loop is a while</a:t>
            </a:r>
            <a:endParaRPr lang="en-US" sz="1450" dirty="0"/>
          </a:p>
        </p:txBody>
      </p:sp>
      <p:sp>
        <p:nvSpPr>
          <p:cNvPr id="11" name="Text 9"/>
          <p:cNvSpPr/>
          <p:nvPr/>
        </p:nvSpPr>
        <p:spPr>
          <a:xfrm>
            <a:off x="132255" y="6457255"/>
            <a:ext cx="3640642" cy="158750"/>
          </a:xfrm>
          <a:prstGeom prst="rect">
            <a:avLst/>
          </a:prstGeom>
          <a:noFill/>
          <a:ln/>
        </p:spPr>
        <p:txBody>
          <a:bodyPr wrap="none" lIns="99235" tIns="0" rIns="59541" bIns="0" rtlCol="0" anchor="t"/>
          <a:lstStyle/>
          <a:p>
            <a:pPr algn="l" indent="0" marL="0">
              <a:lnSpc>
                <a:spcPct val="100000"/>
              </a:lnSpc>
              <a:buNone/>
            </a:pPr>
            <a:r>
              <a:rPr lang="en-US" sz="1000" dirty="0">
                <a:solidFill>
                  <a:srgbClr val="1C1C1C"/>
                </a:solidFill>
                <a:latin typeface="Roboto Condensed" pitchFamily="34" charset="0"/>
                <a:ea typeface="Roboto Condensed" pitchFamily="34" charset="-122"/>
                <a:cs typeface="Roboto Condensed" pitchFamily="34" charset="-120"/>
              </a:rPr>
              <a:t>MCCTC | AI Automation &amp; Software Development</a:t>
            </a:r>
            <a:endParaRPr lang="en-US" sz="10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4571886" cy="6858000"/>
          </a:xfrm>
          <a:prstGeom prst="rect">
            <a:avLst/>
          </a:prstGeom>
        </p:spPr>
      </p:pic>
      <p:sp>
        <p:nvSpPr>
          <p:cNvPr id="3" name="Text 0"/>
          <p:cNvSpPr/>
          <p:nvPr/>
        </p:nvSpPr>
        <p:spPr>
          <a:xfrm>
            <a:off x="5233360" y="1746945"/>
            <a:ext cx="6296860" cy="1181298"/>
          </a:xfrm>
          <a:prstGeom prst="rect">
            <a:avLst/>
          </a:prstGeom>
          <a:noFill/>
          <a:ln/>
        </p:spPr>
        <p:txBody>
          <a:bodyPr wrap="square" lIns="0" tIns="0" rIns="0" bIns="0" rtlCol="0" anchor="t">
            <a:normAutofit/>
          </a:bodyPr>
          <a:lstStyle/>
          <a:p>
            <a:pPr algn="l" indent="0" marL="0">
              <a:lnSpc>
                <a:spcPct val="104000"/>
              </a:lnSpc>
              <a:buNone/>
            </a:pPr>
            <a:r>
              <a:rPr lang="en-US" sz="3700" b="1" dirty="0">
                <a:solidFill>
                  <a:srgbClr val="111111"/>
                </a:solidFill>
                <a:latin typeface="Orbitron Bold" pitchFamily="34" charset="0"/>
                <a:ea typeface="Orbitron Bold" pitchFamily="34" charset="-122"/>
                <a:cs typeface="Orbitron Bold" pitchFamily="34" charset="-120"/>
              </a:rPr>
              <a:t>What you are about to build</a:t>
            </a:r>
            <a:endParaRPr lang="en-US" sz="3700" dirty="0"/>
          </a:p>
        </p:txBody>
      </p:sp>
      <p:sp>
        <p:nvSpPr>
          <p:cNvPr id="4" name="Text 1"/>
          <p:cNvSpPr/>
          <p:nvPr/>
        </p:nvSpPr>
        <p:spPr>
          <a:xfrm>
            <a:off x="5233360" y="3211711"/>
            <a:ext cx="6296860" cy="1776413"/>
          </a:xfrm>
          <a:prstGeom prst="rect">
            <a:avLst/>
          </a:prstGeom>
          <a:noFill/>
          <a:ln/>
        </p:spPr>
        <p:txBody>
          <a:bodyPr wrap="square" lIns="0" tIns="0" rIns="0" bIns="0" rtlCol="0" anchor="t">
            <a:normAutofit/>
          </a:bodyPr>
          <a:lstStyle/>
          <a:p>
            <a:pPr algn="l" marL="294640" indent="-294640">
              <a:lnSpc>
                <a:spcPct val="133000"/>
              </a:lnSpc>
              <a:buSzPct val="100000"/>
              <a:buChar char="•"/>
            </a:pPr>
            <a:r>
              <a:rPr lang="en-US" sz="1450" dirty="0">
                <a:solidFill>
                  <a:srgbClr val="1C1C1C"/>
                </a:solidFill>
                <a:latin typeface="Roboto Condensed" pitchFamily="34" charset="0"/>
                <a:ea typeface="Roboto Condensed" pitchFamily="34" charset="-122"/>
                <a:cs typeface="Roboto Condensed" pitchFamily="34" charset="-120"/>
              </a:rPr>
              <a:t>Build 1: Lab U03-01 Training Plan, Part 1</a:t>
            </a:r>
            <a:endParaRPr lang="en-US" sz="1450" dirty="0"/>
          </a:p>
          <a:p>
            <a:pPr algn="l" marL="294640" indent="-294640">
              <a:lnSpc>
                <a:spcPct val="133000"/>
              </a:lnSpc>
              <a:buSzPct val="100000"/>
              <a:buChar char="•"/>
            </a:pPr>
            <a:r>
              <a:rPr lang="en-US" sz="1450" dirty="0">
                <a:solidFill>
                  <a:srgbClr val="1C1C1C"/>
                </a:solidFill>
                <a:latin typeface="Roboto Condensed" pitchFamily="34" charset="0"/>
                <a:ea typeface="Roboto Condensed" pitchFamily="34" charset="-122"/>
                <a:cs typeface="Roboto Condensed" pitchFamily="34" charset="-120"/>
              </a:rPr>
              <a:t>A running plan that builds week by week to tryouts</a:t>
            </a:r>
            <a:endParaRPr lang="en-US" sz="1450" dirty="0"/>
          </a:p>
          <a:p>
            <a:pPr algn="l" marL="294640" indent="-294640">
              <a:lnSpc>
                <a:spcPct val="133000"/>
              </a:lnSpc>
              <a:buSzPct val="100000"/>
              <a:buChar char="•"/>
            </a:pPr>
            <a:r>
              <a:rPr lang="en-US" sz="1450" dirty="0">
                <a:solidFill>
                  <a:srgbClr val="1C1C1C"/>
                </a:solidFill>
                <a:latin typeface="Roboto Condensed" pitchFamily="34" charset="0"/>
                <a:ea typeface="Roboto Condensed" pitchFamily="34" charset="-122"/>
                <a:cs typeface="Roboto Condensed" pitchFamily="34" charset="-120"/>
              </a:rPr>
              <a:t>Step 5 breaks your range on purpose. Record the result</a:t>
            </a:r>
            <a:endParaRPr lang="en-US" sz="1450" dirty="0"/>
          </a:p>
          <a:p>
            <a:pPr algn="l" marL="294640" indent="-294640">
              <a:lnSpc>
                <a:spcPct val="133000"/>
              </a:lnSpc>
              <a:buSzPct val="100000"/>
              <a:buChar char="•"/>
            </a:pPr>
            <a:r>
              <a:rPr lang="en-US" sz="1450" dirty="0">
                <a:solidFill>
                  <a:srgbClr val="1C1C1C"/>
                </a:solidFill>
                <a:latin typeface="Roboto Condensed" pitchFamily="34" charset="0"/>
                <a:ea typeface="Roboto Condensed" pitchFamily="34" charset="-122"/>
                <a:cs typeface="Roboto Condensed" pitchFamily="34" charset="-120"/>
              </a:rPr>
              <a:t>Build 2: design YOUR text adventure. No code today</a:t>
            </a:r>
            <a:endParaRPr lang="en-US" sz="1450" dirty="0"/>
          </a:p>
          <a:p>
            <a:pPr algn="l" marL="294640" indent="-294640">
              <a:lnSpc>
                <a:spcPct val="133000"/>
              </a:lnSpc>
              <a:buSzPct val="100000"/>
              <a:buChar char="•"/>
            </a:pPr>
            <a:r>
              <a:rPr lang="en-US" sz="1450" dirty="0">
                <a:solidFill>
                  <a:srgbClr val="1C1C1C"/>
                </a:solidFill>
                <a:latin typeface="Roboto Condensed" pitchFamily="34" charset="0"/>
                <a:ea typeface="Roboto Condensed" pitchFamily="34" charset="-122"/>
                <a:cs typeface="Roboto Condensed" pitchFamily="34" charset="-120"/>
              </a:rPr>
              <a:t>Room map, IPO chart, flowchart, pseudocode, committed</a:t>
            </a:r>
            <a:endParaRPr lang="en-US" sz="1450" dirty="0"/>
          </a:p>
        </p:txBody>
      </p:sp>
      <p:sp>
        <p:nvSpPr>
          <p:cNvPr id="5" name="Text 2"/>
          <p:cNvSpPr/>
          <p:nvPr/>
        </p:nvSpPr>
        <p:spPr>
          <a:xfrm>
            <a:off x="4704141" y="6457255"/>
            <a:ext cx="3640642" cy="158750"/>
          </a:xfrm>
          <a:prstGeom prst="rect">
            <a:avLst/>
          </a:prstGeom>
          <a:noFill/>
          <a:ln/>
        </p:spPr>
        <p:txBody>
          <a:bodyPr wrap="none" lIns="99235" tIns="0" rIns="59541" bIns="0" rtlCol="0" anchor="t"/>
          <a:lstStyle/>
          <a:p>
            <a:pPr algn="l" indent="0" marL="0">
              <a:lnSpc>
                <a:spcPct val="100000"/>
              </a:lnSpc>
              <a:buNone/>
            </a:pPr>
            <a:r>
              <a:rPr lang="en-US" sz="1000" dirty="0">
                <a:solidFill>
                  <a:srgbClr val="1C1C1C"/>
                </a:solidFill>
                <a:latin typeface="Roboto Condensed" pitchFamily="34" charset="0"/>
                <a:ea typeface="Roboto Condensed" pitchFamily="34" charset="-122"/>
                <a:cs typeface="Roboto Condensed" pitchFamily="34" charset="-120"/>
              </a:rPr>
              <a:t>MCCTC | AI Automation &amp; Software Development</a:t>
            </a:r>
            <a:endParaRPr lang="en-US" sz="10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11</Slides>
  <Notes>11</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11</vt:i4>
      </vt:variant>
    </vt:vector>
  </HeadingPairs>
  <TitlesOfParts>
    <vt:vector size="14"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lastModifiedBy/>
  <cp:revision>1</cp:revision>
  <dcterms:created xsi:type="dcterms:W3CDTF">2026-09-14T19:12:10Z</dcterms:created>
  <dcterms:modified xsi:type="dcterms:W3CDTF">2026-09-14T19:12:10Z</dcterms:modified>
</cp:coreProperties>
</file>