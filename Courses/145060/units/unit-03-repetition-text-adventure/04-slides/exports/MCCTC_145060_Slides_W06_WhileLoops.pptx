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program you have written runs top to bottom one time and stops. That is fine for a ticket price. It is useless for a game. A game has to show the room, read a command, react, and then do it again, over and over, until you win, lose, or quit. Yesterday you wrote WHILE playing in pseudocode. Today it becomes Python. Before anything else, find Ctrl C on your keyboard. You will need it in about eight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while loop is an if that keeps coming back. Check the condition. If it is False, skip the block and move on. If it is True, run the whole block, then go back up and check again. The check happens at the top, before each pass. A value that turns False halfway through the block does not stop that pass. And the last bullet is the one that bites. Something inside the loop has to change what the condition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with me. Three is more than zero, print three, moves left becomes two. Back to the top. Two, print, becomes one. Back to the top. One, print, becomes zero. Back to the top. Zero is not more than zero, so the loop ends. Three parts make this work. Set the counter before. Check it in the condition. Change it inside. Watch what happens when I delete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deleted one line. Moves left is three forever, so the condition is True forever. This is an infinite loop. When I tested it, it printed more than 370 thousand lines in a fifth of a second. Press Ctrl C. Python stops and ends the traceback with KeyboardInterrupt. That is not a Python bug. That is Python saying you stopped it by hand, and the traceback shows which line was running, which is almost always inside the loop that forgot to change its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count how many commands a player will type. So this loop runs until a special value shows up. Quit is the sentinel. Playing is a flag, a bool, and the only line that changes it is inside the quit branch. Notice that all of Unit 2 lives inside this loop. The if, elif, else runs once per command. A loop does not replace decisions. It repeats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If you know how many times something should happen, three laps, five tickets, twenty moves before the storm, that is count-controlled, and it needs a counter. If you do not know, because a person decides, that is sentinel-controlled, and it waits for a value like quit. Storm Relay uses both at once. The game loop waits for the player, and the move counter decides when the storm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Two laps. Your coach would notice. Python did not. Lap starts at one, and when lap is three, three is less than three is False, so the third lap never runs. Starting at one and using less than disagree about what the limit means. Use less than or equal, or start at zero. Count the iterations of every new loop by hand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times now across three units, a program has run cleanly and been wrong, and three of those are the exact same bug in three costumes. A slice that stopped one early. A battery warning that missed exactly 20. A loop that ran one time too few. Every one is a boundary decided with the wrong comparison. The name for this is an off by one error, and it is one of the most common bugs in all of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friendly mistakes. Forget the colon after the condition and Python says expected colon. Forget to indent the block and you get an indentation error that names the while line. These are the same rules you learned for if. And Ctrl C is not a mistake. It is the tool you use when your loop runs away from you, which will happen to everyone in this room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turns yesterday's pseudocode into your first real loop. No rooms yet. A while playing loop that reads a command, where move adds one toward a five move storm limit, quit sets playing to False, and anything else says it is not a command. Count your iterations. Five moves should end the game on the fifth, not the fourth or sixth. Build 2 is this week's Gate 2, reviewing AI code built from Unit 2 decisions, and it is due by the end of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5.png"/><Relationship Id="rId8" Type="http://schemas.openxmlformats.org/officeDocument/2006/relationships/image" Target="../media/image-10-6.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Again, and Again, Until</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game that ends after one command</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adventure shows a room</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type north</a:t>
            </a:r>
            <a:endParaRPr lang="en-US" sz="1850" dirty="0"/>
          </a:p>
        </p:txBody>
      </p:sp>
      <p:sp>
        <p:nvSpPr>
          <p:cNvPr id="8" name="Shape 5"/>
          <p:cNvSpPr/>
          <p:nvPr/>
        </p:nvSpPr>
        <p:spPr>
          <a:xfrm>
            <a:off x="5233360"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3872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prints the next room</a:t>
            </a:r>
            <a:endParaRPr lang="en-US" sz="1850" dirty="0"/>
          </a:p>
        </p:txBody>
      </p:sp>
      <p:sp>
        <p:nvSpPr>
          <p:cNvPr id="10" name="Shape 7"/>
          <p:cNvSpPr/>
          <p:nvPr/>
        </p:nvSpPr>
        <p:spPr>
          <a:xfrm>
            <a:off x="5233360" y="4977110"/>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04199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the program ends. Game over, after one move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84653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while works</a:t>
            </a:r>
            <a:endParaRPr lang="en-US" sz="3700" dirty="0"/>
          </a:p>
        </p:txBody>
      </p:sp>
      <p:pic>
        <p:nvPicPr>
          <p:cNvPr id="3" name="Image 0" descr="preencoded.png">    </p:cNvPr>
          <p:cNvPicPr>
            <a:picLocks noChangeAspect="1"/>
          </p:cNvPicPr>
          <p:nvPr/>
        </p:nvPicPr>
        <p:blipFill>
          <a:blip r:embed="rId1"/>
          <a:stretch>
            <a:fillRect/>
          </a:stretch>
        </p:blipFill>
        <p:spPr>
          <a:xfrm>
            <a:off x="900784" y="1815207"/>
            <a:ext cx="10390027" cy="4073327"/>
          </a:xfrm>
          <a:prstGeom prst="rect">
            <a:avLst/>
          </a:prstGeom>
        </p:spPr>
      </p:pic>
      <p:sp>
        <p:nvSpPr>
          <p:cNvPr id="4" name="Text 1"/>
          <p:cNvSpPr/>
          <p:nvPr/>
        </p:nvSpPr>
        <p:spPr>
          <a:xfrm>
            <a:off x="1149442" y="2014971"/>
            <a:ext cx="1902017" cy="611378"/>
          </a:xfrm>
          <a:prstGeom prst="rect">
            <a:avLst/>
          </a:prstGeom>
          <a:noFill/>
          <a:ln/>
        </p:spPr>
        <p:txBody>
          <a:bodyPr wrap="square" lIns="0" tIns="0" rIns="0" bIns="0" rtlCol="0" anchor="t">
            <a:normAutofit/>
          </a:bodyPr>
          <a:lstStyle/>
          <a:p>
            <a:pPr algn="r" indent="0" marL="0">
              <a:lnSpc>
                <a:spcPct val="104000"/>
              </a:lnSpc>
              <a:buNone/>
            </a:pPr>
            <a:r>
              <a:rPr lang="en-US" sz="1900" b="1" dirty="0">
                <a:solidFill>
                  <a:srgbClr val="111111"/>
                </a:solidFill>
                <a:latin typeface="Orbitron Bold" pitchFamily="34" charset="0"/>
                <a:ea typeface="Orbitron Bold" pitchFamily="34" charset="-122"/>
                <a:cs typeface="Orbitron Bold" pitchFamily="34" charset="-120"/>
              </a:rPr>
              <a:t>Check Condition</a:t>
            </a:r>
            <a:endParaRPr lang="en-US" sz="1900" dirty="0"/>
          </a:p>
        </p:txBody>
      </p:sp>
      <p:sp>
        <p:nvSpPr>
          <p:cNvPr id="5" name="Text 2"/>
          <p:cNvSpPr/>
          <p:nvPr/>
        </p:nvSpPr>
        <p:spPr>
          <a:xfrm>
            <a:off x="9139949" y="2014971"/>
            <a:ext cx="1902016" cy="611378"/>
          </a:xfrm>
          <a:prstGeom prst="rect">
            <a:avLst/>
          </a:prstGeom>
          <a:noFill/>
          <a:ln/>
        </p:spPr>
        <p:txBody>
          <a:bodyPr wrap="square" lIns="0" tIns="0" rIns="0" bIns="0" rtlCol="0" anchor="t">
            <a:normAutofit/>
          </a:bodyPr>
          <a:lstStyle/>
          <a:p>
            <a:pPr algn="l" indent="0" marL="0">
              <a:lnSpc>
                <a:spcPct val="104000"/>
              </a:lnSpc>
              <a:buNone/>
            </a:pPr>
            <a:r>
              <a:rPr lang="en-US" sz="1900" b="1" dirty="0">
                <a:solidFill>
                  <a:srgbClr val="111111"/>
                </a:solidFill>
                <a:latin typeface="Orbitron Bold" pitchFamily="34" charset="0"/>
                <a:ea typeface="Orbitron Bold" pitchFamily="34" charset="-122"/>
                <a:cs typeface="Orbitron Bold" pitchFamily="34" charset="-120"/>
              </a:rPr>
              <a:t>False: Exit Loop</a:t>
            </a:r>
            <a:endParaRPr lang="en-US" sz="1900" dirty="0"/>
          </a:p>
        </p:txBody>
      </p:sp>
      <p:sp>
        <p:nvSpPr>
          <p:cNvPr id="6" name="Text 3"/>
          <p:cNvSpPr/>
          <p:nvPr/>
        </p:nvSpPr>
        <p:spPr>
          <a:xfrm>
            <a:off x="9139949" y="5077294"/>
            <a:ext cx="1902016" cy="611378"/>
          </a:xfrm>
          <a:prstGeom prst="rect">
            <a:avLst/>
          </a:prstGeom>
          <a:noFill/>
          <a:ln/>
        </p:spPr>
        <p:txBody>
          <a:bodyPr wrap="square" lIns="0" tIns="0" rIns="0" bIns="0" rtlCol="0" anchor="t">
            <a:normAutofit/>
          </a:bodyPr>
          <a:lstStyle/>
          <a:p>
            <a:pPr algn="l" indent="0" marL="0">
              <a:lnSpc>
                <a:spcPct val="104000"/>
              </a:lnSpc>
              <a:buNone/>
            </a:pPr>
            <a:r>
              <a:rPr lang="en-US" sz="1900" b="1" dirty="0">
                <a:solidFill>
                  <a:srgbClr val="111111"/>
                </a:solidFill>
                <a:latin typeface="Orbitron Bold" pitchFamily="34" charset="0"/>
                <a:ea typeface="Orbitron Bold" pitchFamily="34" charset="-122"/>
                <a:cs typeface="Orbitron Bold" pitchFamily="34" charset="-120"/>
              </a:rPr>
              <a:t>True: Run Block</a:t>
            </a:r>
            <a:endParaRPr lang="en-US" sz="1900" dirty="0"/>
          </a:p>
        </p:txBody>
      </p:sp>
      <p:sp>
        <p:nvSpPr>
          <p:cNvPr id="7" name="Text 4"/>
          <p:cNvSpPr/>
          <p:nvPr/>
        </p:nvSpPr>
        <p:spPr>
          <a:xfrm>
            <a:off x="1149442" y="5382983"/>
            <a:ext cx="1902017" cy="305689"/>
          </a:xfrm>
          <a:prstGeom prst="rect">
            <a:avLst/>
          </a:prstGeom>
          <a:noFill/>
          <a:ln/>
        </p:spPr>
        <p:txBody>
          <a:bodyPr wrap="none" lIns="0" tIns="0" rIns="0" bIns="0" rtlCol="0" anchor="t"/>
          <a:lstStyle/>
          <a:p>
            <a:pPr algn="r" indent="0" marL="0">
              <a:lnSpc>
                <a:spcPct val="104000"/>
              </a:lnSpc>
              <a:buNone/>
            </a:pPr>
            <a:r>
              <a:rPr lang="en-US" sz="1900" b="1" dirty="0">
                <a:solidFill>
                  <a:srgbClr val="111111"/>
                </a:solidFill>
                <a:latin typeface="Orbitron Bold" pitchFamily="34" charset="0"/>
                <a:ea typeface="Orbitron Bold" pitchFamily="34" charset="-122"/>
                <a:cs typeface="Orbitron Bold" pitchFamily="34" charset="-120"/>
              </a:rPr>
              <a:t>Modify State</a:t>
            </a:r>
            <a:endParaRPr lang="en-US" sz="190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192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Count-controlled: the storm countdown</a:t>
            </a:r>
            <a:endParaRPr lang="en-US" sz="3700" dirty="0"/>
          </a:p>
        </p:txBody>
      </p:sp>
      <p:sp>
        <p:nvSpPr>
          <p:cNvPr id="3" name="Shape 1"/>
          <p:cNvSpPr/>
          <p:nvPr/>
        </p:nvSpPr>
        <p:spPr>
          <a:xfrm>
            <a:off x="661475" y="2405955"/>
            <a:ext cx="5203794" cy="2797373"/>
          </a:xfrm>
          <a:prstGeom prst="roundRect">
            <a:avLst>
              <a:gd name="adj" fmla="val 2838"/>
            </a:avLst>
          </a:prstGeom>
          <a:solidFill>
            <a:srgbClr val="F2F2F2"/>
          </a:solidFill>
          <a:ln/>
        </p:spPr>
      </p:sp>
      <p:sp>
        <p:nvSpPr>
          <p:cNvPr id="4" name="Text 2"/>
          <p:cNvSpPr/>
          <p:nvPr/>
        </p:nvSpPr>
        <p:spPr>
          <a:xfrm>
            <a:off x="888283" y="2594967"/>
            <a:ext cx="4750177"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moves_left = 3</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moves_left &gt;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print(f"Thunder rolls. Moves until the storm: {moves_left}")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moves_left = moves_left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print("The storm has reached the ridge.")</a:t>
            </a:r>
            <a:endParaRPr lang="en-US" sz="1450" dirty="0"/>
          </a:p>
        </p:txBody>
      </p:sp>
      <p:sp>
        <p:nvSpPr>
          <p:cNvPr id="5" name="Shape 3"/>
          <p:cNvSpPr/>
          <p:nvPr/>
        </p:nvSpPr>
        <p:spPr>
          <a:xfrm>
            <a:off x="6332776" y="2405955"/>
            <a:ext cx="5203794" cy="1587698"/>
          </a:xfrm>
          <a:prstGeom prst="roundRect">
            <a:avLst>
              <a:gd name="adj" fmla="val 5000"/>
            </a:avLst>
          </a:prstGeom>
          <a:solidFill>
            <a:srgbClr val="F2F2F2"/>
          </a:solidFill>
          <a:ln/>
        </p:spPr>
      </p:sp>
      <p:sp>
        <p:nvSpPr>
          <p:cNvPr id="6" name="Text 4"/>
          <p:cNvSpPr/>
          <p:nvPr/>
        </p:nvSpPr>
        <p:spPr>
          <a:xfrm>
            <a:off x="6559584" y="2594967"/>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Thunder rolls. Moves until the storm: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Thunder rolls. Moves until the storm: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Thunder rolls. Moves until the storm: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storm has reached the ridge.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7262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the loop that never ends</a:t>
            </a:r>
            <a:endParaRPr lang="en-US" sz="3700" dirty="0"/>
          </a:p>
        </p:txBody>
      </p:sp>
      <p:sp>
        <p:nvSpPr>
          <p:cNvPr id="4" name="Shape 1"/>
          <p:cNvSpPr/>
          <p:nvPr/>
        </p:nvSpPr>
        <p:spPr>
          <a:xfrm>
            <a:off x="661475" y="2550021"/>
            <a:ext cx="2917851" cy="3099792"/>
          </a:xfrm>
          <a:prstGeom prst="roundRect">
            <a:avLst>
              <a:gd name="adj" fmla="val 2721"/>
            </a:avLst>
          </a:prstGeom>
          <a:solidFill>
            <a:srgbClr val="F2F2F2"/>
          </a:solidFill>
          <a:ln/>
        </p:spPr>
      </p:sp>
      <p:sp>
        <p:nvSpPr>
          <p:cNvPr id="5" name="Text 2"/>
          <p:cNvSpPr/>
          <p:nvPr/>
        </p:nvSpPr>
        <p:spPr>
          <a:xfrm>
            <a:off x="888283" y="2739033"/>
            <a:ext cx="2464234"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moves_left = 3</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moves_left &gt;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print(f"Thunder rolls. Moves until the storm: {moves_left}")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print("The storm has reached the ridge.")</a:t>
            </a:r>
            <a:endParaRPr lang="en-US" sz="1450" dirty="0"/>
          </a:p>
        </p:txBody>
      </p:sp>
      <p:sp>
        <p:nvSpPr>
          <p:cNvPr id="6" name="Shape 3"/>
          <p:cNvSpPr/>
          <p:nvPr/>
        </p:nvSpPr>
        <p:spPr>
          <a:xfrm>
            <a:off x="4046833" y="2550021"/>
            <a:ext cx="2917851" cy="2192536"/>
          </a:xfrm>
          <a:prstGeom prst="roundRect">
            <a:avLst>
              <a:gd name="adj" fmla="val 3621"/>
            </a:avLst>
          </a:prstGeom>
          <a:solidFill>
            <a:srgbClr val="F2F2F2"/>
          </a:solidFill>
          <a:ln/>
        </p:spPr>
      </p:sp>
      <p:sp>
        <p:nvSpPr>
          <p:cNvPr id="7" name="Text 4"/>
          <p:cNvSpPr/>
          <p:nvPr/>
        </p:nvSpPr>
        <p:spPr>
          <a:xfrm>
            <a:off x="4273642" y="2739033"/>
            <a:ext cx="2464234"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Thunder rolls. Moves until the storm: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Thunder rolls. Moves until the storm: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KeyboardInterrupt</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Sentinel-controlled: the game loop</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playing = True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playing: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command = input("&gt; ").strip().lower()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command == "look":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print("Rain streaks the glass doors behind you.")</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elif command == "quit":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print("You leave the station to the storm.")</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playing = False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print(f"'{command}' is not a command. Try look or quit.")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print("GAME OVER")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7499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or sentinel</a:t>
            </a:r>
            <a:endParaRPr lang="en-US" sz="3700" dirty="0"/>
          </a:p>
        </p:txBody>
      </p:sp>
      <p:sp>
        <p:nvSpPr>
          <p:cNvPr id="4" name="Shape 1"/>
          <p:cNvSpPr/>
          <p:nvPr/>
        </p:nvSpPr>
        <p:spPr>
          <a:xfrm>
            <a:off x="5233360" y="2661741"/>
            <a:ext cx="2917851" cy="1990427"/>
          </a:xfrm>
          <a:prstGeom prst="roundRect">
            <a:avLst>
              <a:gd name="adj" fmla="val 3988"/>
            </a:avLst>
          </a:prstGeom>
          <a:solidFill>
            <a:srgbClr val="FFFFFF"/>
          </a:solidFill>
          <a:ln w="25399">
            <a:solidFill>
              <a:srgbClr val="B7CBE0"/>
            </a:solidFill>
            <a:prstDash val="solid"/>
          </a:ln>
        </p:spPr>
      </p:sp>
      <p:sp>
        <p:nvSpPr>
          <p:cNvPr id="5" name="Text 2"/>
          <p:cNvSpPr/>
          <p:nvPr/>
        </p:nvSpPr>
        <p:spPr>
          <a:xfrm>
            <a:off x="5447767" y="2876153"/>
            <a:ext cx="248903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Count-controlled</a:t>
            </a:r>
            <a:endParaRPr lang="en-US" sz="1850" dirty="0"/>
          </a:p>
        </p:txBody>
      </p:sp>
      <p:sp>
        <p:nvSpPr>
          <p:cNvPr id="6" name="Text 3"/>
          <p:cNvSpPr/>
          <p:nvPr/>
        </p:nvSpPr>
        <p:spPr>
          <a:xfrm>
            <a:off x="5447767" y="3360440"/>
            <a:ext cx="2489039" cy="1077317"/>
          </a:xfrm>
          <a:prstGeom prst="rect">
            <a:avLst/>
          </a:prstGeom>
          <a:noFill/>
          <a:ln/>
        </p:spPr>
        <p:txBody>
          <a:bodyPr wrap="square" lIns="0" tIns="0" rIns="0" bIns="0" rtlCol="0" anchor="t"/>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You know how many times</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stops when a counter hits a limit</a:t>
            </a:r>
            <a:endParaRPr lang="en-US" sz="1450" dirty="0"/>
          </a:p>
        </p:txBody>
      </p:sp>
      <p:sp>
        <p:nvSpPr>
          <p:cNvPr id="7" name="Shape 4"/>
          <p:cNvSpPr/>
          <p:nvPr/>
        </p:nvSpPr>
        <p:spPr>
          <a:xfrm>
            <a:off x="8618719" y="2661741"/>
            <a:ext cx="2917851" cy="2285702"/>
          </a:xfrm>
          <a:prstGeom prst="roundRect">
            <a:avLst>
              <a:gd name="adj" fmla="val 3473"/>
            </a:avLst>
          </a:prstGeom>
          <a:solidFill>
            <a:srgbClr val="FFFFFF"/>
          </a:solidFill>
          <a:ln w="25399">
            <a:solidFill>
              <a:srgbClr val="B7CBE0"/>
            </a:solidFill>
            <a:prstDash val="solid"/>
          </a:ln>
        </p:spPr>
      </p:sp>
      <p:sp>
        <p:nvSpPr>
          <p:cNvPr id="8" name="Text 5"/>
          <p:cNvSpPr/>
          <p:nvPr/>
        </p:nvSpPr>
        <p:spPr>
          <a:xfrm>
            <a:off x="8833125" y="2876153"/>
            <a:ext cx="248903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Sentinel-controlled</a:t>
            </a:r>
            <a:endParaRPr lang="en-US" sz="1850" dirty="0"/>
          </a:p>
        </p:txBody>
      </p:sp>
      <p:sp>
        <p:nvSpPr>
          <p:cNvPr id="9" name="Text 6"/>
          <p:cNvSpPr/>
          <p:nvPr/>
        </p:nvSpPr>
        <p:spPr>
          <a:xfrm>
            <a:off x="8833125" y="3655715"/>
            <a:ext cx="2489039" cy="1077317"/>
          </a:xfrm>
          <a:prstGeom prst="rect">
            <a:avLst/>
          </a:prstGeom>
          <a:noFill/>
          <a:ln/>
        </p:spPr>
        <p:txBody>
          <a:bodyPr wrap="square" lIns="0" tIns="0" rIns="0" bIns="0" rtlCol="0" anchor="t"/>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You do not know in advance</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stops when a special value appears</a:t>
            </a:r>
            <a:endParaRPr lang="en-US" sz="1450" dirty="0"/>
          </a:p>
        </p:txBody>
      </p:sp>
      <p:sp>
        <p:nvSpPr>
          <p:cNvPr id="10"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192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laps, two printed</a:t>
            </a:r>
            <a:endParaRPr lang="en-US" sz="3700" dirty="0"/>
          </a:p>
        </p:txBody>
      </p:sp>
      <p:sp>
        <p:nvSpPr>
          <p:cNvPr id="3" name="Shape 1"/>
          <p:cNvSpPr/>
          <p:nvPr/>
        </p:nvSpPr>
        <p:spPr>
          <a:xfrm>
            <a:off x="661475" y="2405955"/>
            <a:ext cx="5203794" cy="2797373"/>
          </a:xfrm>
          <a:prstGeom prst="roundRect">
            <a:avLst>
              <a:gd name="adj" fmla="val 2838"/>
            </a:avLst>
          </a:prstGeom>
          <a:solidFill>
            <a:srgbClr val="F2F2F2"/>
          </a:solidFill>
          <a:ln/>
        </p:spPr>
      </p:sp>
      <p:sp>
        <p:nvSpPr>
          <p:cNvPr id="4" name="Text 2"/>
          <p:cNvSpPr/>
          <p:nvPr/>
        </p:nvSpPr>
        <p:spPr>
          <a:xfrm>
            <a:off x="888283" y="2594967"/>
            <a:ext cx="4750177"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laps_required =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lap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lap &lt; laps_required: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print(f"Lap {lap} done.")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lap = lap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print("Practice complete.")</a:t>
            </a:r>
            <a:endParaRPr lang="en-US" sz="1450" dirty="0"/>
          </a:p>
        </p:txBody>
      </p:sp>
      <p:sp>
        <p:nvSpPr>
          <p:cNvPr id="5" name="Shape 3"/>
          <p:cNvSpPr/>
          <p:nvPr/>
        </p:nvSpPr>
        <p:spPr>
          <a:xfrm>
            <a:off x="6332776" y="2405955"/>
            <a:ext cx="5203794" cy="1285280"/>
          </a:xfrm>
          <a:prstGeom prst="roundRect">
            <a:avLst>
              <a:gd name="adj" fmla="val 6177"/>
            </a:avLst>
          </a:prstGeom>
          <a:solidFill>
            <a:srgbClr val="F2F2F2"/>
          </a:solidFill>
          <a:ln/>
        </p:spPr>
      </p:sp>
      <p:sp>
        <p:nvSpPr>
          <p:cNvPr id="6" name="Text 4"/>
          <p:cNvSpPr/>
          <p:nvPr/>
        </p:nvSpPr>
        <p:spPr>
          <a:xfrm>
            <a:off x="6559584" y="2594967"/>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Lap 1 done.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Lap 2 done.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Practice complete.</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24173"/>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Eleventh time, same shape</a:t>
            </a:r>
            <a:endParaRPr lang="en-US" sz="3650" dirty="0"/>
          </a:p>
        </p:txBody>
      </p:sp>
      <p:sp>
        <p:nvSpPr>
          <p:cNvPr id="4" name="Shape 1"/>
          <p:cNvSpPr/>
          <p:nvPr/>
        </p:nvSpPr>
        <p:spPr>
          <a:xfrm>
            <a:off x="5442608" y="1961753"/>
            <a:ext cx="25399" cy="3011785"/>
          </a:xfrm>
          <a:prstGeom prst="roundRect">
            <a:avLst>
              <a:gd name="adj" fmla="val 50001"/>
            </a:avLst>
          </a:prstGeom>
          <a:solidFill>
            <a:srgbClr val="B7CBE0"/>
          </a:solidFill>
          <a:ln/>
        </p:spPr>
      </p:sp>
      <p:sp>
        <p:nvSpPr>
          <p:cNvPr id="5" name="Shape 2"/>
          <p:cNvSpPr/>
          <p:nvPr/>
        </p:nvSpPr>
        <p:spPr>
          <a:xfrm>
            <a:off x="5626505" y="2158305"/>
            <a:ext cx="558191" cy="25400"/>
          </a:xfrm>
          <a:prstGeom prst="roundRect">
            <a:avLst>
              <a:gd name="adj" fmla="val 49999"/>
            </a:avLst>
          </a:prstGeom>
          <a:solidFill>
            <a:srgbClr val="B7CBE0"/>
          </a:solidFill>
          <a:ln/>
        </p:spPr>
      </p:sp>
      <p:sp>
        <p:nvSpPr>
          <p:cNvPr id="6" name="Shape 3"/>
          <p:cNvSpPr/>
          <p:nvPr/>
        </p:nvSpPr>
        <p:spPr>
          <a:xfrm>
            <a:off x="5233311" y="1961753"/>
            <a:ext cx="418593" cy="418604"/>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303010" y="1996579"/>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1</a:t>
            </a:r>
            <a:endParaRPr lang="en-US" sz="2150" dirty="0"/>
          </a:p>
        </p:txBody>
      </p:sp>
      <p:sp>
        <p:nvSpPr>
          <p:cNvPr id="8" name="Text 5"/>
          <p:cNvSpPr/>
          <p:nvPr/>
        </p:nvSpPr>
        <p:spPr>
          <a:xfrm>
            <a:off x="6372959" y="2025650"/>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Week 3</a:t>
            </a:r>
            <a:endParaRPr lang="en-US" sz="1800" dirty="0"/>
          </a:p>
        </p:txBody>
      </p:sp>
      <p:sp>
        <p:nvSpPr>
          <p:cNvPr id="9" name="Text 6"/>
          <p:cNvSpPr/>
          <p:nvPr/>
        </p:nvSpPr>
        <p:spPr>
          <a:xfrm>
            <a:off x="6372959" y="2426196"/>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A year sliced down to 202</a:t>
            </a:r>
            <a:endParaRPr lang="en-US" sz="1450" dirty="0"/>
          </a:p>
        </p:txBody>
      </p:sp>
      <p:sp>
        <p:nvSpPr>
          <p:cNvPr id="10" name="Shape 7"/>
          <p:cNvSpPr/>
          <p:nvPr/>
        </p:nvSpPr>
        <p:spPr>
          <a:xfrm>
            <a:off x="5626505" y="3284339"/>
            <a:ext cx="558191" cy="25400"/>
          </a:xfrm>
          <a:prstGeom prst="roundRect">
            <a:avLst>
              <a:gd name="adj" fmla="val 49999"/>
            </a:avLst>
          </a:prstGeom>
          <a:solidFill>
            <a:srgbClr val="B7CBE0"/>
          </a:solidFill>
          <a:ln/>
        </p:spPr>
      </p:sp>
      <p:sp>
        <p:nvSpPr>
          <p:cNvPr id="11" name="Shape 8"/>
          <p:cNvSpPr/>
          <p:nvPr/>
        </p:nvSpPr>
        <p:spPr>
          <a:xfrm>
            <a:off x="5233311" y="3087787"/>
            <a:ext cx="418593" cy="418604"/>
          </a:xfrm>
          <a:prstGeom prst="roundRect">
            <a:avLst>
              <a:gd name="adj" fmla="val 18669"/>
            </a:avLst>
          </a:prstGeom>
          <a:solidFill>
            <a:srgbClr val="D1E5FA"/>
          </a:solidFill>
          <a:ln w="19050">
            <a:solidFill>
              <a:srgbClr val="B7CBE0"/>
            </a:solidFill>
            <a:prstDash val="solid"/>
          </a:ln>
        </p:spPr>
      </p:sp>
      <p:sp>
        <p:nvSpPr>
          <p:cNvPr id="12" name="Text 9"/>
          <p:cNvSpPr/>
          <p:nvPr/>
        </p:nvSpPr>
        <p:spPr>
          <a:xfrm>
            <a:off x="5303010" y="3122613"/>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2</a:t>
            </a:r>
            <a:endParaRPr lang="en-US" sz="2150" dirty="0"/>
          </a:p>
        </p:txBody>
      </p:sp>
      <p:sp>
        <p:nvSpPr>
          <p:cNvPr id="13" name="Text 10"/>
          <p:cNvSpPr/>
          <p:nvPr/>
        </p:nvSpPr>
        <p:spPr>
          <a:xfrm>
            <a:off x="6372959" y="3151684"/>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Week 4</a:t>
            </a:r>
            <a:endParaRPr lang="en-US" sz="1800" dirty="0"/>
          </a:p>
        </p:txBody>
      </p:sp>
      <p:sp>
        <p:nvSpPr>
          <p:cNvPr id="14" name="Text 11"/>
          <p:cNvSpPr/>
          <p:nvPr/>
        </p:nvSpPr>
        <p:spPr>
          <a:xfrm>
            <a:off x="6372959" y="3552230"/>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Exactly 20 percent battery missed</a:t>
            </a:r>
            <a:endParaRPr lang="en-US" sz="1450" dirty="0"/>
          </a:p>
        </p:txBody>
      </p:sp>
      <p:sp>
        <p:nvSpPr>
          <p:cNvPr id="15" name="Shape 12"/>
          <p:cNvSpPr/>
          <p:nvPr/>
        </p:nvSpPr>
        <p:spPr>
          <a:xfrm>
            <a:off x="5626505" y="4410373"/>
            <a:ext cx="558191" cy="25400"/>
          </a:xfrm>
          <a:prstGeom prst="roundRect">
            <a:avLst>
              <a:gd name="adj" fmla="val 49999"/>
            </a:avLst>
          </a:prstGeom>
          <a:solidFill>
            <a:srgbClr val="B7CBE0"/>
          </a:solidFill>
          <a:ln/>
        </p:spPr>
      </p:sp>
      <p:sp>
        <p:nvSpPr>
          <p:cNvPr id="16" name="Shape 13"/>
          <p:cNvSpPr/>
          <p:nvPr/>
        </p:nvSpPr>
        <p:spPr>
          <a:xfrm>
            <a:off x="5233311" y="4213820"/>
            <a:ext cx="418593" cy="418604"/>
          </a:xfrm>
          <a:prstGeom prst="roundRect">
            <a:avLst>
              <a:gd name="adj" fmla="val 18669"/>
            </a:avLst>
          </a:prstGeom>
          <a:solidFill>
            <a:srgbClr val="D1E5FA"/>
          </a:solidFill>
          <a:ln w="19050">
            <a:solidFill>
              <a:srgbClr val="B7CBE0"/>
            </a:solidFill>
            <a:prstDash val="solid"/>
          </a:ln>
        </p:spPr>
      </p:sp>
      <p:sp>
        <p:nvSpPr>
          <p:cNvPr id="17" name="Text 14"/>
          <p:cNvSpPr/>
          <p:nvPr/>
        </p:nvSpPr>
        <p:spPr>
          <a:xfrm>
            <a:off x="5303010" y="4248646"/>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3</a:t>
            </a:r>
            <a:endParaRPr lang="en-US" sz="2150" dirty="0"/>
          </a:p>
        </p:txBody>
      </p:sp>
      <p:sp>
        <p:nvSpPr>
          <p:cNvPr id="18" name="Text 15"/>
          <p:cNvSpPr/>
          <p:nvPr/>
        </p:nvSpPr>
        <p:spPr>
          <a:xfrm>
            <a:off x="6372959" y="4277717"/>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Today</a:t>
            </a:r>
            <a:endParaRPr lang="en-US" sz="1800" dirty="0"/>
          </a:p>
        </p:txBody>
      </p:sp>
      <p:sp>
        <p:nvSpPr>
          <p:cNvPr id="19" name="Text 16"/>
          <p:cNvSpPr/>
          <p:nvPr/>
        </p:nvSpPr>
        <p:spPr>
          <a:xfrm>
            <a:off x="6372959" y="4678263"/>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A loop one lap short</a:t>
            </a:r>
            <a:endParaRPr lang="en-US" sz="1450" dirty="0"/>
          </a:p>
        </p:txBody>
      </p:sp>
      <p:sp>
        <p:nvSpPr>
          <p:cNvPr id="20" name="Shape 17"/>
          <p:cNvSpPr/>
          <p:nvPr/>
        </p:nvSpPr>
        <p:spPr>
          <a:xfrm>
            <a:off x="5233360" y="5179516"/>
            <a:ext cx="6296860" cy="1031379"/>
          </a:xfrm>
          <a:prstGeom prst="roundRect">
            <a:avLst>
              <a:gd name="adj" fmla="val 7577"/>
            </a:avLst>
          </a:prstGeom>
          <a:solidFill>
            <a:srgbClr val="D1E5FA"/>
          </a:solidFill>
          <a:ln/>
        </p:spPr>
      </p:sp>
      <p:pic>
        <p:nvPicPr>
          <p:cNvPr id="21" name="Image 1" descr="preencoded.png">    </p:cNvPr>
          <p:cNvPicPr>
            <a:picLocks noChangeAspect="1"/>
          </p:cNvPicPr>
          <p:nvPr/>
        </p:nvPicPr>
        <p:blipFill>
          <a:blip r:embed="rId2"/>
          <a:stretch>
            <a:fillRect/>
          </a:stretch>
        </p:blipFill>
        <p:spPr>
          <a:xfrm>
            <a:off x="5419391" y="5443141"/>
            <a:ext cx="232563" cy="186035"/>
          </a:xfrm>
          <a:prstGeom prst="rect">
            <a:avLst/>
          </a:prstGeom>
        </p:spPr>
      </p:pic>
      <p:sp>
        <p:nvSpPr>
          <p:cNvPr id="22" name="Text 18"/>
          <p:cNvSpPr/>
          <p:nvPr/>
        </p:nvSpPr>
        <p:spPr>
          <a:xfrm>
            <a:off x="5837984" y="5409109"/>
            <a:ext cx="5506205"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000000"/>
                </a:solidFill>
                <a:latin typeface="Roboto Condensed" pitchFamily="34" charset="0"/>
                <a:ea typeface="Roboto Condensed" pitchFamily="34" charset="-122"/>
                <a:cs typeface="Roboto Condensed" pitchFamily="34" charset="-120"/>
              </a:rPr>
              <a:t>Same bug: a boundary with the wrong comparison. None of them crashed.</a:t>
            </a:r>
            <a:endParaRPr lang="en-US" sz="1450" dirty="0"/>
          </a:p>
        </p:txBody>
      </p:sp>
      <p:sp>
        <p:nvSpPr>
          <p:cNvPr id="23" name="Text 1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8535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mistakes that crash</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22178"/>
            <a:ext cx="5339820" cy="1146274"/>
          </a:xfrm>
          <a:prstGeom prst="rect">
            <a:avLst/>
          </a:prstGeom>
        </p:spPr>
      </p:pic>
      <p:sp>
        <p:nvSpPr>
          <p:cNvPr id="4" name="Text 1"/>
          <p:cNvSpPr/>
          <p:nvPr/>
        </p:nvSpPr>
        <p:spPr>
          <a:xfrm>
            <a:off x="977479" y="3036590"/>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Missing colon</a:t>
            </a:r>
            <a:endParaRPr lang="en-US" sz="1850" dirty="0"/>
          </a:p>
        </p:txBody>
      </p:sp>
      <p:sp>
        <p:nvSpPr>
          <p:cNvPr id="5" name="Text 2"/>
          <p:cNvSpPr/>
          <p:nvPr/>
        </p:nvSpPr>
        <p:spPr>
          <a:xfrm>
            <a:off x="977479" y="3445272"/>
            <a:ext cx="4809409"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SyntaxError</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expected colon</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822178"/>
            <a:ext cx="5339919" cy="1146274"/>
          </a:xfrm>
          <a:prstGeom prst="rect">
            <a:avLst/>
          </a:prstGeom>
        </p:spPr>
      </p:pic>
      <p:sp>
        <p:nvSpPr>
          <p:cNvPr id="7" name="Text 3"/>
          <p:cNvSpPr/>
          <p:nvPr/>
        </p:nvSpPr>
        <p:spPr>
          <a:xfrm>
            <a:off x="6506305" y="3036590"/>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indented block</a:t>
            </a:r>
            <a:endParaRPr lang="en-US" sz="1850" dirty="0"/>
          </a:p>
        </p:txBody>
      </p:sp>
      <p:sp>
        <p:nvSpPr>
          <p:cNvPr id="8" name="Text 4"/>
          <p:cNvSpPr/>
          <p:nvPr/>
        </p:nvSpPr>
        <p:spPr>
          <a:xfrm>
            <a:off x="6506305" y="3445272"/>
            <a:ext cx="4809509" cy="30876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IndentationError</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157464"/>
            <a:ext cx="5339820" cy="724098"/>
          </a:xfrm>
          <a:prstGeom prst="rect">
            <a:avLst/>
          </a:prstGeom>
        </p:spPr>
      </p:pic>
      <p:sp>
        <p:nvSpPr>
          <p:cNvPr id="10" name="Text 5"/>
          <p:cNvSpPr/>
          <p:nvPr/>
        </p:nvSpPr>
        <p:spPr>
          <a:xfrm>
            <a:off x="977479" y="4371876"/>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Same rules as if</a:t>
            </a:r>
            <a:endParaRPr lang="en-US" sz="185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157464"/>
            <a:ext cx="5339919" cy="724098"/>
          </a:xfrm>
          <a:prstGeom prst="rect">
            <a:avLst/>
          </a:prstGeom>
        </p:spPr>
      </p:pic>
      <p:sp>
        <p:nvSpPr>
          <p:cNvPr id="12" name="Text 6"/>
          <p:cNvSpPr/>
          <p:nvPr/>
        </p:nvSpPr>
        <p:spPr>
          <a:xfrm>
            <a:off x="6506305" y="4371876"/>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Ctrl C stops a runaway program</a:t>
            </a:r>
            <a:endParaRPr lang="en-US" sz="1850" dirty="0"/>
          </a:p>
        </p:txBody>
      </p:sp>
      <p:sp>
        <p:nvSpPr>
          <p:cNvPr id="13"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41029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5233360" y="2875062"/>
            <a:ext cx="6296860" cy="1549400"/>
          </a:xfrm>
          <a:prstGeom prst="roundRect">
            <a:avLst>
              <a:gd name="adj" fmla="val 5124"/>
            </a:avLst>
          </a:prstGeom>
          <a:solidFill>
            <a:srgbClr val="D1E5FA"/>
          </a:solidFill>
          <a:ln w="19050">
            <a:solidFill>
              <a:srgbClr val="B7CBE0"/>
            </a:solidFill>
            <a:prstDash val="solid"/>
          </a:ln>
        </p:spPr>
      </p:sp>
      <p:sp>
        <p:nvSpPr>
          <p:cNvPr id="5" name="Text 2"/>
          <p:cNvSpPr/>
          <p:nvPr/>
        </p:nvSpPr>
        <p:spPr>
          <a:xfrm>
            <a:off x="5441417" y="3083123"/>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Storm Relay game loop skeleton</a:t>
            </a:r>
            <a:endParaRPr lang="en-US" sz="1850" dirty="0"/>
          </a:p>
        </p:txBody>
      </p:sp>
      <p:sp>
        <p:nvSpPr>
          <p:cNvPr id="6" name="Text 3"/>
          <p:cNvSpPr/>
          <p:nvPr/>
        </p:nvSpPr>
        <p:spPr>
          <a:xfrm>
            <a:off x="5441417" y="3491805"/>
            <a:ext cx="5880747" cy="724595"/>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From yesterday's pseudocode: </a:t>
            </a:r>
            <a:pPr algn="l" indent="0" marL="0">
              <a:lnSpc>
                <a:spcPct val="133000"/>
              </a:lnSpc>
              <a:spcAft>
                <a:spcPts val="850"/>
              </a:spcAft>
              <a:buNone/>
            </a:pPr>
            <a:r>
              <a:rPr lang="en-US" sz="1450" dirty="0">
                <a:solidFill>
                  <a:srgbClr val="1C1C1C"/>
                </a:solidFill>
                <a:highlight>
                  <a:srgbClr val="F2F2F2"/>
                </a:highlight>
                <a:latin typeface="Consolas" pitchFamily="34" charset="0"/>
                <a:ea typeface="Consolas" pitchFamily="34" charset="-122"/>
                <a:cs typeface="Consolas" pitchFamily="34" charset="-120"/>
              </a:rPr>
              <a:t>while playing</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Move counts toward the storm, quit ends it</a:t>
            </a:r>
            <a:endParaRPr lang="en-US" sz="1450" dirty="0"/>
          </a:p>
        </p:txBody>
      </p:sp>
      <p:sp>
        <p:nvSpPr>
          <p:cNvPr id="7" name="Shape 4"/>
          <p:cNvSpPr/>
          <p:nvPr/>
        </p:nvSpPr>
        <p:spPr>
          <a:xfrm>
            <a:off x="5233360" y="4613473"/>
            <a:ext cx="6296860" cy="711398"/>
          </a:xfrm>
          <a:prstGeom prst="roundRect">
            <a:avLst>
              <a:gd name="adj" fmla="val 11159"/>
            </a:avLst>
          </a:prstGeom>
          <a:solidFill>
            <a:srgbClr val="D1E5FA"/>
          </a:solidFill>
          <a:ln w="19050">
            <a:solidFill>
              <a:srgbClr val="B7CBE0"/>
            </a:solidFill>
            <a:prstDash val="solid"/>
          </a:ln>
        </p:spPr>
      </p:sp>
      <p:sp>
        <p:nvSpPr>
          <p:cNvPr id="8" name="Text 5"/>
          <p:cNvSpPr/>
          <p:nvPr/>
        </p:nvSpPr>
        <p:spPr>
          <a:xfrm>
            <a:off x="5441417" y="482153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Gate 2 review of AI decision code</a:t>
            </a:r>
            <a:endParaRPr lang="en-US" sz="1850" dirty="0"/>
          </a:p>
        </p:txBody>
      </p:sp>
      <p:sp>
        <p:nvSpPr>
          <p:cNvPr id="9" name="Text 6"/>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2026-09-14T18:21:52Z</dcterms:created>
  <dcterms:modified xsi:type="dcterms:W3CDTF">2026-09-14T18:21:52Z</dcterms:modified>
</cp:coreProperties>
</file>