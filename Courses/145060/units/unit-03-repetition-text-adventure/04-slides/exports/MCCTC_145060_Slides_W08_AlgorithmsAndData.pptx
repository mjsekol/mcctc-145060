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you use is mostly information processing. Counting, adding up, finding the biggest, searching. None of it is one giant clever line. It is a small number of algorithms, run over data that somebody decided how to organize. Today you learn to name both halves, and you learn why the way data is organized changes how much work the program does. That is outcome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algorithm is a precise, finite sequence of steps. You have been writing them in pseudocode for two weeks. A data structure is the way data is organized so a program can use it. Our playlist file, one song per line, title in positions zero to twenty three, is a data structure. And here is the idea that makes this more than vocabulary. Change the structure, and the algorithm changes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Week 4, readline returning an empty string at the end of the file was a trap. Today it is the sentinel. A blank line comes back as a newline character, never as empty, so empty means the file is over. This slide writes the loop with Wednesday's break. The lecture notes write the same loop with the check in the while line. Both stop at the same moment. Every algorithm today uses this loop, and only the middle changes. Here it is count and total, two accumulators set to zero above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in one sentence. Keep the best one seen so far, and replace it whenever a better one shows up. And keep two pieces of state together, the value and the label. Eighty seven answers nothing. The song that got eighty seven is the answer. When one changes, both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Wednesday's break turns a loop into a search. The moment the artist matches, stop. Three lines read. But run it for an artist who is not on the playlist and it reads every line, because in an unordered file there is no way to be sure something is missing without checking everything. Also compare the whole artist field with double equals. The word hall is in static hallway, and a search that matches part of a field finds things you never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eight songs. Same question. In the order they were added, a bigger number could be on any line, so the algorithm reads everything. Sorted from most plays to fewest, the answer is on line one. Now scale it up. That is the difference between reading one line and reading all of them. So why not always sort? Because every play changes a count, and a sorted file may need that song moved. Neither structure is better. Each makes some questions cheap and others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value worked by starting at zero. So to find the smallest, I flip the less than and start at zero again. Same pattern, same file. Predict the song and the number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A blank title and zero plays. Every song has more than zero plays, so plays less than fewest plays is False on every single record, and nothing is ever replaced. The loop ran eight times and changed nothing. The starting value was a guess, and the guess was already better than every real record. The fix is to start from the first real record, not from a guess. Read one line, use it as the lowest so far, then loop over the rest. That prints Low Battery with nine plays.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 information processing task you meet this year is one of these five, or a few of them sharing one loop. When you get a data problem, name the algorithm first. Then ask whether it can stop early, and what its starting state has to be. That last question is exactly the one that went wrong a minute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leaderboard lab. One pass through a night of game results answers four questions, and a second loop searches for a player's first big round and stops as soon as it finds it. Step four makes you start the low score at zero and record the result. Build two is your text adventure. Write your win and lose test scripts, fix what your playtester found Friday, and draft your README, because v1 is due at the end of the day tomorrow. Congressional App Challenge teams, today is your last class day to submit, and I will check in with you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jpe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How an App Finds Your Top Song</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music app knows your top song</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counts your plays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finds your most played song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searches for an artist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that is magic</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is a few algorithms over organized data</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42826"/>
            <a:ext cx="10868745" cy="535285"/>
          </a:xfrm>
          <a:prstGeom prst="rect">
            <a:avLst/>
          </a:prstGeom>
          <a:noFill/>
          <a:ln/>
        </p:spPr>
        <p:txBody>
          <a:bodyPr wrap="none" lIns="0" tIns="0" rIns="0" bIns="0" rtlCol="0" anchor="t"/>
          <a:lstStyle/>
          <a:p>
            <a:pPr algn="l" indent="0" marL="0">
              <a:lnSpc>
                <a:spcPct val="104000"/>
              </a:lnSpc>
              <a:buNone/>
            </a:pPr>
            <a:r>
              <a:rPr lang="en-US" sz="3350" b="1" dirty="0">
                <a:solidFill>
                  <a:srgbClr val="111111"/>
                </a:solidFill>
                <a:latin typeface="Orbitron Bold" pitchFamily="34" charset="0"/>
                <a:ea typeface="Orbitron Bold" pitchFamily="34" charset="-122"/>
                <a:cs typeface="Orbitron Bold" pitchFamily="34" charset="-120"/>
              </a:rPr>
              <a:t>Two words</a:t>
            </a:r>
            <a:endParaRPr lang="en-US" sz="33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485503"/>
            <a:ext cx="3532397" cy="1988046"/>
          </a:xfrm>
          <a:prstGeom prst="rect">
            <a:avLst/>
          </a:prstGeom>
        </p:spPr>
      </p:pic>
      <p:sp>
        <p:nvSpPr>
          <p:cNvPr id="4" name="Text 1"/>
          <p:cNvSpPr/>
          <p:nvPr/>
        </p:nvSpPr>
        <p:spPr>
          <a:xfrm>
            <a:off x="927970" y="1675805"/>
            <a:ext cx="3075605"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Algorithm</a:t>
            </a:r>
            <a:endParaRPr lang="en-US" sz="1650" dirty="0"/>
          </a:p>
        </p:txBody>
      </p:sp>
      <p:sp>
        <p:nvSpPr>
          <p:cNvPr id="5" name="Text 2"/>
          <p:cNvSpPr/>
          <p:nvPr/>
        </p:nvSpPr>
        <p:spPr>
          <a:xfrm>
            <a:off x="927970" y="2098576"/>
            <a:ext cx="3075605" cy="1184672"/>
          </a:xfrm>
          <a:prstGeom prst="rect">
            <a:avLst/>
          </a:prstGeom>
          <a:noFill/>
          <a:ln/>
        </p:spPr>
        <p:txBody>
          <a:bodyPr wrap="square" lIns="0" tIns="0" rIns="0" bIns="0" rtlCol="0" anchor="t">
            <a:normAutofit/>
          </a:bodyPr>
          <a:lstStyle/>
          <a:p>
            <a:pPr algn="l" indent="0" marL="0">
              <a:lnSpc>
                <a:spcPct val="127000"/>
              </a:lnSpc>
              <a:spcAft>
                <a:spcPts val="1050"/>
              </a:spcAft>
              <a:buNone/>
            </a:pPr>
            <a:r>
              <a:rPr lang="en-US" sz="1300" dirty="0">
                <a:solidFill>
                  <a:srgbClr val="1C1C1C"/>
                </a:solidFill>
                <a:latin typeface="Roboto Condensed" pitchFamily="34" charset="0"/>
                <a:ea typeface="Roboto Condensed" pitchFamily="34" charset="-122"/>
                <a:cs typeface="Roboto Condensed" pitchFamily="34" charset="-120"/>
              </a:rPr>
              <a:t>Precise, finite steps that solve a problem</a:t>
            </a:r>
            <a:endParaRPr lang="en-US" sz="1300" dirty="0"/>
          </a:p>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Your pseudocode is an algorithm in English</a:t>
            </a:r>
            <a:endParaRPr lang="en-US" sz="13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628727"/>
            <a:ext cx="3532397" cy="2388989"/>
          </a:xfrm>
          <a:prstGeom prst="rect">
            <a:avLst/>
          </a:prstGeom>
        </p:spPr>
      </p:pic>
      <p:sp>
        <p:nvSpPr>
          <p:cNvPr id="7" name="Text 3"/>
          <p:cNvSpPr/>
          <p:nvPr/>
        </p:nvSpPr>
        <p:spPr>
          <a:xfrm>
            <a:off x="927970" y="3819029"/>
            <a:ext cx="3075605" cy="267593"/>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Data Structure</a:t>
            </a:r>
            <a:endParaRPr lang="en-US" sz="1650" dirty="0"/>
          </a:p>
        </p:txBody>
      </p:sp>
      <p:sp>
        <p:nvSpPr>
          <p:cNvPr id="8" name="Text 4"/>
          <p:cNvSpPr/>
          <p:nvPr/>
        </p:nvSpPr>
        <p:spPr>
          <a:xfrm>
            <a:off x="927970" y="4241800"/>
            <a:ext cx="3075605" cy="1585615"/>
          </a:xfrm>
          <a:prstGeom prst="rect">
            <a:avLst/>
          </a:prstGeom>
          <a:noFill/>
          <a:ln/>
        </p:spPr>
        <p:txBody>
          <a:bodyPr wrap="square" lIns="0" tIns="0" rIns="0" bIns="0" rtlCol="0" anchor="t"/>
          <a:lstStyle/>
          <a:p>
            <a:pPr algn="l" indent="0" marL="0">
              <a:lnSpc>
                <a:spcPct val="127000"/>
              </a:lnSpc>
              <a:spcAft>
                <a:spcPts val="1050"/>
              </a:spcAft>
              <a:buNone/>
            </a:pPr>
            <a:r>
              <a:rPr lang="en-US" sz="1300" dirty="0">
                <a:solidFill>
                  <a:srgbClr val="1C1C1C"/>
                </a:solidFill>
                <a:latin typeface="Roboto Condensed" pitchFamily="34" charset="0"/>
                <a:ea typeface="Roboto Condensed" pitchFamily="34" charset="-122"/>
                <a:cs typeface="Roboto Condensed" pitchFamily="34" charset="-120"/>
              </a:rPr>
              <a:t>How data is organized for a program</a:t>
            </a:r>
            <a:endParaRPr lang="en-US" sz="1300" dirty="0"/>
          </a:p>
          <a:p>
            <a:pPr algn="l" indent="0" marL="0">
              <a:lnSpc>
                <a:spcPct val="127000"/>
              </a:lnSpc>
              <a:spcAft>
                <a:spcPts val="1050"/>
              </a:spcAft>
              <a:buNone/>
            </a:pPr>
            <a:r>
              <a:rPr lang="en-US" sz="1300" dirty="0">
                <a:solidFill>
                  <a:srgbClr val="1C1C1C"/>
                </a:solidFill>
                <a:latin typeface="Roboto Condensed" pitchFamily="34" charset="0"/>
                <a:ea typeface="Roboto Condensed" pitchFamily="34" charset="-122"/>
                <a:cs typeface="Roboto Condensed" pitchFamily="34" charset="-120"/>
              </a:rPr>
              <a:t>One song per line, fields in fixed positions</a:t>
            </a:r>
            <a:endParaRPr lang="en-US" sz="1300" dirty="0"/>
          </a:p>
          <a:p>
            <a:pPr algn="l" indent="0" marL="0">
              <a:lnSpc>
                <a:spcPct val="127000"/>
              </a:lnSpc>
              <a:buNone/>
            </a:pPr>
            <a:r>
              <a:rPr lang="en-US" sz="1300" dirty="0">
                <a:solidFill>
                  <a:srgbClr val="1C1C1C"/>
                </a:solidFill>
                <a:latin typeface="Roboto Condensed" pitchFamily="34" charset="0"/>
                <a:ea typeface="Roboto Condensed" pitchFamily="34" charset="-122"/>
                <a:cs typeface="Roboto Condensed" pitchFamily="34" charset="-120"/>
              </a:rPr>
              <a:t>The structure decides which algorithms are possible</a:t>
            </a:r>
            <a:endParaRPr lang="en-US" sz="1300" dirty="0"/>
          </a:p>
        </p:txBody>
      </p:sp>
      <p:pic>
        <p:nvPicPr>
          <p:cNvPr id="9" name="Image 2" descr="preencoded.png">    </p:cNvPr>
          <p:cNvPicPr>
            <a:picLocks noChangeAspect="1"/>
          </p:cNvPicPr>
          <p:nvPr/>
        </p:nvPicPr>
        <p:blipFill>
          <a:blip r:embed="rId5"/>
          <a:stretch>
            <a:fillRect/>
          </a:stretch>
        </p:blipFill>
        <p:spPr>
          <a:xfrm>
            <a:off x="4618120" y="1791395"/>
            <a:ext cx="6918350" cy="3920430"/>
          </a:xfrm>
          <a:prstGeom prst="rect">
            <a:avLst/>
          </a:prstGeom>
        </p:spPr>
      </p:pic>
      <p:sp>
        <p:nvSpPr>
          <p:cNvPr id="10"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7928"/>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The loop every algorithm uses</a:t>
            </a:r>
            <a:endParaRPr lang="en-US" sz="3250" dirty="0"/>
          </a:p>
        </p:txBody>
      </p:sp>
      <p:sp>
        <p:nvSpPr>
          <p:cNvPr id="3" name="Shape 1"/>
          <p:cNvSpPr/>
          <p:nvPr/>
        </p:nvSpPr>
        <p:spPr>
          <a:xfrm>
            <a:off x="661475" y="1374080"/>
            <a:ext cx="10868745" cy="4035227"/>
          </a:xfrm>
          <a:prstGeom prst="roundRect">
            <a:avLst>
              <a:gd name="adj" fmla="val 1721"/>
            </a:avLst>
          </a:prstGeom>
          <a:solidFill>
            <a:srgbClr val="F2F2F2"/>
          </a:solidFill>
          <a:ln/>
        </p:spPr>
      </p:sp>
      <p:sp>
        <p:nvSpPr>
          <p:cNvPr id="4" name="Text 2"/>
          <p:cNvSpPr/>
          <p:nvPr/>
        </p:nvSpPr>
        <p:spPr>
          <a:xfrm>
            <a:off x="859907" y="1539379"/>
            <a:ext cx="10471880" cy="3704630"/>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playlist = open("playlist.txt")</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song_count = 0</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total_plays = 0</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while True:</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line = playlist.readline()</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if line == "":</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break</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plays = int(line[44:47])</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song_count = song_count + 1</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total_plays = total_plays + plays</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playlist.close()</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print(f"{song_count} songs, {total_plays} plays")</a:t>
            </a:r>
            <a:endParaRPr lang="en-US" sz="1300" dirty="0"/>
          </a:p>
        </p:txBody>
      </p:sp>
      <p:sp>
        <p:nvSpPr>
          <p:cNvPr id="5" name="Shape 3"/>
          <p:cNvSpPr/>
          <p:nvPr/>
        </p:nvSpPr>
        <p:spPr>
          <a:xfrm>
            <a:off x="661475" y="5572026"/>
            <a:ext cx="10868745" cy="595213"/>
          </a:xfrm>
          <a:prstGeom prst="roundRect">
            <a:avLst>
              <a:gd name="adj" fmla="val 11670"/>
            </a:avLst>
          </a:prstGeom>
          <a:solidFill>
            <a:srgbClr val="F2F2F2"/>
          </a:solidFill>
          <a:ln/>
        </p:spPr>
      </p:sp>
      <p:sp>
        <p:nvSpPr>
          <p:cNvPr id="6" name="Text 4"/>
          <p:cNvSpPr/>
          <p:nvPr/>
        </p:nvSpPr>
        <p:spPr>
          <a:xfrm>
            <a:off x="859907" y="5737324"/>
            <a:ext cx="11081465" cy="264616"/>
          </a:xfrm>
          <a:prstGeom prst="rect">
            <a:avLst/>
          </a:prstGeom>
          <a:noFill/>
          <a:ln/>
        </p:spPr>
        <p:txBody>
          <a:bodyPr wrap="none" lIns="0" tIns="0" rIns="0" bIns="0" rtlCol="0" anchor="t"/>
          <a:lstStyle/>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8 songs, 325 plays</a:t>
            </a:r>
            <a:endParaRPr lang="en-US" sz="130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25066"/>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Biggest value, and whose it is</a:t>
            </a:r>
            <a:endParaRPr lang="en-US" sz="3600" dirty="0"/>
          </a:p>
        </p:txBody>
      </p:sp>
      <p:sp>
        <p:nvSpPr>
          <p:cNvPr id="3" name="Shape 1"/>
          <p:cNvSpPr/>
          <p:nvPr/>
        </p:nvSpPr>
        <p:spPr>
          <a:xfrm>
            <a:off x="661475" y="1562795"/>
            <a:ext cx="3513645" cy="3296047"/>
          </a:xfrm>
          <a:prstGeom prst="roundRect">
            <a:avLst>
              <a:gd name="adj" fmla="val 2333"/>
            </a:avLst>
          </a:prstGeom>
          <a:solidFill>
            <a:srgbClr val="F2F2F2"/>
          </a:solidFill>
          <a:ln/>
        </p:spPr>
      </p:sp>
      <p:sp>
        <p:nvSpPr>
          <p:cNvPr id="4" name="Text 2"/>
          <p:cNvSpPr/>
          <p:nvPr/>
        </p:nvSpPr>
        <p:spPr>
          <a:xfrm>
            <a:off x="881140" y="1745853"/>
            <a:ext cx="3074315" cy="2929930"/>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Before the loop</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most_plays = 0</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top_song = ""</a:t>
            </a:r>
            <a:endParaRPr lang="en-US" sz="1400" dirty="0"/>
          </a:p>
          <a:p>
            <a:pPr algn="l" indent="0" marL="0">
              <a:lnSpc>
                <a:spcPct val="133000"/>
              </a:lnSpc>
              <a:buNone/>
            </a:pP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Inside the loop, once per record</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title = line[0:24].strip()</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plays = int(line[44:47])</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if plays &gt; most_plays:</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most_plays = plays</a:t>
            </a:r>
            <a:endParaRPr lang="en-US" sz="1400" dirty="0"/>
          </a:p>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        top_song = title</a:t>
            </a:r>
            <a:endParaRPr lang="en-US" sz="1400" dirty="0"/>
          </a:p>
        </p:txBody>
      </p:sp>
      <p:sp>
        <p:nvSpPr>
          <p:cNvPr id="5" name="Shape 3"/>
          <p:cNvSpPr/>
          <p:nvPr/>
        </p:nvSpPr>
        <p:spPr>
          <a:xfrm>
            <a:off x="661475" y="5058370"/>
            <a:ext cx="3513645" cy="952103"/>
          </a:xfrm>
          <a:prstGeom prst="roundRect">
            <a:avLst>
              <a:gd name="adj" fmla="val 8078"/>
            </a:avLst>
          </a:prstGeom>
          <a:solidFill>
            <a:srgbClr val="F2F2F2"/>
          </a:solidFill>
          <a:ln/>
        </p:spPr>
      </p:sp>
      <p:sp>
        <p:nvSpPr>
          <p:cNvPr id="6" name="Text 4"/>
          <p:cNvSpPr/>
          <p:nvPr/>
        </p:nvSpPr>
        <p:spPr>
          <a:xfrm>
            <a:off x="881140" y="5241429"/>
            <a:ext cx="3074315" cy="585986"/>
          </a:xfrm>
          <a:prstGeom prst="rect">
            <a:avLst/>
          </a:prstGeom>
          <a:noFill/>
          <a:ln/>
        </p:spPr>
        <p:txBody>
          <a:bodyPr wrap="square" lIns="0" tIns="0" rIns="0" bIns="0" rtlCol="0" anchor="t">
            <a:normAutofit/>
          </a:bodyPr>
          <a:lstStyle/>
          <a:p>
            <a:pPr algn="l" indent="0" marL="0">
              <a:lnSpc>
                <a:spcPct val="133000"/>
              </a:lnSpc>
              <a:buNone/>
            </a:pPr>
            <a:r>
              <a:rPr lang="en-US" sz="1400" dirty="0">
                <a:solidFill>
                  <a:srgbClr val="24292E"/>
                </a:solidFill>
                <a:latin typeface="Consolas" pitchFamily="34" charset="0"/>
                <a:ea typeface="Consolas" pitchFamily="34" charset="-122"/>
                <a:cs typeface="Consolas" pitchFamily="34" charset="-120"/>
              </a:rPr>
              <a:t>Most played: Group Chat Silence (87 plays)</a:t>
            </a:r>
            <a:endParaRPr lang="en-US" sz="1400" dirty="0"/>
          </a:p>
        </p:txBody>
      </p:sp>
      <p:pic>
        <p:nvPicPr>
          <p:cNvPr id="7" name="Image 0" descr="preencoded.png">    </p:cNvPr>
          <p:cNvPicPr>
            <a:picLocks noChangeAspect="1"/>
          </p:cNvPicPr>
          <p:nvPr/>
        </p:nvPicPr>
        <p:blipFill>
          <a:blip r:embed="rId1"/>
          <a:stretch>
            <a:fillRect/>
          </a:stretch>
        </p:blipFill>
        <p:spPr>
          <a:xfrm>
            <a:off x="4628141" y="1829197"/>
            <a:ext cx="6908330" cy="3914775"/>
          </a:xfrm>
          <a:prstGeom prst="rect">
            <a:avLst/>
          </a:prstGeom>
        </p:spPr>
      </p:pic>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Search, and stop when you find it</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Compare each record to what you want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break the moment it matches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static hallway: found after reading 3 lines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artist who is not there: all 8 lines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here always means reading everything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Same question, two structures</a:t>
            </a:r>
            <a:endParaRPr lang="en-US" sz="1850" dirty="0"/>
          </a:p>
        </p:txBody>
      </p:sp>
      <p:sp>
        <p:nvSpPr>
          <p:cNvPr id="3" name="Shape 1"/>
          <p:cNvSpPr/>
          <p:nvPr/>
        </p:nvSpPr>
        <p:spPr>
          <a:xfrm>
            <a:off x="661475" y="3109813"/>
            <a:ext cx="2635879" cy="821630"/>
          </a:xfrm>
          <a:prstGeom prst="roundRect">
            <a:avLst>
              <a:gd name="adj" fmla="val 4831"/>
            </a:avLst>
          </a:prstGeom>
          <a:solidFill>
            <a:srgbClr val="D1E5FA"/>
          </a:solidFill>
          <a:ln w="6350">
            <a:solidFill>
              <a:srgbClr val="B7CBE0"/>
            </a:solidFill>
            <a:prstDash val="solid"/>
          </a:ln>
        </p:spPr>
      </p:sp>
      <p:sp>
        <p:nvSpPr>
          <p:cNvPr id="4" name="Text 2"/>
          <p:cNvSpPr/>
          <p:nvPr/>
        </p:nvSpPr>
        <p:spPr>
          <a:xfrm>
            <a:off x="762279" y="3210620"/>
            <a:ext cx="2434271"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Unsorted (order added)</a:t>
            </a:r>
            <a:endParaRPr lang="en-US" sz="900" dirty="0"/>
          </a:p>
        </p:txBody>
      </p:sp>
      <p:sp>
        <p:nvSpPr>
          <p:cNvPr id="5" name="Text 3"/>
          <p:cNvSpPr/>
          <p:nvPr/>
        </p:nvSpPr>
        <p:spPr>
          <a:xfrm>
            <a:off x="762279" y="3405485"/>
            <a:ext cx="2434271" cy="425152"/>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Which song has the most plays?</a:t>
            </a:r>
            <a:endParaRPr lang="en-US" sz="700" dirty="0"/>
          </a:p>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Songs in the order added: read all 8 lines</a:t>
            </a:r>
            <a:endParaRPr lang="en-US" sz="700" dirty="0"/>
          </a:p>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With 800,000 songs: 800,000 reads</a:t>
            </a:r>
            <a:endParaRPr lang="en-US" sz="700" dirty="0"/>
          </a:p>
        </p:txBody>
      </p:sp>
      <p:sp>
        <p:nvSpPr>
          <p:cNvPr id="6" name="Shape 4"/>
          <p:cNvSpPr/>
          <p:nvPr/>
        </p:nvSpPr>
        <p:spPr>
          <a:xfrm>
            <a:off x="3344580" y="3109813"/>
            <a:ext cx="2635978" cy="821630"/>
          </a:xfrm>
          <a:prstGeom prst="roundRect">
            <a:avLst>
              <a:gd name="adj" fmla="val 4831"/>
            </a:avLst>
          </a:prstGeom>
          <a:solidFill>
            <a:srgbClr val="D1E5FA"/>
          </a:solidFill>
          <a:ln w="6350">
            <a:solidFill>
              <a:srgbClr val="B7CBE0"/>
            </a:solidFill>
            <a:prstDash val="solid"/>
          </a:ln>
        </p:spPr>
      </p:sp>
      <p:sp>
        <p:nvSpPr>
          <p:cNvPr id="7" name="Text 5"/>
          <p:cNvSpPr/>
          <p:nvPr/>
        </p:nvSpPr>
        <p:spPr>
          <a:xfrm>
            <a:off x="3445384" y="3210620"/>
            <a:ext cx="2434370"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Sorted by plays</a:t>
            </a:r>
            <a:endParaRPr lang="en-US" sz="900" dirty="0"/>
          </a:p>
        </p:txBody>
      </p:sp>
      <p:sp>
        <p:nvSpPr>
          <p:cNvPr id="8" name="Text 6"/>
          <p:cNvSpPr/>
          <p:nvPr/>
        </p:nvSpPr>
        <p:spPr>
          <a:xfrm>
            <a:off x="3445384" y="3405485"/>
            <a:ext cx="2434370" cy="425152"/>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Which song has the most plays?</a:t>
            </a:r>
            <a:endParaRPr lang="en-US" sz="700" dirty="0"/>
          </a:p>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Songs sorted by plays: read 1 line</a:t>
            </a:r>
            <a:endParaRPr lang="en-US" sz="700" dirty="0"/>
          </a:p>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With 800,000 songs: 1 read</a:t>
            </a:r>
            <a:endParaRPr lang="en-US" sz="700" dirty="0"/>
          </a:p>
        </p:txBody>
      </p:sp>
      <p:sp>
        <p:nvSpPr>
          <p:cNvPr id="9" name="Text 7"/>
          <p:cNvSpPr/>
          <p:nvPr/>
        </p:nvSpPr>
        <p:spPr>
          <a:xfrm>
            <a:off x="661475" y="3984526"/>
            <a:ext cx="5928668"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Sorting costs work every time a count changes</a:t>
            </a:r>
            <a:endParaRPr lang="en-US" sz="700" dirty="0"/>
          </a:p>
        </p:txBody>
      </p:sp>
      <p:pic>
        <p:nvPicPr>
          <p:cNvPr id="10" name="Image 0" descr="preencoded.png">    </p:cNvPr>
          <p:cNvPicPr>
            <a:picLocks noChangeAspect="1"/>
          </p:cNvPicPr>
          <p:nvPr/>
        </p:nvPicPr>
        <p:blipFill>
          <a:blip r:embed="rId1"/>
          <a:stretch>
            <a:fillRect/>
          </a:stretch>
        </p:blipFill>
        <p:spPr>
          <a:xfrm>
            <a:off x="6217487" y="939006"/>
            <a:ext cx="5319083" cy="5319216"/>
          </a:xfrm>
          <a:prstGeom prst="rect">
            <a:avLst/>
          </a:prstGeom>
        </p:spPr>
      </p:pic>
      <p:sp>
        <p:nvSpPr>
          <p:cNvPr id="11" name="Text 8"/>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the least played song</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Before the loop</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fewest_plays = 0</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quiet_song =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Inside the loop, once per record</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title = line[0:24].strip()</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plays = int(line[44:47])</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if plays &lt; fewest_plays: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fewest_plays = plays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quiet_song = title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After the loop</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print(f"Least played: {quiet_song} ({fewest_plays} plays)")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24470"/>
            <a:ext cx="10868745" cy="1126133"/>
          </a:xfrm>
          <a:prstGeom prst="rect">
            <a:avLst/>
          </a:prstGeom>
          <a:noFill/>
          <a:ln/>
        </p:spPr>
        <p:txBody>
          <a:bodyPr wrap="square" lIns="0" tIns="0" rIns="0" bIns="0" rtlCol="0" anchor="t">
            <a:normAutofit/>
          </a:bodyPr>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The wrong way: a blank title and zero plays</a:t>
            </a:r>
            <a:endParaRPr lang="en-US" sz="3500" dirty="0"/>
          </a:p>
        </p:txBody>
      </p:sp>
      <p:sp>
        <p:nvSpPr>
          <p:cNvPr id="3" name="Shape 1"/>
          <p:cNvSpPr/>
          <p:nvPr/>
        </p:nvSpPr>
        <p:spPr>
          <a:xfrm>
            <a:off x="661475" y="2928838"/>
            <a:ext cx="3518308" cy="648395"/>
          </a:xfrm>
          <a:prstGeom prst="roundRect">
            <a:avLst>
              <a:gd name="adj" fmla="val 11670"/>
            </a:avLst>
          </a:prstGeom>
          <a:solidFill>
            <a:srgbClr val="F2F2F2"/>
          </a:solidFill>
          <a:ln/>
        </p:spPr>
      </p:sp>
      <p:sp>
        <p:nvSpPr>
          <p:cNvPr id="4" name="Text 2"/>
          <p:cNvSpPr/>
          <p:nvPr/>
        </p:nvSpPr>
        <p:spPr>
          <a:xfrm>
            <a:off x="877568" y="3108920"/>
            <a:ext cx="3695707" cy="288230"/>
          </a:xfrm>
          <a:prstGeom prst="rect">
            <a:avLst/>
          </a:prstGeom>
          <a:noFill/>
          <a:ln/>
        </p:spPr>
        <p:txBody>
          <a:bodyPr wrap="none" lIns="0" tIns="0" rIns="0" bIns="0" rtlCol="0" anchor="t"/>
          <a:lstStyle/>
          <a:p>
            <a:pPr algn="l" indent="0" marL="0">
              <a:lnSpc>
                <a:spcPct val="133000"/>
              </a:lnSpc>
              <a:buNone/>
            </a:pPr>
            <a:r>
              <a:rPr lang="en-US" sz="1400" dirty="0">
                <a:solidFill>
                  <a:srgbClr val="005CC5"/>
                </a:solidFill>
                <a:latin typeface="Consolas" pitchFamily="34" charset="0"/>
                <a:ea typeface="Consolas" pitchFamily="34" charset="-122"/>
                <a:cs typeface="Consolas" pitchFamily="34" charset="-120"/>
              </a:rPr>
              <a:t>Least played:  (0 plays)</a:t>
            </a:r>
            <a:endParaRPr lang="en-US" sz="1400" dirty="0"/>
          </a:p>
        </p:txBody>
      </p:sp>
      <p:sp>
        <p:nvSpPr>
          <p:cNvPr id="5" name="Text 3"/>
          <p:cNvSpPr/>
          <p:nvPr/>
        </p:nvSpPr>
        <p:spPr>
          <a:xfrm>
            <a:off x="661475" y="3770412"/>
            <a:ext cx="3518308" cy="1458218"/>
          </a:xfrm>
          <a:prstGeom prst="rect">
            <a:avLst/>
          </a:prstGeom>
          <a:noFill/>
          <a:ln/>
        </p:spPr>
        <p:txBody>
          <a:bodyPr wrap="square" lIns="0" tIns="0" rIns="0" bIns="0" rtlCol="0" anchor="t">
            <a:normAutofit/>
          </a:bodyPr>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Starting </a:t>
            </a:r>
            <a:pPr algn="l" indent="0" marL="0">
              <a:lnSpc>
                <a:spcPct val="130000"/>
              </a:lnSpc>
              <a:buNone/>
            </a:pPr>
            <a:r>
              <a:rPr lang="en-US" sz="1400" dirty="0">
                <a:solidFill>
                  <a:srgbClr val="1C1C1C"/>
                </a:solidFill>
                <a:highlight>
                  <a:srgbClr val="F2F2F2"/>
                </a:highlight>
                <a:latin typeface="Consolas" pitchFamily="34" charset="0"/>
                <a:ea typeface="Consolas" pitchFamily="34" charset="-122"/>
                <a:cs typeface="Consolas" pitchFamily="34" charset="-120"/>
              </a:rPr>
              <a:t>fewest_plays</a:t>
            </a:r>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 at </a:t>
            </a:r>
            <a:pPr algn="l" indent="0" marL="0">
              <a:lnSpc>
                <a:spcPct val="130000"/>
              </a:lnSpc>
              <a:buNone/>
            </a:pPr>
            <a:r>
              <a:rPr lang="en-US" sz="1400" dirty="0">
                <a:solidFill>
                  <a:srgbClr val="1C1C1C"/>
                </a:solidFill>
                <a:highlight>
                  <a:srgbClr val="F2F2F2"/>
                </a:highlight>
                <a:latin typeface="Consolas" pitchFamily="34" charset="0"/>
                <a:ea typeface="Consolas" pitchFamily="34" charset="-122"/>
                <a:cs typeface="Consolas" pitchFamily="34" charset="-120"/>
              </a:rPr>
              <a:t>0</a:t>
            </a:r>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 means no real play count can ever be less than the starting value. The condition </a:t>
            </a:r>
            <a:pPr algn="l" indent="0" marL="0">
              <a:lnSpc>
                <a:spcPct val="130000"/>
              </a:lnSpc>
              <a:buNone/>
            </a:pPr>
            <a:r>
              <a:rPr lang="en-US" sz="1400" dirty="0">
                <a:solidFill>
                  <a:srgbClr val="1C1C1C"/>
                </a:solidFill>
                <a:highlight>
                  <a:srgbClr val="F2F2F2"/>
                </a:highlight>
                <a:latin typeface="Consolas" pitchFamily="34" charset="0"/>
                <a:ea typeface="Consolas" pitchFamily="34" charset="-122"/>
                <a:cs typeface="Consolas" pitchFamily="34" charset="-120"/>
              </a:rPr>
              <a:t>plays &lt; fewest_plays</a:t>
            </a:r>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 is never true, so </a:t>
            </a:r>
            <a:pPr algn="l" indent="0" marL="0">
              <a:lnSpc>
                <a:spcPct val="130000"/>
              </a:lnSpc>
              <a:buNone/>
            </a:pPr>
            <a:r>
              <a:rPr lang="en-US" sz="1400" dirty="0">
                <a:solidFill>
                  <a:srgbClr val="1C1C1C"/>
                </a:solidFill>
                <a:highlight>
                  <a:srgbClr val="F2F2F2"/>
                </a:highlight>
                <a:latin typeface="Consolas" pitchFamily="34" charset="0"/>
                <a:ea typeface="Consolas" pitchFamily="34" charset="-122"/>
                <a:cs typeface="Consolas" pitchFamily="34" charset="-120"/>
              </a:rPr>
              <a:t>quiet_song</a:t>
            </a:r>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 stays blank and </a:t>
            </a:r>
            <a:pPr algn="l" indent="0" marL="0">
              <a:lnSpc>
                <a:spcPct val="130000"/>
              </a:lnSpc>
              <a:buNone/>
            </a:pPr>
            <a:r>
              <a:rPr lang="en-US" sz="1400" dirty="0">
                <a:solidFill>
                  <a:srgbClr val="1C1C1C"/>
                </a:solidFill>
                <a:highlight>
                  <a:srgbClr val="F2F2F2"/>
                </a:highlight>
                <a:latin typeface="Consolas" pitchFamily="34" charset="0"/>
                <a:ea typeface="Consolas" pitchFamily="34" charset="-122"/>
                <a:cs typeface="Consolas" pitchFamily="34" charset="-120"/>
              </a:rPr>
              <a:t>fewest_plays</a:t>
            </a:r>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 stays zero.</a:t>
            </a:r>
            <a:endParaRPr lang="en-US" sz="1400" dirty="0"/>
          </a:p>
        </p:txBody>
      </p:sp>
      <p:pic>
        <p:nvPicPr>
          <p:cNvPr id="6" name="Image 0" descr="preencoded.png">    </p:cNvPr>
          <p:cNvPicPr>
            <a:picLocks noChangeAspect="1"/>
          </p:cNvPicPr>
          <p:nvPr/>
        </p:nvPicPr>
        <p:blipFill>
          <a:blip r:embed="rId1"/>
          <a:stretch>
            <a:fillRect/>
          </a:stretch>
        </p:blipFill>
        <p:spPr>
          <a:xfrm>
            <a:off x="4625661" y="2101354"/>
            <a:ext cx="6910810" cy="3916164"/>
          </a:xfrm>
          <a:prstGeom prst="rect">
            <a:avLst/>
          </a:prstGeom>
        </p:spPr>
      </p:pic>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75866"/>
            <a:ext cx="10868745" cy="461466"/>
          </a:xfrm>
          <a:prstGeom prst="rect">
            <a:avLst/>
          </a:prstGeom>
          <a:noFill/>
          <a:ln/>
        </p:spPr>
        <p:txBody>
          <a:bodyPr wrap="none" lIns="0" tIns="0" rIns="0" bIns="0" rtlCol="0" anchor="t"/>
          <a:lstStyle/>
          <a:p>
            <a:pPr algn="l" indent="0" marL="0">
              <a:lnSpc>
                <a:spcPct val="104000"/>
              </a:lnSpc>
              <a:buNone/>
            </a:pPr>
            <a:r>
              <a:rPr lang="en-US" sz="2900" b="1" dirty="0">
                <a:solidFill>
                  <a:srgbClr val="111111"/>
                </a:solidFill>
                <a:latin typeface="Orbitron Bold" pitchFamily="34" charset="0"/>
                <a:ea typeface="Orbitron Bold" pitchFamily="34" charset="-122"/>
                <a:cs typeface="Orbitron Bold" pitchFamily="34" charset="-120"/>
              </a:rPr>
              <a:t>Five algorithms to recognize</a:t>
            </a:r>
            <a:endParaRPr lang="en-US" sz="2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68016"/>
            <a:ext cx="10868745" cy="886023"/>
          </a:xfrm>
          <a:prstGeom prst="rect">
            <a:avLst/>
          </a:prstGeom>
        </p:spPr>
      </p:pic>
      <p:sp>
        <p:nvSpPr>
          <p:cNvPr id="4" name="Text 1"/>
          <p:cNvSpPr/>
          <p:nvPr/>
        </p:nvSpPr>
        <p:spPr>
          <a:xfrm>
            <a:off x="858717" y="1572617"/>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1</a:t>
            </a:r>
            <a:endParaRPr lang="en-US" sz="1700" dirty="0"/>
          </a:p>
        </p:txBody>
      </p:sp>
      <p:sp>
        <p:nvSpPr>
          <p:cNvPr id="5" name="Text 2"/>
          <p:cNvSpPr/>
          <p:nvPr/>
        </p:nvSpPr>
        <p:spPr>
          <a:xfrm>
            <a:off x="1386448" y="1434703"/>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Count</a:t>
            </a:r>
            <a:endParaRPr lang="en-US" sz="1450" dirty="0"/>
          </a:p>
        </p:txBody>
      </p:sp>
      <p:sp>
        <p:nvSpPr>
          <p:cNvPr id="6" name="Text 3"/>
          <p:cNvSpPr/>
          <p:nvPr/>
        </p:nvSpPr>
        <p:spPr>
          <a:xfrm>
            <a:off x="1386448" y="1734542"/>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How many</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269331"/>
            <a:ext cx="10868745" cy="886023"/>
          </a:xfrm>
          <a:prstGeom prst="rect">
            <a:avLst/>
          </a:prstGeom>
        </p:spPr>
      </p:pic>
      <p:sp>
        <p:nvSpPr>
          <p:cNvPr id="8" name="Text 4"/>
          <p:cNvSpPr/>
          <p:nvPr/>
        </p:nvSpPr>
        <p:spPr>
          <a:xfrm>
            <a:off x="858717" y="2573933"/>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2</a:t>
            </a:r>
            <a:endParaRPr lang="en-US" sz="1700" dirty="0"/>
          </a:p>
        </p:txBody>
      </p:sp>
      <p:sp>
        <p:nvSpPr>
          <p:cNvPr id="9" name="Text 5"/>
          <p:cNvSpPr/>
          <p:nvPr/>
        </p:nvSpPr>
        <p:spPr>
          <a:xfrm>
            <a:off x="1386448" y="2436019"/>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Total</a:t>
            </a:r>
            <a:endParaRPr lang="en-US" sz="1450" dirty="0"/>
          </a:p>
        </p:txBody>
      </p:sp>
      <p:sp>
        <p:nvSpPr>
          <p:cNvPr id="10" name="Text 6"/>
          <p:cNvSpPr/>
          <p:nvPr/>
        </p:nvSpPr>
        <p:spPr>
          <a:xfrm>
            <a:off x="1386448" y="2735858"/>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How much altogether</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70647"/>
            <a:ext cx="10868745" cy="886023"/>
          </a:xfrm>
          <a:prstGeom prst="rect">
            <a:avLst/>
          </a:prstGeom>
        </p:spPr>
      </p:pic>
      <p:sp>
        <p:nvSpPr>
          <p:cNvPr id="12" name="Text 7"/>
          <p:cNvSpPr/>
          <p:nvPr/>
        </p:nvSpPr>
        <p:spPr>
          <a:xfrm>
            <a:off x="858717" y="3575248"/>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3</a:t>
            </a:r>
            <a:endParaRPr lang="en-US" sz="1700" dirty="0"/>
          </a:p>
        </p:txBody>
      </p:sp>
      <p:sp>
        <p:nvSpPr>
          <p:cNvPr id="13" name="Text 8"/>
          <p:cNvSpPr/>
          <p:nvPr/>
        </p:nvSpPr>
        <p:spPr>
          <a:xfrm>
            <a:off x="1386448" y="3437334"/>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Maximum or minimum</a:t>
            </a:r>
            <a:endParaRPr lang="en-US" sz="1450" dirty="0"/>
          </a:p>
        </p:txBody>
      </p:sp>
      <p:sp>
        <p:nvSpPr>
          <p:cNvPr id="14" name="Text 9"/>
          <p:cNvSpPr/>
          <p:nvPr/>
        </p:nvSpPr>
        <p:spPr>
          <a:xfrm>
            <a:off x="1386448" y="3737173"/>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Start from the first real record</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71963"/>
            <a:ext cx="10868745" cy="886023"/>
          </a:xfrm>
          <a:prstGeom prst="rect">
            <a:avLst/>
          </a:prstGeom>
        </p:spPr>
      </p:pic>
      <p:sp>
        <p:nvSpPr>
          <p:cNvPr id="16" name="Text 10"/>
          <p:cNvSpPr/>
          <p:nvPr/>
        </p:nvSpPr>
        <p:spPr>
          <a:xfrm>
            <a:off x="858717" y="4576564"/>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4</a:t>
            </a:r>
            <a:endParaRPr lang="en-US" sz="1700" dirty="0"/>
          </a:p>
        </p:txBody>
      </p:sp>
      <p:sp>
        <p:nvSpPr>
          <p:cNvPr id="17" name="Text 11"/>
          <p:cNvSpPr/>
          <p:nvPr/>
        </p:nvSpPr>
        <p:spPr>
          <a:xfrm>
            <a:off x="1386448" y="4438650"/>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Search</a:t>
            </a:r>
            <a:endParaRPr lang="en-US" sz="1450" dirty="0"/>
          </a:p>
        </p:txBody>
      </p:sp>
      <p:sp>
        <p:nvSpPr>
          <p:cNvPr id="18" name="Text 12"/>
          <p:cNvSpPr/>
          <p:nvPr/>
        </p:nvSpPr>
        <p:spPr>
          <a:xfrm>
            <a:off x="1386448" y="4738489"/>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Stop early with break once found</a:t>
            </a:r>
            <a:endParaRPr lang="en-US" sz="11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273278"/>
            <a:ext cx="10868745" cy="886023"/>
          </a:xfrm>
          <a:prstGeom prst="rect">
            <a:avLst/>
          </a:prstGeom>
        </p:spPr>
      </p:pic>
      <p:sp>
        <p:nvSpPr>
          <p:cNvPr id="20" name="Text 13"/>
          <p:cNvSpPr/>
          <p:nvPr/>
        </p:nvSpPr>
        <p:spPr>
          <a:xfrm>
            <a:off x="858717" y="5577880"/>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5</a:t>
            </a:r>
            <a:endParaRPr lang="en-US" sz="1700" dirty="0"/>
          </a:p>
        </p:txBody>
      </p:sp>
      <p:sp>
        <p:nvSpPr>
          <p:cNvPr id="21" name="Text 14"/>
          <p:cNvSpPr/>
          <p:nvPr/>
        </p:nvSpPr>
        <p:spPr>
          <a:xfrm>
            <a:off x="1386448" y="5439966"/>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Filter</a:t>
            </a:r>
            <a:endParaRPr lang="en-US" sz="1450" dirty="0"/>
          </a:p>
        </p:txBody>
      </p:sp>
      <p:sp>
        <p:nvSpPr>
          <p:cNvPr id="22" name="Text 15"/>
          <p:cNvSpPr/>
          <p:nvPr/>
        </p:nvSpPr>
        <p:spPr>
          <a:xfrm>
            <a:off x="1386448" y="5739805"/>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Which records match a rule</a:t>
            </a:r>
            <a:endParaRPr lang="en-US" sz="1150" dirty="0"/>
          </a:p>
        </p:txBody>
      </p:sp>
      <p:sp>
        <p:nvSpPr>
          <p:cNvPr id="23"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46398"/>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What you are about to build</a:t>
            </a:r>
            <a:endParaRPr lang="en-US" sz="3500" dirty="0"/>
          </a:p>
        </p:txBody>
      </p:sp>
      <p:sp>
        <p:nvSpPr>
          <p:cNvPr id="3" name="Shape 1"/>
          <p:cNvSpPr/>
          <p:nvPr/>
        </p:nvSpPr>
        <p:spPr>
          <a:xfrm>
            <a:off x="661475" y="1560215"/>
            <a:ext cx="3518308" cy="2413298"/>
          </a:xfrm>
          <a:prstGeom prst="roundRect">
            <a:avLst>
              <a:gd name="adj" fmla="val 3135"/>
            </a:avLst>
          </a:prstGeom>
          <a:solidFill>
            <a:srgbClr val="D1E5FA"/>
          </a:solidFill>
          <a:ln w="19050">
            <a:solidFill>
              <a:srgbClr val="B7CBE0"/>
            </a:solidFill>
            <a:prstDash val="solid"/>
          </a:ln>
        </p:spPr>
      </p:sp>
      <p:sp>
        <p:nvSpPr>
          <p:cNvPr id="4" name="Text 2"/>
          <p:cNvSpPr/>
          <p:nvPr/>
        </p:nvSpPr>
        <p:spPr>
          <a:xfrm>
            <a:off x="860602" y="1759347"/>
            <a:ext cx="3120054"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Build 1: Lab U03-03 Game Night Leaderboard</a:t>
            </a:r>
            <a:endParaRPr lang="en-US" sz="1750" dirty="0"/>
          </a:p>
        </p:txBody>
      </p:sp>
      <p:sp>
        <p:nvSpPr>
          <p:cNvPr id="5" name="Text 3"/>
          <p:cNvSpPr/>
          <p:nvPr/>
        </p:nvSpPr>
        <p:spPr>
          <a:xfrm>
            <a:off x="860602" y="2493963"/>
            <a:ext cx="3120054" cy="1280418"/>
          </a:xfrm>
          <a:prstGeom prst="rect">
            <a:avLst/>
          </a:prstGeom>
          <a:noFill/>
          <a:ln/>
        </p:spPr>
        <p:txBody>
          <a:bodyPr wrap="square" lIns="0" tIns="0" rIns="0" bIns="0" rtlCol="0" anchor="t">
            <a:normAutofit/>
          </a:bodyPr>
          <a:lstStyle/>
          <a:p>
            <a:pPr algn="l" indent="0" marL="0">
              <a:lnSpc>
                <a:spcPct val="130000"/>
              </a:lnSpc>
              <a:spcAft>
                <a:spcPts val="1200"/>
              </a:spcAft>
              <a:buNone/>
            </a:pPr>
            <a:r>
              <a:rPr lang="en-US" sz="1400" dirty="0">
                <a:solidFill>
                  <a:srgbClr val="1C1C1C"/>
                </a:solidFill>
                <a:latin typeface="Roboto Condensed" pitchFamily="34" charset="0"/>
                <a:ea typeface="Roboto Condensed" pitchFamily="34" charset="-122"/>
                <a:cs typeface="Roboto Condensed" pitchFamily="34" charset="-120"/>
              </a:rPr>
              <a:t>Count, total, high score, low score, and a search</a:t>
            </a:r>
            <a:endParaRPr lang="en-US" sz="1400" dirty="0"/>
          </a:p>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Step 4 starts the low score at 0 on purpose</a:t>
            </a:r>
            <a:endParaRPr lang="en-US" sz="1400" dirty="0"/>
          </a:p>
        </p:txBody>
      </p:sp>
      <p:sp>
        <p:nvSpPr>
          <p:cNvPr id="6" name="Shape 4"/>
          <p:cNvSpPr/>
          <p:nvPr/>
        </p:nvSpPr>
        <p:spPr>
          <a:xfrm>
            <a:off x="661475" y="4145161"/>
            <a:ext cx="3518308" cy="1850330"/>
          </a:xfrm>
          <a:prstGeom prst="roundRect">
            <a:avLst>
              <a:gd name="adj" fmla="val 4089"/>
            </a:avLst>
          </a:prstGeom>
          <a:solidFill>
            <a:srgbClr val="D1E5FA"/>
          </a:solidFill>
          <a:ln w="19050">
            <a:solidFill>
              <a:srgbClr val="B7CBE0"/>
            </a:solidFill>
            <a:prstDash val="solid"/>
          </a:ln>
        </p:spPr>
      </p:sp>
      <p:sp>
        <p:nvSpPr>
          <p:cNvPr id="7" name="Text 5"/>
          <p:cNvSpPr/>
          <p:nvPr/>
        </p:nvSpPr>
        <p:spPr>
          <a:xfrm>
            <a:off x="860602" y="4344293"/>
            <a:ext cx="3120054"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Build 2</a:t>
            </a:r>
            <a:endParaRPr lang="en-US" sz="1750" dirty="0"/>
          </a:p>
        </p:txBody>
      </p:sp>
      <p:sp>
        <p:nvSpPr>
          <p:cNvPr id="8" name="Text 6"/>
          <p:cNvSpPr/>
          <p:nvPr/>
        </p:nvSpPr>
        <p:spPr>
          <a:xfrm>
            <a:off x="860602" y="4797425"/>
            <a:ext cx="3120054" cy="998934"/>
          </a:xfrm>
          <a:prstGeom prst="rect">
            <a:avLst/>
          </a:prstGeom>
          <a:noFill/>
          <a:ln/>
        </p:spPr>
        <p:txBody>
          <a:bodyPr wrap="square" lIns="0" tIns="0" rIns="0" bIns="0" rtlCol="0" anchor="t"/>
          <a:lstStyle/>
          <a:p>
            <a:pPr algn="l" indent="0" marL="0">
              <a:lnSpc>
                <a:spcPct val="130000"/>
              </a:lnSpc>
              <a:spcAft>
                <a:spcPts val="1200"/>
              </a:spcAft>
              <a:buNone/>
            </a:pPr>
            <a:r>
              <a:rPr lang="en-US" sz="1400" dirty="0">
                <a:solidFill>
                  <a:srgbClr val="1C1C1C"/>
                </a:solidFill>
                <a:latin typeface="Roboto Condensed" pitchFamily="34" charset="0"/>
                <a:ea typeface="Roboto Condensed" pitchFamily="34" charset="-122"/>
                <a:cs typeface="Roboto Condensed" pitchFamily="34" charset="-120"/>
              </a:rPr>
              <a:t>v1 test scripts, playtest fixes, README</a:t>
            </a:r>
            <a:endParaRPr lang="en-US" sz="1400" dirty="0"/>
          </a:p>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CAC teams: final checks and submission first</a:t>
            </a:r>
            <a:endParaRPr lang="en-US" sz="1400" dirty="0"/>
          </a:p>
        </p:txBody>
      </p:sp>
      <p:pic>
        <p:nvPicPr>
          <p:cNvPr id="9" name="Image 0" descr="preencoded.png">    </p:cNvPr>
          <p:cNvPicPr>
            <a:picLocks noChangeAspect="1"/>
          </p:cNvPicPr>
          <p:nvPr/>
        </p:nvPicPr>
        <p:blipFill>
          <a:blip r:embed="rId1"/>
          <a:stretch>
            <a:fillRect/>
          </a:stretch>
        </p:blipFill>
        <p:spPr>
          <a:xfrm>
            <a:off x="4625661" y="1819771"/>
            <a:ext cx="6910810" cy="3916164"/>
          </a:xfrm>
          <a:prstGeom prst="rect">
            <a:avLst/>
          </a:prstGeom>
        </p:spPr>
      </p:pic>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2026-09-15T17:07:36Z</dcterms:created>
  <dcterms:modified xsi:type="dcterms:W3CDTF">2026-09-15T17:07:36Z</dcterms:modified>
</cp:coreProperties>
</file>