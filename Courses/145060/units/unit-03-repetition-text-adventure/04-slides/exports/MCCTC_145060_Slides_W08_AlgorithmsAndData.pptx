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Roboto Condensed Bold"/>
      <p:regular r:id="rId201315"/>
    </p:embeddedFont>
    <p:embeddedFont>
      <p:font typeface="Roboto Condense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you use is mostly information processing. Counting, adding up, finding the biggest, searching. None of it is one giant clever line. It is a small number of algorithms, run over data that somebody decided how to organize. Today you learn to name both halves, and you learn why the way data is organized changes how much work the program does. That is outcome 5.1.2.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algorithm is a precise, finite sequence of steps. You have been writing them in pseudocode for two weeks. A data structure is the way data is organized so a program can use it. Our playlist file, one song per line, title in positions zero to twenty three, is a data structure. And here is the idea that makes this more than vocabulary. Change the structure, and the algorithm changes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Week 4, readline returning an empty string at the end of the file was a trap. Today it is the sentinel. A blank line comes back as a newline character, never as empty, so empty means the file is over. This slide writes the loop with Wednesday's break. The lecture notes write the same loop with the check in the while line. Both stop at the same moment. Every algorithm today uses this loop, and only the middle changes. Here it is count and total, two accumulators set to zero above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in one sentence. Keep the best one seen so far, and replace it whenever a better one shows up. And keep two pieces of state together, the value and the label. Eighty seven answers nothing. The song that got eighty seven is the answer. When one changes, both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Wednesday's break turns a loop into a search. The moment the artist matches, stop. Three lines read. But run it for an artist who is not on the playlist and it reads every line, because in an unordered file there is no way to be sure something is missing without checking everything. Also compare the whole artist field with double equals. The word hall is in static hallway, and a search that matches part of a field finds things you never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eight songs. Same question. In the order they were added, a bigger number could be on any line, so the algorithm reads everything. Sorted from most plays to fewest, the answer is on line one. Now scale it up. That is the difference between reading one line and reading all of them. So why not always sort? Because every play changes a count, and a sorted file may need that song moved. Neither structure is better. Each makes some questions cheap and others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value worked by starting at zero. So to find the smallest, I flip the less than and start at zero again. Same pattern, same file. Predict the song and the number before I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error. A blank title and zero plays. Every song has more than zero plays, so plays less than fewest plays is False on every single record, and nothing is ever replaced. The loop ran eight times and changed nothing. The starting value was a guess, and the guess was already better than every real record. The fix is to start from the first real record, not from a guess. Read one line, use it as the lowest so far, then loop over the rest. That prints Low Battery with nine 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information processing task you meet this year is one of these five, or a few of them sharing one loop. When you get a data problem, name the algorithm first. Then ask whether it can stop early, and what its starting state has to be. That last question is exactly the one that went wrong a minute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one is the leaderboard lab. One pass through a night of game results answers four questions, and a second loop searches for a player's first big round and stops as soon as it finds it. Step four makes you start the low score at zero and record the result. Build two is your text adventure. Write your win and lose test scripts, fix what your playtester found Friday, and draft your README, because v1 is due at the end of the day tomorrow. Congressional App Challenge teams, today is the deadline, and I will check in with you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jpe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10-9.png"/><Relationship Id="rId10" Type="http://schemas.openxmlformats.org/officeDocument/2006/relationships/image" Target="../media/image-10-10.sv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jpe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77693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How an App Finds Your Top Song</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746945"/>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Your music app knows your top song</a:t>
            </a:r>
            <a:endParaRPr lang="en-US" sz="3700" dirty="0"/>
          </a:p>
        </p:txBody>
      </p:sp>
      <p:sp>
        <p:nvSpPr>
          <p:cNvPr id="4" name="Text 1"/>
          <p:cNvSpPr/>
          <p:nvPr/>
        </p:nvSpPr>
        <p:spPr>
          <a:xfrm>
            <a:off x="5233360" y="3211711"/>
            <a:ext cx="6296860" cy="1776413"/>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counts your plays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finds your most played song</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searches for an artist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None of that is magic</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is a few algorithms over organized data</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2826"/>
            <a:ext cx="10868745" cy="535285"/>
          </a:xfrm>
          <a:prstGeom prst="rect">
            <a:avLst/>
          </a:prstGeom>
          <a:noFill/>
          <a:ln/>
        </p:spPr>
        <p:txBody>
          <a:bodyPr wrap="none" lIns="0" tIns="0" rIns="0" bIns="0" rtlCol="0" anchor="t"/>
          <a:lstStyle/>
          <a:p>
            <a:pPr algn="l" indent="0" marL="0">
              <a:lnSpc>
                <a:spcPct val="104000"/>
              </a:lnSpc>
              <a:buNone/>
            </a:pPr>
            <a:r>
              <a:rPr lang="en-US" sz="3350" b="1" dirty="0">
                <a:solidFill>
                  <a:srgbClr val="111111"/>
                </a:solidFill>
                <a:latin typeface="Orbitron Bold" pitchFamily="34" charset="0"/>
                <a:ea typeface="Orbitron Bold" pitchFamily="34" charset="-122"/>
                <a:cs typeface="Orbitron Bold" pitchFamily="34" charset="-120"/>
              </a:rPr>
              <a:t>Two words</a:t>
            </a:r>
            <a:endParaRPr lang="en-US" sz="335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485503"/>
            <a:ext cx="3532397" cy="1988046"/>
          </a:xfrm>
          <a:prstGeom prst="rect">
            <a:avLst/>
          </a:prstGeom>
        </p:spPr>
      </p:pic>
      <p:sp>
        <p:nvSpPr>
          <p:cNvPr id="4" name="Text 1"/>
          <p:cNvSpPr/>
          <p:nvPr/>
        </p:nvSpPr>
        <p:spPr>
          <a:xfrm>
            <a:off x="927970" y="1675805"/>
            <a:ext cx="3075605"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Algorithm</a:t>
            </a:r>
            <a:endParaRPr lang="en-US" sz="1650" dirty="0"/>
          </a:p>
        </p:txBody>
      </p:sp>
      <p:sp>
        <p:nvSpPr>
          <p:cNvPr id="5" name="Text 2"/>
          <p:cNvSpPr/>
          <p:nvPr/>
        </p:nvSpPr>
        <p:spPr>
          <a:xfrm>
            <a:off x="927970" y="2098576"/>
            <a:ext cx="3075605" cy="1184672"/>
          </a:xfrm>
          <a:prstGeom prst="rect">
            <a:avLst/>
          </a:prstGeom>
          <a:noFill/>
          <a:ln/>
        </p:spPr>
        <p:txBody>
          <a:bodyPr wrap="square" lIns="0" tIns="0" rIns="0" bIns="0" rtlCol="0" anchor="t">
            <a:normAutofit/>
          </a:bodyPr>
          <a:lstStyle/>
          <a:p>
            <a:pPr algn="l" indent="0" marL="0">
              <a:lnSpc>
                <a:spcPct val="127000"/>
              </a:lnSpc>
              <a:spcAft>
                <a:spcPts val="1050"/>
              </a:spcAft>
              <a:buNone/>
            </a:pPr>
            <a:r>
              <a:rPr lang="en-US" sz="1300" dirty="0">
                <a:solidFill>
                  <a:srgbClr val="1C1C1C"/>
                </a:solidFill>
                <a:latin typeface="Roboto Condensed" pitchFamily="34" charset="0"/>
                <a:ea typeface="Roboto Condensed" pitchFamily="34" charset="-122"/>
                <a:cs typeface="Roboto Condensed" pitchFamily="34" charset="-120"/>
              </a:rPr>
              <a:t>Precise, finite steps that solve a problem</a:t>
            </a:r>
            <a:endParaRPr lang="en-US" sz="1300" dirty="0"/>
          </a:p>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Your pseudocode is an algorithm in English</a:t>
            </a:r>
            <a:endParaRPr lang="en-US" sz="1300" dirty="0"/>
          </a:p>
        </p:txBody>
      </p:sp>
      <p:pic>
        <p:nvPicPr>
          <p:cNvPr id="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1475" y="3628727"/>
            <a:ext cx="3532397" cy="2388989"/>
          </a:xfrm>
          <a:prstGeom prst="rect">
            <a:avLst/>
          </a:prstGeom>
        </p:spPr>
      </p:pic>
      <p:sp>
        <p:nvSpPr>
          <p:cNvPr id="7" name="Text 3"/>
          <p:cNvSpPr/>
          <p:nvPr/>
        </p:nvSpPr>
        <p:spPr>
          <a:xfrm>
            <a:off x="927970" y="3819029"/>
            <a:ext cx="3075605"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Data Structure</a:t>
            </a:r>
            <a:endParaRPr lang="en-US" sz="1650" dirty="0"/>
          </a:p>
        </p:txBody>
      </p:sp>
      <p:sp>
        <p:nvSpPr>
          <p:cNvPr id="8" name="Text 4"/>
          <p:cNvSpPr/>
          <p:nvPr/>
        </p:nvSpPr>
        <p:spPr>
          <a:xfrm>
            <a:off x="927970" y="4241800"/>
            <a:ext cx="3075605" cy="1585615"/>
          </a:xfrm>
          <a:prstGeom prst="rect">
            <a:avLst/>
          </a:prstGeom>
          <a:noFill/>
          <a:ln/>
        </p:spPr>
        <p:txBody>
          <a:bodyPr wrap="square" lIns="0" tIns="0" rIns="0" bIns="0" rtlCol="0" anchor="t"/>
          <a:lstStyle/>
          <a:p>
            <a:pPr algn="l" indent="0" marL="0">
              <a:lnSpc>
                <a:spcPct val="127000"/>
              </a:lnSpc>
              <a:spcAft>
                <a:spcPts val="1050"/>
              </a:spcAft>
              <a:buNone/>
            </a:pPr>
            <a:r>
              <a:rPr lang="en-US" sz="1300" dirty="0">
                <a:solidFill>
                  <a:srgbClr val="1C1C1C"/>
                </a:solidFill>
                <a:latin typeface="Roboto Condensed" pitchFamily="34" charset="0"/>
                <a:ea typeface="Roboto Condensed" pitchFamily="34" charset="-122"/>
                <a:cs typeface="Roboto Condensed" pitchFamily="34" charset="-120"/>
              </a:rPr>
              <a:t>How data is organized for a program</a:t>
            </a:r>
            <a:endParaRPr lang="en-US" sz="1300" dirty="0"/>
          </a:p>
          <a:p>
            <a:pPr algn="l" indent="0" marL="0">
              <a:lnSpc>
                <a:spcPct val="127000"/>
              </a:lnSpc>
              <a:spcAft>
                <a:spcPts val="1050"/>
              </a:spcAft>
              <a:buNone/>
            </a:pPr>
            <a:r>
              <a:rPr lang="en-US" sz="1300" dirty="0">
                <a:solidFill>
                  <a:srgbClr val="1C1C1C"/>
                </a:solidFill>
                <a:latin typeface="Roboto Condensed" pitchFamily="34" charset="0"/>
                <a:ea typeface="Roboto Condensed" pitchFamily="34" charset="-122"/>
                <a:cs typeface="Roboto Condensed" pitchFamily="34" charset="-120"/>
              </a:rPr>
              <a:t>One song per line, fields in fixed positions</a:t>
            </a:r>
            <a:endParaRPr lang="en-US" sz="1300" dirty="0"/>
          </a:p>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The structure decides which algorithms are possible</a:t>
            </a:r>
            <a:endParaRPr lang="en-US" sz="1300" dirty="0"/>
          </a:p>
        </p:txBody>
      </p:sp>
      <p:pic>
        <p:nvPicPr>
          <p:cNvPr id="9" name="Image 2" descr="preencoded.png">    </p:cNvPr>
          <p:cNvPicPr>
            <a:picLocks noChangeAspect="1"/>
          </p:cNvPicPr>
          <p:nvPr/>
        </p:nvPicPr>
        <p:blipFill>
          <a:blip r:embed="rId5"/>
          <a:stretch>
            <a:fillRect/>
          </a:stretch>
        </p:blipFill>
        <p:spPr>
          <a:xfrm>
            <a:off x="4618120" y="1791395"/>
            <a:ext cx="6918350" cy="3920430"/>
          </a:xfrm>
          <a:prstGeom prst="rect">
            <a:avLst/>
          </a:prstGeom>
        </p:spPr>
      </p:pic>
      <p:sp>
        <p:nvSpPr>
          <p:cNvPr id="10"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567928"/>
            <a:ext cx="10868745" cy="516731"/>
          </a:xfrm>
          <a:prstGeom prst="rect">
            <a:avLst/>
          </a:prstGeom>
          <a:noFill/>
          <a:ln/>
        </p:spPr>
        <p:txBody>
          <a:bodyPr wrap="none" lIns="0" tIns="0" rIns="0" bIns="0" rtlCol="0" anchor="t"/>
          <a:lstStyle/>
          <a:p>
            <a:pPr algn="l" indent="0" marL="0">
              <a:lnSpc>
                <a:spcPct val="104000"/>
              </a:lnSpc>
              <a:buNone/>
            </a:pPr>
            <a:r>
              <a:rPr lang="en-US" sz="3250" b="1" dirty="0">
                <a:solidFill>
                  <a:srgbClr val="111111"/>
                </a:solidFill>
                <a:latin typeface="Orbitron Bold" pitchFamily="34" charset="0"/>
                <a:ea typeface="Orbitron Bold" pitchFamily="34" charset="-122"/>
                <a:cs typeface="Orbitron Bold" pitchFamily="34" charset="-120"/>
              </a:rPr>
              <a:t>The loop every algorithm uses</a:t>
            </a:r>
            <a:endParaRPr lang="en-US" sz="3250" dirty="0"/>
          </a:p>
        </p:txBody>
      </p:sp>
      <p:sp>
        <p:nvSpPr>
          <p:cNvPr id="3" name="Shape 1"/>
          <p:cNvSpPr/>
          <p:nvPr/>
        </p:nvSpPr>
        <p:spPr>
          <a:xfrm>
            <a:off x="661475" y="1374080"/>
            <a:ext cx="10868745" cy="4035227"/>
          </a:xfrm>
          <a:prstGeom prst="roundRect">
            <a:avLst>
              <a:gd name="adj" fmla="val 1721"/>
            </a:avLst>
          </a:prstGeom>
          <a:solidFill>
            <a:srgbClr val="F2F2F2"/>
          </a:solidFill>
          <a:ln/>
        </p:spPr>
      </p:sp>
      <p:sp>
        <p:nvSpPr>
          <p:cNvPr id="4" name="Text 2"/>
          <p:cNvSpPr/>
          <p:nvPr/>
        </p:nvSpPr>
        <p:spPr>
          <a:xfrm>
            <a:off x="859907" y="1539379"/>
            <a:ext cx="10471880" cy="3704630"/>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playlist = open("playlist.txt")</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song_count = 0</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total_plays = 0</a:t>
            </a:r>
            <a:endParaRPr lang="en-US" sz="1300" dirty="0"/>
          </a:p>
          <a:p>
            <a:pPr algn="l" indent="0" marL="0">
              <a:lnSpc>
                <a:spcPct val="133000"/>
              </a:lnSpc>
              <a:buNone/>
            </a:pP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while True:</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line = playlist.readline()</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if line == "":</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break</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plays = int(line[44:47])</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song_count = song_count + 1</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    total_plays = total_plays + plays</a:t>
            </a:r>
            <a:endParaRPr lang="en-US" sz="1300" dirty="0"/>
          </a:p>
          <a:p>
            <a:pPr algn="l" indent="0" marL="0">
              <a:lnSpc>
                <a:spcPct val="133000"/>
              </a:lnSpc>
              <a:buNone/>
            </a:pP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playlist.close()</a:t>
            </a:r>
            <a:endParaRPr lang="en-US" sz="1300" dirty="0"/>
          </a:p>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print(f"{song_count} songs, {total_plays} plays")</a:t>
            </a:r>
            <a:endParaRPr lang="en-US" sz="1300" dirty="0"/>
          </a:p>
        </p:txBody>
      </p:sp>
      <p:sp>
        <p:nvSpPr>
          <p:cNvPr id="5" name="Shape 3"/>
          <p:cNvSpPr/>
          <p:nvPr/>
        </p:nvSpPr>
        <p:spPr>
          <a:xfrm>
            <a:off x="661475" y="5572026"/>
            <a:ext cx="10868745" cy="595213"/>
          </a:xfrm>
          <a:prstGeom prst="roundRect">
            <a:avLst>
              <a:gd name="adj" fmla="val 11670"/>
            </a:avLst>
          </a:prstGeom>
          <a:solidFill>
            <a:srgbClr val="F2F2F2"/>
          </a:solidFill>
          <a:ln/>
        </p:spPr>
      </p:sp>
      <p:sp>
        <p:nvSpPr>
          <p:cNvPr id="6" name="Text 4"/>
          <p:cNvSpPr/>
          <p:nvPr/>
        </p:nvSpPr>
        <p:spPr>
          <a:xfrm>
            <a:off x="859907" y="5737324"/>
            <a:ext cx="11081465" cy="264616"/>
          </a:xfrm>
          <a:prstGeom prst="rect">
            <a:avLst/>
          </a:prstGeom>
          <a:noFill/>
          <a:ln/>
        </p:spPr>
        <p:txBody>
          <a:bodyPr wrap="none" lIns="0" tIns="0" rIns="0" bIns="0" rtlCol="0" anchor="t"/>
          <a:lstStyle/>
          <a:p>
            <a:pPr algn="l" indent="0" marL="0">
              <a:lnSpc>
                <a:spcPct val="133000"/>
              </a:lnSpc>
              <a:buNone/>
            </a:pPr>
            <a:r>
              <a:rPr lang="en-US" sz="1300" dirty="0">
                <a:solidFill>
                  <a:srgbClr val="24292E"/>
                </a:solidFill>
                <a:latin typeface="Consolas" pitchFamily="34" charset="0"/>
                <a:ea typeface="Consolas" pitchFamily="34" charset="-122"/>
                <a:cs typeface="Consolas" pitchFamily="34" charset="-120"/>
              </a:rPr>
              <a:t>8 songs, 325 plays</a:t>
            </a:r>
            <a:endParaRPr lang="en-US" sz="130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525066"/>
            <a:ext cx="10868745" cy="572195"/>
          </a:xfrm>
          <a:prstGeom prst="rect">
            <a:avLst/>
          </a:prstGeom>
          <a:noFill/>
          <a:ln/>
        </p:spPr>
        <p:txBody>
          <a:bodyPr wrap="none" lIns="0" tIns="0" rIns="0" bIns="0" rtlCol="0" anchor="t"/>
          <a:lstStyle/>
          <a:p>
            <a:pPr algn="l" indent="0" marL="0">
              <a:lnSpc>
                <a:spcPct val="104000"/>
              </a:lnSpc>
              <a:buNone/>
            </a:pPr>
            <a:r>
              <a:rPr lang="en-US" sz="3600" b="1" dirty="0">
                <a:solidFill>
                  <a:srgbClr val="111111"/>
                </a:solidFill>
                <a:latin typeface="Orbitron Bold" pitchFamily="34" charset="0"/>
                <a:ea typeface="Orbitron Bold" pitchFamily="34" charset="-122"/>
                <a:cs typeface="Orbitron Bold" pitchFamily="34" charset="-120"/>
              </a:rPr>
              <a:t>Biggest value, and whose it is</a:t>
            </a:r>
            <a:endParaRPr lang="en-US" sz="3600" dirty="0"/>
          </a:p>
        </p:txBody>
      </p:sp>
      <p:sp>
        <p:nvSpPr>
          <p:cNvPr id="3" name="Shape 1"/>
          <p:cNvSpPr/>
          <p:nvPr/>
        </p:nvSpPr>
        <p:spPr>
          <a:xfrm>
            <a:off x="661475" y="1562795"/>
            <a:ext cx="3513645" cy="3296047"/>
          </a:xfrm>
          <a:prstGeom prst="roundRect">
            <a:avLst>
              <a:gd name="adj" fmla="val 2333"/>
            </a:avLst>
          </a:prstGeom>
          <a:solidFill>
            <a:srgbClr val="F2F2F2"/>
          </a:solidFill>
          <a:ln/>
        </p:spPr>
      </p:sp>
      <p:sp>
        <p:nvSpPr>
          <p:cNvPr id="4" name="Text 2"/>
          <p:cNvSpPr/>
          <p:nvPr/>
        </p:nvSpPr>
        <p:spPr>
          <a:xfrm>
            <a:off x="881140" y="1745853"/>
            <a:ext cx="3074315" cy="2929930"/>
          </a:xfrm>
          <a:prstGeom prst="rect">
            <a:avLst/>
          </a:prstGeom>
          <a:noFill/>
          <a:ln/>
        </p:spPr>
        <p:txBody>
          <a:bodyPr wrap="square" lIns="0" tIns="0" rIns="0" bIns="0" rtlCol="0" anchor="t">
            <a:normAutofit/>
          </a:bodyPr>
          <a:lstStyle/>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Before the loop</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most_plays = 0</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top_song = ""</a:t>
            </a:r>
            <a:endParaRPr lang="en-US" sz="1400" dirty="0"/>
          </a:p>
          <a:p>
            <a:pPr algn="l" indent="0" marL="0">
              <a:lnSpc>
                <a:spcPct val="133000"/>
              </a:lnSpc>
              <a:buNone/>
            </a:pP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Inside the loop, once per record</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title = line[0:24].strip()</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plays = int(line[44:47])</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if plays &gt; most_plays:</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most_plays = plays</a:t>
            </a:r>
            <a:endParaRPr lang="en-US" sz="1400" dirty="0"/>
          </a:p>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        top_song = title</a:t>
            </a:r>
            <a:endParaRPr lang="en-US" sz="1400" dirty="0"/>
          </a:p>
        </p:txBody>
      </p:sp>
      <p:sp>
        <p:nvSpPr>
          <p:cNvPr id="5" name="Shape 3"/>
          <p:cNvSpPr/>
          <p:nvPr/>
        </p:nvSpPr>
        <p:spPr>
          <a:xfrm>
            <a:off x="661475" y="5058370"/>
            <a:ext cx="3513645" cy="952103"/>
          </a:xfrm>
          <a:prstGeom prst="roundRect">
            <a:avLst>
              <a:gd name="adj" fmla="val 8078"/>
            </a:avLst>
          </a:prstGeom>
          <a:solidFill>
            <a:srgbClr val="F2F2F2"/>
          </a:solidFill>
          <a:ln/>
        </p:spPr>
      </p:sp>
      <p:sp>
        <p:nvSpPr>
          <p:cNvPr id="6" name="Text 4"/>
          <p:cNvSpPr/>
          <p:nvPr/>
        </p:nvSpPr>
        <p:spPr>
          <a:xfrm>
            <a:off x="881140" y="5241429"/>
            <a:ext cx="3074315" cy="585986"/>
          </a:xfrm>
          <a:prstGeom prst="rect">
            <a:avLst/>
          </a:prstGeom>
          <a:noFill/>
          <a:ln/>
        </p:spPr>
        <p:txBody>
          <a:bodyPr wrap="square" lIns="0" tIns="0" rIns="0" bIns="0" rtlCol="0" anchor="t">
            <a:normAutofit/>
          </a:bodyPr>
          <a:lstStyle/>
          <a:p>
            <a:pPr algn="l" indent="0" marL="0">
              <a:lnSpc>
                <a:spcPct val="133000"/>
              </a:lnSpc>
              <a:buNone/>
            </a:pPr>
            <a:r>
              <a:rPr lang="en-US" sz="1400" dirty="0">
                <a:solidFill>
                  <a:srgbClr val="24292E"/>
                </a:solidFill>
                <a:latin typeface="Consolas" pitchFamily="34" charset="0"/>
                <a:ea typeface="Consolas" pitchFamily="34" charset="-122"/>
                <a:cs typeface="Consolas" pitchFamily="34" charset="-120"/>
              </a:rPr>
              <a:t>Most played: Group Chat Silence (87 plays)</a:t>
            </a:r>
            <a:endParaRPr lang="en-US" sz="1400" dirty="0"/>
          </a:p>
        </p:txBody>
      </p:sp>
      <p:pic>
        <p:nvPicPr>
          <p:cNvPr id="7" name="Image 0" descr="preencoded.png">    </p:cNvPr>
          <p:cNvPicPr>
            <a:picLocks noChangeAspect="1"/>
          </p:cNvPicPr>
          <p:nvPr/>
        </p:nvPicPr>
        <p:blipFill>
          <a:blip r:embed="rId1"/>
          <a:stretch>
            <a:fillRect/>
          </a:stretch>
        </p:blipFill>
        <p:spPr>
          <a:xfrm>
            <a:off x="4628141" y="1829197"/>
            <a:ext cx="6908330" cy="3914775"/>
          </a:xfrm>
          <a:prstGeom prst="rect">
            <a:avLst/>
          </a:prstGeom>
        </p:spPr>
      </p:pic>
      <p:sp>
        <p:nvSpPr>
          <p:cNvPr id="8"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743770"/>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Search, and stop when you find it</a:t>
            </a:r>
            <a:endParaRPr lang="en-US" sz="3700" dirty="0"/>
          </a:p>
        </p:txBody>
      </p:sp>
      <p:sp>
        <p:nvSpPr>
          <p:cNvPr id="4" name="Text 1"/>
          <p:cNvSpPr/>
          <p:nvPr/>
        </p:nvSpPr>
        <p:spPr>
          <a:xfrm>
            <a:off x="5233360" y="3208536"/>
            <a:ext cx="6296860" cy="1782763"/>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Compare each record to what you want</a:t>
            </a:r>
            <a:endParaRPr lang="en-US" sz="1450" dirty="0"/>
          </a:p>
          <a:p>
            <a:pPr algn="l" marL="294640" indent="-294640">
              <a:lnSpc>
                <a:spcPct val="133000"/>
              </a:lnSpc>
              <a:buSzPct val="100000"/>
              <a:buChar char="•"/>
            </a:pPr>
            <a:r>
              <a:rPr lang="en-US" sz="1450" dirty="0">
                <a:solidFill>
                  <a:srgbClr val="1C1C1C"/>
                </a:solidFill>
                <a:highlight>
                  <a:srgbClr val="F2F2F2"/>
                </a:highlight>
                <a:latin typeface="Consolas" pitchFamily="34" charset="0"/>
                <a:ea typeface="Consolas" pitchFamily="34" charset="-122"/>
                <a:cs typeface="Consolas" pitchFamily="34" charset="-120"/>
              </a:rPr>
              <a:t>break</a:t>
            </a:r>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 the moment it matches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Static hallway: found after reading 3 lines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An artist who is not there: all 8 lines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Not here always means reading everything</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157777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Same question, two structures</a:t>
            </a:r>
            <a:endParaRPr lang="en-US" sz="3700" dirty="0"/>
          </a:p>
        </p:txBody>
      </p:sp>
      <p:sp>
        <p:nvSpPr>
          <p:cNvPr id="3" name="Shape 1"/>
          <p:cNvSpPr/>
          <p:nvPr/>
        </p:nvSpPr>
        <p:spPr>
          <a:xfrm>
            <a:off x="661475" y="2664520"/>
            <a:ext cx="2507394" cy="2280146"/>
          </a:xfrm>
          <a:prstGeom prst="roundRect">
            <a:avLst>
              <a:gd name="adj" fmla="val 3482"/>
            </a:avLst>
          </a:prstGeom>
          <a:solidFill>
            <a:srgbClr val="D1E5FA"/>
          </a:solidFill>
          <a:ln w="19050">
            <a:solidFill>
              <a:srgbClr val="B7CBE0"/>
            </a:solidFill>
            <a:prstDash val="solid"/>
          </a:ln>
        </p:spPr>
      </p:sp>
      <p:sp>
        <p:nvSpPr>
          <p:cNvPr id="4" name="Text 2"/>
          <p:cNvSpPr/>
          <p:nvPr/>
        </p:nvSpPr>
        <p:spPr>
          <a:xfrm>
            <a:off x="869531" y="2872581"/>
            <a:ext cx="209128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Unsorted</a:t>
            </a:r>
            <a:endParaRPr lang="en-US" sz="1850" dirty="0"/>
          </a:p>
        </p:txBody>
      </p:sp>
      <p:sp>
        <p:nvSpPr>
          <p:cNvPr id="5" name="Text 3"/>
          <p:cNvSpPr/>
          <p:nvPr/>
        </p:nvSpPr>
        <p:spPr>
          <a:xfrm>
            <a:off x="869531" y="3356868"/>
            <a:ext cx="2091280" cy="1379736"/>
          </a:xfrm>
          <a:prstGeom prst="rect">
            <a:avLst/>
          </a:prstGeom>
          <a:noFill/>
          <a:ln/>
        </p:spPr>
        <p:txBody>
          <a:bodyPr wrap="square" lIns="0" tIns="0" rIns="0" bIns="0" rtlCol="0" anchor="t">
            <a:normAutofit/>
          </a:bodyPr>
          <a:lstStyle/>
          <a:p>
            <a:pPr algn="l" indent="0" marL="0">
              <a:lnSpc>
                <a:spcPct val="133000"/>
              </a:lnSpc>
              <a:spcAft>
                <a:spcPts val="1300"/>
              </a:spcAft>
              <a:buNone/>
            </a:pPr>
            <a:r>
              <a:rPr lang="en-US" sz="1450" dirty="0">
                <a:solidFill>
                  <a:srgbClr val="1C1C1C"/>
                </a:solidFill>
                <a:latin typeface="Roboto Condensed" pitchFamily="34" charset="0"/>
                <a:ea typeface="Roboto Condensed" pitchFamily="34" charset="-122"/>
                <a:cs typeface="Roboto Condensed" pitchFamily="34" charset="-120"/>
              </a:rPr>
              <a:t>Songs in the order added: read all 8 lines</a:t>
            </a:r>
            <a:endParaRPr lang="en-US" sz="1450" dirty="0"/>
          </a:p>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With 800,000 songs: 800,000 reads</a:t>
            </a:r>
            <a:endParaRPr lang="en-US" sz="1450" dirty="0"/>
          </a:p>
        </p:txBody>
      </p:sp>
      <p:sp>
        <p:nvSpPr>
          <p:cNvPr id="6" name="Shape 4"/>
          <p:cNvSpPr/>
          <p:nvPr/>
        </p:nvSpPr>
        <p:spPr>
          <a:xfrm>
            <a:off x="3357875" y="2664520"/>
            <a:ext cx="2507394" cy="2280146"/>
          </a:xfrm>
          <a:prstGeom prst="roundRect">
            <a:avLst>
              <a:gd name="adj" fmla="val 3482"/>
            </a:avLst>
          </a:prstGeom>
          <a:solidFill>
            <a:srgbClr val="D1E5FA"/>
          </a:solidFill>
          <a:ln w="19050">
            <a:solidFill>
              <a:srgbClr val="B7CBE0"/>
            </a:solidFill>
            <a:prstDash val="solid"/>
          </a:ln>
        </p:spPr>
      </p:sp>
      <p:sp>
        <p:nvSpPr>
          <p:cNvPr id="7" name="Text 5"/>
          <p:cNvSpPr/>
          <p:nvPr/>
        </p:nvSpPr>
        <p:spPr>
          <a:xfrm>
            <a:off x="3565932" y="2872581"/>
            <a:ext cx="209128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Sorted by plays</a:t>
            </a:r>
            <a:endParaRPr lang="en-US" sz="1850" dirty="0"/>
          </a:p>
        </p:txBody>
      </p:sp>
      <p:sp>
        <p:nvSpPr>
          <p:cNvPr id="8" name="Text 6"/>
          <p:cNvSpPr/>
          <p:nvPr/>
        </p:nvSpPr>
        <p:spPr>
          <a:xfrm>
            <a:off x="3565932" y="3356868"/>
            <a:ext cx="2091280" cy="1379736"/>
          </a:xfrm>
          <a:prstGeom prst="rect">
            <a:avLst/>
          </a:prstGeom>
          <a:noFill/>
          <a:ln/>
        </p:spPr>
        <p:txBody>
          <a:bodyPr wrap="square" lIns="0" tIns="0" rIns="0" bIns="0" rtlCol="0" anchor="t">
            <a:normAutofit/>
          </a:bodyPr>
          <a:lstStyle/>
          <a:p>
            <a:pPr algn="l" indent="0" marL="0">
              <a:lnSpc>
                <a:spcPct val="133000"/>
              </a:lnSpc>
              <a:spcAft>
                <a:spcPts val="1300"/>
              </a:spcAft>
              <a:buNone/>
            </a:pPr>
            <a:r>
              <a:rPr lang="en-US" sz="1450" dirty="0">
                <a:solidFill>
                  <a:srgbClr val="1C1C1C"/>
                </a:solidFill>
                <a:latin typeface="Roboto Condensed" pitchFamily="34" charset="0"/>
                <a:ea typeface="Roboto Condensed" pitchFamily="34" charset="-122"/>
                <a:cs typeface="Roboto Condensed" pitchFamily="34" charset="-120"/>
              </a:rPr>
              <a:t>Songs sorted by plays: read 1 line</a:t>
            </a:r>
            <a:endParaRPr lang="en-US" sz="1450" dirty="0"/>
          </a:p>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With 800,000 songs: 1 read</a:t>
            </a:r>
            <a:endParaRPr lang="en-US" sz="1450" dirty="0"/>
          </a:p>
        </p:txBody>
      </p:sp>
      <p:sp>
        <p:nvSpPr>
          <p:cNvPr id="9" name="Text 7"/>
          <p:cNvSpPr/>
          <p:nvPr/>
        </p:nvSpPr>
        <p:spPr>
          <a:xfrm>
            <a:off x="6332776" y="2621955"/>
            <a:ext cx="581337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Which song has the most plays?</a:t>
            </a:r>
            <a:endParaRPr lang="en-US" sz="1450" dirty="0"/>
          </a:p>
        </p:txBody>
      </p:sp>
      <p:sp>
        <p:nvSpPr>
          <p:cNvPr id="10" name="Shape 8"/>
          <p:cNvSpPr/>
          <p:nvPr/>
        </p:nvSpPr>
        <p:spPr>
          <a:xfrm>
            <a:off x="6332776" y="3136999"/>
            <a:ext cx="5203794" cy="736997"/>
          </a:xfrm>
          <a:prstGeom prst="roundRect">
            <a:avLst>
              <a:gd name="adj" fmla="val 10772"/>
            </a:avLst>
          </a:prstGeom>
          <a:solidFill>
            <a:srgbClr val="FCF2B5"/>
          </a:solidFill>
          <a:ln/>
        </p:spPr>
      </p:sp>
      <p:pic>
        <p:nvPicPr>
          <p:cNvPr id="11" name="Image 0" descr="preencoded.png">    </p:cNvPr>
          <p:cNvPicPr>
            <a:picLocks noChangeAspect="1"/>
          </p:cNvPicPr>
          <p:nvPr/>
        </p:nvPicPr>
        <p:blipFill>
          <a:blip r:embed="rId1"/>
          <a:stretch>
            <a:fillRect/>
          </a:stretch>
        </p:blipFill>
        <p:spPr>
          <a:xfrm>
            <a:off x="6521783" y="3423741"/>
            <a:ext cx="236234" cy="189012"/>
          </a:xfrm>
          <a:prstGeom prst="rect">
            <a:avLst/>
          </a:prstGeom>
        </p:spPr>
      </p:pic>
      <p:sp>
        <p:nvSpPr>
          <p:cNvPr id="12" name="Text 9"/>
          <p:cNvSpPr/>
          <p:nvPr/>
        </p:nvSpPr>
        <p:spPr>
          <a:xfrm>
            <a:off x="6947024" y="3354288"/>
            <a:ext cx="5010124" cy="302419"/>
          </a:xfrm>
          <a:prstGeom prst="rect">
            <a:avLst/>
          </a:prstGeom>
          <a:noFill/>
          <a:ln/>
        </p:spPr>
        <p:txBody>
          <a:bodyPr wrap="none" lIns="0" tIns="0" rIns="0" bIns="0" rtlCol="0" anchor="t"/>
          <a:lstStyle/>
          <a:p>
            <a:pPr algn="l" indent="0" marL="0">
              <a:lnSpc>
                <a:spcPct val="133000"/>
              </a:lnSpc>
              <a:buNone/>
            </a:pPr>
            <a:r>
              <a:rPr lang="en-US" sz="1450" dirty="0">
                <a:solidFill>
                  <a:srgbClr val="000000"/>
                </a:solidFill>
                <a:latin typeface="Roboto Condensed" pitchFamily="34" charset="0"/>
                <a:ea typeface="Roboto Condensed" pitchFamily="34" charset="-122"/>
                <a:cs typeface="Roboto Condensed" pitchFamily="34" charset="-120"/>
              </a:rPr>
              <a:t>Sorting costs work every time a count changes</a:t>
            </a:r>
            <a:endParaRPr lang="en-US" sz="1450" dirty="0"/>
          </a:p>
        </p:txBody>
      </p:sp>
      <p:sp>
        <p:nvSpPr>
          <p:cNvPr id="13" name="Text 10"/>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728464"/>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Watch this: the least played song</a:t>
            </a:r>
            <a:endParaRPr lang="en-US" sz="3700" dirty="0"/>
          </a:p>
        </p:txBody>
      </p:sp>
      <p:sp>
        <p:nvSpPr>
          <p:cNvPr id="3" name="Shape 1"/>
          <p:cNvSpPr/>
          <p:nvPr/>
        </p:nvSpPr>
        <p:spPr>
          <a:xfrm>
            <a:off x="661475" y="1697137"/>
            <a:ext cx="10868745" cy="4309467"/>
          </a:xfrm>
          <a:prstGeom prst="roundRect">
            <a:avLst>
              <a:gd name="adj" fmla="val 1842"/>
            </a:avLst>
          </a:prstGeom>
          <a:solidFill>
            <a:srgbClr val="F2F2F2"/>
          </a:solidFill>
          <a:ln/>
        </p:spPr>
      </p:sp>
      <p:sp>
        <p:nvSpPr>
          <p:cNvPr id="4" name="Text 2"/>
          <p:cNvSpPr/>
          <p:nvPr/>
        </p:nvSpPr>
        <p:spPr>
          <a:xfrm>
            <a:off x="888283" y="1886148"/>
            <a:ext cx="10415129" cy="393144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Before the loop</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fewest_plays = 0</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quiet_song = ""</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Inside the loop, once per record</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title = line[0:24].strip()</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plays = int(line[44:47])</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if plays &lt; fewest_plays:</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fewest_plays = plays</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quiet_song = title</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 After the loop</a:t>
            </a:r>
            <a:endParaRPr lang="en-US" sz="1450" dirty="0"/>
          </a:p>
          <a:p>
            <a:pPr algn="l" indent="0" marL="0">
              <a:lnSpc>
                <a:spcPct val="133000"/>
              </a:lnSpc>
              <a:buNone/>
            </a:pPr>
            <a:r>
              <a:rPr lang="en-US" sz="1450" dirty="0">
                <a:solidFill>
                  <a:srgbClr val="6A737D"/>
                </a:solidFill>
                <a:latin typeface="Consolas" pitchFamily="34" charset="0"/>
                <a:ea typeface="Consolas" pitchFamily="34" charset="-122"/>
                <a:cs typeface="Consolas" pitchFamily="34" charset="-120"/>
              </a:rPr>
              <a:t>print(f"Least played: {quiet_song} ({fewest_plays} plays)")</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524470"/>
            <a:ext cx="10868745" cy="1126133"/>
          </a:xfrm>
          <a:prstGeom prst="rect">
            <a:avLst/>
          </a:prstGeom>
          <a:noFill/>
          <a:ln/>
        </p:spPr>
        <p:txBody>
          <a:bodyPr wrap="square" lIns="0" tIns="0" rIns="0" bIns="0" rtlCol="0" anchor="t">
            <a:normAutofit/>
          </a:bodyPr>
          <a:lstStyle/>
          <a:p>
            <a:pPr algn="l" indent="0" marL="0">
              <a:lnSpc>
                <a:spcPct val="104000"/>
              </a:lnSpc>
              <a:buNone/>
            </a:pPr>
            <a:r>
              <a:rPr lang="en-US" sz="3500" b="1" dirty="0">
                <a:solidFill>
                  <a:srgbClr val="111111"/>
                </a:solidFill>
                <a:latin typeface="Orbitron Bold" pitchFamily="34" charset="0"/>
                <a:ea typeface="Orbitron Bold" pitchFamily="34" charset="-122"/>
                <a:cs typeface="Orbitron Bold" pitchFamily="34" charset="-120"/>
              </a:rPr>
              <a:t>The wrong way: a blank title and zero plays</a:t>
            </a:r>
            <a:endParaRPr lang="en-US" sz="3500" dirty="0"/>
          </a:p>
        </p:txBody>
      </p:sp>
      <p:sp>
        <p:nvSpPr>
          <p:cNvPr id="3" name="Shape 1"/>
          <p:cNvSpPr/>
          <p:nvPr/>
        </p:nvSpPr>
        <p:spPr>
          <a:xfrm>
            <a:off x="661475" y="3088680"/>
            <a:ext cx="3518308" cy="648395"/>
          </a:xfrm>
          <a:prstGeom prst="roundRect">
            <a:avLst>
              <a:gd name="adj" fmla="val 11670"/>
            </a:avLst>
          </a:prstGeom>
          <a:solidFill>
            <a:srgbClr val="F2F2F2"/>
          </a:solidFill>
          <a:ln/>
        </p:spPr>
      </p:sp>
      <p:sp>
        <p:nvSpPr>
          <p:cNvPr id="4" name="Text 2"/>
          <p:cNvSpPr/>
          <p:nvPr/>
        </p:nvSpPr>
        <p:spPr>
          <a:xfrm>
            <a:off x="877568" y="3268762"/>
            <a:ext cx="3695707" cy="288230"/>
          </a:xfrm>
          <a:prstGeom prst="rect">
            <a:avLst/>
          </a:prstGeom>
          <a:noFill/>
          <a:ln/>
        </p:spPr>
        <p:txBody>
          <a:bodyPr wrap="none" lIns="0" tIns="0" rIns="0" bIns="0" rtlCol="0" anchor="t"/>
          <a:lstStyle/>
          <a:p>
            <a:pPr algn="l" indent="0" marL="0">
              <a:lnSpc>
                <a:spcPct val="133000"/>
              </a:lnSpc>
              <a:buNone/>
            </a:pPr>
            <a:r>
              <a:rPr lang="en-US" sz="1400" dirty="0">
                <a:solidFill>
                  <a:srgbClr val="005CC5"/>
                </a:solidFill>
                <a:latin typeface="Consolas" pitchFamily="34" charset="0"/>
                <a:ea typeface="Consolas" pitchFamily="34" charset="-122"/>
                <a:cs typeface="Consolas" pitchFamily="34" charset="-120"/>
              </a:rPr>
              <a:t>Least played:  (0 plays)</a:t>
            </a:r>
            <a:endParaRPr lang="en-US" sz="1400" dirty="0"/>
          </a:p>
        </p:txBody>
      </p:sp>
      <p:sp>
        <p:nvSpPr>
          <p:cNvPr id="5" name="Text 3"/>
          <p:cNvSpPr/>
          <p:nvPr/>
        </p:nvSpPr>
        <p:spPr>
          <a:xfrm>
            <a:off x="661475" y="3930253"/>
            <a:ext cx="3518308" cy="1138634"/>
          </a:xfrm>
          <a:prstGeom prst="rect">
            <a:avLst/>
          </a:prstGeom>
          <a:noFill/>
          <a:ln/>
        </p:spPr>
        <p:txBody>
          <a:bodyPr wrap="square" lIns="0" tIns="0" rIns="0" bIns="0" rtlCol="0" anchor="t">
            <a:normAutofit/>
          </a:bodyPr>
          <a:lstStyle/>
          <a:p>
            <a:pPr algn="l" indent="0" marL="0">
              <a:lnSpc>
                <a:spcPct val="130000"/>
              </a:lnSpc>
              <a:buNone/>
            </a:pPr>
            <a:r>
              <a:rPr lang="en-US" sz="1400" dirty="0">
                <a:solidFill>
                  <a:srgbClr val="1C1C1C"/>
                </a:solidFill>
                <a:latin typeface="Roboto Condensed" pitchFamily="34" charset="0"/>
                <a:ea typeface="Roboto Condensed" pitchFamily="34" charset="-122"/>
                <a:cs typeface="Roboto Condensed" pitchFamily="34" charset="-120"/>
              </a:rPr>
              <a:t>Starting </a:t>
            </a:r>
            <a:pPr algn="l" indent="0" marL="0">
              <a:lnSpc>
                <a:spcPct val="130000"/>
              </a:lnSpc>
              <a:buNone/>
            </a:pPr>
            <a:r>
              <a:rPr lang="en-US" sz="1400" dirty="0">
                <a:solidFill>
                  <a:srgbClr val="1C1C1C"/>
                </a:solidFill>
                <a:highlight>
                  <a:srgbClr val="F2F2F2"/>
                </a:highlight>
                <a:latin typeface="Consolas" pitchFamily="34" charset="0"/>
                <a:ea typeface="Consolas" pitchFamily="34" charset="-122"/>
                <a:cs typeface="Consolas" pitchFamily="34" charset="-120"/>
              </a:rPr>
              <a:t>fewest_plays</a:t>
            </a:r>
            <a:pPr algn="l" indent="0" marL="0">
              <a:lnSpc>
                <a:spcPct val="130000"/>
              </a:lnSpc>
              <a:buNone/>
            </a:pPr>
            <a:r>
              <a:rPr lang="en-US" sz="1400" dirty="0">
                <a:solidFill>
                  <a:srgbClr val="1C1C1C"/>
                </a:solidFill>
                <a:latin typeface="Roboto Condensed" pitchFamily="34" charset="0"/>
                <a:ea typeface="Roboto Condensed" pitchFamily="34" charset="-122"/>
                <a:cs typeface="Roboto Condensed" pitchFamily="34" charset="-120"/>
              </a:rPr>
              <a:t> at </a:t>
            </a:r>
            <a:pPr algn="l" indent="0" marL="0">
              <a:lnSpc>
                <a:spcPct val="130000"/>
              </a:lnSpc>
              <a:buNone/>
            </a:pPr>
            <a:r>
              <a:rPr lang="en-US" sz="1400" dirty="0">
                <a:solidFill>
                  <a:srgbClr val="1C1C1C"/>
                </a:solidFill>
                <a:highlight>
                  <a:srgbClr val="F2F2F2"/>
                </a:highlight>
                <a:latin typeface="Consolas" pitchFamily="34" charset="0"/>
                <a:ea typeface="Consolas" pitchFamily="34" charset="-122"/>
                <a:cs typeface="Consolas" pitchFamily="34" charset="-120"/>
              </a:rPr>
              <a:t>0</a:t>
            </a:r>
            <a:pPr algn="l" indent="0" marL="0">
              <a:lnSpc>
                <a:spcPct val="130000"/>
              </a:lnSpc>
              <a:buNone/>
            </a:pPr>
            <a:r>
              <a:rPr lang="en-US" sz="1400" dirty="0">
                <a:solidFill>
                  <a:srgbClr val="1C1C1C"/>
                </a:solidFill>
                <a:latin typeface="Roboto Condensed" pitchFamily="34" charset="0"/>
                <a:ea typeface="Roboto Condensed" pitchFamily="34" charset="-122"/>
                <a:cs typeface="Roboto Condensed" pitchFamily="34" charset="-120"/>
              </a:rPr>
              <a:t> means no real play count can ever be less than it. The variable never updates, so the result is blank and zero.</a:t>
            </a:r>
            <a:endParaRPr lang="en-US" sz="1400" dirty="0"/>
          </a:p>
        </p:txBody>
      </p:sp>
      <p:pic>
        <p:nvPicPr>
          <p:cNvPr id="6" name="Image 0" descr="preencoded.png">    </p:cNvPr>
          <p:cNvPicPr>
            <a:picLocks noChangeAspect="1"/>
          </p:cNvPicPr>
          <p:nvPr/>
        </p:nvPicPr>
        <p:blipFill>
          <a:blip r:embed="rId1"/>
          <a:stretch>
            <a:fillRect/>
          </a:stretch>
        </p:blipFill>
        <p:spPr>
          <a:xfrm>
            <a:off x="4625661" y="2101354"/>
            <a:ext cx="6910810" cy="3916164"/>
          </a:xfrm>
          <a:prstGeom prst="rect">
            <a:avLst/>
          </a:prstGeom>
        </p:spPr>
      </p:pic>
      <p:sp>
        <p:nvSpPr>
          <p:cNvPr id="7" name="Text 4"/>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902295"/>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Five algorithms to recognize</a:t>
            </a:r>
            <a:endParaRPr lang="en-US" sz="3700" dirty="0"/>
          </a:p>
        </p:txBody>
      </p:sp>
      <p:sp>
        <p:nvSpPr>
          <p:cNvPr id="3" name="Shape 1"/>
          <p:cNvSpPr/>
          <p:nvPr/>
        </p:nvSpPr>
        <p:spPr>
          <a:xfrm>
            <a:off x="661475" y="1870968"/>
            <a:ext cx="3496877" cy="1883271"/>
          </a:xfrm>
          <a:prstGeom prst="roundRect">
            <a:avLst>
              <a:gd name="adj" fmla="val 4215"/>
            </a:avLst>
          </a:prstGeom>
          <a:solidFill>
            <a:srgbClr val="D1E5FA"/>
          </a:solidFill>
          <a:ln w="19050">
            <a:solidFill>
              <a:srgbClr val="B7CBE0"/>
            </a:solidFill>
            <a:prstDash val="solid"/>
          </a:ln>
        </p:spPr>
      </p:sp>
      <p:sp>
        <p:nvSpPr>
          <p:cNvPr id="4" name="Shape 2"/>
          <p:cNvSpPr/>
          <p:nvPr/>
        </p:nvSpPr>
        <p:spPr>
          <a:xfrm>
            <a:off x="869531" y="2079030"/>
            <a:ext cx="567021" cy="567035"/>
          </a:xfrm>
          <a:prstGeom prst="ellipse">
            <a:avLst/>
          </a:prstGeom>
          <a:solidFill>
            <a:srgbClr val="57A1EB"/>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499" y="2234902"/>
            <a:ext cx="255085" cy="255091"/>
          </a:xfrm>
          <a:prstGeom prst="rect">
            <a:avLst/>
          </a:prstGeom>
        </p:spPr>
      </p:pic>
      <p:sp>
        <p:nvSpPr>
          <p:cNvPr id="6" name="Text 3"/>
          <p:cNvSpPr/>
          <p:nvPr/>
        </p:nvSpPr>
        <p:spPr>
          <a:xfrm>
            <a:off x="869531" y="2835077"/>
            <a:ext cx="3080764"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Count</a:t>
            </a:r>
            <a:endParaRPr lang="en-US" sz="1850" dirty="0"/>
          </a:p>
        </p:txBody>
      </p:sp>
      <p:sp>
        <p:nvSpPr>
          <p:cNvPr id="7" name="Text 4"/>
          <p:cNvSpPr/>
          <p:nvPr/>
        </p:nvSpPr>
        <p:spPr>
          <a:xfrm>
            <a:off x="869531" y="3243759"/>
            <a:ext cx="3080764"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How many</a:t>
            </a:r>
            <a:endParaRPr lang="en-US" sz="1450" dirty="0"/>
          </a:p>
        </p:txBody>
      </p:sp>
      <p:sp>
        <p:nvSpPr>
          <p:cNvPr id="8" name="Shape 5"/>
          <p:cNvSpPr/>
          <p:nvPr/>
        </p:nvSpPr>
        <p:spPr>
          <a:xfrm>
            <a:off x="4347359" y="1870968"/>
            <a:ext cx="3496877" cy="1883271"/>
          </a:xfrm>
          <a:prstGeom prst="roundRect">
            <a:avLst>
              <a:gd name="adj" fmla="val 4215"/>
            </a:avLst>
          </a:prstGeom>
          <a:solidFill>
            <a:srgbClr val="D1E5FA"/>
          </a:solidFill>
          <a:ln w="19050">
            <a:solidFill>
              <a:srgbClr val="B7CBE0"/>
            </a:solidFill>
            <a:prstDash val="solid"/>
          </a:ln>
        </p:spPr>
      </p:sp>
      <p:sp>
        <p:nvSpPr>
          <p:cNvPr id="9" name="Shape 6"/>
          <p:cNvSpPr/>
          <p:nvPr/>
        </p:nvSpPr>
        <p:spPr>
          <a:xfrm>
            <a:off x="4555416" y="2079030"/>
            <a:ext cx="567021" cy="567035"/>
          </a:xfrm>
          <a:prstGeom prst="ellipse">
            <a:avLst/>
          </a:prstGeom>
          <a:solidFill>
            <a:srgbClr val="57A1EB"/>
          </a:solidFill>
          <a:ln/>
        </p:spPr>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11384" y="2234902"/>
            <a:ext cx="255085" cy="255091"/>
          </a:xfrm>
          <a:prstGeom prst="rect">
            <a:avLst/>
          </a:prstGeom>
        </p:spPr>
      </p:pic>
      <p:sp>
        <p:nvSpPr>
          <p:cNvPr id="11" name="Text 7"/>
          <p:cNvSpPr/>
          <p:nvPr/>
        </p:nvSpPr>
        <p:spPr>
          <a:xfrm>
            <a:off x="4555416" y="2835077"/>
            <a:ext cx="3080764"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Total</a:t>
            </a:r>
            <a:endParaRPr lang="en-US" sz="1850" dirty="0"/>
          </a:p>
        </p:txBody>
      </p:sp>
      <p:sp>
        <p:nvSpPr>
          <p:cNvPr id="12" name="Text 8"/>
          <p:cNvSpPr/>
          <p:nvPr/>
        </p:nvSpPr>
        <p:spPr>
          <a:xfrm>
            <a:off x="4555416" y="3243759"/>
            <a:ext cx="3080764"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How much altogether</a:t>
            </a:r>
            <a:endParaRPr lang="en-US" sz="1450" dirty="0"/>
          </a:p>
        </p:txBody>
      </p:sp>
      <p:sp>
        <p:nvSpPr>
          <p:cNvPr id="13" name="Shape 9"/>
          <p:cNvSpPr/>
          <p:nvPr/>
        </p:nvSpPr>
        <p:spPr>
          <a:xfrm>
            <a:off x="8033244" y="1870968"/>
            <a:ext cx="3496877" cy="1883271"/>
          </a:xfrm>
          <a:prstGeom prst="roundRect">
            <a:avLst>
              <a:gd name="adj" fmla="val 4215"/>
            </a:avLst>
          </a:prstGeom>
          <a:solidFill>
            <a:srgbClr val="D1E5FA"/>
          </a:solidFill>
          <a:ln w="19050">
            <a:solidFill>
              <a:srgbClr val="B7CBE0"/>
            </a:solidFill>
            <a:prstDash val="solid"/>
          </a:ln>
        </p:spPr>
      </p:sp>
      <p:sp>
        <p:nvSpPr>
          <p:cNvPr id="14" name="Shape 10"/>
          <p:cNvSpPr/>
          <p:nvPr/>
        </p:nvSpPr>
        <p:spPr>
          <a:xfrm>
            <a:off x="8241300" y="2079030"/>
            <a:ext cx="567021" cy="567035"/>
          </a:xfrm>
          <a:prstGeom prst="ellipse">
            <a:avLst/>
          </a:prstGeom>
          <a:solidFill>
            <a:srgbClr val="57A1EB"/>
          </a:solidFill>
          <a:ln/>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97268" y="2234902"/>
            <a:ext cx="255085" cy="255091"/>
          </a:xfrm>
          <a:prstGeom prst="rect">
            <a:avLst/>
          </a:prstGeom>
        </p:spPr>
      </p:pic>
      <p:sp>
        <p:nvSpPr>
          <p:cNvPr id="16" name="Text 11"/>
          <p:cNvSpPr/>
          <p:nvPr/>
        </p:nvSpPr>
        <p:spPr>
          <a:xfrm>
            <a:off x="8241300" y="2835077"/>
            <a:ext cx="3080764"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Maximum or minimum</a:t>
            </a:r>
            <a:endParaRPr lang="en-US" sz="1850" dirty="0"/>
          </a:p>
        </p:txBody>
      </p:sp>
      <p:sp>
        <p:nvSpPr>
          <p:cNvPr id="17" name="Text 12"/>
          <p:cNvSpPr/>
          <p:nvPr/>
        </p:nvSpPr>
        <p:spPr>
          <a:xfrm>
            <a:off x="8241300" y="3243759"/>
            <a:ext cx="3080764"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Start from the first real record</a:t>
            </a:r>
            <a:endParaRPr lang="en-US" sz="1450" dirty="0"/>
          </a:p>
        </p:txBody>
      </p:sp>
      <p:sp>
        <p:nvSpPr>
          <p:cNvPr id="18" name="Shape 13"/>
          <p:cNvSpPr/>
          <p:nvPr/>
        </p:nvSpPr>
        <p:spPr>
          <a:xfrm>
            <a:off x="661475" y="3943251"/>
            <a:ext cx="5339820" cy="1889621"/>
          </a:xfrm>
          <a:prstGeom prst="roundRect">
            <a:avLst>
              <a:gd name="adj" fmla="val 4201"/>
            </a:avLst>
          </a:prstGeom>
          <a:solidFill>
            <a:srgbClr val="D1E5FA"/>
          </a:solidFill>
          <a:ln w="19050">
            <a:solidFill>
              <a:srgbClr val="B7CBE0"/>
            </a:solidFill>
            <a:prstDash val="solid"/>
          </a:ln>
        </p:spPr>
      </p:sp>
      <p:sp>
        <p:nvSpPr>
          <p:cNvPr id="19" name="Shape 14"/>
          <p:cNvSpPr/>
          <p:nvPr/>
        </p:nvSpPr>
        <p:spPr>
          <a:xfrm>
            <a:off x="869531" y="4151313"/>
            <a:ext cx="567021" cy="567035"/>
          </a:xfrm>
          <a:prstGeom prst="ellipse">
            <a:avLst/>
          </a:prstGeom>
          <a:solidFill>
            <a:srgbClr val="57A1EB"/>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25499" y="4307185"/>
            <a:ext cx="255085" cy="255091"/>
          </a:xfrm>
          <a:prstGeom prst="rect">
            <a:avLst/>
          </a:prstGeom>
        </p:spPr>
      </p:pic>
      <p:sp>
        <p:nvSpPr>
          <p:cNvPr id="21" name="Text 15"/>
          <p:cNvSpPr/>
          <p:nvPr/>
        </p:nvSpPr>
        <p:spPr>
          <a:xfrm>
            <a:off x="869531" y="4907359"/>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Search</a:t>
            </a:r>
            <a:endParaRPr lang="en-US" sz="1850" dirty="0"/>
          </a:p>
        </p:txBody>
      </p:sp>
      <p:sp>
        <p:nvSpPr>
          <p:cNvPr id="22" name="Text 16"/>
          <p:cNvSpPr/>
          <p:nvPr/>
        </p:nvSpPr>
        <p:spPr>
          <a:xfrm>
            <a:off x="869531" y="5316041"/>
            <a:ext cx="4923707" cy="30876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Stop early with </a:t>
            </a:r>
            <a:pPr algn="l" indent="0" marL="0">
              <a:lnSpc>
                <a:spcPct val="133000"/>
              </a:lnSpc>
              <a:buNone/>
            </a:pPr>
            <a:r>
              <a:rPr lang="en-US" sz="1450" dirty="0">
                <a:solidFill>
                  <a:srgbClr val="1C1C1C"/>
                </a:solidFill>
                <a:highlight>
                  <a:srgbClr val="F2F2F2"/>
                </a:highlight>
                <a:latin typeface="Consolas" pitchFamily="34" charset="0"/>
                <a:ea typeface="Consolas" pitchFamily="34" charset="-122"/>
                <a:cs typeface="Consolas" pitchFamily="34" charset="-120"/>
              </a:rPr>
              <a:t>break</a:t>
            </a:r>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 once found</a:t>
            </a:r>
            <a:endParaRPr lang="en-US" sz="1450" dirty="0"/>
          </a:p>
        </p:txBody>
      </p:sp>
      <p:sp>
        <p:nvSpPr>
          <p:cNvPr id="23" name="Shape 17"/>
          <p:cNvSpPr/>
          <p:nvPr/>
        </p:nvSpPr>
        <p:spPr>
          <a:xfrm>
            <a:off x="6190301" y="3943251"/>
            <a:ext cx="5339820" cy="1889621"/>
          </a:xfrm>
          <a:prstGeom prst="roundRect">
            <a:avLst>
              <a:gd name="adj" fmla="val 4201"/>
            </a:avLst>
          </a:prstGeom>
          <a:solidFill>
            <a:srgbClr val="D1E5FA"/>
          </a:solidFill>
          <a:ln w="19050">
            <a:solidFill>
              <a:srgbClr val="B7CBE0"/>
            </a:solidFill>
            <a:prstDash val="solid"/>
          </a:ln>
        </p:spPr>
      </p:sp>
      <p:sp>
        <p:nvSpPr>
          <p:cNvPr id="24" name="Shape 18"/>
          <p:cNvSpPr/>
          <p:nvPr/>
        </p:nvSpPr>
        <p:spPr>
          <a:xfrm>
            <a:off x="6398358" y="4151313"/>
            <a:ext cx="567021" cy="567035"/>
          </a:xfrm>
          <a:prstGeom prst="ellipse">
            <a:avLst/>
          </a:prstGeom>
          <a:solidFill>
            <a:srgbClr val="57A1EB"/>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554326" y="4307185"/>
            <a:ext cx="255085" cy="255091"/>
          </a:xfrm>
          <a:prstGeom prst="rect">
            <a:avLst/>
          </a:prstGeom>
        </p:spPr>
      </p:pic>
      <p:sp>
        <p:nvSpPr>
          <p:cNvPr id="26" name="Text 19"/>
          <p:cNvSpPr/>
          <p:nvPr/>
        </p:nvSpPr>
        <p:spPr>
          <a:xfrm>
            <a:off x="6398358" y="4907359"/>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Filter</a:t>
            </a:r>
            <a:endParaRPr lang="en-US" sz="1850" dirty="0"/>
          </a:p>
        </p:txBody>
      </p:sp>
      <p:sp>
        <p:nvSpPr>
          <p:cNvPr id="27" name="Text 20"/>
          <p:cNvSpPr/>
          <p:nvPr/>
        </p:nvSpPr>
        <p:spPr>
          <a:xfrm>
            <a:off x="6398358" y="5316041"/>
            <a:ext cx="49237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Which records match a rule</a:t>
            </a:r>
            <a:endParaRPr lang="en-US" sz="1450" dirty="0"/>
          </a:p>
        </p:txBody>
      </p:sp>
      <p:sp>
        <p:nvSpPr>
          <p:cNvPr id="28" name="Text 21"/>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61475" y="539155"/>
            <a:ext cx="10868745" cy="535285"/>
          </a:xfrm>
          <a:prstGeom prst="rect">
            <a:avLst/>
          </a:prstGeom>
          <a:noFill/>
          <a:ln/>
        </p:spPr>
        <p:txBody>
          <a:bodyPr wrap="none" lIns="0" tIns="0" rIns="0" bIns="0" rtlCol="0" anchor="t"/>
          <a:lstStyle/>
          <a:p>
            <a:pPr algn="l" indent="0" marL="0">
              <a:lnSpc>
                <a:spcPct val="104000"/>
              </a:lnSpc>
              <a:buNone/>
            </a:pPr>
            <a:r>
              <a:rPr lang="en-US" sz="3350" b="1" dirty="0">
                <a:solidFill>
                  <a:srgbClr val="111111"/>
                </a:solidFill>
                <a:latin typeface="Orbitron Bold" pitchFamily="34" charset="0"/>
                <a:ea typeface="Orbitron Bold" pitchFamily="34" charset="-122"/>
                <a:cs typeface="Orbitron Bold" pitchFamily="34" charset="-120"/>
              </a:rPr>
              <a:t>What you are about to build</a:t>
            </a:r>
            <a:endParaRPr lang="en-US" sz="335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481832"/>
            <a:ext cx="3532397" cy="2523232"/>
          </a:xfrm>
          <a:prstGeom prst="rect">
            <a:avLst/>
          </a:prstGeom>
        </p:spPr>
      </p:pic>
      <p:sp>
        <p:nvSpPr>
          <p:cNvPr id="4" name="Text 1"/>
          <p:cNvSpPr/>
          <p:nvPr/>
        </p:nvSpPr>
        <p:spPr>
          <a:xfrm>
            <a:off x="885108" y="2582863"/>
            <a:ext cx="256871" cy="321171"/>
          </a:xfrm>
          <a:prstGeom prst="rect">
            <a:avLst/>
          </a:prstGeom>
          <a:noFill/>
          <a:ln/>
        </p:spPr>
        <p:txBody>
          <a:bodyPr wrap="none" lIns="0" tIns="0" rIns="0" bIns="0" rtlCol="0" anchor="ctr"/>
          <a:lstStyle/>
          <a:p>
            <a:pPr algn="ctr" indent="0" marL="0">
              <a:lnSpc>
                <a:spcPct val="100000"/>
              </a:lnSpc>
              <a:buNone/>
            </a:pPr>
            <a:r>
              <a:rPr lang="en-US" sz="2000" b="1" dirty="0">
                <a:solidFill>
                  <a:srgbClr val="1C1C1C"/>
                </a:solidFill>
                <a:latin typeface="Orbitron Bold" pitchFamily="34" charset="0"/>
                <a:ea typeface="Orbitron Bold" pitchFamily="34" charset="-122"/>
                <a:cs typeface="Orbitron Bold" pitchFamily="34" charset="-120"/>
              </a:rPr>
              <a:t>1</a:t>
            </a:r>
            <a:endParaRPr lang="en-US" sz="2000" dirty="0"/>
          </a:p>
        </p:txBody>
      </p:sp>
      <p:sp>
        <p:nvSpPr>
          <p:cNvPr id="5" name="Text 2"/>
          <p:cNvSpPr/>
          <p:nvPr/>
        </p:nvSpPr>
        <p:spPr>
          <a:xfrm>
            <a:off x="1520886" y="1672134"/>
            <a:ext cx="2482689" cy="802779"/>
          </a:xfrm>
          <a:prstGeom prst="rect">
            <a:avLst/>
          </a:prstGeom>
          <a:noFill/>
          <a:ln/>
        </p:spPr>
        <p:txBody>
          <a:bodyPr wrap="square" lIns="0" tIns="0" rIns="0" bIns="0" rtlCol="0" anchor="t">
            <a:normAutofit/>
          </a:bodyPr>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Build 1: Lab U03-03 Game Night Leaderboard</a:t>
            </a:r>
            <a:endParaRPr lang="en-US" sz="1650" dirty="0"/>
          </a:p>
        </p:txBody>
      </p:sp>
      <p:sp>
        <p:nvSpPr>
          <p:cNvPr id="6" name="Text 3"/>
          <p:cNvSpPr/>
          <p:nvPr/>
        </p:nvSpPr>
        <p:spPr>
          <a:xfrm>
            <a:off x="1520886" y="2630091"/>
            <a:ext cx="2482689" cy="1184672"/>
          </a:xfrm>
          <a:prstGeom prst="rect">
            <a:avLst/>
          </a:prstGeom>
          <a:noFill/>
          <a:ln/>
        </p:spPr>
        <p:txBody>
          <a:bodyPr wrap="square" lIns="0" tIns="0" rIns="0" bIns="0" rtlCol="0" anchor="t">
            <a:normAutofit/>
          </a:bodyPr>
          <a:lstStyle/>
          <a:p>
            <a:pPr algn="l" indent="0" marL="0">
              <a:lnSpc>
                <a:spcPct val="127000"/>
              </a:lnSpc>
              <a:spcAft>
                <a:spcPts val="1050"/>
              </a:spcAft>
              <a:buNone/>
            </a:pPr>
            <a:r>
              <a:rPr lang="en-US" sz="1300" dirty="0">
                <a:solidFill>
                  <a:srgbClr val="1C1C1C"/>
                </a:solidFill>
                <a:latin typeface="Roboto Condensed" pitchFamily="34" charset="0"/>
                <a:ea typeface="Roboto Condensed" pitchFamily="34" charset="-122"/>
                <a:cs typeface="Roboto Condensed" pitchFamily="34" charset="-120"/>
              </a:rPr>
              <a:t>Count, total, high score, low score, and a search</a:t>
            </a:r>
            <a:endParaRPr lang="en-US" sz="1300" dirty="0"/>
          </a:p>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Step 4 starts the low score at 0 on purpose</a:t>
            </a:r>
            <a:endParaRPr lang="en-US" sz="1300" dirty="0"/>
          </a:p>
        </p:txBody>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1475" y="4160242"/>
            <a:ext cx="3532397" cy="1861046"/>
          </a:xfrm>
          <a:prstGeom prst="rect">
            <a:avLst/>
          </a:prstGeom>
        </p:spPr>
      </p:pic>
      <p:sp>
        <p:nvSpPr>
          <p:cNvPr id="8" name="Text 4"/>
          <p:cNvSpPr/>
          <p:nvPr/>
        </p:nvSpPr>
        <p:spPr>
          <a:xfrm>
            <a:off x="885108" y="4930180"/>
            <a:ext cx="256871" cy="321171"/>
          </a:xfrm>
          <a:prstGeom prst="rect">
            <a:avLst/>
          </a:prstGeom>
          <a:noFill/>
          <a:ln/>
        </p:spPr>
        <p:txBody>
          <a:bodyPr wrap="none" lIns="0" tIns="0" rIns="0" bIns="0" rtlCol="0" anchor="ctr"/>
          <a:lstStyle/>
          <a:p>
            <a:pPr algn="ctr" indent="0" marL="0">
              <a:lnSpc>
                <a:spcPct val="100000"/>
              </a:lnSpc>
              <a:buNone/>
            </a:pPr>
            <a:r>
              <a:rPr lang="en-US" sz="2000" b="1" dirty="0">
                <a:solidFill>
                  <a:srgbClr val="1C1C1C"/>
                </a:solidFill>
                <a:latin typeface="Orbitron Bold" pitchFamily="34" charset="0"/>
                <a:ea typeface="Orbitron Bold" pitchFamily="34" charset="-122"/>
                <a:cs typeface="Orbitron Bold" pitchFamily="34" charset="-120"/>
              </a:rPr>
              <a:t>2</a:t>
            </a:r>
            <a:endParaRPr lang="en-US" sz="2000" dirty="0"/>
          </a:p>
        </p:txBody>
      </p:sp>
      <p:sp>
        <p:nvSpPr>
          <p:cNvPr id="9" name="Text 5"/>
          <p:cNvSpPr/>
          <p:nvPr/>
        </p:nvSpPr>
        <p:spPr>
          <a:xfrm>
            <a:off x="1520886" y="4350544"/>
            <a:ext cx="2482689" cy="802779"/>
          </a:xfrm>
          <a:prstGeom prst="rect">
            <a:avLst/>
          </a:prstGeom>
          <a:noFill/>
          <a:ln/>
        </p:spPr>
        <p:txBody>
          <a:bodyPr wrap="square" lIns="0" tIns="0" rIns="0" bIns="0" rtlCol="0" anchor="t">
            <a:normAutofit/>
          </a:bodyPr>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Build 2: v1 test scripts, playtest fixes, README</a:t>
            </a:r>
            <a:endParaRPr lang="en-US" sz="1650" dirty="0"/>
          </a:p>
        </p:txBody>
      </p:sp>
      <p:sp>
        <p:nvSpPr>
          <p:cNvPr id="10" name="Text 6"/>
          <p:cNvSpPr/>
          <p:nvPr/>
        </p:nvSpPr>
        <p:spPr>
          <a:xfrm>
            <a:off x="1520886" y="5308501"/>
            <a:ext cx="2482689" cy="522486"/>
          </a:xfrm>
          <a:prstGeom prst="rect">
            <a:avLst/>
          </a:prstGeom>
          <a:noFill/>
          <a:ln/>
        </p:spPr>
        <p:txBody>
          <a:bodyPr wrap="square" lIns="0" tIns="0" rIns="0" bIns="0" rtlCol="0" anchor="t">
            <a:normAutofit/>
          </a:bodyPr>
          <a:lstStyle/>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CAC teams: confirm your submission before noon</a:t>
            </a:r>
            <a:endParaRPr lang="en-US" sz="1300" dirty="0"/>
          </a:p>
        </p:txBody>
      </p:sp>
      <p:pic>
        <p:nvPicPr>
          <p:cNvPr id="11" name="Image 2" descr="preencoded.png">    </p:cNvPr>
          <p:cNvPicPr>
            <a:picLocks noChangeAspect="1"/>
          </p:cNvPicPr>
          <p:nvPr/>
        </p:nvPicPr>
        <p:blipFill>
          <a:blip r:embed="rId5"/>
          <a:stretch>
            <a:fillRect/>
          </a:stretch>
        </p:blipFill>
        <p:spPr>
          <a:xfrm>
            <a:off x="4618120" y="1791295"/>
            <a:ext cx="6918350" cy="3920430"/>
          </a:xfrm>
          <a:prstGeom prst="rect">
            <a:avLst/>
          </a:prstGeom>
        </p:spPr>
      </p:pic>
      <p:sp>
        <p:nvSpPr>
          <p:cNvPr id="12" name="Text 7"/>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2026-09-14T18:48:11Z</dcterms:created>
  <dcterms:modified xsi:type="dcterms:W3CDTF">2026-09-14T18:48:11Z</dcterms:modified>
</cp:coreProperties>
</file>